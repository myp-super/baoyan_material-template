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639" r:id="rId3"/>
    <p:sldId id="664" r:id="rId5"/>
    <p:sldId id="643" r:id="rId6"/>
    <p:sldId id="685" r:id="rId7"/>
    <p:sldId id="650" r:id="rId8"/>
    <p:sldId id="703" r:id="rId9"/>
    <p:sldId id="705" r:id="rId10"/>
    <p:sldId id="665" r:id="rId11"/>
    <p:sldId id="706" r:id="rId12"/>
    <p:sldId id="707" r:id="rId13"/>
    <p:sldId id="708" r:id="rId14"/>
    <p:sldId id="694" r:id="rId15"/>
    <p:sldId id="697" r:id="rId16"/>
    <p:sldId id="698" r:id="rId17"/>
    <p:sldId id="683" r:id="rId18"/>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4EBE3"/>
    <a:srgbClr val="538B4B"/>
    <a:srgbClr val="E8FAE5"/>
    <a:srgbClr val="9DA953"/>
    <a:srgbClr val="285023"/>
    <a:srgbClr val="FFD1CD"/>
    <a:srgbClr val="FFE3E1"/>
    <a:srgbClr val="096590"/>
    <a:srgbClr val="479F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53" autoAdjust="0"/>
    <p:restoredTop sz="87615" autoAdjust="0"/>
  </p:normalViewPr>
  <p:slideViewPr>
    <p:cSldViewPr snapToGrid="0">
      <p:cViewPr varScale="1">
        <p:scale>
          <a:sx n="59" d="100"/>
          <a:sy n="59" d="100"/>
        </p:scale>
        <p:origin x="932" y="4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gs" Target="tags/tag1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7B469C68-B96B-4B00-A936-4ED691395EEA}"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78957953-4CC8-4E4A-AD2D-7A5A0B36E81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957953-4CC8-4E4A-AD2D-7A5A0B36E814}" type="slidenum">
              <a:rPr lang="zh-CN" altLang="en-US"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957953-4CC8-4E4A-AD2D-7A5A0B36E814}" type="slidenum">
              <a:rPr lang="zh-CN" altLang="en-US"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957953-4CC8-4E4A-AD2D-7A5A0B36E814}" type="slidenum">
              <a:rPr lang="zh-CN" altLang="en-US" smtClean="0"/>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957953-4CC8-4E4A-AD2D-7A5A0B36E814}" type="slidenum">
              <a:rPr lang="zh-CN" altLang="en-US" smtClean="0"/>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957953-4CC8-4E4A-AD2D-7A5A0B36E814}" type="slidenum">
              <a:rPr lang="zh-CN" altLang="en-US" smtClean="0"/>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957953-4CC8-4E4A-AD2D-7A5A0B36E814}" type="slidenum">
              <a:rPr lang="zh-CN" altLang="en-US" smtClean="0"/>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957953-4CC8-4E4A-AD2D-7A5A0B36E814}" type="slidenum">
              <a:rPr lang="zh-CN" altLang="en-US" smtClean="0"/>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957953-4CC8-4E4A-AD2D-7A5A0B36E814}" type="slidenum">
              <a:rPr lang="zh-CN" altLang="en-US" smtClean="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957953-4CC8-4E4A-AD2D-7A5A0B36E814}" type="slidenum">
              <a:rPr lang="zh-CN" altLang="en-US" smtClean="0"/>
            </a:fld>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957953-4CC8-4E4A-AD2D-7A5A0B36E814}"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3"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2CB708-664F-4770-AECF-BA1A1B220D57}" type="datetimeFigureOut">
              <a:rPr lang="zh-CN" altLang="en-US" smtClean="0"/>
            </a:fld>
            <a:endParaRPr lang="zh-CN" altLang="en-US"/>
          </a:p>
        </p:txBody>
      </p:sp>
      <p:sp>
        <p:nvSpPr>
          <p:cNvPr id="104"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DFDCD-830D-4E78-9097-B6B92A67D61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sp>
        <p:nvSpPr>
          <p:cNvPr id="59" name="graduation-hat-front-view_27483"/>
          <p:cNvSpPr/>
          <p:nvPr userDrawn="1"/>
        </p:nvSpPr>
        <p:spPr>
          <a:xfrm>
            <a:off x="4399419" y="1426435"/>
            <a:ext cx="3393162" cy="2144082"/>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accent2">
              <a:lumMod val="20000"/>
              <a:lumOff val="80000"/>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直接连接符 59"/>
          <p:cNvCxnSpPr/>
          <p:nvPr userDrawn="1"/>
        </p:nvCxnSpPr>
        <p:spPr>
          <a:xfrm>
            <a:off x="3522388" y="4530266"/>
            <a:ext cx="514722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8" name="文本占位符 13"/>
          <p:cNvSpPr>
            <a:spLocks noGrp="1"/>
          </p:cNvSpPr>
          <p:nvPr userDrawn="1">
            <p:ph type="body" sz="quarter" idx="12" hasCustomPrompt="1"/>
          </p:nvPr>
        </p:nvSpPr>
        <p:spPr>
          <a:xfrm>
            <a:off x="3522388" y="3642379"/>
            <a:ext cx="5147224" cy="830997"/>
          </a:xfrm>
          <a:prstGeom prst="rect">
            <a:avLst/>
          </a:prstGeom>
        </p:spPr>
        <p:txBody>
          <a:bodyPr wrap="square" lIns="0" tIns="0" rIns="0" bIns="0">
            <a:spAutoFit/>
          </a:bodyPr>
          <a:lstStyle>
            <a:lvl1pPr marL="0" indent="0" algn="ctr">
              <a:buNone/>
              <a:defRPr lang="zh-CN" altLang="en-US" sz="6000" b="1" spc="600" dirty="0">
                <a:solidFill>
                  <a:schemeClr val="accent1"/>
                </a:solidFill>
                <a:latin typeface="+mj-ea"/>
                <a:ea typeface="+mj-ea"/>
              </a:defRPr>
            </a:lvl1pPr>
          </a:lstStyle>
          <a:p>
            <a:pPr marL="0" lvl="0" algn="dist" fontAlgn="base"/>
            <a:r>
              <a:rPr lang="zh-CN" altLang="en-US" dirty="0"/>
              <a:t>输入标题</a:t>
            </a:r>
            <a:endParaRPr lang="zh-CN" altLang="en-US" dirty="0"/>
          </a:p>
        </p:txBody>
      </p:sp>
      <p:sp>
        <p:nvSpPr>
          <p:cNvPr id="4" name="文本占位符 3"/>
          <p:cNvSpPr>
            <a:spLocks noGrp="1"/>
          </p:cNvSpPr>
          <p:nvPr userDrawn="1">
            <p:ph type="body" sz="quarter" idx="14" hasCustomPrompt="1"/>
          </p:nvPr>
        </p:nvSpPr>
        <p:spPr>
          <a:xfrm>
            <a:off x="3808179" y="4688846"/>
            <a:ext cx="4575642" cy="263525"/>
          </a:xfrm>
          <a:prstGeom prst="rect">
            <a:avLst/>
          </a:prstGeom>
        </p:spPr>
        <p:txBody>
          <a:bodyPr lIns="0" tIns="0" rIns="0" bIns="0"/>
          <a:lstStyle>
            <a:lvl1pPr marL="0" indent="0" algn="ctr">
              <a:buNone/>
              <a:defRPr sz="1200" spc="3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PART ONE</a:t>
            </a:r>
            <a:endParaRPr lang="zh-CN" altLang="en-US" dirty="0"/>
          </a:p>
        </p:txBody>
      </p:sp>
      <p:sp>
        <p:nvSpPr>
          <p:cNvPr id="16" name="文本占位符 15"/>
          <p:cNvSpPr>
            <a:spLocks noGrp="1"/>
          </p:cNvSpPr>
          <p:nvPr>
            <p:ph type="body" sz="quarter" idx="10" hasCustomPrompt="1"/>
          </p:nvPr>
        </p:nvSpPr>
        <p:spPr>
          <a:xfrm>
            <a:off x="5058857" y="1542830"/>
            <a:ext cx="2074286" cy="1911292"/>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wrap="none" lIns="0" tIns="0" rIns="0" bIns="0">
            <a:spAutoFit/>
          </a:bodyPr>
          <a:lstStyle>
            <a:lvl1pPr marL="0" indent="0" algn="ctr">
              <a:buNone/>
              <a:defRPr lang="zh-CN" altLang="en-US" sz="13800" spc="0" dirty="0">
                <a:solidFill>
                  <a:schemeClr val="tx1"/>
                </a:solidFill>
                <a:latin typeface="+mn-ea"/>
                <a:ea typeface="+mn-ea"/>
              </a:defRPr>
            </a:lvl1pPr>
          </a:lstStyle>
          <a:p>
            <a:pPr marL="0" lvl="0" algn="dist" fontAlgn="base"/>
            <a:r>
              <a:rPr lang="en-US" altLang="zh-CN" dirty="0"/>
              <a:t>01</a:t>
            </a:r>
            <a:endParaRPr lang="zh-CN" altLang="en-US" dirty="0"/>
          </a:p>
        </p:txBody>
      </p:sp>
      <p:sp>
        <p:nvSpPr>
          <p:cNvPr id="120"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2CB708-664F-4770-AECF-BA1A1B220D57}" type="datetimeFigureOut">
              <a:rPr lang="zh-CN" altLang="en-US" smtClean="0"/>
            </a:fld>
            <a:endParaRPr lang="zh-CN" altLang="en-US"/>
          </a:p>
        </p:txBody>
      </p:sp>
      <p:sp>
        <p:nvSpPr>
          <p:cNvPr id="121"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22"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DFDCD-830D-4E78-9097-B6B92A67D61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grpSp>
        <p:nvGrpSpPr>
          <p:cNvPr id="114" name="组合 113"/>
          <p:cNvGrpSpPr/>
          <p:nvPr userDrawn="1"/>
        </p:nvGrpSpPr>
        <p:grpSpPr>
          <a:xfrm>
            <a:off x="0" y="0"/>
            <a:ext cx="12192000" cy="6858000"/>
            <a:chOff x="0" y="0"/>
            <a:chExt cx="12192000" cy="6858000"/>
          </a:xfrm>
        </p:grpSpPr>
        <p:sp>
          <p:nvSpPr>
            <p:cNvPr id="154" name="任意多边形: 形状 153"/>
            <p:cNvSpPr/>
            <p:nvPr/>
          </p:nvSpPr>
          <p:spPr>
            <a:xfrm>
              <a:off x="0" y="0"/>
              <a:ext cx="1224280" cy="1224280"/>
            </a:xfrm>
            <a:custGeom>
              <a:avLst/>
              <a:gdLst>
                <a:gd name="connsiteX0" fmla="*/ 0 w 1224280"/>
                <a:gd name="connsiteY0" fmla="*/ 0 h 1224280"/>
                <a:gd name="connsiteX1" fmla="*/ 1224280 w 1224280"/>
                <a:gd name="connsiteY1" fmla="*/ 0 h 1224280"/>
                <a:gd name="connsiteX2" fmla="*/ 0 w 1224280"/>
                <a:gd name="connsiteY2" fmla="*/ 1224280 h 1224280"/>
              </a:gdLst>
              <a:ahLst/>
              <a:cxnLst>
                <a:cxn ang="0">
                  <a:pos x="connsiteX0" y="connsiteY0"/>
                </a:cxn>
                <a:cxn ang="0">
                  <a:pos x="connsiteX1" y="connsiteY1"/>
                </a:cxn>
                <a:cxn ang="0">
                  <a:pos x="connsiteX2" y="connsiteY2"/>
                </a:cxn>
              </a:cxnLst>
              <a:rect l="l" t="t" r="r" b="b"/>
              <a:pathLst>
                <a:path w="1224280" h="1224280">
                  <a:moveTo>
                    <a:pt x="0" y="0"/>
                  </a:moveTo>
                  <a:lnTo>
                    <a:pt x="1224280" y="0"/>
                  </a:lnTo>
                  <a:cubicBezTo>
                    <a:pt x="1224280" y="676151"/>
                    <a:pt x="676151" y="1224280"/>
                    <a:pt x="0" y="122428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任意多边形: 形状 154"/>
            <p:cNvSpPr/>
            <p:nvPr/>
          </p:nvSpPr>
          <p:spPr>
            <a:xfrm flipH="1">
              <a:off x="10967720" y="0"/>
              <a:ext cx="1224280" cy="1224280"/>
            </a:xfrm>
            <a:custGeom>
              <a:avLst/>
              <a:gdLst>
                <a:gd name="connsiteX0" fmla="*/ 0 w 1224280"/>
                <a:gd name="connsiteY0" fmla="*/ 0 h 1224280"/>
                <a:gd name="connsiteX1" fmla="*/ 1224280 w 1224280"/>
                <a:gd name="connsiteY1" fmla="*/ 0 h 1224280"/>
                <a:gd name="connsiteX2" fmla="*/ 0 w 1224280"/>
                <a:gd name="connsiteY2" fmla="*/ 1224280 h 1224280"/>
              </a:gdLst>
              <a:ahLst/>
              <a:cxnLst>
                <a:cxn ang="0">
                  <a:pos x="connsiteX0" y="connsiteY0"/>
                </a:cxn>
                <a:cxn ang="0">
                  <a:pos x="connsiteX1" y="connsiteY1"/>
                </a:cxn>
                <a:cxn ang="0">
                  <a:pos x="connsiteX2" y="connsiteY2"/>
                </a:cxn>
              </a:cxnLst>
              <a:rect l="l" t="t" r="r" b="b"/>
              <a:pathLst>
                <a:path w="1224280" h="1224280">
                  <a:moveTo>
                    <a:pt x="0" y="0"/>
                  </a:moveTo>
                  <a:lnTo>
                    <a:pt x="1224280" y="0"/>
                  </a:lnTo>
                  <a:cubicBezTo>
                    <a:pt x="1224280" y="676151"/>
                    <a:pt x="676151" y="1224280"/>
                    <a:pt x="0" y="122428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任意多边形: 形状 155"/>
            <p:cNvSpPr/>
            <p:nvPr/>
          </p:nvSpPr>
          <p:spPr>
            <a:xfrm flipV="1">
              <a:off x="0" y="5633720"/>
              <a:ext cx="1224280" cy="1224280"/>
            </a:xfrm>
            <a:custGeom>
              <a:avLst/>
              <a:gdLst>
                <a:gd name="connsiteX0" fmla="*/ 0 w 1224280"/>
                <a:gd name="connsiteY0" fmla="*/ 0 h 1224280"/>
                <a:gd name="connsiteX1" fmla="*/ 1224280 w 1224280"/>
                <a:gd name="connsiteY1" fmla="*/ 0 h 1224280"/>
                <a:gd name="connsiteX2" fmla="*/ 0 w 1224280"/>
                <a:gd name="connsiteY2" fmla="*/ 1224280 h 1224280"/>
              </a:gdLst>
              <a:ahLst/>
              <a:cxnLst>
                <a:cxn ang="0">
                  <a:pos x="connsiteX0" y="connsiteY0"/>
                </a:cxn>
                <a:cxn ang="0">
                  <a:pos x="connsiteX1" y="connsiteY1"/>
                </a:cxn>
                <a:cxn ang="0">
                  <a:pos x="connsiteX2" y="connsiteY2"/>
                </a:cxn>
              </a:cxnLst>
              <a:rect l="l" t="t" r="r" b="b"/>
              <a:pathLst>
                <a:path w="1224280" h="1224280">
                  <a:moveTo>
                    <a:pt x="0" y="0"/>
                  </a:moveTo>
                  <a:lnTo>
                    <a:pt x="1224280" y="0"/>
                  </a:lnTo>
                  <a:cubicBezTo>
                    <a:pt x="1224280" y="676151"/>
                    <a:pt x="676151" y="1224280"/>
                    <a:pt x="0" y="122428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任意多边形: 形状 156"/>
            <p:cNvSpPr/>
            <p:nvPr/>
          </p:nvSpPr>
          <p:spPr>
            <a:xfrm flipH="1" flipV="1">
              <a:off x="10967720" y="5633720"/>
              <a:ext cx="1224280" cy="1224280"/>
            </a:xfrm>
            <a:custGeom>
              <a:avLst/>
              <a:gdLst>
                <a:gd name="connsiteX0" fmla="*/ 0 w 1224280"/>
                <a:gd name="connsiteY0" fmla="*/ 0 h 1224280"/>
                <a:gd name="connsiteX1" fmla="*/ 1224280 w 1224280"/>
                <a:gd name="connsiteY1" fmla="*/ 0 h 1224280"/>
                <a:gd name="connsiteX2" fmla="*/ 0 w 1224280"/>
                <a:gd name="connsiteY2" fmla="*/ 1224280 h 1224280"/>
              </a:gdLst>
              <a:ahLst/>
              <a:cxnLst>
                <a:cxn ang="0">
                  <a:pos x="connsiteX0" y="connsiteY0"/>
                </a:cxn>
                <a:cxn ang="0">
                  <a:pos x="connsiteX1" y="connsiteY1"/>
                </a:cxn>
                <a:cxn ang="0">
                  <a:pos x="connsiteX2" y="connsiteY2"/>
                </a:cxn>
              </a:cxnLst>
              <a:rect l="l" t="t" r="r" b="b"/>
              <a:pathLst>
                <a:path w="1224280" h="1224280">
                  <a:moveTo>
                    <a:pt x="0" y="0"/>
                  </a:moveTo>
                  <a:lnTo>
                    <a:pt x="1224280" y="0"/>
                  </a:lnTo>
                  <a:cubicBezTo>
                    <a:pt x="1224280" y="676151"/>
                    <a:pt x="676151" y="1224280"/>
                    <a:pt x="0" y="122428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8" name="矩形 157"/>
          <p:cNvSpPr/>
          <p:nvPr userDrawn="1"/>
        </p:nvSpPr>
        <p:spPr>
          <a:xfrm>
            <a:off x="213360" y="205740"/>
            <a:ext cx="11765280" cy="6446520"/>
          </a:xfrm>
          <a:prstGeom prst="rect">
            <a:avLst/>
          </a:prstGeom>
          <a:solidFill>
            <a:schemeClr val="bg1"/>
          </a:solidFill>
          <a:ln w="12700" cap="flat" cmpd="sng" algn="ctr">
            <a:noFill/>
            <a:prstDash val="solid"/>
            <a:miter lim="800000"/>
          </a:ln>
          <a:effectLst>
            <a:outerShdw blurRad="228600" sx="98000" sy="98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圆角 158"/>
          <p:cNvSpPr/>
          <p:nvPr userDrawn="1"/>
        </p:nvSpPr>
        <p:spPr>
          <a:xfrm>
            <a:off x="314960" y="304800"/>
            <a:ext cx="11562080" cy="6248400"/>
          </a:xfrm>
          <a:prstGeom prst="roundRect">
            <a:avLst>
              <a:gd name="adj" fmla="val 0"/>
            </a:avLst>
          </a:prstGeom>
          <a:noFill/>
          <a:ln w="254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userDrawn="1"/>
        </p:nvGrpSpPr>
        <p:grpSpPr>
          <a:xfrm flipV="1">
            <a:off x="11623041" y="6303058"/>
            <a:ext cx="568960" cy="554941"/>
            <a:chOff x="-3067387" y="5853843"/>
            <a:chExt cx="763656" cy="744840"/>
          </a:xfrm>
          <a:solidFill>
            <a:schemeClr val="bg1">
              <a:lumMod val="95000"/>
            </a:schemeClr>
          </a:solidFill>
        </p:grpSpPr>
        <p:sp>
          <p:nvSpPr>
            <p:cNvPr id="71" name="任意多边形: 形状 70"/>
            <p:cNvSpPr/>
            <p:nvPr/>
          </p:nvSpPr>
          <p:spPr>
            <a:xfrm>
              <a:off x="-3067387" y="5853843"/>
              <a:ext cx="37375" cy="37375"/>
            </a:xfrm>
            <a:custGeom>
              <a:avLst/>
              <a:gdLst>
                <a:gd name="connsiteX0" fmla="*/ 13335 w 13335"/>
                <a:gd name="connsiteY0" fmla="*/ 6668 h 13335"/>
                <a:gd name="connsiteX1" fmla="*/ 6668 w 13335"/>
                <a:gd name="connsiteY1" fmla="*/ 13335 h 13335"/>
                <a:gd name="connsiteX2" fmla="*/ 0 w 13335"/>
                <a:gd name="connsiteY2" fmla="*/ 6668 h 13335"/>
                <a:gd name="connsiteX3" fmla="*/ 6668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8" y="13335"/>
                  </a:cubicBezTo>
                  <a:cubicBezTo>
                    <a:pt x="2857" y="13335"/>
                    <a:pt x="0" y="10478"/>
                    <a:pt x="0" y="6668"/>
                  </a:cubicBezTo>
                  <a:cubicBezTo>
                    <a:pt x="0" y="2858"/>
                    <a:pt x="2857" y="0"/>
                    <a:pt x="6668"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72" name="任意多边形: 形状 71"/>
            <p:cNvSpPr/>
            <p:nvPr/>
          </p:nvSpPr>
          <p:spPr>
            <a:xfrm>
              <a:off x="-3067387" y="5973977"/>
              <a:ext cx="37375" cy="37375"/>
            </a:xfrm>
            <a:custGeom>
              <a:avLst/>
              <a:gdLst>
                <a:gd name="connsiteX0" fmla="*/ 13335 w 13335"/>
                <a:gd name="connsiteY0" fmla="*/ 6668 h 13335"/>
                <a:gd name="connsiteX1" fmla="*/ 6668 w 13335"/>
                <a:gd name="connsiteY1" fmla="*/ 13335 h 13335"/>
                <a:gd name="connsiteX2" fmla="*/ 0 w 13335"/>
                <a:gd name="connsiteY2" fmla="*/ 6668 h 13335"/>
                <a:gd name="connsiteX3" fmla="*/ 6668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8" y="13335"/>
                  </a:cubicBezTo>
                  <a:cubicBezTo>
                    <a:pt x="2857" y="13335"/>
                    <a:pt x="0" y="10478"/>
                    <a:pt x="0" y="6668"/>
                  </a:cubicBezTo>
                  <a:cubicBezTo>
                    <a:pt x="0" y="2858"/>
                    <a:pt x="2857" y="0"/>
                    <a:pt x="6668"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73" name="任意多边形: 形状 72"/>
            <p:cNvSpPr/>
            <p:nvPr/>
          </p:nvSpPr>
          <p:spPr>
            <a:xfrm>
              <a:off x="-3067387" y="6091445"/>
              <a:ext cx="37375" cy="37373"/>
            </a:xfrm>
            <a:custGeom>
              <a:avLst/>
              <a:gdLst>
                <a:gd name="connsiteX0" fmla="*/ 13335 w 13335"/>
                <a:gd name="connsiteY0" fmla="*/ 6667 h 13334"/>
                <a:gd name="connsiteX1" fmla="*/ 6668 w 13335"/>
                <a:gd name="connsiteY1" fmla="*/ 13335 h 13334"/>
                <a:gd name="connsiteX2" fmla="*/ 0 w 13335"/>
                <a:gd name="connsiteY2" fmla="*/ 6667 h 13334"/>
                <a:gd name="connsiteX3" fmla="*/ 6668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8" y="13335"/>
                  </a:cubicBezTo>
                  <a:cubicBezTo>
                    <a:pt x="2857" y="13335"/>
                    <a:pt x="0" y="10477"/>
                    <a:pt x="0" y="6667"/>
                  </a:cubicBezTo>
                  <a:cubicBezTo>
                    <a:pt x="0" y="2858"/>
                    <a:pt x="2857" y="0"/>
                    <a:pt x="6668"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74" name="任意多边形: 形状 73"/>
            <p:cNvSpPr/>
            <p:nvPr/>
          </p:nvSpPr>
          <p:spPr>
            <a:xfrm>
              <a:off x="-3067387" y="6208908"/>
              <a:ext cx="37375" cy="37375"/>
            </a:xfrm>
            <a:custGeom>
              <a:avLst/>
              <a:gdLst>
                <a:gd name="connsiteX0" fmla="*/ 13335 w 13335"/>
                <a:gd name="connsiteY0" fmla="*/ 6667 h 13335"/>
                <a:gd name="connsiteX1" fmla="*/ 6668 w 13335"/>
                <a:gd name="connsiteY1" fmla="*/ 13335 h 13335"/>
                <a:gd name="connsiteX2" fmla="*/ 0 w 13335"/>
                <a:gd name="connsiteY2" fmla="*/ 6667 h 13335"/>
                <a:gd name="connsiteX3" fmla="*/ 6668 w 13335"/>
                <a:gd name="connsiteY3" fmla="*/ 0 h 13335"/>
                <a:gd name="connsiteX4" fmla="*/ 13335 w 13335"/>
                <a:gd name="connsiteY4" fmla="*/ 6667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7"/>
                  </a:moveTo>
                  <a:cubicBezTo>
                    <a:pt x="13335" y="10478"/>
                    <a:pt x="10477" y="13335"/>
                    <a:pt x="6668" y="13335"/>
                  </a:cubicBezTo>
                  <a:cubicBezTo>
                    <a:pt x="2857" y="13335"/>
                    <a:pt x="0" y="10478"/>
                    <a:pt x="0" y="6667"/>
                  </a:cubicBezTo>
                  <a:cubicBezTo>
                    <a:pt x="0" y="2858"/>
                    <a:pt x="2857" y="0"/>
                    <a:pt x="6668"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75" name="任意多边形: 形状 74"/>
            <p:cNvSpPr/>
            <p:nvPr/>
          </p:nvSpPr>
          <p:spPr>
            <a:xfrm>
              <a:off x="-3067387" y="6326376"/>
              <a:ext cx="37375" cy="37373"/>
            </a:xfrm>
            <a:custGeom>
              <a:avLst/>
              <a:gdLst>
                <a:gd name="connsiteX0" fmla="*/ 13335 w 13335"/>
                <a:gd name="connsiteY0" fmla="*/ 6667 h 13334"/>
                <a:gd name="connsiteX1" fmla="*/ 6668 w 13335"/>
                <a:gd name="connsiteY1" fmla="*/ 13335 h 13334"/>
                <a:gd name="connsiteX2" fmla="*/ 0 w 13335"/>
                <a:gd name="connsiteY2" fmla="*/ 6667 h 13334"/>
                <a:gd name="connsiteX3" fmla="*/ 6668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8" y="13335"/>
                  </a:cubicBezTo>
                  <a:cubicBezTo>
                    <a:pt x="2857" y="13335"/>
                    <a:pt x="0" y="10477"/>
                    <a:pt x="0" y="6667"/>
                  </a:cubicBezTo>
                  <a:cubicBezTo>
                    <a:pt x="0" y="2857"/>
                    <a:pt x="2857" y="0"/>
                    <a:pt x="6668" y="0"/>
                  </a:cubicBezTo>
                  <a:cubicBezTo>
                    <a:pt x="10477" y="0"/>
                    <a:pt x="13335" y="2857"/>
                    <a:pt x="13335" y="6667"/>
                  </a:cubicBezTo>
                  <a:close/>
                </a:path>
              </a:pathLst>
            </a:custGeom>
            <a:grpFill/>
            <a:ln w="9525" cap="flat">
              <a:noFill/>
              <a:prstDash val="solid"/>
              <a:miter/>
            </a:ln>
          </p:spPr>
          <p:txBody>
            <a:bodyPr rtlCol="0" anchor="ctr"/>
            <a:lstStyle/>
            <a:p>
              <a:endParaRPr lang="zh-CN" altLang="en-US"/>
            </a:p>
          </p:txBody>
        </p:sp>
        <p:sp>
          <p:nvSpPr>
            <p:cNvPr id="76" name="任意多边形: 形状 75"/>
            <p:cNvSpPr/>
            <p:nvPr/>
          </p:nvSpPr>
          <p:spPr>
            <a:xfrm>
              <a:off x="-3067387" y="6443842"/>
              <a:ext cx="37375" cy="37373"/>
            </a:xfrm>
            <a:custGeom>
              <a:avLst/>
              <a:gdLst>
                <a:gd name="connsiteX0" fmla="*/ 13335 w 13335"/>
                <a:gd name="connsiteY0" fmla="*/ 6667 h 13334"/>
                <a:gd name="connsiteX1" fmla="*/ 6668 w 13335"/>
                <a:gd name="connsiteY1" fmla="*/ 13335 h 13334"/>
                <a:gd name="connsiteX2" fmla="*/ 0 w 13335"/>
                <a:gd name="connsiteY2" fmla="*/ 6667 h 13334"/>
                <a:gd name="connsiteX3" fmla="*/ 6668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8"/>
                    <a:pt x="10477" y="13335"/>
                    <a:pt x="6668" y="13335"/>
                  </a:cubicBezTo>
                  <a:cubicBezTo>
                    <a:pt x="2857" y="13335"/>
                    <a:pt x="0" y="10478"/>
                    <a:pt x="0" y="6667"/>
                  </a:cubicBezTo>
                  <a:cubicBezTo>
                    <a:pt x="0" y="2858"/>
                    <a:pt x="2857" y="0"/>
                    <a:pt x="6668"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77" name="任意多边形: 形状 76"/>
            <p:cNvSpPr/>
            <p:nvPr/>
          </p:nvSpPr>
          <p:spPr>
            <a:xfrm>
              <a:off x="-3067387" y="6561305"/>
              <a:ext cx="37375" cy="37375"/>
            </a:xfrm>
            <a:custGeom>
              <a:avLst/>
              <a:gdLst>
                <a:gd name="connsiteX0" fmla="*/ 13335 w 13335"/>
                <a:gd name="connsiteY0" fmla="*/ 6668 h 13335"/>
                <a:gd name="connsiteX1" fmla="*/ 6668 w 13335"/>
                <a:gd name="connsiteY1" fmla="*/ 13335 h 13335"/>
                <a:gd name="connsiteX2" fmla="*/ 0 w 13335"/>
                <a:gd name="connsiteY2" fmla="*/ 6668 h 13335"/>
                <a:gd name="connsiteX3" fmla="*/ 6668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8" y="13335"/>
                  </a:cubicBezTo>
                  <a:cubicBezTo>
                    <a:pt x="2857" y="13335"/>
                    <a:pt x="0" y="10478"/>
                    <a:pt x="0" y="6668"/>
                  </a:cubicBezTo>
                  <a:cubicBezTo>
                    <a:pt x="0" y="2858"/>
                    <a:pt x="2857" y="0"/>
                    <a:pt x="6668"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78" name="任意多边形: 形状 77"/>
            <p:cNvSpPr/>
            <p:nvPr/>
          </p:nvSpPr>
          <p:spPr>
            <a:xfrm>
              <a:off x="-2922131" y="5853843"/>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79" name="任意多边形: 形状 78"/>
            <p:cNvSpPr/>
            <p:nvPr/>
          </p:nvSpPr>
          <p:spPr>
            <a:xfrm>
              <a:off x="-2922131" y="5971311"/>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80" name="任意多边形: 形状 79"/>
            <p:cNvSpPr/>
            <p:nvPr/>
          </p:nvSpPr>
          <p:spPr>
            <a:xfrm>
              <a:off x="-2922131" y="6088774"/>
              <a:ext cx="37375" cy="37375"/>
            </a:xfrm>
            <a:custGeom>
              <a:avLst/>
              <a:gdLst>
                <a:gd name="connsiteX0" fmla="*/ 13335 w 13335"/>
                <a:gd name="connsiteY0" fmla="*/ 6667 h 13335"/>
                <a:gd name="connsiteX1" fmla="*/ 6667 w 13335"/>
                <a:gd name="connsiteY1" fmla="*/ 13335 h 13335"/>
                <a:gd name="connsiteX2" fmla="*/ 0 w 13335"/>
                <a:gd name="connsiteY2" fmla="*/ 6667 h 13335"/>
                <a:gd name="connsiteX3" fmla="*/ 6667 w 13335"/>
                <a:gd name="connsiteY3" fmla="*/ 0 h 13335"/>
                <a:gd name="connsiteX4" fmla="*/ 13335 w 13335"/>
                <a:gd name="connsiteY4" fmla="*/ 6667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81" name="任意多边形: 形状 80"/>
            <p:cNvSpPr/>
            <p:nvPr/>
          </p:nvSpPr>
          <p:spPr>
            <a:xfrm>
              <a:off x="-2922131" y="6206243"/>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3810"/>
                    <a:pt x="13335" y="6667"/>
                  </a:cubicBezTo>
                  <a:close/>
                </a:path>
              </a:pathLst>
            </a:custGeom>
            <a:grpFill/>
            <a:ln w="9525" cap="flat">
              <a:noFill/>
              <a:prstDash val="solid"/>
              <a:miter/>
            </a:ln>
          </p:spPr>
          <p:txBody>
            <a:bodyPr rtlCol="0" anchor="ctr"/>
            <a:lstStyle/>
            <a:p>
              <a:endParaRPr lang="zh-CN" altLang="en-US"/>
            </a:p>
          </p:txBody>
        </p:sp>
        <p:sp>
          <p:nvSpPr>
            <p:cNvPr id="82" name="任意多边形: 形状 81"/>
            <p:cNvSpPr/>
            <p:nvPr/>
          </p:nvSpPr>
          <p:spPr>
            <a:xfrm>
              <a:off x="-2922131" y="6326376"/>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2857"/>
                    <a:pt x="13335" y="6667"/>
                  </a:cubicBezTo>
                  <a:close/>
                </a:path>
              </a:pathLst>
            </a:custGeom>
            <a:grpFill/>
            <a:ln w="9525" cap="flat">
              <a:noFill/>
              <a:prstDash val="solid"/>
              <a:miter/>
            </a:ln>
          </p:spPr>
          <p:txBody>
            <a:bodyPr rtlCol="0" anchor="ctr"/>
            <a:lstStyle/>
            <a:p>
              <a:endParaRPr lang="zh-CN" altLang="en-US"/>
            </a:p>
          </p:txBody>
        </p:sp>
        <p:sp>
          <p:nvSpPr>
            <p:cNvPr id="83" name="任意多边形: 形状 82"/>
            <p:cNvSpPr/>
            <p:nvPr/>
          </p:nvSpPr>
          <p:spPr>
            <a:xfrm>
              <a:off x="-2922131" y="6443842"/>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84" name="任意多边形: 形状 83"/>
            <p:cNvSpPr/>
            <p:nvPr/>
          </p:nvSpPr>
          <p:spPr>
            <a:xfrm>
              <a:off x="-2922131" y="6561308"/>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85" name="任意多边形: 形状 84"/>
            <p:cNvSpPr/>
            <p:nvPr/>
          </p:nvSpPr>
          <p:spPr>
            <a:xfrm>
              <a:off x="-2776875" y="5853843"/>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86" name="任意多边形: 形状 85"/>
            <p:cNvSpPr/>
            <p:nvPr/>
          </p:nvSpPr>
          <p:spPr>
            <a:xfrm>
              <a:off x="-2776875" y="5971311"/>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87" name="任意多边形: 形状 86"/>
            <p:cNvSpPr/>
            <p:nvPr/>
          </p:nvSpPr>
          <p:spPr>
            <a:xfrm>
              <a:off x="-2776875" y="6088774"/>
              <a:ext cx="37375" cy="37375"/>
            </a:xfrm>
            <a:custGeom>
              <a:avLst/>
              <a:gdLst>
                <a:gd name="connsiteX0" fmla="*/ 13335 w 13335"/>
                <a:gd name="connsiteY0" fmla="*/ 6667 h 13335"/>
                <a:gd name="connsiteX1" fmla="*/ 6667 w 13335"/>
                <a:gd name="connsiteY1" fmla="*/ 13335 h 13335"/>
                <a:gd name="connsiteX2" fmla="*/ 0 w 13335"/>
                <a:gd name="connsiteY2" fmla="*/ 6667 h 13335"/>
                <a:gd name="connsiteX3" fmla="*/ 6667 w 13335"/>
                <a:gd name="connsiteY3" fmla="*/ 0 h 13335"/>
                <a:gd name="connsiteX4" fmla="*/ 13335 w 13335"/>
                <a:gd name="connsiteY4" fmla="*/ 6667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88" name="任意多边形: 形状 87"/>
            <p:cNvSpPr/>
            <p:nvPr/>
          </p:nvSpPr>
          <p:spPr>
            <a:xfrm>
              <a:off x="-2776875" y="6206243"/>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3810"/>
                    <a:pt x="13335" y="6667"/>
                  </a:cubicBezTo>
                  <a:close/>
                </a:path>
              </a:pathLst>
            </a:custGeom>
            <a:grpFill/>
            <a:ln w="9525" cap="flat">
              <a:noFill/>
              <a:prstDash val="solid"/>
              <a:miter/>
            </a:ln>
          </p:spPr>
          <p:txBody>
            <a:bodyPr rtlCol="0" anchor="ctr"/>
            <a:lstStyle/>
            <a:p>
              <a:endParaRPr lang="zh-CN" altLang="en-US"/>
            </a:p>
          </p:txBody>
        </p:sp>
        <p:sp>
          <p:nvSpPr>
            <p:cNvPr id="89" name="任意多边形: 形状 88"/>
            <p:cNvSpPr/>
            <p:nvPr/>
          </p:nvSpPr>
          <p:spPr>
            <a:xfrm>
              <a:off x="-2776875" y="6326376"/>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2857"/>
                    <a:pt x="13335" y="6667"/>
                  </a:cubicBezTo>
                  <a:close/>
                </a:path>
              </a:pathLst>
            </a:custGeom>
            <a:grpFill/>
            <a:ln w="9525" cap="flat">
              <a:noFill/>
              <a:prstDash val="solid"/>
              <a:miter/>
            </a:ln>
          </p:spPr>
          <p:txBody>
            <a:bodyPr rtlCol="0" anchor="ctr"/>
            <a:lstStyle/>
            <a:p>
              <a:endParaRPr lang="zh-CN" altLang="en-US"/>
            </a:p>
          </p:txBody>
        </p:sp>
        <p:sp>
          <p:nvSpPr>
            <p:cNvPr id="90" name="任意多边形: 形状 89"/>
            <p:cNvSpPr/>
            <p:nvPr/>
          </p:nvSpPr>
          <p:spPr>
            <a:xfrm>
              <a:off x="-2776875" y="6443842"/>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91" name="任意多边形: 形状 90"/>
            <p:cNvSpPr/>
            <p:nvPr/>
          </p:nvSpPr>
          <p:spPr>
            <a:xfrm>
              <a:off x="-2776875" y="6561308"/>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92" name="任意多边形: 形状 91"/>
            <p:cNvSpPr/>
            <p:nvPr/>
          </p:nvSpPr>
          <p:spPr>
            <a:xfrm>
              <a:off x="-2631618" y="5853843"/>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93" name="任意多边形: 形状 92"/>
            <p:cNvSpPr/>
            <p:nvPr/>
          </p:nvSpPr>
          <p:spPr>
            <a:xfrm>
              <a:off x="-2631618" y="5971311"/>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94" name="任意多边形: 形状 93"/>
            <p:cNvSpPr/>
            <p:nvPr/>
          </p:nvSpPr>
          <p:spPr>
            <a:xfrm>
              <a:off x="-2631618" y="6088774"/>
              <a:ext cx="37375" cy="37375"/>
            </a:xfrm>
            <a:custGeom>
              <a:avLst/>
              <a:gdLst>
                <a:gd name="connsiteX0" fmla="*/ 13335 w 13335"/>
                <a:gd name="connsiteY0" fmla="*/ 6667 h 13335"/>
                <a:gd name="connsiteX1" fmla="*/ 6667 w 13335"/>
                <a:gd name="connsiteY1" fmla="*/ 13335 h 13335"/>
                <a:gd name="connsiteX2" fmla="*/ 0 w 13335"/>
                <a:gd name="connsiteY2" fmla="*/ 6667 h 13335"/>
                <a:gd name="connsiteX3" fmla="*/ 6667 w 13335"/>
                <a:gd name="connsiteY3" fmla="*/ 0 h 13335"/>
                <a:gd name="connsiteX4" fmla="*/ 13335 w 13335"/>
                <a:gd name="connsiteY4" fmla="*/ 6667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95" name="任意多边形: 形状 94"/>
            <p:cNvSpPr/>
            <p:nvPr/>
          </p:nvSpPr>
          <p:spPr>
            <a:xfrm>
              <a:off x="-2631618" y="6206243"/>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3810"/>
                    <a:pt x="13335" y="6667"/>
                  </a:cubicBezTo>
                  <a:close/>
                </a:path>
              </a:pathLst>
            </a:custGeom>
            <a:grpFill/>
            <a:ln w="9525" cap="flat">
              <a:noFill/>
              <a:prstDash val="solid"/>
              <a:miter/>
            </a:ln>
          </p:spPr>
          <p:txBody>
            <a:bodyPr rtlCol="0" anchor="ctr"/>
            <a:lstStyle/>
            <a:p>
              <a:endParaRPr lang="zh-CN" altLang="en-US"/>
            </a:p>
          </p:txBody>
        </p:sp>
        <p:sp>
          <p:nvSpPr>
            <p:cNvPr id="96" name="任意多边形: 形状 95"/>
            <p:cNvSpPr/>
            <p:nvPr/>
          </p:nvSpPr>
          <p:spPr>
            <a:xfrm>
              <a:off x="-2631618" y="6326376"/>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2857"/>
                    <a:pt x="13335" y="6667"/>
                  </a:cubicBezTo>
                  <a:close/>
                </a:path>
              </a:pathLst>
            </a:custGeom>
            <a:grpFill/>
            <a:ln w="9525" cap="flat">
              <a:noFill/>
              <a:prstDash val="solid"/>
              <a:miter/>
            </a:ln>
          </p:spPr>
          <p:txBody>
            <a:bodyPr rtlCol="0" anchor="ctr"/>
            <a:lstStyle/>
            <a:p>
              <a:endParaRPr lang="zh-CN" altLang="en-US"/>
            </a:p>
          </p:txBody>
        </p:sp>
        <p:sp>
          <p:nvSpPr>
            <p:cNvPr id="97" name="任意多边形: 形状 96"/>
            <p:cNvSpPr/>
            <p:nvPr/>
          </p:nvSpPr>
          <p:spPr>
            <a:xfrm>
              <a:off x="-2631618" y="6443842"/>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98" name="任意多边形: 形状 97"/>
            <p:cNvSpPr/>
            <p:nvPr/>
          </p:nvSpPr>
          <p:spPr>
            <a:xfrm>
              <a:off x="-2631618" y="6561308"/>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99" name="任意多边形: 形状 98"/>
            <p:cNvSpPr/>
            <p:nvPr/>
          </p:nvSpPr>
          <p:spPr>
            <a:xfrm>
              <a:off x="-2486362" y="5853843"/>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100" name="任意多边形: 形状 99"/>
            <p:cNvSpPr/>
            <p:nvPr/>
          </p:nvSpPr>
          <p:spPr>
            <a:xfrm>
              <a:off x="-2486362" y="5971311"/>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101" name="任意多边形: 形状 100"/>
            <p:cNvSpPr/>
            <p:nvPr/>
          </p:nvSpPr>
          <p:spPr>
            <a:xfrm>
              <a:off x="-2486362" y="6088774"/>
              <a:ext cx="37375" cy="37375"/>
            </a:xfrm>
            <a:custGeom>
              <a:avLst/>
              <a:gdLst>
                <a:gd name="connsiteX0" fmla="*/ 13335 w 13335"/>
                <a:gd name="connsiteY0" fmla="*/ 6667 h 13335"/>
                <a:gd name="connsiteX1" fmla="*/ 6667 w 13335"/>
                <a:gd name="connsiteY1" fmla="*/ 13335 h 13335"/>
                <a:gd name="connsiteX2" fmla="*/ 0 w 13335"/>
                <a:gd name="connsiteY2" fmla="*/ 6667 h 13335"/>
                <a:gd name="connsiteX3" fmla="*/ 6667 w 13335"/>
                <a:gd name="connsiteY3" fmla="*/ 0 h 13335"/>
                <a:gd name="connsiteX4" fmla="*/ 13335 w 13335"/>
                <a:gd name="connsiteY4" fmla="*/ 6667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102" name="任意多边形: 形状 101"/>
            <p:cNvSpPr/>
            <p:nvPr/>
          </p:nvSpPr>
          <p:spPr>
            <a:xfrm>
              <a:off x="-2486362" y="6206243"/>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3810"/>
                    <a:pt x="13335" y="6667"/>
                  </a:cubicBezTo>
                  <a:close/>
                </a:path>
              </a:pathLst>
            </a:custGeom>
            <a:grpFill/>
            <a:ln w="9525" cap="flat">
              <a:noFill/>
              <a:prstDash val="solid"/>
              <a:miter/>
            </a:ln>
          </p:spPr>
          <p:txBody>
            <a:bodyPr rtlCol="0" anchor="ctr"/>
            <a:lstStyle/>
            <a:p>
              <a:endParaRPr lang="zh-CN" altLang="en-US"/>
            </a:p>
          </p:txBody>
        </p:sp>
        <p:sp>
          <p:nvSpPr>
            <p:cNvPr id="103" name="任意多边形: 形状 102"/>
            <p:cNvSpPr/>
            <p:nvPr/>
          </p:nvSpPr>
          <p:spPr>
            <a:xfrm>
              <a:off x="-2486362" y="6326376"/>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2857"/>
                    <a:pt x="13335" y="6667"/>
                  </a:cubicBezTo>
                  <a:close/>
                </a:path>
              </a:pathLst>
            </a:custGeom>
            <a:grpFill/>
            <a:ln w="9525" cap="flat">
              <a:noFill/>
              <a:prstDash val="solid"/>
              <a:miter/>
            </a:ln>
          </p:spPr>
          <p:txBody>
            <a:bodyPr rtlCol="0" anchor="ctr"/>
            <a:lstStyle/>
            <a:p>
              <a:endParaRPr lang="zh-CN" altLang="en-US"/>
            </a:p>
          </p:txBody>
        </p:sp>
        <p:sp>
          <p:nvSpPr>
            <p:cNvPr id="104" name="任意多边形: 形状 103"/>
            <p:cNvSpPr/>
            <p:nvPr/>
          </p:nvSpPr>
          <p:spPr>
            <a:xfrm>
              <a:off x="-2486362" y="6443842"/>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105" name="任意多边形: 形状 104"/>
            <p:cNvSpPr/>
            <p:nvPr/>
          </p:nvSpPr>
          <p:spPr>
            <a:xfrm>
              <a:off x="-2486362" y="6561308"/>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106" name="任意多边形: 形状 105"/>
            <p:cNvSpPr/>
            <p:nvPr/>
          </p:nvSpPr>
          <p:spPr>
            <a:xfrm>
              <a:off x="-2341106" y="5853843"/>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sp>
          <p:nvSpPr>
            <p:cNvPr id="107" name="任意多边形: 形状 106"/>
            <p:cNvSpPr/>
            <p:nvPr/>
          </p:nvSpPr>
          <p:spPr>
            <a:xfrm>
              <a:off x="-2341106" y="5971311"/>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108" name="任意多边形: 形状 107"/>
            <p:cNvSpPr/>
            <p:nvPr/>
          </p:nvSpPr>
          <p:spPr>
            <a:xfrm>
              <a:off x="-2341106" y="6088774"/>
              <a:ext cx="37375" cy="37375"/>
            </a:xfrm>
            <a:custGeom>
              <a:avLst/>
              <a:gdLst>
                <a:gd name="connsiteX0" fmla="*/ 13335 w 13335"/>
                <a:gd name="connsiteY0" fmla="*/ 6667 h 13335"/>
                <a:gd name="connsiteX1" fmla="*/ 6667 w 13335"/>
                <a:gd name="connsiteY1" fmla="*/ 13335 h 13335"/>
                <a:gd name="connsiteX2" fmla="*/ 0 w 13335"/>
                <a:gd name="connsiteY2" fmla="*/ 6667 h 13335"/>
                <a:gd name="connsiteX3" fmla="*/ 6667 w 13335"/>
                <a:gd name="connsiteY3" fmla="*/ 0 h 13335"/>
                <a:gd name="connsiteX4" fmla="*/ 13335 w 13335"/>
                <a:gd name="connsiteY4" fmla="*/ 6667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109" name="任意多边形: 形状 108"/>
            <p:cNvSpPr/>
            <p:nvPr/>
          </p:nvSpPr>
          <p:spPr>
            <a:xfrm>
              <a:off x="-2341106" y="6206243"/>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3810"/>
                    <a:pt x="13335" y="6667"/>
                  </a:cubicBezTo>
                  <a:close/>
                </a:path>
              </a:pathLst>
            </a:custGeom>
            <a:grpFill/>
            <a:ln w="9525" cap="flat">
              <a:noFill/>
              <a:prstDash val="solid"/>
              <a:miter/>
            </a:ln>
          </p:spPr>
          <p:txBody>
            <a:bodyPr rtlCol="0" anchor="ctr"/>
            <a:lstStyle/>
            <a:p>
              <a:endParaRPr lang="zh-CN" altLang="en-US"/>
            </a:p>
          </p:txBody>
        </p:sp>
        <p:sp>
          <p:nvSpPr>
            <p:cNvPr id="110" name="任意多边形: 形状 109"/>
            <p:cNvSpPr/>
            <p:nvPr/>
          </p:nvSpPr>
          <p:spPr>
            <a:xfrm>
              <a:off x="-2341106" y="6326376"/>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7"/>
                    <a:pt x="10477" y="13335"/>
                    <a:pt x="6667" y="13335"/>
                  </a:cubicBezTo>
                  <a:cubicBezTo>
                    <a:pt x="2857" y="13335"/>
                    <a:pt x="0" y="10477"/>
                    <a:pt x="0" y="6667"/>
                  </a:cubicBezTo>
                  <a:cubicBezTo>
                    <a:pt x="0" y="2857"/>
                    <a:pt x="2857" y="0"/>
                    <a:pt x="6667" y="0"/>
                  </a:cubicBezTo>
                  <a:cubicBezTo>
                    <a:pt x="10477" y="0"/>
                    <a:pt x="13335" y="2857"/>
                    <a:pt x="13335" y="6667"/>
                  </a:cubicBezTo>
                  <a:close/>
                </a:path>
              </a:pathLst>
            </a:custGeom>
            <a:grpFill/>
            <a:ln w="9525" cap="flat">
              <a:noFill/>
              <a:prstDash val="solid"/>
              <a:miter/>
            </a:ln>
          </p:spPr>
          <p:txBody>
            <a:bodyPr rtlCol="0" anchor="ctr"/>
            <a:lstStyle/>
            <a:p>
              <a:endParaRPr lang="zh-CN" altLang="en-US"/>
            </a:p>
          </p:txBody>
        </p:sp>
        <p:sp>
          <p:nvSpPr>
            <p:cNvPr id="111" name="任意多边形: 形状 110"/>
            <p:cNvSpPr/>
            <p:nvPr/>
          </p:nvSpPr>
          <p:spPr>
            <a:xfrm>
              <a:off x="-2341106" y="6443842"/>
              <a:ext cx="37375" cy="37373"/>
            </a:xfrm>
            <a:custGeom>
              <a:avLst/>
              <a:gdLst>
                <a:gd name="connsiteX0" fmla="*/ 13335 w 13335"/>
                <a:gd name="connsiteY0" fmla="*/ 6667 h 13334"/>
                <a:gd name="connsiteX1" fmla="*/ 6667 w 13335"/>
                <a:gd name="connsiteY1" fmla="*/ 13335 h 13334"/>
                <a:gd name="connsiteX2" fmla="*/ 0 w 13335"/>
                <a:gd name="connsiteY2" fmla="*/ 6667 h 13334"/>
                <a:gd name="connsiteX3" fmla="*/ 6667 w 13335"/>
                <a:gd name="connsiteY3" fmla="*/ 0 h 13334"/>
                <a:gd name="connsiteX4" fmla="*/ 13335 w 13335"/>
                <a:gd name="connsiteY4" fmla="*/ 6667 h 13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4">
                  <a:moveTo>
                    <a:pt x="13335" y="6667"/>
                  </a:moveTo>
                  <a:cubicBezTo>
                    <a:pt x="13335" y="10478"/>
                    <a:pt x="10477" y="13335"/>
                    <a:pt x="6667" y="13335"/>
                  </a:cubicBezTo>
                  <a:cubicBezTo>
                    <a:pt x="2857" y="13335"/>
                    <a:pt x="0" y="10478"/>
                    <a:pt x="0" y="6667"/>
                  </a:cubicBezTo>
                  <a:cubicBezTo>
                    <a:pt x="0" y="2858"/>
                    <a:pt x="2857" y="0"/>
                    <a:pt x="6667" y="0"/>
                  </a:cubicBezTo>
                  <a:cubicBezTo>
                    <a:pt x="10477" y="0"/>
                    <a:pt x="13335" y="2858"/>
                    <a:pt x="13335" y="6667"/>
                  </a:cubicBezTo>
                  <a:close/>
                </a:path>
              </a:pathLst>
            </a:custGeom>
            <a:grpFill/>
            <a:ln w="9525" cap="flat">
              <a:noFill/>
              <a:prstDash val="solid"/>
              <a:miter/>
            </a:ln>
          </p:spPr>
          <p:txBody>
            <a:bodyPr rtlCol="0" anchor="ctr"/>
            <a:lstStyle/>
            <a:p>
              <a:endParaRPr lang="zh-CN" altLang="en-US"/>
            </a:p>
          </p:txBody>
        </p:sp>
        <p:sp>
          <p:nvSpPr>
            <p:cNvPr id="112" name="任意多边形: 形状 111"/>
            <p:cNvSpPr/>
            <p:nvPr/>
          </p:nvSpPr>
          <p:spPr>
            <a:xfrm>
              <a:off x="-2341106" y="6561308"/>
              <a:ext cx="37375" cy="37375"/>
            </a:xfrm>
            <a:custGeom>
              <a:avLst/>
              <a:gdLst>
                <a:gd name="connsiteX0" fmla="*/ 13335 w 13335"/>
                <a:gd name="connsiteY0" fmla="*/ 6668 h 13335"/>
                <a:gd name="connsiteX1" fmla="*/ 6667 w 13335"/>
                <a:gd name="connsiteY1" fmla="*/ 13335 h 13335"/>
                <a:gd name="connsiteX2" fmla="*/ 0 w 13335"/>
                <a:gd name="connsiteY2" fmla="*/ 6668 h 13335"/>
                <a:gd name="connsiteX3" fmla="*/ 6667 w 13335"/>
                <a:gd name="connsiteY3" fmla="*/ 0 h 13335"/>
                <a:gd name="connsiteX4" fmla="*/ 13335 w 13335"/>
                <a:gd name="connsiteY4" fmla="*/ 6668 h 13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 h="13335">
                  <a:moveTo>
                    <a:pt x="13335" y="6668"/>
                  </a:moveTo>
                  <a:cubicBezTo>
                    <a:pt x="13335" y="10478"/>
                    <a:pt x="10477" y="13335"/>
                    <a:pt x="6667" y="13335"/>
                  </a:cubicBezTo>
                  <a:cubicBezTo>
                    <a:pt x="2857" y="13335"/>
                    <a:pt x="0" y="10478"/>
                    <a:pt x="0" y="6668"/>
                  </a:cubicBezTo>
                  <a:cubicBezTo>
                    <a:pt x="0" y="2858"/>
                    <a:pt x="2857" y="0"/>
                    <a:pt x="6667" y="0"/>
                  </a:cubicBezTo>
                  <a:cubicBezTo>
                    <a:pt x="10477" y="0"/>
                    <a:pt x="13335" y="2858"/>
                    <a:pt x="13335" y="6668"/>
                  </a:cubicBezTo>
                  <a:close/>
                </a:path>
              </a:pathLst>
            </a:custGeom>
            <a:grpFill/>
            <a:ln w="9525" cap="flat">
              <a:noFill/>
              <a:prstDash val="solid"/>
              <a:miter/>
            </a:ln>
          </p:spPr>
          <p:txBody>
            <a:bodyPr rtlCol="0" anchor="ctr"/>
            <a:lstStyle/>
            <a:p>
              <a:endParaRPr lang="zh-CN" altLang="en-US"/>
            </a:p>
          </p:txBody>
        </p:sp>
      </p:grpSp>
      <p:sp>
        <p:nvSpPr>
          <p:cNvPr id="4" name="标题 1"/>
          <p:cNvSpPr>
            <a:spLocks noGrp="1"/>
          </p:cNvSpPr>
          <p:nvPr>
            <p:ph type="title" hasCustomPrompt="1"/>
          </p:nvPr>
        </p:nvSpPr>
        <p:spPr>
          <a:xfrm>
            <a:off x="3089564" y="575872"/>
            <a:ext cx="6012872" cy="405102"/>
          </a:xfrm>
          <a:prstGeom prst="rect">
            <a:avLst/>
          </a:prstGeom>
        </p:spPr>
        <p:txBody>
          <a:bodyPr wrap="square" lIns="72000" tIns="36000" rIns="72000" bIns="36000">
            <a:spAutoFit/>
          </a:bodyPr>
          <a:lstStyle>
            <a:lvl1pPr algn="ctr">
              <a:defRPr lang="zh-CN" altLang="en-US" sz="2400" b="1" spc="300" dirty="0">
                <a:solidFill>
                  <a:schemeClr val="accent1"/>
                </a:solidFill>
                <a:latin typeface="+mj-ea"/>
                <a:ea typeface="+mj-ea"/>
                <a:cs typeface="+mn-cs"/>
              </a:defRPr>
            </a:lvl1pPr>
          </a:lstStyle>
          <a:p>
            <a:pPr marL="0" lvl="0" algn="dist" fontAlgn="base"/>
            <a:r>
              <a:rPr lang="zh-CN" altLang="en-US" dirty="0"/>
              <a:t>单击此处标题</a:t>
            </a:r>
            <a:endParaRPr lang="zh-CN" altLang="en-US" dirty="0"/>
          </a:p>
        </p:txBody>
      </p:sp>
      <p:cxnSp>
        <p:nvCxnSpPr>
          <p:cNvPr id="113" name="直接连接符 112"/>
          <p:cNvCxnSpPr/>
          <p:nvPr userDrawn="1"/>
        </p:nvCxnSpPr>
        <p:spPr>
          <a:xfrm>
            <a:off x="5754592" y="1088856"/>
            <a:ext cx="682817"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1"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2CB708-664F-4770-AECF-BA1A1B220D57}" type="datetimeFigureOut">
              <a:rPr lang="zh-CN" altLang="en-US" smtClean="0"/>
            </a:fld>
            <a:endParaRPr lang="zh-CN" altLang="en-US"/>
          </a:p>
        </p:txBody>
      </p:sp>
      <p:sp>
        <p:nvSpPr>
          <p:cNvPr id="122"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23"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DFDCD-830D-4E78-9097-B6B92A67D61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spTree>
      <p:nvGrpSpPr>
        <p:cNvPr id="1" name=""/>
        <p:cNvGrpSpPr/>
        <p:nvPr/>
      </p:nvGrpSpPr>
      <p:grpSpPr>
        <a:xfrm>
          <a:off x="0" y="0"/>
          <a:ext cx="0" cy="0"/>
          <a:chOff x="0" y="0"/>
          <a:chExt cx="0" cy="0"/>
        </a:xfrm>
      </p:grpSpPr>
      <p:sp>
        <p:nvSpPr>
          <p:cNvPr id="103"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2CB708-664F-4770-AECF-BA1A1B220D57}" type="datetimeFigureOut">
              <a:rPr lang="zh-CN" altLang="en-US" smtClean="0"/>
            </a:fld>
            <a:endParaRPr lang="zh-CN" altLang="en-US"/>
          </a:p>
        </p:txBody>
      </p:sp>
      <p:sp>
        <p:nvSpPr>
          <p:cNvPr id="104"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DFDCD-830D-4E78-9097-B6B92A67D61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 name="组合 4"/>
          <p:cNvGrpSpPr/>
          <p:nvPr userDrawn="1"/>
        </p:nvGrpSpPr>
        <p:grpSpPr>
          <a:xfrm>
            <a:off x="0" y="0"/>
            <a:ext cx="12192000" cy="6858000"/>
            <a:chOff x="0" y="0"/>
            <a:chExt cx="12192000" cy="6858000"/>
          </a:xfrm>
        </p:grpSpPr>
        <p:sp>
          <p:nvSpPr>
            <p:cNvPr id="6" name="任意多边形: 形状 5"/>
            <p:cNvSpPr/>
            <p:nvPr/>
          </p:nvSpPr>
          <p:spPr>
            <a:xfrm>
              <a:off x="0" y="0"/>
              <a:ext cx="1224280" cy="1224280"/>
            </a:xfrm>
            <a:custGeom>
              <a:avLst/>
              <a:gdLst>
                <a:gd name="connsiteX0" fmla="*/ 0 w 1224280"/>
                <a:gd name="connsiteY0" fmla="*/ 0 h 1224280"/>
                <a:gd name="connsiteX1" fmla="*/ 1224280 w 1224280"/>
                <a:gd name="connsiteY1" fmla="*/ 0 h 1224280"/>
                <a:gd name="connsiteX2" fmla="*/ 0 w 1224280"/>
                <a:gd name="connsiteY2" fmla="*/ 1224280 h 1224280"/>
              </a:gdLst>
              <a:ahLst/>
              <a:cxnLst>
                <a:cxn ang="0">
                  <a:pos x="connsiteX0" y="connsiteY0"/>
                </a:cxn>
                <a:cxn ang="0">
                  <a:pos x="connsiteX1" y="connsiteY1"/>
                </a:cxn>
                <a:cxn ang="0">
                  <a:pos x="connsiteX2" y="connsiteY2"/>
                </a:cxn>
              </a:cxnLst>
              <a:rect l="l" t="t" r="r" b="b"/>
              <a:pathLst>
                <a:path w="1224280" h="1224280">
                  <a:moveTo>
                    <a:pt x="0" y="0"/>
                  </a:moveTo>
                  <a:lnTo>
                    <a:pt x="1224280" y="0"/>
                  </a:lnTo>
                  <a:cubicBezTo>
                    <a:pt x="1224280" y="676151"/>
                    <a:pt x="676151" y="1224280"/>
                    <a:pt x="0" y="122428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形状 6"/>
            <p:cNvSpPr/>
            <p:nvPr/>
          </p:nvSpPr>
          <p:spPr>
            <a:xfrm flipH="1">
              <a:off x="10967720" y="0"/>
              <a:ext cx="1224280" cy="1224280"/>
            </a:xfrm>
            <a:custGeom>
              <a:avLst/>
              <a:gdLst>
                <a:gd name="connsiteX0" fmla="*/ 0 w 1224280"/>
                <a:gd name="connsiteY0" fmla="*/ 0 h 1224280"/>
                <a:gd name="connsiteX1" fmla="*/ 1224280 w 1224280"/>
                <a:gd name="connsiteY1" fmla="*/ 0 h 1224280"/>
                <a:gd name="connsiteX2" fmla="*/ 0 w 1224280"/>
                <a:gd name="connsiteY2" fmla="*/ 1224280 h 1224280"/>
              </a:gdLst>
              <a:ahLst/>
              <a:cxnLst>
                <a:cxn ang="0">
                  <a:pos x="connsiteX0" y="connsiteY0"/>
                </a:cxn>
                <a:cxn ang="0">
                  <a:pos x="connsiteX1" y="connsiteY1"/>
                </a:cxn>
                <a:cxn ang="0">
                  <a:pos x="connsiteX2" y="connsiteY2"/>
                </a:cxn>
              </a:cxnLst>
              <a:rect l="l" t="t" r="r" b="b"/>
              <a:pathLst>
                <a:path w="1224280" h="1224280">
                  <a:moveTo>
                    <a:pt x="0" y="0"/>
                  </a:moveTo>
                  <a:lnTo>
                    <a:pt x="1224280" y="0"/>
                  </a:lnTo>
                  <a:cubicBezTo>
                    <a:pt x="1224280" y="676151"/>
                    <a:pt x="676151" y="1224280"/>
                    <a:pt x="0" y="122428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p:nvSpPr>
          <p:spPr>
            <a:xfrm flipV="1">
              <a:off x="0" y="5633720"/>
              <a:ext cx="1224280" cy="1224280"/>
            </a:xfrm>
            <a:custGeom>
              <a:avLst/>
              <a:gdLst>
                <a:gd name="connsiteX0" fmla="*/ 0 w 1224280"/>
                <a:gd name="connsiteY0" fmla="*/ 0 h 1224280"/>
                <a:gd name="connsiteX1" fmla="*/ 1224280 w 1224280"/>
                <a:gd name="connsiteY1" fmla="*/ 0 h 1224280"/>
                <a:gd name="connsiteX2" fmla="*/ 0 w 1224280"/>
                <a:gd name="connsiteY2" fmla="*/ 1224280 h 1224280"/>
              </a:gdLst>
              <a:ahLst/>
              <a:cxnLst>
                <a:cxn ang="0">
                  <a:pos x="connsiteX0" y="connsiteY0"/>
                </a:cxn>
                <a:cxn ang="0">
                  <a:pos x="connsiteX1" y="connsiteY1"/>
                </a:cxn>
                <a:cxn ang="0">
                  <a:pos x="connsiteX2" y="connsiteY2"/>
                </a:cxn>
              </a:cxnLst>
              <a:rect l="l" t="t" r="r" b="b"/>
              <a:pathLst>
                <a:path w="1224280" h="1224280">
                  <a:moveTo>
                    <a:pt x="0" y="0"/>
                  </a:moveTo>
                  <a:lnTo>
                    <a:pt x="1224280" y="0"/>
                  </a:lnTo>
                  <a:cubicBezTo>
                    <a:pt x="1224280" y="676151"/>
                    <a:pt x="676151" y="1224280"/>
                    <a:pt x="0" y="122428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nvSpPr>
          <p:spPr>
            <a:xfrm flipH="1" flipV="1">
              <a:off x="10967720" y="5633720"/>
              <a:ext cx="1224280" cy="1224280"/>
            </a:xfrm>
            <a:custGeom>
              <a:avLst/>
              <a:gdLst>
                <a:gd name="connsiteX0" fmla="*/ 0 w 1224280"/>
                <a:gd name="connsiteY0" fmla="*/ 0 h 1224280"/>
                <a:gd name="connsiteX1" fmla="*/ 1224280 w 1224280"/>
                <a:gd name="connsiteY1" fmla="*/ 0 h 1224280"/>
                <a:gd name="connsiteX2" fmla="*/ 0 w 1224280"/>
                <a:gd name="connsiteY2" fmla="*/ 1224280 h 1224280"/>
              </a:gdLst>
              <a:ahLst/>
              <a:cxnLst>
                <a:cxn ang="0">
                  <a:pos x="connsiteX0" y="connsiteY0"/>
                </a:cxn>
                <a:cxn ang="0">
                  <a:pos x="connsiteX1" y="connsiteY1"/>
                </a:cxn>
                <a:cxn ang="0">
                  <a:pos x="connsiteX2" y="connsiteY2"/>
                </a:cxn>
              </a:cxnLst>
              <a:rect l="l" t="t" r="r" b="b"/>
              <a:pathLst>
                <a:path w="1224280" h="1224280">
                  <a:moveTo>
                    <a:pt x="0" y="0"/>
                  </a:moveTo>
                  <a:lnTo>
                    <a:pt x="1224280" y="0"/>
                  </a:lnTo>
                  <a:cubicBezTo>
                    <a:pt x="1224280" y="676151"/>
                    <a:pt x="676151" y="1224280"/>
                    <a:pt x="0" y="122428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p:cNvSpPr/>
          <p:nvPr userDrawn="1"/>
        </p:nvSpPr>
        <p:spPr>
          <a:xfrm>
            <a:off x="213360" y="205740"/>
            <a:ext cx="11765280" cy="6446520"/>
          </a:xfrm>
          <a:prstGeom prst="rect">
            <a:avLst/>
          </a:prstGeom>
          <a:solidFill>
            <a:schemeClr val="bg1"/>
          </a:solidFill>
          <a:ln w="12700" cap="flat" cmpd="sng" algn="ctr">
            <a:noFill/>
            <a:prstDash val="solid"/>
            <a:miter lim="800000"/>
          </a:ln>
          <a:effectLst>
            <a:outerShdw blurRad="228600" sx="98000" sy="98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p:cNvSpPr/>
          <p:nvPr userDrawn="1"/>
        </p:nvSpPr>
        <p:spPr>
          <a:xfrm>
            <a:off x="314960" y="304800"/>
            <a:ext cx="11562080" cy="6248400"/>
          </a:xfrm>
          <a:prstGeom prst="roundRect">
            <a:avLst>
              <a:gd name="adj" fmla="val 0"/>
            </a:avLst>
          </a:prstGeom>
          <a:noFill/>
          <a:ln w="254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2CB708-664F-4770-AECF-BA1A1B220D57}" type="datetimeFigureOut">
              <a:rPr lang="zh-CN" altLang="en-US" smtClean="0"/>
            </a:fld>
            <a:endParaRPr lang="zh-CN" altLang="en-US"/>
          </a:p>
        </p:txBody>
      </p:sp>
      <p:sp>
        <p:nvSpPr>
          <p:cNvPr id="3"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4"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DFDCD-830D-4E78-9097-B6B92A67D61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1.webp"/></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webp"/></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image" Target="../media/image1.webp"/></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webp"/><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webp"/></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image" Target="../media/image1.webp"/></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image" Target="../media/image1.webp"/></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webp"/></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tags" Target="../tags/tag5.xml"/><Relationship Id="rId1" Type="http://schemas.openxmlformats.org/officeDocument/2006/relationships/image" Target="../media/image1.webp"/></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xml"/><Relationship Id="rId6" Type="http://schemas.openxmlformats.org/officeDocument/2006/relationships/tags" Target="../tags/tag6.xml"/><Relationship Id="rId5" Type="http://schemas.openxmlformats.org/officeDocument/2006/relationships/image" Target="../media/image1.webp"/><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tags" Target="../tags/tag7.xml"/><Relationship Id="rId3" Type="http://schemas.openxmlformats.org/officeDocument/2006/relationships/image" Target="../media/image8.png"/><Relationship Id="rId2" Type="http://schemas.openxmlformats.org/officeDocument/2006/relationships/image" Target="../media/image1.webp"/><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tags" Target="../tags/tag8.xml"/><Relationship Id="rId2" Type="http://schemas.openxmlformats.org/officeDocument/2006/relationships/image" Target="../media/image1.webp"/><Relationship Id="rId1" Type="http://schemas.openxmlformats.org/officeDocument/2006/relationships/image" Target="../media/image9.emf"/></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tags" Target="../tags/tag9.xml"/><Relationship Id="rId2" Type="http://schemas.openxmlformats.org/officeDocument/2006/relationships/image" Target="../media/image1.webp"/><Relationship Id="rId1" Type="http://schemas.openxmlformats.org/officeDocument/2006/relationships/image" Target="../media/image10.emf"/></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tags" Target="../tags/tag10.xml"/><Relationship Id="rId1" Type="http://schemas.openxmlformats.org/officeDocument/2006/relationships/image" Target="../media/image1.webp"/></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tags" Target="../tags/tag11.xml"/><Relationship Id="rId1" Type="http://schemas.openxmlformats.org/officeDocument/2006/relationships/image" Target="../media/image1.web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powerpoint template design by DAJU_PPT正版来源小红书大橘PPT微信DAJU_PPT请勿抄袭搬运！盗版必究！"/>
          <p:cNvSpPr txBox="1"/>
          <p:nvPr/>
        </p:nvSpPr>
        <p:spPr>
          <a:xfrm>
            <a:off x="4267200" y="4354683"/>
            <a:ext cx="3657600" cy="391626"/>
          </a:xfrm>
          <a:prstGeom prst="roundRect">
            <a:avLst>
              <a:gd name="adj" fmla="val 50000"/>
            </a:avLst>
          </a:prstGeom>
          <a:noFill/>
          <a:ln>
            <a:solidFill>
              <a:schemeClr val="accent2"/>
            </a:solidFill>
          </a:ln>
        </p:spPr>
        <p:txBody>
          <a:bodyPr wrap="square" lIns="0" tIns="0" rIns="0" bIns="0" anchor="ctr" anchorCtr="0">
            <a:noAutofit/>
          </a:bodyPr>
          <a:lstStyle>
            <a:defPPr>
              <a:defRPr lang="zh-CN"/>
            </a:defPPr>
            <a:lvl1pPr algn="dist" fontAlgn="base">
              <a:defRPr sz="1600" b="0" i="0">
                <a:solidFill>
                  <a:schemeClr val="accent5">
                    <a:lumMod val="50000"/>
                  </a:schemeClr>
                </a:solidFill>
                <a:effectLst/>
                <a:latin typeface="+mn-ea"/>
              </a:defRPr>
            </a:lvl1pPr>
          </a:lstStyle>
          <a:p>
            <a:pPr algn="ctr"/>
            <a:r>
              <a:rPr lang="zh-CN" altLang="en-US" sz="1800" dirty="0">
                <a:solidFill>
                  <a:schemeClr val="tx1"/>
                </a:solidFill>
                <a:latin typeface="+mn-lt"/>
                <a:cs typeface="+mn-ea"/>
                <a:sym typeface="+mn-lt"/>
              </a:rPr>
              <a:t>学校：</a:t>
            </a:r>
            <a:r>
              <a:rPr lang="en-US" altLang="zh-CN" sz="1800" dirty="0">
                <a:solidFill>
                  <a:schemeClr val="tx1"/>
                </a:solidFill>
                <a:latin typeface="+mn-lt"/>
                <a:cs typeface="+mn-ea"/>
                <a:sym typeface="+mn-lt"/>
              </a:rPr>
              <a:t>xxxxxx</a:t>
            </a:r>
            <a:endParaRPr lang="en-US" altLang="zh-CN" sz="1800" dirty="0">
              <a:solidFill>
                <a:schemeClr val="tx1"/>
              </a:solidFill>
              <a:latin typeface="+mn-lt"/>
              <a:cs typeface="+mn-ea"/>
              <a:sym typeface="+mn-lt"/>
            </a:endParaRPr>
          </a:p>
        </p:txBody>
      </p:sp>
      <p:sp>
        <p:nvSpPr>
          <p:cNvPr id="46" name="powerpoint template design by DAJU_PPT正版来源小红书大橘PPT微信DAJU_PPT请勿抄袭搬运！盗版必究！"/>
          <p:cNvSpPr txBox="1"/>
          <p:nvPr/>
        </p:nvSpPr>
        <p:spPr>
          <a:xfrm>
            <a:off x="4267200" y="3811713"/>
            <a:ext cx="3657600" cy="391626"/>
          </a:xfrm>
          <a:prstGeom prst="roundRect">
            <a:avLst>
              <a:gd name="adj" fmla="val 50000"/>
            </a:avLst>
          </a:prstGeom>
          <a:noFill/>
          <a:ln>
            <a:solidFill>
              <a:schemeClr val="accent2"/>
            </a:solidFill>
          </a:ln>
        </p:spPr>
        <p:txBody>
          <a:bodyPr wrap="square" lIns="0" tIns="0" rIns="0" bIns="0" anchor="ctr" anchorCtr="0">
            <a:noAutofit/>
          </a:bodyPr>
          <a:lstStyle>
            <a:defPPr>
              <a:defRPr lang="zh-CN"/>
            </a:defPPr>
            <a:lvl1pPr algn="dist" fontAlgn="base">
              <a:defRPr sz="1600" b="0" i="0">
                <a:solidFill>
                  <a:schemeClr val="accent5">
                    <a:lumMod val="50000"/>
                  </a:schemeClr>
                </a:solidFill>
                <a:effectLst/>
                <a:latin typeface="+mn-ea"/>
              </a:defRPr>
            </a:lvl1pPr>
          </a:lstStyle>
          <a:p>
            <a:pPr algn="ctr"/>
            <a:r>
              <a:rPr lang="zh-CN" altLang="en-US" sz="1800" dirty="0">
                <a:solidFill>
                  <a:schemeClr val="tx1"/>
                </a:solidFill>
                <a:latin typeface="+mn-lt"/>
                <a:cs typeface="+mn-ea"/>
                <a:sym typeface="+mn-lt"/>
              </a:rPr>
              <a:t>姓名：</a:t>
            </a:r>
            <a:r>
              <a:rPr lang="en-US" altLang="zh-CN" sz="1800" dirty="0">
                <a:solidFill>
                  <a:schemeClr val="tx1"/>
                </a:solidFill>
                <a:latin typeface="+mn-lt"/>
                <a:cs typeface="+mn-ea"/>
                <a:sym typeface="+mn-lt"/>
              </a:rPr>
              <a:t>xxxx</a:t>
            </a:r>
            <a:endParaRPr lang="en-US" altLang="zh-CN" sz="1800" dirty="0">
              <a:solidFill>
                <a:schemeClr val="tx1"/>
              </a:solidFill>
              <a:latin typeface="+mn-lt"/>
              <a:cs typeface="+mn-ea"/>
              <a:sym typeface="+mn-lt"/>
            </a:endParaRPr>
          </a:p>
        </p:txBody>
      </p:sp>
      <p:sp>
        <p:nvSpPr>
          <p:cNvPr id="47" name="powerpoint template design by DAJU_PPT正版来源小红书大橘PPT微信DAJU_PPT请勿抄袭搬运！盗版必究！"/>
          <p:cNvSpPr txBox="1"/>
          <p:nvPr/>
        </p:nvSpPr>
        <p:spPr>
          <a:xfrm>
            <a:off x="2434423" y="2677105"/>
            <a:ext cx="7802136" cy="1015663"/>
          </a:xfrm>
          <a:prstGeom prst="rect">
            <a:avLst/>
          </a:prstGeom>
          <a:noFill/>
        </p:spPr>
        <p:txBody>
          <a:bodyPr wrap="none" rtlCol="0">
            <a:spAutoFit/>
          </a:bodyPr>
          <a:lstStyle/>
          <a:p>
            <a:pPr algn="ctr"/>
            <a:r>
              <a:rPr lang="zh-CN" altLang="en-US" sz="6000" b="1" spc="600" dirty="0">
                <a:solidFill>
                  <a:schemeClr val="accent1"/>
                </a:solidFill>
                <a:cs typeface="+mn-ea"/>
                <a:sym typeface="+mn-lt"/>
              </a:rPr>
              <a:t>夏令营面试自我陈述</a:t>
            </a:r>
            <a:endParaRPr lang="zh-CN" altLang="en-US" sz="6000" b="1" spc="600" dirty="0">
              <a:solidFill>
                <a:schemeClr val="accent1"/>
              </a:solidFill>
              <a:cs typeface="+mn-ea"/>
              <a:sym typeface="+mn-lt"/>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44785" y="515474"/>
            <a:ext cx="3102429" cy="2052774"/>
          </a:xfrm>
          <a:prstGeom prst="rect">
            <a:avLst/>
          </a:prstGeom>
        </p:spPr>
      </p:pic>
    </p:spTree>
    <p:custDataLst>
      <p:tags r:id="rId2"/>
    </p:custData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powerpoint template design by DAJU_PPT正版来源小红书大橘PPT微信DAJU_PPT请勿抄袭搬运！盗版必究！"/>
          <p:cNvGrpSpPr/>
          <p:nvPr/>
        </p:nvGrpSpPr>
        <p:grpSpPr>
          <a:xfrm>
            <a:off x="1494514" y="2356959"/>
            <a:ext cx="3393162" cy="2144082"/>
            <a:chOff x="1494514" y="2509359"/>
            <a:chExt cx="3393162" cy="2144082"/>
          </a:xfrm>
        </p:grpSpPr>
        <p:sp>
          <p:nvSpPr>
            <p:cNvPr id="32" name="powerpoint template design by DAJU_PPT正版来源小红书大橘PPT微信DAJU_PPT请勿抄袭搬运！盗版必究！-1"/>
            <p:cNvSpPr/>
            <p:nvPr/>
          </p:nvSpPr>
          <p:spPr>
            <a:xfrm>
              <a:off x="1494514" y="2509359"/>
              <a:ext cx="3393162" cy="2144082"/>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60" name="powerpoint template design by DAJU_PPT正版来源小红书大橘PPT微信DAJU_PPT请勿抄袭搬运！盗版必究！-2"/>
            <p:cNvSpPr/>
            <p:nvPr/>
          </p:nvSpPr>
          <p:spPr>
            <a:xfrm>
              <a:off x="2492756" y="3024330"/>
              <a:ext cx="1396678" cy="738663"/>
            </a:xfrm>
            <a:prstGeom prst="rect">
              <a:avLst/>
            </a:prstGeom>
          </p:spPr>
          <p:txBody>
            <a:bodyPr wrap="square" lIns="0" tIns="0" rIns="0" bIns="0">
              <a:spAutoFit/>
            </a:bodyPr>
            <a:lstStyle/>
            <a:p>
              <a:pPr algn="dist" fontAlgn="base"/>
              <a:r>
                <a:rPr lang="zh-CN" altLang="en-US" sz="4800" b="1" spc="600" dirty="0">
                  <a:solidFill>
                    <a:schemeClr val="accent1">
                      <a:lumMod val="75000"/>
                    </a:schemeClr>
                  </a:solidFill>
                  <a:cs typeface="+mn-ea"/>
                  <a:sym typeface="+mn-lt"/>
                </a:rPr>
                <a:t>目录</a:t>
              </a:r>
              <a:endParaRPr lang="zh-CN" altLang="en-US" sz="4800" b="1" spc="600" dirty="0">
                <a:solidFill>
                  <a:schemeClr val="accent1">
                    <a:lumMod val="75000"/>
                  </a:schemeClr>
                </a:solidFill>
                <a:cs typeface="+mn-ea"/>
                <a:sym typeface="+mn-lt"/>
              </a:endParaRPr>
            </a:p>
          </p:txBody>
        </p:sp>
        <p:sp>
          <p:nvSpPr>
            <p:cNvPr id="61" name="powerpoint template design by DAJU_PPT正版来源小红书大橘PPT微信DAJU_PPT请勿抄袭搬运！盗版必究！-3"/>
            <p:cNvSpPr/>
            <p:nvPr/>
          </p:nvSpPr>
          <p:spPr>
            <a:xfrm>
              <a:off x="2307560" y="3892250"/>
              <a:ext cx="1767070" cy="246221"/>
            </a:xfrm>
            <a:prstGeom prst="rect">
              <a:avLst/>
            </a:prstGeom>
          </p:spPr>
          <p:txBody>
            <a:bodyPr wrap="square" lIns="0" tIns="0" rIns="0" bIns="0">
              <a:spAutoFit/>
            </a:bodyPr>
            <a:lstStyle/>
            <a:p>
              <a:pPr algn="dist" fontAlgn="base"/>
              <a:r>
                <a:rPr lang="en-US" altLang="zh-CN" sz="1600" i="0" dirty="0">
                  <a:solidFill>
                    <a:schemeClr val="bg1">
                      <a:lumMod val="65000"/>
                    </a:schemeClr>
                  </a:solidFill>
                  <a:effectLst/>
                  <a:cs typeface="+mn-ea"/>
                  <a:sym typeface="+mn-lt"/>
                </a:rPr>
                <a:t>CONTENT</a:t>
              </a:r>
              <a:endParaRPr lang="zh-CN" altLang="en-US" sz="1600" i="0" dirty="0">
                <a:solidFill>
                  <a:schemeClr val="bg1">
                    <a:lumMod val="65000"/>
                  </a:schemeClr>
                </a:solidFill>
                <a:effectLst/>
                <a:cs typeface="+mn-ea"/>
                <a:sym typeface="+mn-lt"/>
              </a:endParaRPr>
            </a:p>
          </p:txBody>
        </p:sp>
      </p:grpSp>
      <p:grpSp>
        <p:nvGrpSpPr>
          <p:cNvPr id="2" name="powerpoint template design by DAJU_PPT正版来源小红书大橘PPT微信DAJU_PPT请勿抄袭搬运！盗版必究！"/>
          <p:cNvGrpSpPr/>
          <p:nvPr/>
        </p:nvGrpSpPr>
        <p:grpSpPr>
          <a:xfrm>
            <a:off x="5885918" y="2205539"/>
            <a:ext cx="3323275" cy="2295502"/>
            <a:chOff x="5901748" y="1580901"/>
            <a:chExt cx="3323275" cy="2295502"/>
          </a:xfrm>
        </p:grpSpPr>
        <p:sp>
          <p:nvSpPr>
            <p:cNvPr id="38" name="powerpoint template design by DAJU_PPT正版来源小红书大橘PPT微信DAJU_PPT请勿抄袭搬运！盗版必究！-1"/>
            <p:cNvSpPr txBox="1"/>
            <p:nvPr/>
          </p:nvSpPr>
          <p:spPr>
            <a:xfrm>
              <a:off x="6583283" y="1608732"/>
              <a:ext cx="2641740" cy="523220"/>
            </a:xfrm>
            <a:prstGeom prst="roundRect">
              <a:avLst>
                <a:gd name="adj" fmla="val 50000"/>
              </a:avLst>
            </a:prstGeom>
            <a:solidFill>
              <a:schemeClr val="bg1">
                <a:lumMod val="95000"/>
              </a:schemeClr>
            </a:solidFill>
          </p:spPr>
          <p:txBody>
            <a:bodyPr wrap="square" lIns="25200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defRPr/>
              </a:pPr>
              <a:r>
                <a:rPr kumimoji="0" lang="zh-CN" altLang="en-US" sz="2800" b="1" i="0" u="none" strike="noStrike" kern="0" cap="none" spc="0" normalizeH="0" baseline="0" noProof="0" dirty="0">
                  <a:ln>
                    <a:noFill/>
                  </a:ln>
                  <a:effectLst/>
                  <a:uLnTx/>
                  <a:uFillTx/>
                  <a:cs typeface="+mn-ea"/>
                  <a:sym typeface="+mn-lt"/>
                </a:rPr>
                <a:t>基本信息</a:t>
              </a:r>
              <a:endParaRPr kumimoji="0" lang="en-US" altLang="zh-CN" sz="2800" b="1" i="0" u="none" strike="noStrike" kern="0" cap="none" spc="0" normalizeH="0" baseline="0" noProof="0" dirty="0">
                <a:ln>
                  <a:noFill/>
                </a:ln>
                <a:effectLst/>
                <a:uLnTx/>
                <a:uFillTx/>
                <a:cs typeface="+mn-ea"/>
                <a:sym typeface="+mn-lt"/>
              </a:endParaRPr>
            </a:p>
          </p:txBody>
        </p:sp>
        <p:sp>
          <p:nvSpPr>
            <p:cNvPr id="39" name="powerpoint template design by DAJU_PPT正版来源小红书大橘PPT微信DAJU_PPT请勿抄袭搬运！盗版必究！-2"/>
            <p:cNvSpPr txBox="1"/>
            <p:nvPr/>
          </p:nvSpPr>
          <p:spPr>
            <a:xfrm>
              <a:off x="6583283" y="2467042"/>
              <a:ext cx="2641740" cy="523220"/>
            </a:xfrm>
            <a:prstGeom prst="roundRect">
              <a:avLst>
                <a:gd name="adj" fmla="val 50000"/>
              </a:avLst>
            </a:prstGeom>
            <a:solidFill>
              <a:schemeClr val="bg1">
                <a:lumMod val="95000"/>
              </a:schemeClr>
            </a:solidFill>
          </p:spPr>
          <p:txBody>
            <a:bodyPr wrap="square" lIns="25200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defRPr/>
              </a:pPr>
              <a:r>
                <a:rPr lang="zh-CN" altLang="en-US" sz="2800" b="1" kern="0" dirty="0">
                  <a:cs typeface="+mn-ea"/>
                  <a:sym typeface="+mn-lt"/>
                </a:rPr>
                <a:t>科研经历</a:t>
              </a:r>
              <a:endParaRPr lang="en-US" altLang="zh-CN" sz="2800" b="1" kern="0" dirty="0">
                <a:cs typeface="+mn-ea"/>
                <a:sym typeface="+mn-lt"/>
              </a:endParaRPr>
            </a:p>
          </p:txBody>
        </p:sp>
        <p:sp>
          <p:nvSpPr>
            <p:cNvPr id="40" name="powerpoint template design by DAJU_PPT正版来源小红书大橘PPT微信DAJU_PPT请勿抄袭搬运！盗版必究！-3"/>
            <p:cNvSpPr txBox="1"/>
            <p:nvPr/>
          </p:nvSpPr>
          <p:spPr>
            <a:xfrm>
              <a:off x="6583283" y="3325352"/>
              <a:ext cx="2641740" cy="523220"/>
            </a:xfrm>
            <a:prstGeom prst="roundRect">
              <a:avLst>
                <a:gd name="adj" fmla="val 50000"/>
              </a:avLst>
            </a:prstGeom>
            <a:solidFill>
              <a:schemeClr val="bg1">
                <a:lumMod val="95000"/>
              </a:schemeClr>
            </a:solidFill>
          </p:spPr>
          <p:txBody>
            <a:bodyPr wrap="square" lIns="252000" rtlCol="0" anchor="ctr"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defRPr/>
              </a:pPr>
              <a:r>
                <a:rPr kumimoji="0" lang="zh-CN" altLang="en-US" sz="2800" b="1" i="0" u="none" strike="noStrike" kern="0" cap="none" spc="0" normalizeH="0" baseline="0" noProof="0" dirty="0">
                  <a:ln>
                    <a:noFill/>
                  </a:ln>
                  <a:effectLst/>
                  <a:uLnTx/>
                  <a:uFillTx/>
                  <a:cs typeface="+mn-ea"/>
                  <a:sym typeface="+mn-lt"/>
                </a:rPr>
                <a:t>成果展示</a:t>
              </a:r>
              <a:endParaRPr kumimoji="0" lang="en-US" altLang="zh-CN" sz="2800" b="1" i="0" u="none" strike="noStrike" kern="0" cap="none" spc="0" normalizeH="0" baseline="0" noProof="0" dirty="0">
                <a:ln>
                  <a:noFill/>
                </a:ln>
                <a:effectLst/>
                <a:uLnTx/>
                <a:uFillTx/>
                <a:cs typeface="+mn-ea"/>
                <a:sym typeface="+mn-lt"/>
              </a:endParaRPr>
            </a:p>
          </p:txBody>
        </p:sp>
        <p:sp>
          <p:nvSpPr>
            <p:cNvPr id="33" name="powerpoint template design by DAJU_PPT正版来源小红书大橘PPT微信DAJU_PPT请勿抄袭搬运！盗版必究！-5"/>
            <p:cNvSpPr/>
            <p:nvPr/>
          </p:nvSpPr>
          <p:spPr>
            <a:xfrm>
              <a:off x="5901748" y="1580901"/>
              <a:ext cx="586208" cy="578882"/>
            </a:xfrm>
            <a:prstGeom prst="roundRect">
              <a:avLst>
                <a:gd name="adj" fmla="val 50000"/>
              </a:avLst>
            </a:prstGeom>
            <a:solidFill>
              <a:schemeClr val="accent2"/>
            </a:solidFill>
            <a:ln w="25400" cap="flat" cmpd="sng" algn="ctr">
              <a:noFill/>
              <a:prstDash val="solid"/>
            </a:ln>
            <a:effectLst/>
          </p:spPr>
          <p:txBody>
            <a:bodyPr rot="0" spcFirstLastPara="0"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r>
                <a:rPr lang="en-US" sz="2000" kern="0" dirty="0">
                  <a:solidFill>
                    <a:sysClr val="window" lastClr="FFFFFF"/>
                  </a:solidFill>
                  <a:cs typeface="+mn-ea"/>
                  <a:sym typeface="+mn-lt"/>
                </a:rPr>
                <a:t>01</a:t>
              </a:r>
              <a:endParaRPr kumimoji="0" lang="en-US" sz="2000" i="0" u="none" strike="noStrike" kern="0" cap="none" spc="0" normalizeH="0" baseline="0" noProof="0" dirty="0">
                <a:ln>
                  <a:noFill/>
                </a:ln>
                <a:solidFill>
                  <a:sysClr val="window" lastClr="FFFFFF"/>
                </a:solidFill>
                <a:effectLst/>
                <a:uLnTx/>
                <a:uFillTx/>
                <a:cs typeface="+mn-ea"/>
                <a:sym typeface="+mn-lt"/>
              </a:endParaRPr>
            </a:p>
          </p:txBody>
        </p:sp>
        <p:sp>
          <p:nvSpPr>
            <p:cNvPr id="34" name="powerpoint template design by DAJU_PPT正版来源小红书大橘PPT微信DAJU_PPT请勿抄袭搬运！盗版必究！-6"/>
            <p:cNvSpPr/>
            <p:nvPr/>
          </p:nvSpPr>
          <p:spPr>
            <a:xfrm>
              <a:off x="5901748" y="2439211"/>
              <a:ext cx="586208" cy="578882"/>
            </a:xfrm>
            <a:prstGeom prst="roundRect">
              <a:avLst>
                <a:gd name="adj" fmla="val 50000"/>
              </a:avLst>
            </a:prstGeom>
            <a:solidFill>
              <a:schemeClr val="accent2"/>
            </a:solidFill>
            <a:ln w="25400" cap="flat" cmpd="sng" algn="ctr">
              <a:noFill/>
              <a:prstDash val="solid"/>
            </a:ln>
            <a:effectLst/>
          </p:spPr>
          <p:txBody>
            <a:bodyPr rot="0" spcFirstLastPara="0"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000" i="0" u="none" strike="noStrike" kern="0" cap="none" spc="0" normalizeH="0" baseline="0" noProof="0" dirty="0">
                  <a:ln>
                    <a:noFill/>
                  </a:ln>
                  <a:solidFill>
                    <a:sysClr val="window" lastClr="FFFFFF"/>
                  </a:solidFill>
                  <a:effectLst/>
                  <a:uLnTx/>
                  <a:uFillTx/>
                  <a:cs typeface="+mn-ea"/>
                  <a:sym typeface="+mn-lt"/>
                </a:rPr>
                <a:t>02</a:t>
              </a:r>
              <a:endParaRPr kumimoji="0" lang="en-US" sz="2000" i="0" u="none" strike="noStrike" kern="0" cap="none" spc="0" normalizeH="0" baseline="0" noProof="0" dirty="0">
                <a:ln>
                  <a:noFill/>
                </a:ln>
                <a:solidFill>
                  <a:sysClr val="window" lastClr="FFFFFF"/>
                </a:solidFill>
                <a:effectLst/>
                <a:uLnTx/>
                <a:uFillTx/>
                <a:cs typeface="+mn-ea"/>
                <a:sym typeface="+mn-lt"/>
              </a:endParaRPr>
            </a:p>
          </p:txBody>
        </p:sp>
        <p:sp>
          <p:nvSpPr>
            <p:cNvPr id="35" name="powerpoint template design by DAJU_PPT正版来源小红书大橘PPT微信DAJU_PPT请勿抄袭搬运！盗版必究！-7"/>
            <p:cNvSpPr/>
            <p:nvPr/>
          </p:nvSpPr>
          <p:spPr>
            <a:xfrm>
              <a:off x="5901748" y="3297521"/>
              <a:ext cx="586208" cy="578882"/>
            </a:xfrm>
            <a:prstGeom prst="roundRect">
              <a:avLst>
                <a:gd name="adj" fmla="val 50000"/>
              </a:avLst>
            </a:prstGeom>
            <a:solidFill>
              <a:schemeClr val="accent2"/>
            </a:solidFill>
            <a:ln w="25400" cap="flat" cmpd="sng" algn="ctr">
              <a:noFill/>
              <a:prstDash val="solid"/>
            </a:ln>
            <a:effectLst/>
          </p:spPr>
          <p:txBody>
            <a:bodyPr rot="0" spcFirstLastPara="0"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2000" i="0" u="none" strike="noStrike" kern="0" cap="none" spc="0" normalizeH="0" baseline="0" noProof="0" dirty="0">
                  <a:ln>
                    <a:noFill/>
                  </a:ln>
                  <a:solidFill>
                    <a:sysClr val="window" lastClr="FFFFFF"/>
                  </a:solidFill>
                  <a:effectLst/>
                  <a:uLnTx/>
                  <a:uFillTx/>
                  <a:cs typeface="+mn-ea"/>
                  <a:sym typeface="+mn-lt"/>
                </a:rPr>
                <a:t>03</a:t>
              </a:r>
              <a:endParaRPr kumimoji="0" lang="en-US" sz="2000" i="0" u="none" strike="noStrike" kern="0" cap="none" spc="0" normalizeH="0" baseline="0" noProof="0" dirty="0">
                <a:ln>
                  <a:noFill/>
                </a:ln>
                <a:solidFill>
                  <a:sysClr val="window" lastClr="FFFFFF"/>
                </a:solidFill>
                <a:effectLst/>
                <a:uLnTx/>
                <a:uFillTx/>
                <a:cs typeface="+mn-ea"/>
                <a:sym typeface="+mn-lt"/>
              </a:endParaRPr>
            </a:p>
          </p:txBody>
        </p:sp>
      </p:gr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03971" y="385536"/>
            <a:ext cx="1603434" cy="1060939"/>
          </a:xfrm>
          <a:prstGeom prst="rect">
            <a:avLst/>
          </a:prstGeo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owerpoint template design by DAJU_PPT正版来源小红书大橘PPT微信DAJU_PPT请勿抄袭搬运！盗版必究！"/>
          <p:cNvSpPr/>
          <p:nvPr/>
        </p:nvSpPr>
        <p:spPr>
          <a:xfrm>
            <a:off x="314960" y="304800"/>
            <a:ext cx="11562080" cy="6248400"/>
          </a:xfrm>
          <a:prstGeom prst="roundRect">
            <a:avLst>
              <a:gd name="adj" fmla="val 0"/>
            </a:avLst>
          </a:prstGeom>
          <a:noFill/>
          <a:ln w="254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powerpoint template design by DAJU_PPT正版来源小红书大橘PPT微信DAJU_PPT请勿抄袭搬运！盗版必究！"/>
          <p:cNvCxnSpPr/>
          <p:nvPr/>
        </p:nvCxnSpPr>
        <p:spPr>
          <a:xfrm>
            <a:off x="3522388" y="4530266"/>
            <a:ext cx="514722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powerpoint template design by DAJU_PPT正版来源小红书大橘PPT微信DAJU_PPT请勿抄袭搬运！盗版必究！"/>
          <p:cNvSpPr>
            <a:spLocks noGrp="1"/>
          </p:cNvSpPr>
          <p:nvPr>
            <p:ph type="body" sz="quarter" idx="12"/>
          </p:nvPr>
        </p:nvSpPr>
        <p:spPr>
          <a:prstGeom prst="rect">
            <a:avLst/>
          </a:prstGeom>
        </p:spPr>
        <p:txBody>
          <a:bodyPr/>
          <a:lstStyle/>
          <a:p>
            <a:r>
              <a:rPr lang="zh-CN" altLang="en-US" dirty="0">
                <a:latin typeface="+mn-lt"/>
                <a:ea typeface="+mn-ea"/>
                <a:cs typeface="+mn-ea"/>
                <a:sym typeface="+mn-lt"/>
              </a:rPr>
              <a:t>基本信息</a:t>
            </a:r>
            <a:endParaRPr lang="zh-CN" altLang="en-US" dirty="0">
              <a:latin typeface="+mn-lt"/>
              <a:ea typeface="+mn-ea"/>
              <a:cs typeface="+mn-ea"/>
              <a:sym typeface="+mn-lt"/>
            </a:endParaRPr>
          </a:p>
        </p:txBody>
      </p:sp>
      <p:sp>
        <p:nvSpPr>
          <p:cNvPr id="17" name="powerpoint template design by DAJU_PPT正版来源小红书大橘PPT微信DAJU_PPT请勿抄袭搬运！盗版必究！"/>
          <p:cNvSpPr>
            <a:spLocks noGrp="1"/>
          </p:cNvSpPr>
          <p:nvPr>
            <p:ph type="body" sz="quarter" idx="14"/>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cs typeface="+mn-ea"/>
                <a:sym typeface="+mn-lt"/>
              </a:rPr>
              <a:t>BASIC INFORMATION</a:t>
            </a:r>
            <a:endParaRPr lang="en-US" altLang="zh-CN" dirty="0">
              <a:cs typeface="+mn-ea"/>
              <a:sym typeface="+mn-lt"/>
            </a:endParaRPr>
          </a:p>
        </p:txBody>
      </p:sp>
      <p:sp>
        <p:nvSpPr>
          <p:cNvPr id="16" name="powerpoint template design by DAJU_PPT正版来源小红书大橘PPT微信DAJU_PPT请勿抄袭搬运！盗版必究！"/>
          <p:cNvSpPr>
            <a:spLocks noGrp="1"/>
          </p:cNvSpPr>
          <p:nvPr>
            <p:ph type="body" sz="quarter" idx="10"/>
          </p:nvPr>
        </p:nvSpPr>
        <p:spPr>
          <a:xfrm>
            <a:off x="5058857" y="1542830"/>
            <a:ext cx="2074286" cy="1911292"/>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latin typeface="+mn-lt"/>
                <a:cs typeface="+mn-ea"/>
                <a:sym typeface="+mn-lt"/>
              </a:rPr>
              <a:t>01</a:t>
            </a:r>
            <a:endParaRPr lang="zh-CN" altLang="en-US" dirty="0">
              <a:latin typeface="+mn-lt"/>
              <a:cs typeface="+mn-ea"/>
              <a:sym typeface="+mn-lt"/>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03971" y="385536"/>
            <a:ext cx="1603434" cy="1060939"/>
          </a:xfrm>
          <a:prstGeom prst="rect">
            <a:avLst/>
          </a:prstGeom>
        </p:spPr>
      </p:pic>
    </p:spTree>
    <p:custDataLst>
      <p:tags r:id="rId2"/>
    </p:custData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werpoint template design by DAJU_PPT正版来源小红书大橘PPT微信DAJU_PPT请勿抄袭搬运！盗版必究！"/>
          <p:cNvSpPr>
            <a:spLocks noGrp="1"/>
          </p:cNvSpPr>
          <p:nvPr>
            <p:ph type="title"/>
          </p:nvPr>
        </p:nvSpPr>
        <p:spPr>
          <a:xfrm>
            <a:off x="4526478" y="494194"/>
            <a:ext cx="6012872" cy="405102"/>
          </a:xfrm>
          <a:prstGeom prst="rect">
            <a:avLst/>
          </a:prstGeom>
        </p:spPr>
        <p:txBody>
          <a:bodyPr>
            <a:noAutofit/>
          </a:bodyPr>
          <a:lstStyle/>
          <a:p>
            <a:pPr algn="l"/>
            <a:r>
              <a:rPr lang="zh-CN" altLang="en-US" sz="3600" dirty="0">
                <a:sym typeface="+mn-lt"/>
              </a:rPr>
              <a:t>个人基本情况</a:t>
            </a:r>
            <a:endParaRPr lang="zh-CN" altLang="en-US" sz="3600" dirty="0">
              <a:sym typeface="+mn-lt"/>
            </a:endParaRPr>
          </a:p>
        </p:txBody>
      </p:sp>
      <p:grpSp>
        <p:nvGrpSpPr>
          <p:cNvPr id="2" name="powerpoint template design by DAJU_PPT正版来源小红书大橘PPT微信DAJU_PPT请勿抄袭搬运！盗版必究！"/>
          <p:cNvGrpSpPr/>
          <p:nvPr/>
        </p:nvGrpSpPr>
        <p:grpSpPr>
          <a:xfrm>
            <a:off x="5568455" y="1502598"/>
            <a:ext cx="5687375" cy="4416093"/>
            <a:chOff x="736921" y="2242140"/>
            <a:chExt cx="5687375" cy="4416093"/>
          </a:xfrm>
        </p:grpSpPr>
        <p:sp>
          <p:nvSpPr>
            <p:cNvPr id="43" name="powerpoint template design by DAJU_PPT正版来源小红书大橘PPT微信DAJU_PPT请勿抄袭搬运！盗版必究！-1"/>
            <p:cNvSpPr txBox="1"/>
            <p:nvPr/>
          </p:nvSpPr>
          <p:spPr>
            <a:xfrm>
              <a:off x="736921" y="2242140"/>
              <a:ext cx="2419111" cy="460375"/>
            </a:xfrm>
            <a:prstGeom prst="rect">
              <a:avLst/>
            </a:prstGeom>
            <a:noFill/>
          </p:spPr>
          <p:txBody>
            <a:bodyPr wrap="square" rtlCol="0">
              <a:spAutoFit/>
            </a:bodyPr>
            <a:lstStyle/>
            <a:p>
              <a:r>
                <a:rPr lang="en-US" altLang="zh-CN" sz="2400" b="1" spc="300" dirty="0">
                  <a:solidFill>
                    <a:schemeClr val="accent1"/>
                  </a:solidFill>
                  <a:latin typeface="+mj-ea"/>
                  <a:ea typeface="+mj-ea"/>
                </a:rPr>
                <a:t>xxxxxx</a:t>
              </a:r>
              <a:endParaRPr lang="en-US" altLang="zh-CN" sz="2400" b="1" spc="300" dirty="0">
                <a:solidFill>
                  <a:schemeClr val="accent1"/>
                </a:solidFill>
                <a:latin typeface="+mj-ea"/>
                <a:ea typeface="+mj-ea"/>
              </a:endParaRPr>
            </a:p>
          </p:txBody>
        </p:sp>
        <p:sp>
          <p:nvSpPr>
            <p:cNvPr id="45" name="powerpoint template design by DAJU_PPT正版来源小红书大橘PPT微信DAJU_PPT请勿抄袭搬运！盗版必究！-2"/>
            <p:cNvSpPr txBox="1"/>
            <p:nvPr/>
          </p:nvSpPr>
          <p:spPr>
            <a:xfrm>
              <a:off x="736921" y="2703805"/>
              <a:ext cx="5359079" cy="368300"/>
            </a:xfrm>
            <a:prstGeom prst="rect">
              <a:avLst/>
            </a:prstGeom>
            <a:noFill/>
          </p:spPr>
          <p:txBody>
            <a:bodyPr wrap="square" rtlCol="0">
              <a:spAutoFit/>
            </a:bodyPr>
            <a:lstStyle/>
            <a:p>
              <a:pPr algn="dist"/>
              <a:r>
                <a:rPr lang="zh-CN" altLang="en-US" b="1" dirty="0">
                  <a:latin typeface="+mj-ea"/>
                  <a:ea typeface="+mj-ea"/>
                </a:rPr>
                <a:t>本科院校：</a:t>
              </a:r>
              <a:r>
                <a:rPr lang="en-US" altLang="zh-CN" b="1" dirty="0">
                  <a:latin typeface="+mj-ea"/>
                  <a:ea typeface="+mj-ea"/>
                </a:rPr>
                <a:t>xxxxxx</a:t>
              </a:r>
              <a:r>
                <a:rPr lang="zh-CN" altLang="en-US" b="1" dirty="0">
                  <a:latin typeface="+mj-ea"/>
                  <a:ea typeface="+mj-ea"/>
                </a:rPr>
                <a:t> </a:t>
              </a:r>
              <a:r>
                <a:rPr lang="en-US" altLang="zh-CN" b="1" dirty="0">
                  <a:latin typeface="+mj-ea"/>
                  <a:ea typeface="+mj-ea"/>
                </a:rPr>
                <a:t>/ </a:t>
              </a:r>
              <a:r>
                <a:rPr lang="zh-CN" altLang="en-US" b="1" dirty="0">
                  <a:latin typeface="+mj-ea"/>
                  <a:ea typeface="+mj-ea"/>
                </a:rPr>
                <a:t>国民经济管理专业</a:t>
              </a:r>
              <a:endParaRPr lang="zh-CN" altLang="en-US" b="1" dirty="0">
                <a:latin typeface="+mj-ea"/>
                <a:ea typeface="+mj-ea"/>
              </a:endParaRPr>
            </a:p>
          </p:txBody>
        </p:sp>
        <p:sp>
          <p:nvSpPr>
            <p:cNvPr id="46" name="powerpoint template design by DAJU_PPT正版来源小红书大橘PPT微信DAJU_PPT请勿抄袭搬运！盗版必究！-3"/>
            <p:cNvSpPr txBox="1"/>
            <p:nvPr/>
          </p:nvSpPr>
          <p:spPr>
            <a:xfrm>
              <a:off x="736921" y="3290836"/>
              <a:ext cx="5687375" cy="336739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b="1" dirty="0">
                  <a:latin typeface="+mj-ea"/>
                  <a:ea typeface="+mj-ea"/>
                </a:rPr>
                <a:t>专业学习：</a:t>
              </a:r>
              <a:r>
                <a:rPr lang="zh-CN" altLang="en-US" dirty="0">
                  <a:latin typeface="+mj-ea"/>
                  <a:ea typeface="+mj-ea"/>
                </a:rPr>
                <a:t>绩点</a:t>
              </a:r>
              <a:r>
                <a:rPr lang="en-US" altLang="zh-CN" dirty="0">
                  <a:latin typeface="+mj-ea"/>
                  <a:ea typeface="+mj-ea"/>
                </a:rPr>
                <a:t>3.84</a:t>
              </a:r>
              <a:r>
                <a:rPr lang="zh-CN" altLang="en-US" dirty="0">
                  <a:latin typeface="+mj-ea"/>
                  <a:ea typeface="+mj-ea"/>
                </a:rPr>
                <a:t>，专业排名</a:t>
              </a:r>
              <a:r>
                <a:rPr lang="en-US" altLang="zh-CN" dirty="0">
                  <a:latin typeface="+mj-ea"/>
                  <a:ea typeface="+mj-ea"/>
                </a:rPr>
                <a:t>5/44</a:t>
              </a:r>
              <a:endParaRPr lang="en-US" altLang="zh-CN" dirty="0">
                <a:latin typeface="+mj-ea"/>
                <a:ea typeface="+mj-ea"/>
              </a:endParaRPr>
            </a:p>
            <a:p>
              <a:pPr marL="285750" indent="-285750">
                <a:lnSpc>
                  <a:spcPct val="150000"/>
                </a:lnSpc>
                <a:buFont typeface="Wingdings" panose="05000000000000000000" pitchFamily="2" charset="2"/>
                <a:buChar char="Ø"/>
              </a:pPr>
              <a:r>
                <a:rPr lang="zh-CN" altLang="en-US" b="1" dirty="0">
                  <a:latin typeface="+mj-ea"/>
                  <a:ea typeface="+mj-ea"/>
                </a:rPr>
                <a:t>英语水平：</a:t>
              </a:r>
              <a:r>
                <a:rPr lang="en-US" altLang="zh-CN" dirty="0">
                  <a:latin typeface="+mj-ea"/>
                  <a:ea typeface="+mj-ea"/>
                </a:rPr>
                <a:t>CET4-616</a:t>
              </a:r>
              <a:r>
                <a:rPr lang="zh-CN" altLang="en-US" dirty="0">
                  <a:latin typeface="+mj-ea"/>
                  <a:ea typeface="+mj-ea"/>
                </a:rPr>
                <a:t>分，</a:t>
              </a:r>
              <a:r>
                <a:rPr lang="en-US" altLang="zh-CN" dirty="0">
                  <a:latin typeface="+mj-ea"/>
                  <a:ea typeface="+mj-ea"/>
                </a:rPr>
                <a:t>CET6-535</a:t>
              </a:r>
              <a:r>
                <a:rPr lang="zh-CN" altLang="en-US" dirty="0">
                  <a:latin typeface="+mj-ea"/>
                  <a:ea typeface="+mj-ea"/>
                </a:rPr>
                <a:t>分</a:t>
              </a:r>
              <a:endParaRPr lang="en-US" altLang="zh-CN" dirty="0">
                <a:latin typeface="+mj-ea"/>
                <a:ea typeface="+mj-ea"/>
              </a:endParaRPr>
            </a:p>
            <a:p>
              <a:pPr marL="285750" indent="-285750">
                <a:lnSpc>
                  <a:spcPct val="150000"/>
                </a:lnSpc>
                <a:buFont typeface="Wingdings" panose="05000000000000000000" pitchFamily="2" charset="2"/>
                <a:buChar char="Ø"/>
              </a:pPr>
              <a:r>
                <a:rPr lang="zh-CN" altLang="en-US" b="1" dirty="0">
                  <a:latin typeface="+mj-ea"/>
                  <a:ea typeface="+mj-ea"/>
                </a:rPr>
                <a:t>专业技能：</a:t>
              </a:r>
              <a:r>
                <a:rPr lang="zh-CN" altLang="en-US" dirty="0">
                  <a:latin typeface="+mj-ea"/>
                  <a:ea typeface="+mj-ea"/>
                </a:rPr>
                <a:t>熟练掌握</a:t>
              </a:r>
              <a:r>
                <a:rPr lang="en-US" altLang="zh-CN" dirty="0">
                  <a:latin typeface="+mj-ea"/>
                  <a:ea typeface="+mj-ea"/>
                </a:rPr>
                <a:t>Stata</a:t>
              </a:r>
              <a:r>
                <a:rPr lang="zh-CN" altLang="en-US" dirty="0">
                  <a:latin typeface="+mj-ea"/>
                  <a:ea typeface="+mj-ea"/>
                </a:rPr>
                <a:t>、</a:t>
              </a:r>
              <a:r>
                <a:rPr lang="en-US" altLang="zh-CN" dirty="0">
                  <a:latin typeface="+mj-ea"/>
                  <a:ea typeface="+mj-ea"/>
                </a:rPr>
                <a:t>R</a:t>
              </a:r>
              <a:r>
                <a:rPr lang="zh-CN" altLang="en-US" dirty="0">
                  <a:latin typeface="+mj-ea"/>
                  <a:ea typeface="+mj-ea"/>
                </a:rPr>
                <a:t>进行数据统计处理，熟练使用</a:t>
              </a:r>
              <a:r>
                <a:rPr lang="en-US" altLang="zh-CN" dirty="0">
                  <a:latin typeface="+mj-ea"/>
                  <a:ea typeface="+mj-ea"/>
                </a:rPr>
                <a:t>Office</a:t>
              </a:r>
              <a:r>
                <a:rPr lang="zh-CN" altLang="en-US" dirty="0">
                  <a:latin typeface="+mj-ea"/>
                  <a:ea typeface="+mj-ea"/>
                </a:rPr>
                <a:t>软件</a:t>
              </a:r>
              <a:endParaRPr lang="en-US" altLang="zh-CN" dirty="0">
                <a:latin typeface="+mj-ea"/>
                <a:ea typeface="+mj-ea"/>
              </a:endParaRPr>
            </a:p>
            <a:p>
              <a:pPr marL="285750" indent="-285750">
                <a:lnSpc>
                  <a:spcPct val="150000"/>
                </a:lnSpc>
                <a:buFont typeface="Wingdings" panose="05000000000000000000" pitchFamily="2" charset="2"/>
                <a:buChar char="Ø"/>
              </a:pPr>
              <a:r>
                <a:rPr lang="zh-CN" altLang="en-US" b="1" dirty="0">
                  <a:latin typeface="+mj-ea"/>
                  <a:ea typeface="+mj-ea"/>
                </a:rPr>
                <a:t>主修课程：</a:t>
              </a:r>
              <a:r>
                <a:rPr lang="zh-CN" altLang="en-US" dirty="0">
                  <a:latin typeface="+mj-ea"/>
                  <a:ea typeface="+mj-ea"/>
                </a:rPr>
                <a:t>中级微观经济学（</a:t>
              </a:r>
              <a:r>
                <a:rPr lang="en-US" altLang="zh-CN" dirty="0">
                  <a:latin typeface="+mj-ea"/>
                  <a:ea typeface="+mj-ea"/>
                </a:rPr>
                <a:t>93</a:t>
              </a:r>
              <a:r>
                <a:rPr lang="zh-CN" altLang="en-US" dirty="0">
                  <a:latin typeface="+mj-ea"/>
                  <a:ea typeface="+mj-ea"/>
                </a:rPr>
                <a:t>分），计量经济学（</a:t>
              </a:r>
              <a:r>
                <a:rPr lang="en-US" altLang="zh-CN" dirty="0">
                  <a:latin typeface="+mj-ea"/>
                  <a:ea typeface="+mj-ea"/>
                </a:rPr>
                <a:t>95</a:t>
              </a:r>
              <a:r>
                <a:rPr lang="zh-CN" altLang="en-US" dirty="0">
                  <a:latin typeface="+mj-ea"/>
                  <a:ea typeface="+mj-ea"/>
                </a:rPr>
                <a:t>分），国际经济学（</a:t>
              </a:r>
              <a:r>
                <a:rPr lang="en-US" altLang="zh-CN" dirty="0">
                  <a:latin typeface="+mj-ea"/>
                  <a:ea typeface="+mj-ea"/>
                </a:rPr>
                <a:t>95</a:t>
              </a:r>
              <a:r>
                <a:rPr lang="zh-CN" altLang="en-US" dirty="0">
                  <a:latin typeface="+mj-ea"/>
                  <a:ea typeface="+mj-ea"/>
                </a:rPr>
                <a:t>分），国民经济核算概论（</a:t>
              </a:r>
              <a:r>
                <a:rPr lang="en-US" altLang="zh-CN" dirty="0">
                  <a:latin typeface="+mj-ea"/>
                  <a:ea typeface="+mj-ea"/>
                </a:rPr>
                <a:t>95</a:t>
              </a:r>
              <a:r>
                <a:rPr lang="zh-CN" altLang="en-US" dirty="0">
                  <a:latin typeface="+mj-ea"/>
                  <a:ea typeface="+mj-ea"/>
                </a:rPr>
                <a:t>分），发展经济学（</a:t>
              </a:r>
              <a:r>
                <a:rPr lang="en-US" altLang="zh-CN" dirty="0">
                  <a:latin typeface="+mj-ea"/>
                  <a:ea typeface="+mj-ea"/>
                </a:rPr>
                <a:t>95</a:t>
              </a:r>
              <a:r>
                <a:rPr lang="zh-CN" altLang="en-US" dirty="0">
                  <a:latin typeface="+mj-ea"/>
                  <a:ea typeface="+mj-ea"/>
                </a:rPr>
                <a:t>分），外国宏观经济管理（</a:t>
              </a:r>
              <a:r>
                <a:rPr lang="en-US" altLang="zh-CN" dirty="0">
                  <a:latin typeface="+mj-ea"/>
                  <a:ea typeface="+mj-ea"/>
                </a:rPr>
                <a:t>GPA 4.0</a:t>
              </a:r>
              <a:r>
                <a:rPr lang="zh-CN" altLang="en-US" dirty="0">
                  <a:latin typeface="+mj-ea"/>
                  <a:ea typeface="+mj-ea"/>
                </a:rPr>
                <a:t>），产业经济管理（</a:t>
              </a:r>
              <a:r>
                <a:rPr lang="en-US" altLang="zh-CN" dirty="0">
                  <a:latin typeface="+mj-ea"/>
                  <a:ea typeface="+mj-ea"/>
                </a:rPr>
                <a:t>GPA 4.0</a:t>
              </a:r>
              <a:r>
                <a:rPr lang="zh-CN" altLang="en-US" dirty="0">
                  <a:latin typeface="+mj-ea"/>
                  <a:ea typeface="+mj-ea"/>
                </a:rPr>
                <a:t>）</a:t>
              </a:r>
              <a:endParaRPr lang="en-US" altLang="zh-CN" dirty="0">
                <a:latin typeface="+mj-ea"/>
                <a:ea typeface="+mj-ea"/>
              </a:endParaRPr>
            </a:p>
          </p:txBody>
        </p:sp>
        <p:cxnSp>
          <p:nvCxnSpPr>
            <p:cNvPr id="47" name="powerpoint template design by DAJU_PPT正版来源小红书大橘PPT微信DAJU_PPT请勿抄袭搬运！盗版必究！-4"/>
            <p:cNvCxnSpPr/>
            <p:nvPr/>
          </p:nvCxnSpPr>
          <p:spPr>
            <a:xfrm>
              <a:off x="848956" y="3176651"/>
              <a:ext cx="715992"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632892" y="1671306"/>
            <a:ext cx="2913342" cy="4078679"/>
          </a:xfrm>
          <a:prstGeom prst="rect">
            <a:avLst/>
          </a:prstGeom>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03971" y="385536"/>
            <a:ext cx="1603434" cy="1060939"/>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owerpoint template design by DAJU_PPT正版来源小红书大橘PPT微信DAJU_PPT请勿抄袭搬运！盗版必究！"/>
          <p:cNvSpPr/>
          <p:nvPr/>
        </p:nvSpPr>
        <p:spPr>
          <a:xfrm>
            <a:off x="4530785" y="1426435"/>
            <a:ext cx="3393162" cy="2144082"/>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accent2">
              <a:lumMod val="20000"/>
              <a:lumOff val="80000"/>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powerpoint template design by DAJU_PPT正版来源小红书大橘PPT微信DAJU_PPT请勿抄袭搬运！盗版必究！"/>
          <p:cNvCxnSpPr/>
          <p:nvPr/>
        </p:nvCxnSpPr>
        <p:spPr>
          <a:xfrm>
            <a:off x="3522388" y="4530266"/>
            <a:ext cx="514722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powerpoint template design by DAJU_PPT正版来源小红书大橘PPT微信DAJU_PPT请勿抄袭搬运！盗版必究！"/>
          <p:cNvSpPr>
            <a:spLocks noGrp="1"/>
          </p:cNvSpPr>
          <p:nvPr>
            <p:ph type="body" sz="quarter" idx="12"/>
          </p:nvPr>
        </p:nvSpPr>
        <p:spPr>
          <a:prstGeom prst="rect">
            <a:avLst/>
          </a:prstGeom>
        </p:spPr>
        <p:txBody>
          <a:bodyPr/>
          <a:lstStyle/>
          <a:p>
            <a:r>
              <a:rPr lang="zh-CN" altLang="en-US" dirty="0">
                <a:latin typeface="+mn-lt"/>
                <a:ea typeface="+mn-ea"/>
                <a:cs typeface="+mn-ea"/>
                <a:sym typeface="+mn-lt"/>
              </a:rPr>
              <a:t>科研经历</a:t>
            </a:r>
            <a:endParaRPr lang="zh-CN" altLang="en-US" dirty="0">
              <a:latin typeface="+mn-lt"/>
              <a:ea typeface="+mn-ea"/>
              <a:cs typeface="+mn-ea"/>
              <a:sym typeface="+mn-lt"/>
            </a:endParaRPr>
          </a:p>
        </p:txBody>
      </p:sp>
      <p:sp>
        <p:nvSpPr>
          <p:cNvPr id="17" name="powerpoint template design by DAJU_PPT正版来源小红书大橘PPT微信DAJU_PPT请勿抄袭搬运！盗版必究！"/>
          <p:cNvSpPr>
            <a:spLocks noGrp="1"/>
          </p:cNvSpPr>
          <p:nvPr>
            <p:ph type="body" sz="quarter" idx="14"/>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cs typeface="+mn-ea"/>
                <a:sym typeface="+mn-lt"/>
              </a:rPr>
              <a:t>SCIENTIFIC RESEARCH COMPETITION</a:t>
            </a:r>
            <a:endParaRPr lang="en-US" altLang="zh-CN" dirty="0">
              <a:cs typeface="+mn-ea"/>
              <a:sym typeface="+mn-lt"/>
            </a:endParaRPr>
          </a:p>
        </p:txBody>
      </p:sp>
      <p:sp>
        <p:nvSpPr>
          <p:cNvPr id="16" name="powerpoint template design by DAJU_PPT正版来源小红书大橘PPT微信DAJU_PPT请勿抄袭搬运！盗版必究！"/>
          <p:cNvSpPr>
            <a:spLocks noGrp="1"/>
          </p:cNvSpPr>
          <p:nvPr>
            <p:ph type="body" sz="quarter" idx="10"/>
          </p:nvPr>
        </p:nvSpPr>
        <p:spPr>
          <a:xfrm>
            <a:off x="5058857" y="1542830"/>
            <a:ext cx="2074286" cy="1911292"/>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latin typeface="+mn-lt"/>
                <a:cs typeface="+mn-ea"/>
                <a:sym typeface="+mn-lt"/>
              </a:rPr>
              <a:t>02</a:t>
            </a:r>
            <a:endParaRPr lang="zh-CN" altLang="en-US" dirty="0">
              <a:latin typeface="+mn-lt"/>
              <a:cs typeface="+mn-ea"/>
              <a:sym typeface="+mn-lt"/>
            </a:endParaRPr>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03971" y="385536"/>
            <a:ext cx="1603434" cy="1060939"/>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160814" y="1467797"/>
            <a:ext cx="7870372" cy="1134862"/>
          </a:xfrm>
          <a:prstGeom prst="rect">
            <a:avLst/>
          </a:prstGeom>
          <a:noFill/>
        </p:spPr>
        <p:txBody>
          <a:bodyPr wrap="square">
            <a:spAutoFit/>
          </a:bodyPr>
          <a:lstStyle/>
          <a:p>
            <a:pPr>
              <a:lnSpc>
                <a:spcPct val="150000"/>
              </a:lnSpc>
              <a:spcAft>
                <a:spcPts val="500"/>
              </a:spcAft>
            </a:pPr>
            <a:r>
              <a:rPr lang="en-US" altLang="zh-CN" sz="2400" b="1" dirty="0">
                <a:latin typeface="Times New Roman" panose="02020603050405020304" pitchFamily="18" charset="0"/>
                <a:cs typeface="Times New Roman" panose="02020603050405020304" pitchFamily="18" charset="0"/>
              </a:rPr>
              <a:t>1</a:t>
            </a:r>
            <a:r>
              <a:rPr lang="zh-CN" altLang="en-US" sz="2400" b="1" dirty="0">
                <a:latin typeface="Times New Roman" panose="02020603050405020304" pitchFamily="18" charset="0"/>
                <a:cs typeface="Times New Roman" panose="02020603050405020304" pitchFamily="18" charset="0"/>
              </a:rPr>
              <a:t>、“创新杯”竞赛</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数字经济与城乡收入不平等的扩大：来自城镇化的视角</a:t>
            </a:r>
            <a:r>
              <a:rPr lang="en-US" altLang="zh-CN" sz="2400" b="1" dirty="0">
                <a:latin typeface="Times New Roman" panose="02020603050405020304" pitchFamily="18" charset="0"/>
                <a:cs typeface="Times New Roman" panose="02020603050405020304" pitchFamily="18" charset="0"/>
              </a:rPr>
              <a:t>》 </a:t>
            </a:r>
            <a:endParaRPr lang="zh-CN" altLang="en-US" sz="2400" b="1" dirty="0">
              <a:latin typeface="Times New Roman" panose="02020603050405020304" pitchFamily="18" charset="0"/>
              <a:cs typeface="Times New Roman" panose="02020603050405020304" pitchFamily="18" charset="0"/>
            </a:endParaRPr>
          </a:p>
        </p:txBody>
      </p:sp>
      <p:sp>
        <p:nvSpPr>
          <p:cNvPr id="10" name="文本框 9"/>
          <p:cNvSpPr txBox="1"/>
          <p:nvPr/>
        </p:nvSpPr>
        <p:spPr>
          <a:xfrm>
            <a:off x="2160813" y="2614518"/>
            <a:ext cx="8006443" cy="3078920"/>
          </a:xfrm>
          <a:prstGeom prst="rect">
            <a:avLst/>
          </a:prstGeom>
          <a:noFill/>
        </p:spPr>
        <p:txBody>
          <a:bodyPr wrap="square" rtlCol="0">
            <a:spAutoFit/>
          </a:bodyPr>
          <a:lstStyle/>
          <a:p>
            <a:pPr>
              <a:lnSpc>
                <a:spcPct val="150000"/>
              </a:lnSpc>
            </a:pPr>
            <a:r>
              <a:rPr lang="zh-CN" altLang="en-US" sz="2200" dirty="0"/>
              <a:t>       本文使用我国</a:t>
            </a:r>
            <a:r>
              <a:rPr lang="en-US" altLang="zh-CN" sz="2200" dirty="0"/>
              <a:t>201</a:t>
            </a:r>
            <a:r>
              <a:rPr lang="zh-CN" altLang="en-US" sz="2200" dirty="0"/>
              <a:t>个城市</a:t>
            </a:r>
            <a:r>
              <a:rPr lang="en-US" altLang="zh-CN" sz="2200" dirty="0"/>
              <a:t>2011-2019</a:t>
            </a:r>
            <a:r>
              <a:rPr lang="zh-CN" altLang="en-US" sz="2200" dirty="0"/>
              <a:t>年的面板数据，采用固定效应模型考察数字经济对城乡收入不平等的影响。研究结果表明，数字经济的发展显著加剧了城乡收入不平等，城镇化是其中重要的传导机制。城镇化这一传导机制的作用大小在不同的企业家精神强度下有所不同，企业家精神越强的地区，数字经济发展抑制城镇化的作用越强，从而扩大收入不平等的作用越强。</a:t>
            </a:r>
            <a:endParaRPr lang="zh-CN" altLang="en-US" sz="2200" dirty="0"/>
          </a:p>
        </p:txBody>
      </p:sp>
      <p:sp>
        <p:nvSpPr>
          <p:cNvPr id="3" name="文本框 2"/>
          <p:cNvSpPr txBox="1"/>
          <p:nvPr/>
        </p:nvSpPr>
        <p:spPr>
          <a:xfrm>
            <a:off x="3766457" y="797357"/>
            <a:ext cx="4365171" cy="590931"/>
          </a:xfrm>
          <a:prstGeom prst="rect">
            <a:avLst/>
          </a:prstGeom>
          <a:noFill/>
        </p:spPr>
        <p:txBody>
          <a:bodyPr wrap="square" rtlCol="0">
            <a:spAutoFit/>
          </a:bodyPr>
          <a:lstStyle/>
          <a:p>
            <a:pPr algn="ctr">
              <a:lnSpc>
                <a:spcPct val="90000"/>
              </a:lnSpc>
              <a:spcBef>
                <a:spcPct val="0"/>
              </a:spcBef>
            </a:pPr>
            <a:r>
              <a:rPr lang="zh-CN" altLang="en-US" sz="3600" b="1" spc="300" dirty="0">
                <a:solidFill>
                  <a:schemeClr val="accent1"/>
                </a:solidFill>
                <a:cs typeface="+mn-ea"/>
              </a:rPr>
              <a:t>科研经历</a:t>
            </a:r>
            <a:endParaRPr lang="zh-CN" altLang="en-US" sz="3600" b="1" spc="300" dirty="0">
              <a:solidFill>
                <a:schemeClr val="accent1"/>
              </a:solidFill>
              <a:cs typeface="+mn-ea"/>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03971" y="385536"/>
            <a:ext cx="1603434" cy="1060939"/>
          </a:xfrm>
          <a:prstGeom prst="rect">
            <a:avLst/>
          </a:prstGeom>
        </p:spPr>
      </p:pic>
    </p:spTree>
    <p:custDataLst>
      <p:tags r:id="rId2"/>
    </p:custData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160813" y="1467797"/>
            <a:ext cx="7870373" cy="1752083"/>
          </a:xfrm>
          <a:prstGeom prst="rect">
            <a:avLst/>
          </a:prstGeom>
          <a:noFill/>
        </p:spPr>
        <p:txBody>
          <a:bodyPr wrap="square">
            <a:spAutoFit/>
          </a:bodyPr>
          <a:lstStyle/>
          <a:p>
            <a:pPr>
              <a:lnSpc>
                <a:spcPct val="150000"/>
              </a:lnSpc>
              <a:spcAft>
                <a:spcPts val="500"/>
              </a:spcAft>
            </a:pPr>
            <a:r>
              <a:rPr lang="en-US" altLang="zh-CN" sz="2400" b="1" dirty="0">
                <a:latin typeface="Times New Roman" panose="02020603050405020304" pitchFamily="18" charset="0"/>
                <a:cs typeface="Times New Roman" panose="02020603050405020304" pitchFamily="18" charset="0"/>
              </a:rPr>
              <a:t>2</a:t>
            </a:r>
            <a:r>
              <a:rPr lang="zh-CN" altLang="en-US" sz="2400" b="1" dirty="0">
                <a:latin typeface="Times New Roman" panose="02020603050405020304" pitchFamily="18" charset="0"/>
                <a:cs typeface="Times New Roman" panose="02020603050405020304" pitchFamily="18" charset="0"/>
              </a:rPr>
              <a:t>、参营论文</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房价上涨对生育率的影响</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基于财富不平等的视角</a:t>
            </a:r>
            <a:r>
              <a:rPr lang="en-US" altLang="zh-CN" sz="2400" b="1" dirty="0">
                <a:latin typeface="Times New Roman" panose="02020603050405020304" pitchFamily="18" charset="0"/>
                <a:cs typeface="Times New Roman" panose="02020603050405020304" pitchFamily="18" charset="0"/>
              </a:rPr>
              <a:t>》</a:t>
            </a:r>
            <a:endParaRPr lang="zh-CN" altLang="en-US" sz="2400" b="1" dirty="0">
              <a:latin typeface="Times New Roman" panose="02020603050405020304" pitchFamily="18" charset="0"/>
              <a:cs typeface="Times New Roman" panose="02020603050405020304" pitchFamily="18" charset="0"/>
            </a:endParaRPr>
          </a:p>
          <a:p>
            <a:pPr>
              <a:lnSpc>
                <a:spcPct val="150000"/>
              </a:lnSpc>
              <a:spcAft>
                <a:spcPts val="500"/>
              </a:spcAft>
            </a:pPr>
            <a:endParaRPr lang="zh-CN" altLang="en-US" sz="2400" b="1" dirty="0">
              <a:latin typeface="Times New Roman" panose="02020603050405020304" pitchFamily="18" charset="0"/>
              <a:cs typeface="Times New Roman" panose="02020603050405020304" pitchFamily="18" charset="0"/>
            </a:endParaRPr>
          </a:p>
        </p:txBody>
      </p:sp>
      <p:sp>
        <p:nvSpPr>
          <p:cNvPr id="10" name="文本框 9"/>
          <p:cNvSpPr txBox="1"/>
          <p:nvPr/>
        </p:nvSpPr>
        <p:spPr>
          <a:xfrm>
            <a:off x="2024743" y="2614518"/>
            <a:ext cx="8006443" cy="4092211"/>
          </a:xfrm>
          <a:prstGeom prst="rect">
            <a:avLst/>
          </a:prstGeom>
          <a:noFill/>
        </p:spPr>
        <p:txBody>
          <a:bodyPr wrap="square" rtlCol="0">
            <a:spAutoFit/>
          </a:bodyPr>
          <a:lstStyle/>
          <a:p>
            <a:pPr>
              <a:lnSpc>
                <a:spcPct val="150000"/>
              </a:lnSpc>
            </a:pPr>
            <a:r>
              <a:rPr lang="zh-CN" altLang="en-US" sz="2200" dirty="0"/>
              <a:t>       通过构建分析生育决策的理论模型以及进行实证分析，本文研究了房价上涨对生育率的影响及其作用机制。研究发现，房价的迅速上涨显著降低了人口出生率，滞后一期的房价上涨</a:t>
            </a:r>
            <a:r>
              <a:rPr lang="en-US" altLang="zh-CN" sz="2200" dirty="0"/>
              <a:t>1</a:t>
            </a:r>
            <a:r>
              <a:rPr lang="zh-CN" altLang="en-US" sz="2200" dirty="0"/>
              <a:t>倍，当年的人口出生率将从均值水平（</a:t>
            </a:r>
            <a:r>
              <a:rPr lang="en-US" altLang="zh-CN" sz="2200" dirty="0"/>
              <a:t>0.011</a:t>
            </a:r>
            <a:r>
              <a:rPr lang="zh-CN" altLang="en-US" sz="2200" dirty="0"/>
              <a:t>）处下降</a:t>
            </a:r>
            <a:r>
              <a:rPr lang="en-US" altLang="zh-CN" sz="2200" dirty="0"/>
              <a:t>11%</a:t>
            </a:r>
            <a:r>
              <a:rPr lang="zh-CN" altLang="en-US" sz="2200" dirty="0"/>
              <a:t>。机制检验表明，财富不平等是房价抑制人口增长的重要传导机制。因此，为促进人口合理增长，应对房地产市场进行适度调控，在平抑房价过快上涨的同时，稳定公众对于房价走势的预期。</a:t>
            </a:r>
            <a:endParaRPr lang="zh-CN" altLang="en-US" sz="2200" dirty="0"/>
          </a:p>
          <a:p>
            <a:pPr>
              <a:lnSpc>
                <a:spcPct val="150000"/>
              </a:lnSpc>
            </a:pPr>
            <a:endParaRPr lang="zh-CN" altLang="en-US" sz="2200" dirty="0"/>
          </a:p>
        </p:txBody>
      </p:sp>
      <p:sp>
        <p:nvSpPr>
          <p:cNvPr id="3" name="文本框 2"/>
          <p:cNvSpPr txBox="1"/>
          <p:nvPr/>
        </p:nvSpPr>
        <p:spPr>
          <a:xfrm>
            <a:off x="3766457" y="797357"/>
            <a:ext cx="4365171" cy="590931"/>
          </a:xfrm>
          <a:prstGeom prst="rect">
            <a:avLst/>
          </a:prstGeom>
          <a:noFill/>
        </p:spPr>
        <p:txBody>
          <a:bodyPr wrap="square" rtlCol="0">
            <a:spAutoFit/>
          </a:bodyPr>
          <a:lstStyle/>
          <a:p>
            <a:pPr algn="ctr">
              <a:lnSpc>
                <a:spcPct val="90000"/>
              </a:lnSpc>
              <a:spcBef>
                <a:spcPct val="0"/>
              </a:spcBef>
            </a:pPr>
            <a:r>
              <a:rPr lang="zh-CN" altLang="en-US" sz="3600" b="1" spc="300" dirty="0">
                <a:solidFill>
                  <a:schemeClr val="accent1"/>
                </a:solidFill>
                <a:cs typeface="+mn-ea"/>
              </a:rPr>
              <a:t>科研经历</a:t>
            </a:r>
            <a:endParaRPr lang="zh-CN" altLang="en-US" sz="3600" b="1" spc="300" dirty="0">
              <a:solidFill>
                <a:schemeClr val="accent1"/>
              </a:solidFill>
              <a:cs typeface="+mn-ea"/>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03971" y="385536"/>
            <a:ext cx="1603434" cy="1060939"/>
          </a:xfrm>
          <a:prstGeom prst="rect">
            <a:avLst/>
          </a:prstGeom>
        </p:spPr>
      </p:pic>
    </p:spTree>
    <p:custDataLst>
      <p:tags r:id="rId2"/>
    </p:custData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powerpoint template design by DAJU_PPT正版来源小红书大橘PPT微信DAJU_PPT请勿抄袭搬运！盗版必究！"/>
          <p:cNvSpPr>
            <a:spLocks noGrp="1"/>
          </p:cNvSpPr>
          <p:nvPr>
            <p:ph type="body" sz="quarter" idx="12"/>
          </p:nvPr>
        </p:nvSpPr>
        <p:spPr>
          <a:xfrm>
            <a:off x="3522388" y="3642379"/>
            <a:ext cx="5147224" cy="830997"/>
          </a:xfrm>
          <a:prstGeom prst="rect">
            <a:avLst/>
          </a:prstGeom>
        </p:spPr>
        <p:txBody>
          <a:bodyPr/>
          <a:lstStyle/>
          <a:p>
            <a:r>
              <a:rPr lang="zh-CN" altLang="en-US" dirty="0">
                <a:latin typeface="+mn-lt"/>
                <a:ea typeface="+mn-ea"/>
                <a:cs typeface="+mn-ea"/>
                <a:sym typeface="+mn-lt"/>
              </a:rPr>
              <a:t>成果展示</a:t>
            </a:r>
            <a:endParaRPr lang="zh-CN" altLang="en-US" dirty="0">
              <a:latin typeface="+mn-lt"/>
              <a:ea typeface="+mn-ea"/>
              <a:cs typeface="+mn-ea"/>
              <a:sym typeface="+mn-lt"/>
            </a:endParaRPr>
          </a:p>
        </p:txBody>
      </p:sp>
      <p:sp>
        <p:nvSpPr>
          <p:cNvPr id="16" name="powerpoint template design by DAJU_PPT正版来源小红书大橘PPT微信DAJU_PPT请勿抄袭搬运！盗版必究！"/>
          <p:cNvSpPr>
            <a:spLocks noGrp="1"/>
          </p:cNvSpPr>
          <p:nvPr>
            <p:ph type="body" sz="quarter" idx="10"/>
          </p:nvPr>
        </p:nvSpPr>
        <p:spPr>
          <a:xfrm>
            <a:off x="5058857" y="1542830"/>
            <a:ext cx="2074286" cy="1911292"/>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latin typeface="+mn-lt"/>
                <a:cs typeface="+mn-ea"/>
                <a:sym typeface="+mn-lt"/>
              </a:rPr>
              <a:t>03</a:t>
            </a:r>
            <a:endParaRPr lang="zh-CN" altLang="en-US" dirty="0">
              <a:latin typeface="+mn-lt"/>
              <a:cs typeface="+mn-ea"/>
              <a:sym typeface="+mn-lt"/>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03971" y="385536"/>
            <a:ext cx="1603434" cy="1060939"/>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148692" y="1950490"/>
            <a:ext cx="7244444" cy="20608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200" dirty="0"/>
              <a:t>我国</a:t>
            </a:r>
            <a:r>
              <a:rPr lang="zh-CN" altLang="en-US" sz="2200"/>
              <a:t>人口出生率持续处于低位水平；</a:t>
            </a:r>
            <a:endParaRPr lang="zh-CN" altLang="en-US" sz="2200" dirty="0"/>
          </a:p>
          <a:p>
            <a:pPr marL="342900" indent="-342900">
              <a:lnSpc>
                <a:spcPct val="150000"/>
              </a:lnSpc>
              <a:buFont typeface="Arial" panose="020B0604020202020204" pitchFamily="34" charset="0"/>
              <a:buChar char="•"/>
            </a:pPr>
            <a:r>
              <a:rPr lang="zh-CN" altLang="en-US" sz="2200" dirty="0"/>
              <a:t>全面二孩等生育限制的放松收效甚微；</a:t>
            </a:r>
            <a:endParaRPr lang="zh-CN" altLang="en-US" sz="2200" dirty="0"/>
          </a:p>
          <a:p>
            <a:pPr marL="342900" indent="-342900">
              <a:lnSpc>
                <a:spcPct val="150000"/>
              </a:lnSpc>
              <a:buFont typeface="Arial" panose="020B0604020202020204" pitchFamily="34" charset="0"/>
              <a:buChar char="•"/>
            </a:pPr>
            <a:r>
              <a:rPr lang="zh-CN" altLang="en-US" sz="2200" dirty="0"/>
              <a:t>在此期间，住房价格发生了急剧的变化；</a:t>
            </a:r>
            <a:endParaRPr lang="zh-CN" altLang="en-US" sz="2200" dirty="0"/>
          </a:p>
          <a:p>
            <a:pPr>
              <a:lnSpc>
                <a:spcPct val="150000"/>
              </a:lnSpc>
            </a:pPr>
            <a:endParaRPr lang="zh-CN" altLang="en-US" sz="2200" dirty="0"/>
          </a:p>
        </p:txBody>
      </p:sp>
      <p:sp>
        <p:nvSpPr>
          <p:cNvPr id="3" name="文本框 2"/>
          <p:cNvSpPr txBox="1"/>
          <p:nvPr/>
        </p:nvSpPr>
        <p:spPr>
          <a:xfrm>
            <a:off x="3777343" y="938871"/>
            <a:ext cx="4365171" cy="590931"/>
          </a:xfrm>
          <a:prstGeom prst="rect">
            <a:avLst/>
          </a:prstGeom>
          <a:noFill/>
        </p:spPr>
        <p:txBody>
          <a:bodyPr wrap="square" rtlCol="0">
            <a:spAutoFit/>
          </a:bodyPr>
          <a:lstStyle/>
          <a:p>
            <a:pPr algn="ctr">
              <a:lnSpc>
                <a:spcPct val="90000"/>
              </a:lnSpc>
              <a:spcBef>
                <a:spcPct val="0"/>
              </a:spcBef>
            </a:pPr>
            <a:r>
              <a:rPr lang="zh-CN" altLang="en-US" sz="3600" b="1" spc="300" dirty="0">
                <a:solidFill>
                  <a:schemeClr val="accent1"/>
                </a:solidFill>
                <a:cs typeface="+mn-ea"/>
              </a:rPr>
              <a:t>背景</a:t>
            </a:r>
            <a:endParaRPr lang="zh-CN" altLang="en-US" sz="3600" b="1" spc="300" dirty="0">
              <a:solidFill>
                <a:schemeClr val="accent1"/>
              </a:solidFill>
              <a:cs typeface="+mn-ea"/>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03971" y="385536"/>
            <a:ext cx="1603434" cy="1060939"/>
          </a:xfrm>
          <a:prstGeom prst="rect">
            <a:avLst/>
          </a:prstGeom>
        </p:spPr>
      </p:pic>
    </p:spTree>
    <p:custDataLst>
      <p:tags r:id="rId2"/>
    </p:custData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487384" y="1711997"/>
            <a:ext cx="7584622" cy="960584"/>
          </a:xfrm>
          <a:prstGeom prst="rect">
            <a:avLst/>
          </a:prstGeom>
          <a:noFill/>
        </p:spPr>
        <p:txBody>
          <a:bodyPr wrap="square" rtlCol="0">
            <a:spAutoFit/>
          </a:bodyPr>
          <a:lstStyle/>
          <a:p>
            <a:pPr marL="0" marR="0" lvl="0" indent="266700" algn="just" defTabSz="914400" rtl="0" eaLnBrk="1" fontAlgn="auto" latinLnBrk="0" hangingPunct="1">
              <a:lnSpc>
                <a:spcPct val="125000"/>
              </a:lnSpc>
              <a:spcBef>
                <a:spcPts val="0"/>
              </a:spcBef>
              <a:spcAft>
                <a:spcPts val="0"/>
              </a:spcAft>
              <a:buClrTx/>
              <a:buSzTx/>
              <a:buFontTx/>
              <a:buNone/>
              <a:defRPr/>
            </a:pPr>
            <a:r>
              <a:rPr kumimoji="0" lang="zh-CN" altLang="zh-CN" sz="2200" b="0" i="0" u="none" strike="noStrike" kern="100" cap="none" spc="0" normalizeH="0" baseline="0" noProof="0" dirty="0">
                <a:ln>
                  <a:noFill/>
                </a:ln>
                <a:solidFill>
                  <a:srgbClr val="262626"/>
                </a:solidFill>
                <a:effectLst/>
                <a:uLnTx/>
                <a:uFillTx/>
                <a:latin typeface="+mn-ea"/>
                <a:cs typeface="宋体" panose="02010600030101010101" pitchFamily="2" charset="-122"/>
              </a:rPr>
              <a:t>家庭最优化问题：</a:t>
            </a:r>
            <a:endParaRPr kumimoji="0" lang="zh-CN" altLang="zh-CN" sz="2200" b="0" i="0" u="none" strike="noStrike" kern="100" cap="none" spc="0" normalizeH="0" baseline="0" noProof="0" dirty="0">
              <a:ln>
                <a:noFill/>
              </a:ln>
              <a:solidFill>
                <a:srgbClr val="262626"/>
              </a:solidFill>
              <a:effectLst/>
              <a:uLnTx/>
              <a:uFillTx/>
              <a:latin typeface="+mn-ea"/>
              <a:cs typeface="Times New Roman" panose="02020603050405020304" pitchFamily="18" charset="0"/>
            </a:endParaRPr>
          </a:p>
          <a:p>
            <a:pPr>
              <a:lnSpc>
                <a:spcPct val="150000"/>
              </a:lnSpc>
            </a:pPr>
            <a:endParaRPr lang="zh-CN" altLang="en-US" sz="2200" dirty="0"/>
          </a:p>
        </p:txBody>
      </p:sp>
      <p:sp>
        <p:nvSpPr>
          <p:cNvPr id="3" name="文本框 2"/>
          <p:cNvSpPr txBox="1"/>
          <p:nvPr/>
        </p:nvSpPr>
        <p:spPr>
          <a:xfrm>
            <a:off x="3853545" y="753812"/>
            <a:ext cx="4365171" cy="590931"/>
          </a:xfrm>
          <a:prstGeom prst="rect">
            <a:avLst/>
          </a:prstGeom>
          <a:noFill/>
        </p:spPr>
        <p:txBody>
          <a:bodyPr wrap="square" rtlCol="0">
            <a:spAutoFit/>
          </a:bodyPr>
          <a:lstStyle/>
          <a:p>
            <a:pPr algn="ctr">
              <a:lnSpc>
                <a:spcPct val="90000"/>
              </a:lnSpc>
              <a:spcBef>
                <a:spcPct val="0"/>
              </a:spcBef>
            </a:pPr>
            <a:r>
              <a:rPr lang="zh-CN" altLang="en-US" sz="3600" b="1" spc="300" dirty="0">
                <a:solidFill>
                  <a:schemeClr val="accent1"/>
                </a:solidFill>
                <a:cs typeface="+mn-ea"/>
              </a:rPr>
              <a:t>理论模型</a:t>
            </a:r>
            <a:endParaRPr lang="zh-CN" altLang="en-US" sz="3600" b="1" spc="300" dirty="0">
              <a:solidFill>
                <a:schemeClr val="accent1"/>
              </a:solidFill>
              <a:cs typeface="+mn-ea"/>
            </a:endParaRPr>
          </a:p>
        </p:txBody>
      </p:sp>
      <mc:AlternateContent xmlns:mc="http://schemas.openxmlformats.org/markup-compatibility/2006">
        <mc:Choice xmlns:a14="http://schemas.microsoft.com/office/drawing/2010/main" Requires="a14">
          <p:sp>
            <p:nvSpPr>
              <p:cNvPr id="2" name="文本框 1"/>
              <p:cNvSpPr txBox="1"/>
              <p:nvPr/>
            </p:nvSpPr>
            <p:spPr>
              <a:xfrm>
                <a:off x="2487384" y="3377047"/>
                <a:ext cx="7881257" cy="792525"/>
              </a:xfrm>
              <a:prstGeom prst="rect">
                <a:avLst/>
              </a:prstGeom>
              <a:noFill/>
            </p:spPr>
            <p:txBody>
              <a:bodyPr wrap="square" rtlCol="0">
                <a:spAutoFit/>
              </a:bodyPr>
              <a:lstStyle/>
              <a:p>
                <a:pPr indent="266700" algn="just">
                  <a:lnSpc>
                    <a:spcPct val="125000"/>
                  </a:lnSpc>
                  <a:defRPr/>
                </a:pPr>
                <a:r>
                  <a:rPr lang="zh-CN" altLang="en-US" sz="2200" kern="100" dirty="0">
                    <a:solidFill>
                      <a:srgbClr val="262626"/>
                    </a:solidFill>
                    <a:latin typeface="+mn-ea"/>
                    <a:cs typeface="宋体" panose="02010600030101010101" pitchFamily="2" charset="-122"/>
                  </a:rPr>
                  <a:t>由此得到</a:t>
                </a:r>
                <a:r>
                  <a:rPr lang="zh-CN" altLang="zh-CN" sz="2200" kern="100" dirty="0">
                    <a:solidFill>
                      <a:srgbClr val="262626"/>
                    </a:solidFill>
                    <a:latin typeface="+mn-ea"/>
                    <a:cs typeface="宋体" panose="02010600030101010101" pitchFamily="2" charset="-122"/>
                  </a:rPr>
                  <a:t>最优的</a:t>
                </a:r>
                <a:r>
                  <a:rPr lang="zh-CN" altLang="en-US" sz="2200" kern="100" dirty="0">
                    <a:solidFill>
                      <a:srgbClr val="262626"/>
                    </a:solidFill>
                    <a:latin typeface="+mn-ea"/>
                    <a:cs typeface="宋体" panose="02010600030101010101" pitchFamily="2" charset="-122"/>
                  </a:rPr>
                  <a:t>子女</a:t>
                </a:r>
                <a:r>
                  <a:rPr lang="zh-CN" altLang="zh-CN" sz="2200" kern="100" dirty="0">
                    <a:solidFill>
                      <a:srgbClr val="262626"/>
                    </a:solidFill>
                    <a:latin typeface="+mn-ea"/>
                    <a:cs typeface="宋体" panose="02010600030101010101" pitchFamily="2" charset="-122"/>
                  </a:rPr>
                  <a:t>数量（</a:t>
                </a:r>
                <a:r>
                  <a:rPr lang="en-US" altLang="zh-CN" sz="2200" kern="100" dirty="0">
                    <a:solidFill>
                      <a:srgbClr val="262626"/>
                    </a:solidFill>
                    <a:latin typeface="+mn-ea"/>
                    <a:cs typeface="宋体" panose="02010600030101010101" pitchFamily="2" charset="-122"/>
                  </a:rPr>
                  <a:t>N</a:t>
                </a:r>
                <a:r>
                  <a:rPr lang="zh-CN" altLang="zh-CN" sz="2200" kern="100" dirty="0">
                    <a:solidFill>
                      <a:srgbClr val="262626"/>
                    </a:solidFill>
                    <a:latin typeface="+mn-ea"/>
                    <a:cs typeface="宋体" panose="02010600030101010101" pitchFamily="2" charset="-122"/>
                  </a:rPr>
                  <a:t>）关于住房价格</a:t>
                </a:r>
                <a14:m>
                  <m:oMath xmlns:m="http://schemas.openxmlformats.org/officeDocument/2006/math">
                    <m:sSub>
                      <m:sSubPr>
                        <m:ctrlPr>
                          <a:rPr lang="zh-CN" altLang="zh-CN" sz="2200" i="1" kern="100">
                            <a:solidFill>
                              <a:srgbClr val="262626"/>
                            </a:solidFill>
                            <a:latin typeface="Cambria Math" panose="02040503050406030204" pitchFamily="18" charset="0"/>
                            <a:cs typeface="宋体" panose="02010600030101010101" pitchFamily="2" charset="-122"/>
                          </a:rPr>
                        </m:ctrlPr>
                      </m:sSubPr>
                      <m:e>
                        <m:r>
                          <a:rPr lang="en-US" altLang="zh-CN" sz="2200" kern="100">
                            <a:solidFill>
                              <a:srgbClr val="262626"/>
                            </a:solidFill>
                            <a:latin typeface="Cambria Math" panose="02040503050406030204" pitchFamily="18" charset="0"/>
                            <a:cs typeface="宋体" panose="02010600030101010101" pitchFamily="2" charset="-122"/>
                          </a:rPr>
                          <m:t>𝑃</m:t>
                        </m:r>
                      </m:e>
                      <m:sub>
                        <m:r>
                          <a:rPr lang="en-US" altLang="zh-CN" sz="2200" kern="100">
                            <a:solidFill>
                              <a:srgbClr val="262626"/>
                            </a:solidFill>
                            <a:latin typeface="Cambria Math" panose="02040503050406030204" pitchFamily="18" charset="0"/>
                            <a:cs typeface="宋体" panose="02010600030101010101" pitchFamily="2" charset="-122"/>
                          </a:rPr>
                          <m:t>𝐻</m:t>
                        </m:r>
                      </m:sub>
                    </m:sSub>
                  </m:oMath>
                </a14:m>
                <a:r>
                  <a:rPr lang="zh-CN" altLang="zh-CN" sz="2200" kern="100" dirty="0">
                    <a:solidFill>
                      <a:srgbClr val="262626"/>
                    </a:solidFill>
                    <a:latin typeface="+mn-ea"/>
                    <a:cs typeface="宋体" panose="02010600030101010101" pitchFamily="2" charset="-122"/>
                  </a:rPr>
                  <a:t>的偏导数</a:t>
                </a:r>
                <a:endParaRPr lang="en-US" altLang="zh-CN" sz="2200" kern="100" dirty="0">
                  <a:solidFill>
                    <a:srgbClr val="262626"/>
                  </a:solidFill>
                  <a:latin typeface="+mn-ea"/>
                  <a:cs typeface="宋体" panose="02010600030101010101" pitchFamily="2" charset="-122"/>
                </a:endParaRPr>
              </a:p>
              <a:p>
                <a:endParaRPr lang="zh-CN" altLang="en-US" dirty="0"/>
              </a:p>
            </p:txBody>
          </p:sp>
        </mc:Choice>
        <mc:Fallback>
          <p:sp>
            <p:nvSpPr>
              <p:cNvPr id="2" name="文本框 1"/>
              <p:cNvSpPr txBox="1">
                <a:spLocks noRot="1" noChangeAspect="1" noMove="1" noResize="1" noEditPoints="1" noAdjustHandles="1" noChangeArrowheads="1" noChangeShapeType="1" noTextEdit="1"/>
              </p:cNvSpPr>
              <p:nvPr/>
            </p:nvSpPr>
            <p:spPr>
              <a:xfrm>
                <a:off x="2487384" y="3377047"/>
                <a:ext cx="7881257" cy="792525"/>
              </a:xfrm>
              <a:prstGeom prst="rect">
                <a:avLst/>
              </a:prstGeom>
              <a:blipFill rotWithShape="1">
                <a:blip r:embed="rId1"/>
                <a:stretch>
                  <a:fillRect l="-1" t="-15" r="5" b="2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2601686" y="3898687"/>
                <a:ext cx="8088086" cy="1083438"/>
              </a:xfrm>
              <a:prstGeom prst="rect">
                <a:avLst/>
              </a:prstGeom>
              <a:noFill/>
            </p:spPr>
            <p:txBody>
              <a:bodyPr wrap="square" rtlCol="0">
                <a:spAutoFit/>
              </a:bodyPr>
              <a:lstStyle/>
              <a:p>
                <a:pPr lvl="0">
                  <a:defRPr/>
                </a:pPr>
                <a14:m>
                  <m:oMathPara xmlns:m="http://schemas.openxmlformats.org/officeDocument/2006/math">
                    <m:oMathParaPr>
                      <m:jc m:val="centerGroup"/>
                    </m:oMathParaPr>
                    <m:oMath xmlns:m="http://schemas.openxmlformats.org/officeDocument/2006/math">
                      <m:f>
                        <m:fPr>
                          <m:ctrlPr>
                            <a:rPr lang="zh-CN" altLang="zh-CN" sz="2200" i="1" kern="100">
                              <a:solidFill>
                                <a:srgbClr val="262626"/>
                              </a:solidFill>
                              <a:latin typeface="Cambria Math" panose="02040503050406030204" pitchFamily="18" charset="0"/>
                              <a:cs typeface="宋体" panose="02010600030101010101" pitchFamily="2" charset="-122"/>
                            </a:rPr>
                          </m:ctrlPr>
                        </m:fPr>
                        <m:num>
                          <m:r>
                            <a:rPr lang="zh-CN" altLang="zh-CN" sz="2200" kern="100">
                              <a:solidFill>
                                <a:srgbClr val="262626"/>
                              </a:solidFill>
                              <a:latin typeface="Cambria Math" panose="02040503050406030204" pitchFamily="18" charset="0"/>
                              <a:cs typeface="宋体" panose="02010600030101010101" pitchFamily="2" charset="-122"/>
                            </a:rPr>
                            <m:t>𝜕</m:t>
                          </m:r>
                          <m:r>
                            <m:rPr>
                              <m:sty m:val="p"/>
                            </m:rPr>
                            <a:rPr lang="en-US" altLang="zh-CN" sz="2200" kern="100">
                              <a:solidFill>
                                <a:srgbClr val="262626"/>
                              </a:solidFill>
                              <a:latin typeface="Cambria Math" panose="02040503050406030204" pitchFamily="18" charset="0"/>
                              <a:cs typeface="宋体" panose="02010600030101010101" pitchFamily="2" charset="-122"/>
                            </a:rPr>
                            <m:t>N</m:t>
                          </m:r>
                        </m:num>
                        <m:den>
                          <m:r>
                            <a:rPr lang="zh-CN" altLang="zh-CN" sz="2200" kern="100">
                              <a:solidFill>
                                <a:srgbClr val="262626"/>
                              </a:solidFill>
                              <a:latin typeface="Cambria Math" panose="02040503050406030204" pitchFamily="18" charset="0"/>
                              <a:cs typeface="宋体" panose="02010600030101010101" pitchFamily="2" charset="-122"/>
                            </a:rPr>
                            <m:t>𝜕</m:t>
                          </m:r>
                          <m:sSub>
                            <m:sSubPr>
                              <m:ctrlPr>
                                <a:rPr lang="zh-CN" altLang="zh-CN" sz="2200" i="1" kern="100">
                                  <a:solidFill>
                                    <a:srgbClr val="262626"/>
                                  </a:solidFill>
                                  <a:latin typeface="Cambria Math" panose="02040503050406030204" pitchFamily="18" charset="0"/>
                                  <a:cs typeface="宋体" panose="02010600030101010101" pitchFamily="2" charset="-122"/>
                                </a:rPr>
                              </m:ctrlPr>
                            </m:sSubPr>
                            <m:e>
                              <m:r>
                                <a:rPr lang="en-US" altLang="zh-CN" sz="2200" kern="100">
                                  <a:solidFill>
                                    <a:srgbClr val="262626"/>
                                  </a:solidFill>
                                  <a:latin typeface="Cambria Math" panose="02040503050406030204" pitchFamily="18" charset="0"/>
                                  <a:cs typeface="宋体" panose="02010600030101010101" pitchFamily="2" charset="-122"/>
                                </a:rPr>
                                <m:t>𝑃</m:t>
                              </m:r>
                            </m:e>
                            <m:sub>
                              <m:r>
                                <a:rPr lang="en-US" altLang="zh-CN" sz="2200" kern="100">
                                  <a:solidFill>
                                    <a:srgbClr val="262626"/>
                                  </a:solidFill>
                                  <a:latin typeface="Cambria Math" panose="02040503050406030204" pitchFamily="18" charset="0"/>
                                  <a:cs typeface="宋体" panose="02010600030101010101" pitchFamily="2" charset="-122"/>
                                </a:rPr>
                                <m:t>𝐻</m:t>
                              </m:r>
                            </m:sub>
                          </m:sSub>
                        </m:den>
                      </m:f>
                      <m:r>
                        <a:rPr lang="en-US" altLang="zh-CN" sz="2200" kern="100">
                          <a:solidFill>
                            <a:srgbClr val="262626"/>
                          </a:solidFill>
                          <a:latin typeface="Cambria Math" panose="02040503050406030204" pitchFamily="18" charset="0"/>
                          <a:cs typeface="宋体" panose="02010600030101010101" pitchFamily="2" charset="-122"/>
                        </a:rPr>
                        <m:t>=</m:t>
                      </m:r>
                      <m:f>
                        <m:fPr>
                          <m:ctrlPr>
                            <a:rPr lang="zh-CN" altLang="zh-CN" sz="2200" i="1" kern="100">
                              <a:solidFill>
                                <a:srgbClr val="262626"/>
                              </a:solidFill>
                              <a:latin typeface="Cambria Math" panose="02040503050406030204" pitchFamily="18" charset="0"/>
                              <a:cs typeface="宋体" panose="02010600030101010101" pitchFamily="2" charset="-122"/>
                            </a:rPr>
                          </m:ctrlPr>
                        </m:fPr>
                        <m:num>
                          <m:r>
                            <a:rPr lang="en-US" altLang="zh-CN" sz="2200" kern="100">
                              <a:solidFill>
                                <a:srgbClr val="262626"/>
                              </a:solidFill>
                              <a:latin typeface="Cambria Math" panose="02040503050406030204" pitchFamily="18" charset="0"/>
                              <a:cs typeface="宋体" panose="02010600030101010101" pitchFamily="2" charset="-122"/>
                            </a:rPr>
                            <m:t>𝑀</m:t>
                          </m:r>
                        </m:num>
                        <m:den>
                          <m:d>
                            <m:dPr>
                              <m:ctrlPr>
                                <a:rPr lang="zh-CN" altLang="zh-CN" sz="2200" i="1" kern="100">
                                  <a:solidFill>
                                    <a:srgbClr val="262626"/>
                                  </a:solidFill>
                                  <a:latin typeface="Cambria Math" panose="02040503050406030204" pitchFamily="18" charset="0"/>
                                  <a:cs typeface="宋体" panose="02010600030101010101" pitchFamily="2" charset="-122"/>
                                </a:rPr>
                              </m:ctrlPr>
                            </m:dPr>
                            <m:e>
                              <m:r>
                                <a:rPr lang="en-US" altLang="zh-CN" sz="2200" kern="100">
                                  <a:solidFill>
                                    <a:srgbClr val="262626"/>
                                  </a:solidFill>
                                  <a:latin typeface="Cambria Math" panose="02040503050406030204" pitchFamily="18" charset="0"/>
                                  <a:cs typeface="宋体" panose="02010600030101010101" pitchFamily="2" charset="-122"/>
                                </a:rPr>
                                <m:t>1</m:t>
                              </m:r>
                              <m:r>
                                <a:rPr lang="en-US" altLang="zh-CN" sz="2200" kern="100">
                                  <a:solidFill>
                                    <a:srgbClr val="262626"/>
                                  </a:solidFill>
                                  <a:latin typeface="Cambria Math" panose="02040503050406030204" pitchFamily="18" charset="0"/>
                                  <a:cs typeface="宋体" panose="02010600030101010101" pitchFamily="2" charset="-122"/>
                                </a:rPr>
                                <m:t>−</m:t>
                              </m:r>
                              <m:r>
                                <a:rPr lang="en-US" altLang="zh-CN" sz="2200" kern="100">
                                  <a:solidFill>
                                    <a:srgbClr val="262626"/>
                                  </a:solidFill>
                                  <a:latin typeface="Cambria Math" panose="02040503050406030204" pitchFamily="18" charset="0"/>
                                  <a:cs typeface="宋体" panose="02010600030101010101" pitchFamily="2" charset="-122"/>
                                </a:rPr>
                                <m:t>𝛽</m:t>
                              </m:r>
                            </m:e>
                          </m:d>
                          <m:sSub>
                            <m:sSubPr>
                              <m:ctrlPr>
                                <a:rPr lang="zh-CN" altLang="zh-CN" sz="2200" i="1" kern="100">
                                  <a:solidFill>
                                    <a:srgbClr val="262626"/>
                                  </a:solidFill>
                                  <a:latin typeface="Cambria Math" panose="02040503050406030204" pitchFamily="18" charset="0"/>
                                  <a:cs typeface="宋体" panose="02010600030101010101" pitchFamily="2" charset="-122"/>
                                </a:rPr>
                              </m:ctrlPr>
                            </m:sSubPr>
                            <m:e>
                              <m:r>
                                <a:rPr lang="en-US" altLang="zh-CN" sz="2200" kern="100">
                                  <a:solidFill>
                                    <a:srgbClr val="262626"/>
                                  </a:solidFill>
                                  <a:latin typeface="Cambria Math" panose="02040503050406030204" pitchFamily="18" charset="0"/>
                                  <a:cs typeface="宋体" panose="02010600030101010101" pitchFamily="2" charset="-122"/>
                                </a:rPr>
                                <m:t>𝑃</m:t>
                              </m:r>
                            </m:e>
                            <m:sub>
                              <m:r>
                                <a:rPr lang="en-US" altLang="zh-CN" sz="2200" kern="100">
                                  <a:solidFill>
                                    <a:srgbClr val="262626"/>
                                  </a:solidFill>
                                  <a:latin typeface="Cambria Math" panose="02040503050406030204" pitchFamily="18" charset="0"/>
                                  <a:cs typeface="宋体" panose="02010600030101010101" pitchFamily="2" charset="-122"/>
                                </a:rPr>
                                <m:t>𝑁</m:t>
                              </m:r>
                            </m:sub>
                          </m:sSub>
                          <m:r>
                            <a:rPr lang="en-US" altLang="zh-CN" sz="2200" kern="100">
                              <a:solidFill>
                                <a:srgbClr val="262626"/>
                              </a:solidFill>
                              <a:latin typeface="Cambria Math" panose="02040503050406030204" pitchFamily="18" charset="0"/>
                              <a:cs typeface="宋体" panose="02010600030101010101" pitchFamily="2" charset="-122"/>
                            </a:rPr>
                            <m:t>+</m:t>
                          </m:r>
                          <m:sSub>
                            <m:sSubPr>
                              <m:ctrlPr>
                                <a:rPr lang="zh-CN" altLang="zh-CN" sz="2200" i="1" kern="100">
                                  <a:solidFill>
                                    <a:srgbClr val="262626"/>
                                  </a:solidFill>
                                  <a:latin typeface="Cambria Math" panose="02040503050406030204" pitchFamily="18" charset="0"/>
                                  <a:cs typeface="宋体" panose="02010600030101010101" pitchFamily="2" charset="-122"/>
                                </a:rPr>
                              </m:ctrlPr>
                            </m:sSubPr>
                            <m:e>
                              <m:r>
                                <a:rPr lang="en-US" altLang="zh-CN" sz="2200" kern="100">
                                  <a:solidFill>
                                    <a:srgbClr val="262626"/>
                                  </a:solidFill>
                                  <a:latin typeface="Cambria Math" panose="02040503050406030204" pitchFamily="18" charset="0"/>
                                  <a:cs typeface="宋体" panose="02010600030101010101" pitchFamily="2" charset="-122"/>
                                </a:rPr>
                                <m:t>𝑃</m:t>
                              </m:r>
                            </m:e>
                            <m:sub>
                              <m:r>
                                <a:rPr lang="en-US" altLang="zh-CN" sz="2200" kern="100">
                                  <a:solidFill>
                                    <a:srgbClr val="262626"/>
                                  </a:solidFill>
                                  <a:latin typeface="Cambria Math" panose="02040503050406030204" pitchFamily="18" charset="0"/>
                                  <a:cs typeface="宋体" panose="02010600030101010101" pitchFamily="2" charset="-122"/>
                                </a:rPr>
                                <m:t>𝐻</m:t>
                              </m:r>
                            </m:sub>
                          </m:sSub>
                          <m:r>
                            <a:rPr lang="en-US" altLang="zh-CN" sz="2200" kern="100">
                              <a:solidFill>
                                <a:srgbClr val="262626"/>
                              </a:solidFill>
                              <a:latin typeface="Cambria Math" panose="02040503050406030204" pitchFamily="18" charset="0"/>
                              <a:cs typeface="宋体" panose="02010600030101010101" pitchFamily="2" charset="-122"/>
                            </a:rPr>
                            <m:t>𝑏</m:t>
                          </m:r>
                          <m:r>
                            <a:rPr lang="en-US" altLang="zh-CN" sz="2200" kern="100">
                              <a:solidFill>
                                <a:srgbClr val="262626"/>
                              </a:solidFill>
                              <a:latin typeface="Cambria Math" panose="02040503050406030204" pitchFamily="18" charset="0"/>
                              <a:cs typeface="宋体" panose="02010600030101010101" pitchFamily="2" charset="-122"/>
                            </a:rPr>
                            <m:t>𝛼</m:t>
                          </m:r>
                          <m:sSup>
                            <m:sSupPr>
                              <m:ctrlPr>
                                <a:rPr lang="zh-CN" altLang="zh-CN" sz="2200" i="1" kern="100">
                                  <a:solidFill>
                                    <a:srgbClr val="262626"/>
                                  </a:solidFill>
                                  <a:latin typeface="Cambria Math" panose="02040503050406030204" pitchFamily="18" charset="0"/>
                                  <a:cs typeface="宋体" panose="02010600030101010101" pitchFamily="2" charset="-122"/>
                                </a:rPr>
                              </m:ctrlPr>
                            </m:sSupPr>
                            <m:e>
                              <m:r>
                                <a:rPr lang="en-US" altLang="zh-CN" sz="2200" kern="100">
                                  <a:solidFill>
                                    <a:srgbClr val="262626"/>
                                  </a:solidFill>
                                  <a:latin typeface="Cambria Math" panose="02040503050406030204" pitchFamily="18" charset="0"/>
                                  <a:cs typeface="宋体" panose="02010600030101010101" pitchFamily="2" charset="-122"/>
                                </a:rPr>
                                <m:t>𝑁</m:t>
                              </m:r>
                            </m:e>
                            <m:sup>
                              <m:r>
                                <a:rPr lang="en-US" altLang="zh-CN" sz="2200" kern="100">
                                  <a:solidFill>
                                    <a:srgbClr val="262626"/>
                                  </a:solidFill>
                                  <a:latin typeface="Cambria Math" panose="02040503050406030204" pitchFamily="18" charset="0"/>
                                  <a:cs typeface="宋体" panose="02010600030101010101" pitchFamily="2" charset="-122"/>
                                </a:rPr>
                                <m:t>𝛼</m:t>
                              </m:r>
                              <m:r>
                                <a:rPr lang="en-US" altLang="zh-CN" sz="2200" kern="100">
                                  <a:solidFill>
                                    <a:srgbClr val="262626"/>
                                  </a:solidFill>
                                  <a:latin typeface="Cambria Math" panose="02040503050406030204" pitchFamily="18" charset="0"/>
                                  <a:cs typeface="宋体" panose="02010600030101010101" pitchFamily="2" charset="-122"/>
                                </a:rPr>
                                <m:t>−</m:t>
                              </m:r>
                              <m:r>
                                <a:rPr lang="en-US" altLang="zh-CN" sz="2200" kern="100">
                                  <a:solidFill>
                                    <a:srgbClr val="262626"/>
                                  </a:solidFill>
                                  <a:latin typeface="Cambria Math" panose="02040503050406030204" pitchFamily="18" charset="0"/>
                                  <a:cs typeface="宋体" panose="02010600030101010101" pitchFamily="2" charset="-122"/>
                                </a:rPr>
                                <m:t>1</m:t>
                              </m:r>
                            </m:sup>
                          </m:sSup>
                          <m:r>
                            <a:rPr lang="en-US" altLang="zh-CN" sz="2200" kern="100">
                              <a:solidFill>
                                <a:srgbClr val="262626"/>
                              </a:solidFill>
                              <a:latin typeface="Cambria Math" panose="02040503050406030204" pitchFamily="18" charset="0"/>
                              <a:cs typeface="宋体" panose="02010600030101010101" pitchFamily="2" charset="-122"/>
                            </a:rPr>
                            <m:t>(</m:t>
                          </m:r>
                          <m:r>
                            <a:rPr lang="en-US" altLang="zh-CN" sz="2200" kern="100">
                              <a:solidFill>
                                <a:srgbClr val="262626"/>
                              </a:solidFill>
                              <a:latin typeface="Cambria Math" panose="02040503050406030204" pitchFamily="18" charset="0"/>
                              <a:cs typeface="宋体" panose="02010600030101010101" pitchFamily="2" charset="-122"/>
                            </a:rPr>
                            <m:t>1</m:t>
                          </m:r>
                          <m:r>
                            <a:rPr lang="en-US" altLang="zh-CN" sz="2200" kern="100">
                              <a:solidFill>
                                <a:srgbClr val="262626"/>
                              </a:solidFill>
                              <a:latin typeface="Cambria Math" panose="02040503050406030204" pitchFamily="18" charset="0"/>
                              <a:cs typeface="宋体" panose="02010600030101010101" pitchFamily="2" charset="-122"/>
                            </a:rPr>
                            <m:t>+</m:t>
                          </m:r>
                          <m:r>
                            <a:rPr lang="en-US" altLang="zh-CN" sz="2200" kern="100">
                              <a:solidFill>
                                <a:srgbClr val="262626"/>
                              </a:solidFill>
                              <a:latin typeface="Cambria Math" panose="02040503050406030204" pitchFamily="18" charset="0"/>
                              <a:cs typeface="宋体" panose="02010600030101010101" pitchFamily="2" charset="-122"/>
                            </a:rPr>
                            <m:t>𝛼𝛽</m:t>
                          </m:r>
                          <m:r>
                            <a:rPr lang="en-US" altLang="zh-CN" sz="2200" kern="100">
                              <a:solidFill>
                                <a:srgbClr val="262626"/>
                              </a:solidFill>
                              <a:latin typeface="Cambria Math" panose="02040503050406030204" pitchFamily="18" charset="0"/>
                              <a:cs typeface="宋体" panose="02010600030101010101" pitchFamily="2" charset="-122"/>
                            </a:rPr>
                            <m:t>)</m:t>
                          </m:r>
                        </m:den>
                      </m:f>
                    </m:oMath>
                  </m:oMathPara>
                </a14:m>
                <a:endParaRPr lang="zh-CN" altLang="zh-CN" sz="2200" kern="100" dirty="0">
                  <a:solidFill>
                    <a:srgbClr val="262626"/>
                  </a:solidFill>
                  <a:latin typeface="+mn-ea"/>
                  <a:cs typeface="宋体" panose="02010600030101010101" pitchFamily="2" charset="-122"/>
                </a:endParaRPr>
              </a:p>
              <a:p>
                <a:endParaRPr lang="zh-CN" altLang="en-US" dirty="0"/>
              </a:p>
            </p:txBody>
          </p:sp>
        </mc:Choice>
        <mc:Fallback>
          <p:sp>
            <p:nvSpPr>
              <p:cNvPr id="4" name="文本框 3"/>
              <p:cNvSpPr txBox="1">
                <a:spLocks noRot="1" noChangeAspect="1" noMove="1" noResize="1" noEditPoints="1" noAdjustHandles="1" noChangeArrowheads="1" noChangeShapeType="1" noTextEdit="1"/>
              </p:cNvSpPr>
              <p:nvPr/>
            </p:nvSpPr>
            <p:spPr>
              <a:xfrm>
                <a:off x="2601686" y="3898687"/>
                <a:ext cx="8088086" cy="1083438"/>
              </a:xfrm>
              <a:prstGeom prst="rect">
                <a:avLst/>
              </a:prstGeom>
              <a:blipFill rotWithShape="1">
                <a:blip r:embed="rId2"/>
                <a:stretch>
                  <a:fillRect l="-1" t="-39" r="2" b="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4833253" y="4869980"/>
                <a:ext cx="4659086" cy="80951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200" kern="100">
                          <a:solidFill>
                            <a:srgbClr val="262626"/>
                          </a:solidFill>
                          <a:latin typeface="Cambria Math" panose="02040503050406030204" pitchFamily="18" charset="0"/>
                          <a:cs typeface="宋体" panose="02010600030101010101" pitchFamily="2" charset="-122"/>
                        </a:rPr>
                        <m:t>−</m:t>
                      </m:r>
                      <m:f>
                        <m:fPr>
                          <m:ctrlPr>
                            <a:rPr lang="zh-CN" altLang="zh-CN" sz="2200" i="1" kern="100">
                              <a:solidFill>
                                <a:srgbClr val="262626"/>
                              </a:solidFill>
                              <a:latin typeface="Cambria Math" panose="02040503050406030204" pitchFamily="18" charset="0"/>
                              <a:cs typeface="宋体" panose="02010600030101010101" pitchFamily="2" charset="-122"/>
                            </a:rPr>
                          </m:ctrlPr>
                        </m:fPr>
                        <m:num>
                          <m:r>
                            <a:rPr lang="en-US" altLang="zh-CN" sz="2200" kern="100">
                              <a:solidFill>
                                <a:srgbClr val="262626"/>
                              </a:solidFill>
                              <a:latin typeface="Cambria Math" panose="02040503050406030204" pitchFamily="18" charset="0"/>
                              <a:cs typeface="宋体" panose="02010600030101010101" pitchFamily="2" charset="-122"/>
                            </a:rPr>
                            <m:t>𝑏</m:t>
                          </m:r>
                          <m:sSup>
                            <m:sSupPr>
                              <m:ctrlPr>
                                <a:rPr lang="zh-CN" altLang="zh-CN" sz="2200" i="1" kern="100">
                                  <a:solidFill>
                                    <a:srgbClr val="262626"/>
                                  </a:solidFill>
                                  <a:latin typeface="Cambria Math" panose="02040503050406030204" pitchFamily="18" charset="0"/>
                                  <a:cs typeface="宋体" panose="02010600030101010101" pitchFamily="2" charset="-122"/>
                                </a:rPr>
                              </m:ctrlPr>
                            </m:sSupPr>
                            <m:e>
                              <m:r>
                                <a:rPr lang="en-US" altLang="zh-CN" sz="2200" kern="100">
                                  <a:solidFill>
                                    <a:srgbClr val="262626"/>
                                  </a:solidFill>
                                  <a:latin typeface="Cambria Math" panose="02040503050406030204" pitchFamily="18" charset="0"/>
                                  <a:cs typeface="宋体" panose="02010600030101010101" pitchFamily="2" charset="-122"/>
                                </a:rPr>
                                <m:t>𝑁</m:t>
                              </m:r>
                            </m:e>
                            <m:sup>
                              <m:r>
                                <a:rPr lang="en-US" altLang="zh-CN" sz="2200" kern="100">
                                  <a:solidFill>
                                    <a:srgbClr val="262626"/>
                                  </a:solidFill>
                                  <a:latin typeface="Cambria Math" panose="02040503050406030204" pitchFamily="18" charset="0"/>
                                  <a:cs typeface="宋体" panose="02010600030101010101" pitchFamily="2" charset="-122"/>
                                </a:rPr>
                                <m:t>𝛼</m:t>
                              </m:r>
                            </m:sup>
                          </m:sSup>
                          <m:d>
                            <m:dPr>
                              <m:ctrlPr>
                                <a:rPr lang="zh-CN" altLang="zh-CN" sz="2200" i="1" kern="100">
                                  <a:solidFill>
                                    <a:srgbClr val="262626"/>
                                  </a:solidFill>
                                  <a:latin typeface="Cambria Math" panose="02040503050406030204" pitchFamily="18" charset="0"/>
                                  <a:cs typeface="宋体" panose="02010600030101010101" pitchFamily="2" charset="-122"/>
                                </a:rPr>
                              </m:ctrlPr>
                            </m:dPr>
                            <m:e>
                              <m:r>
                                <a:rPr lang="en-US" altLang="zh-CN" sz="2200" kern="100">
                                  <a:solidFill>
                                    <a:srgbClr val="262626"/>
                                  </a:solidFill>
                                  <a:latin typeface="Cambria Math" panose="02040503050406030204" pitchFamily="18" charset="0"/>
                                  <a:cs typeface="宋体" panose="02010600030101010101" pitchFamily="2" charset="-122"/>
                                </a:rPr>
                                <m:t>1</m:t>
                              </m:r>
                              <m:r>
                                <a:rPr lang="en-US" altLang="zh-CN" sz="2200" kern="100">
                                  <a:solidFill>
                                    <a:srgbClr val="262626"/>
                                  </a:solidFill>
                                  <a:latin typeface="Cambria Math" panose="02040503050406030204" pitchFamily="18" charset="0"/>
                                  <a:cs typeface="宋体" panose="02010600030101010101" pitchFamily="2" charset="-122"/>
                                </a:rPr>
                                <m:t>−</m:t>
                              </m:r>
                              <m:r>
                                <a:rPr lang="en-US" altLang="zh-CN" sz="2200" kern="100">
                                  <a:solidFill>
                                    <a:srgbClr val="262626"/>
                                  </a:solidFill>
                                  <a:latin typeface="Cambria Math" panose="02040503050406030204" pitchFamily="18" charset="0"/>
                                  <a:cs typeface="宋体" panose="02010600030101010101" pitchFamily="2" charset="-122"/>
                                </a:rPr>
                                <m:t>𝛼𝛽</m:t>
                              </m:r>
                            </m:e>
                          </m:d>
                          <m:r>
                            <a:rPr lang="en-US" altLang="zh-CN" sz="2200" kern="100">
                              <a:solidFill>
                                <a:srgbClr val="262626"/>
                              </a:solidFill>
                              <a:latin typeface="Cambria Math" panose="02040503050406030204" pitchFamily="18" charset="0"/>
                              <a:cs typeface="宋体" panose="02010600030101010101" pitchFamily="2" charset="-122"/>
                            </a:rPr>
                            <m:t>+</m:t>
                          </m:r>
                          <m:r>
                            <a:rPr lang="en-US" altLang="zh-CN" sz="2200" kern="100">
                              <a:solidFill>
                                <a:srgbClr val="262626"/>
                              </a:solidFill>
                              <a:latin typeface="Cambria Math" panose="02040503050406030204" pitchFamily="18" charset="0"/>
                              <a:cs typeface="宋体" panose="02010600030101010101" pitchFamily="2" charset="-122"/>
                            </a:rPr>
                            <m:t>𝑎</m:t>
                          </m:r>
                        </m:num>
                        <m:den>
                          <m:d>
                            <m:dPr>
                              <m:ctrlPr>
                                <a:rPr lang="zh-CN" altLang="zh-CN" sz="2200" i="1" kern="100">
                                  <a:solidFill>
                                    <a:srgbClr val="262626"/>
                                  </a:solidFill>
                                  <a:latin typeface="Cambria Math" panose="02040503050406030204" pitchFamily="18" charset="0"/>
                                  <a:cs typeface="宋体" panose="02010600030101010101" pitchFamily="2" charset="-122"/>
                                </a:rPr>
                              </m:ctrlPr>
                            </m:dPr>
                            <m:e>
                              <m:r>
                                <a:rPr lang="en-US" altLang="zh-CN" sz="2200" kern="100">
                                  <a:solidFill>
                                    <a:srgbClr val="262626"/>
                                  </a:solidFill>
                                  <a:latin typeface="Cambria Math" panose="02040503050406030204" pitchFamily="18" charset="0"/>
                                  <a:cs typeface="宋体" panose="02010600030101010101" pitchFamily="2" charset="-122"/>
                                </a:rPr>
                                <m:t>1</m:t>
                              </m:r>
                              <m:r>
                                <a:rPr lang="en-US" altLang="zh-CN" sz="2200" kern="100">
                                  <a:solidFill>
                                    <a:srgbClr val="262626"/>
                                  </a:solidFill>
                                  <a:latin typeface="Cambria Math" panose="02040503050406030204" pitchFamily="18" charset="0"/>
                                  <a:cs typeface="宋体" panose="02010600030101010101" pitchFamily="2" charset="-122"/>
                                </a:rPr>
                                <m:t>−</m:t>
                              </m:r>
                              <m:r>
                                <a:rPr lang="en-US" altLang="zh-CN" sz="2200" kern="100">
                                  <a:solidFill>
                                    <a:srgbClr val="262626"/>
                                  </a:solidFill>
                                  <a:latin typeface="Cambria Math" panose="02040503050406030204" pitchFamily="18" charset="0"/>
                                  <a:cs typeface="宋体" panose="02010600030101010101" pitchFamily="2" charset="-122"/>
                                </a:rPr>
                                <m:t>𝛽</m:t>
                              </m:r>
                            </m:e>
                          </m:d>
                          <m:sSub>
                            <m:sSubPr>
                              <m:ctrlPr>
                                <a:rPr lang="zh-CN" altLang="zh-CN" sz="2200" i="1" kern="100">
                                  <a:solidFill>
                                    <a:srgbClr val="262626"/>
                                  </a:solidFill>
                                  <a:latin typeface="Cambria Math" panose="02040503050406030204" pitchFamily="18" charset="0"/>
                                  <a:cs typeface="宋体" panose="02010600030101010101" pitchFamily="2" charset="-122"/>
                                </a:rPr>
                              </m:ctrlPr>
                            </m:sSubPr>
                            <m:e>
                              <m:r>
                                <a:rPr lang="en-US" altLang="zh-CN" sz="2200" kern="100">
                                  <a:solidFill>
                                    <a:srgbClr val="262626"/>
                                  </a:solidFill>
                                  <a:latin typeface="Cambria Math" panose="02040503050406030204" pitchFamily="18" charset="0"/>
                                  <a:cs typeface="宋体" panose="02010600030101010101" pitchFamily="2" charset="-122"/>
                                </a:rPr>
                                <m:t>𝑃</m:t>
                              </m:r>
                            </m:e>
                            <m:sub>
                              <m:r>
                                <a:rPr lang="en-US" altLang="zh-CN" sz="2200" kern="100">
                                  <a:solidFill>
                                    <a:srgbClr val="262626"/>
                                  </a:solidFill>
                                  <a:latin typeface="Cambria Math" panose="02040503050406030204" pitchFamily="18" charset="0"/>
                                  <a:cs typeface="宋体" panose="02010600030101010101" pitchFamily="2" charset="-122"/>
                                </a:rPr>
                                <m:t>𝑁</m:t>
                              </m:r>
                            </m:sub>
                          </m:sSub>
                          <m:r>
                            <a:rPr lang="en-US" altLang="zh-CN" sz="2200" kern="100">
                              <a:solidFill>
                                <a:srgbClr val="262626"/>
                              </a:solidFill>
                              <a:latin typeface="Cambria Math" panose="02040503050406030204" pitchFamily="18" charset="0"/>
                              <a:cs typeface="宋体" panose="02010600030101010101" pitchFamily="2" charset="-122"/>
                            </a:rPr>
                            <m:t>+</m:t>
                          </m:r>
                          <m:sSub>
                            <m:sSubPr>
                              <m:ctrlPr>
                                <a:rPr lang="zh-CN" altLang="zh-CN" sz="2200" i="1" kern="100">
                                  <a:solidFill>
                                    <a:srgbClr val="262626"/>
                                  </a:solidFill>
                                  <a:latin typeface="Cambria Math" panose="02040503050406030204" pitchFamily="18" charset="0"/>
                                  <a:cs typeface="宋体" panose="02010600030101010101" pitchFamily="2" charset="-122"/>
                                </a:rPr>
                              </m:ctrlPr>
                            </m:sSubPr>
                            <m:e>
                              <m:r>
                                <a:rPr lang="en-US" altLang="zh-CN" sz="2200" kern="100">
                                  <a:solidFill>
                                    <a:srgbClr val="262626"/>
                                  </a:solidFill>
                                  <a:latin typeface="Cambria Math" panose="02040503050406030204" pitchFamily="18" charset="0"/>
                                  <a:cs typeface="宋体" panose="02010600030101010101" pitchFamily="2" charset="-122"/>
                                </a:rPr>
                                <m:t>𝑃</m:t>
                              </m:r>
                            </m:e>
                            <m:sub>
                              <m:r>
                                <a:rPr lang="en-US" altLang="zh-CN" sz="2200" kern="100">
                                  <a:solidFill>
                                    <a:srgbClr val="262626"/>
                                  </a:solidFill>
                                  <a:latin typeface="Cambria Math" panose="02040503050406030204" pitchFamily="18" charset="0"/>
                                  <a:cs typeface="宋体" panose="02010600030101010101" pitchFamily="2" charset="-122"/>
                                </a:rPr>
                                <m:t>𝐻</m:t>
                              </m:r>
                            </m:sub>
                          </m:sSub>
                          <m:r>
                            <a:rPr lang="en-US" altLang="zh-CN" sz="2200" kern="100">
                              <a:solidFill>
                                <a:srgbClr val="262626"/>
                              </a:solidFill>
                              <a:latin typeface="Cambria Math" panose="02040503050406030204" pitchFamily="18" charset="0"/>
                              <a:cs typeface="宋体" panose="02010600030101010101" pitchFamily="2" charset="-122"/>
                            </a:rPr>
                            <m:t>𝑏</m:t>
                          </m:r>
                          <m:r>
                            <a:rPr lang="en-US" altLang="zh-CN" sz="2200" kern="100">
                              <a:solidFill>
                                <a:srgbClr val="262626"/>
                              </a:solidFill>
                              <a:latin typeface="Cambria Math" panose="02040503050406030204" pitchFamily="18" charset="0"/>
                              <a:cs typeface="宋体" panose="02010600030101010101" pitchFamily="2" charset="-122"/>
                            </a:rPr>
                            <m:t>𝛼</m:t>
                          </m:r>
                          <m:sSup>
                            <m:sSupPr>
                              <m:ctrlPr>
                                <a:rPr lang="zh-CN" altLang="zh-CN" sz="2200" i="1" kern="100">
                                  <a:solidFill>
                                    <a:srgbClr val="262626"/>
                                  </a:solidFill>
                                  <a:latin typeface="Cambria Math" panose="02040503050406030204" pitchFamily="18" charset="0"/>
                                  <a:cs typeface="宋体" panose="02010600030101010101" pitchFamily="2" charset="-122"/>
                                </a:rPr>
                              </m:ctrlPr>
                            </m:sSupPr>
                            <m:e>
                              <m:r>
                                <a:rPr lang="en-US" altLang="zh-CN" sz="2200" kern="100">
                                  <a:solidFill>
                                    <a:srgbClr val="262626"/>
                                  </a:solidFill>
                                  <a:latin typeface="Cambria Math" panose="02040503050406030204" pitchFamily="18" charset="0"/>
                                  <a:cs typeface="宋体" panose="02010600030101010101" pitchFamily="2" charset="-122"/>
                                </a:rPr>
                                <m:t>𝑁</m:t>
                              </m:r>
                            </m:e>
                            <m:sup>
                              <m:r>
                                <a:rPr lang="en-US" altLang="zh-CN" sz="2200" kern="100">
                                  <a:solidFill>
                                    <a:srgbClr val="262626"/>
                                  </a:solidFill>
                                  <a:latin typeface="Cambria Math" panose="02040503050406030204" pitchFamily="18" charset="0"/>
                                  <a:cs typeface="宋体" panose="02010600030101010101" pitchFamily="2" charset="-122"/>
                                </a:rPr>
                                <m:t>𝛼</m:t>
                              </m:r>
                              <m:r>
                                <a:rPr lang="en-US" altLang="zh-CN" sz="2200" kern="100">
                                  <a:solidFill>
                                    <a:srgbClr val="262626"/>
                                  </a:solidFill>
                                  <a:latin typeface="Cambria Math" panose="02040503050406030204" pitchFamily="18" charset="0"/>
                                  <a:cs typeface="宋体" panose="02010600030101010101" pitchFamily="2" charset="-122"/>
                                </a:rPr>
                                <m:t>−</m:t>
                              </m:r>
                              <m:r>
                                <a:rPr lang="en-US" altLang="zh-CN" sz="2200" kern="100">
                                  <a:solidFill>
                                    <a:srgbClr val="262626"/>
                                  </a:solidFill>
                                  <a:latin typeface="Cambria Math" panose="02040503050406030204" pitchFamily="18" charset="0"/>
                                  <a:cs typeface="宋体" panose="02010600030101010101" pitchFamily="2" charset="-122"/>
                                </a:rPr>
                                <m:t>1</m:t>
                              </m:r>
                            </m:sup>
                          </m:sSup>
                          <m:r>
                            <a:rPr lang="en-US" altLang="zh-CN" sz="2200" kern="100">
                              <a:solidFill>
                                <a:srgbClr val="262626"/>
                              </a:solidFill>
                              <a:latin typeface="Cambria Math" panose="02040503050406030204" pitchFamily="18" charset="0"/>
                              <a:cs typeface="宋体" panose="02010600030101010101" pitchFamily="2" charset="-122"/>
                            </a:rPr>
                            <m:t>(</m:t>
                          </m:r>
                          <m:r>
                            <a:rPr lang="en-US" altLang="zh-CN" sz="2200" kern="100">
                              <a:solidFill>
                                <a:srgbClr val="262626"/>
                              </a:solidFill>
                              <a:latin typeface="Cambria Math" panose="02040503050406030204" pitchFamily="18" charset="0"/>
                              <a:cs typeface="宋体" panose="02010600030101010101" pitchFamily="2" charset="-122"/>
                            </a:rPr>
                            <m:t>1</m:t>
                          </m:r>
                          <m:r>
                            <a:rPr lang="en-US" altLang="zh-CN" sz="2200" kern="100">
                              <a:solidFill>
                                <a:srgbClr val="262626"/>
                              </a:solidFill>
                              <a:latin typeface="Cambria Math" panose="02040503050406030204" pitchFamily="18" charset="0"/>
                              <a:cs typeface="宋体" panose="02010600030101010101" pitchFamily="2" charset="-122"/>
                            </a:rPr>
                            <m:t>+</m:t>
                          </m:r>
                          <m:r>
                            <a:rPr lang="en-US" altLang="zh-CN" sz="2200" kern="100">
                              <a:solidFill>
                                <a:srgbClr val="262626"/>
                              </a:solidFill>
                              <a:latin typeface="Cambria Math" panose="02040503050406030204" pitchFamily="18" charset="0"/>
                              <a:cs typeface="宋体" panose="02010600030101010101" pitchFamily="2" charset="-122"/>
                            </a:rPr>
                            <m:t>𝛼𝛽</m:t>
                          </m:r>
                          <m:r>
                            <a:rPr lang="en-US" altLang="zh-CN" sz="2200" kern="100">
                              <a:solidFill>
                                <a:srgbClr val="262626"/>
                              </a:solidFill>
                              <a:latin typeface="Cambria Math" panose="02040503050406030204" pitchFamily="18" charset="0"/>
                              <a:cs typeface="宋体" panose="02010600030101010101" pitchFamily="2" charset="-122"/>
                            </a:rPr>
                            <m:t>)</m:t>
                          </m:r>
                        </m:den>
                      </m:f>
                    </m:oMath>
                  </m:oMathPara>
                </a14:m>
                <a:endParaRPr lang="zh-CN" altLang="en-US" sz="2200" kern="100" dirty="0">
                  <a:solidFill>
                    <a:srgbClr val="262626"/>
                  </a:solidFill>
                  <a:latin typeface="+mn-ea"/>
                  <a:cs typeface="宋体" panose="02010600030101010101" pitchFamily="2"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4833253" y="4869980"/>
                <a:ext cx="4659086" cy="809517"/>
              </a:xfrm>
              <a:prstGeom prst="rect">
                <a:avLst/>
              </a:prstGeom>
              <a:blipFill rotWithShape="1">
                <a:blip r:embed="rId3"/>
                <a:stretch>
                  <a:fillRect l="-6" t="-20" r="8"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1673678" y="2134137"/>
                <a:ext cx="8572500" cy="1107996"/>
              </a:xfrm>
              <a:prstGeom prst="rect">
                <a:avLst/>
              </a:prstGeom>
              <a:noFill/>
            </p:spPr>
            <p:txBody>
              <a:bodyPr wrap="square" rtlCol="0">
                <a:spAutoFit/>
              </a:bodyPr>
              <a:lstStyle/>
              <a:p>
                <a:pPr lvl="0" indent="266700" algn="just">
                  <a:lnSpc>
                    <a:spcPct val="150000"/>
                  </a:lnSpc>
                  <a:defRPr/>
                </a:pPr>
                <a14:m>
                  <m:oMathPara xmlns:m="http://schemas.openxmlformats.org/officeDocument/2006/math">
                    <m:oMathParaPr>
                      <m:jc m:val="centerGroup"/>
                    </m:oMathParaPr>
                    <m:oMath xmlns:m="http://schemas.openxmlformats.org/officeDocument/2006/math">
                      <m:r>
                        <a:rPr kumimoji="0" lang="en-US" altLang="zh-CN" sz="2200" b="0" i="0" u="none" strike="noStrike" kern="100" cap="none" spc="0" normalizeH="0" baseline="0" noProof="0" smtClean="0">
                          <a:ln>
                            <a:noFill/>
                          </a:ln>
                          <a:solidFill>
                            <a:srgbClr val="262626"/>
                          </a:solidFill>
                          <a:effectLst/>
                          <a:uLnTx/>
                          <a:uFillTx/>
                          <a:latin typeface="Cambria Math" panose="02040503050406030204" pitchFamily="18" charset="0"/>
                          <a:cs typeface="宋体" panose="02010600030101010101" pitchFamily="2" charset="-122"/>
                        </a:rPr>
                        <m:t> </m:t>
                      </m:r>
                      <m:r>
                        <a:rPr kumimoji="0" lang="en-US" altLang="zh-CN" sz="2200" b="0" i="1" u="none" strike="noStrike" kern="1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𝑚𝑎𝑥</m:t>
                      </m:r>
                      <m:r>
                        <a:rPr kumimoji="0" lang="en-US" altLang="zh-CN" sz="2200" b="0" i="0" u="none" strike="noStrike" kern="1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 </m:t>
                      </m:r>
                      <m:r>
                        <a:rPr kumimoji="0" lang="en-US" altLang="zh-CN" sz="2200" b="0" i="1" u="none" strike="noStrike" kern="1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𝑈</m:t>
                      </m:r>
                      <m:r>
                        <a:rPr kumimoji="0" lang="en-US" altLang="zh-CN" sz="2200" b="0" i="0" u="none" strike="noStrike" kern="1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m:t>
                      </m:r>
                      <m:r>
                        <a:rPr kumimoji="0" lang="en-US" altLang="zh-CN" sz="2200" b="0" i="1" u="none" strike="noStrike" kern="1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𝑁</m:t>
                      </m:r>
                      <m:r>
                        <a:rPr kumimoji="0" lang="zh-CN" altLang="zh-CN" sz="2200" b="0" i="0" u="none" strike="noStrike" kern="1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m:t>
                      </m:r>
                      <m:r>
                        <a:rPr lang="en-US" altLang="zh-CN" sz="2200" i="1" kern="100">
                          <a:solidFill>
                            <a:srgbClr val="262626"/>
                          </a:solidFill>
                          <a:latin typeface="Cambria Math" panose="02040503050406030204" pitchFamily="18" charset="0"/>
                          <a:cs typeface="宋体" panose="02010600030101010101" pitchFamily="2" charset="-122"/>
                        </a:rPr>
                        <m:t>𝑙</m:t>
                      </m:r>
                      <m:r>
                        <a:rPr kumimoji="0" lang="en-US" altLang="zh-CN" sz="2200" b="0" i="0" u="none" strike="noStrike" kern="1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m:t>
                      </m:r>
                      <m:r>
                        <a:rPr kumimoji="0" lang="en-US" altLang="zh-CN" sz="2200" b="0" i="1" u="none" strike="noStrike" kern="1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𝑙𝑛𝑁</m:t>
                      </m:r>
                      <m:r>
                        <a:rPr kumimoji="0" lang="en-US" altLang="zh-CN" sz="2200" b="0" i="0" u="none" strike="noStrike" kern="1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m:t>
                      </m:r>
                      <m:r>
                        <a:rPr kumimoji="0" lang="en-US" altLang="zh-CN" sz="2200" b="0" i="1" u="none" strike="noStrike" kern="1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𝛽</m:t>
                      </m:r>
                      <m:r>
                        <a:rPr kumimoji="0" lang="en-US" altLang="zh-CN" sz="2200" b="0" i="1" u="none" strike="noStrike" kern="1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𝑙𝑛𝑙</m:t>
                      </m:r>
                    </m:oMath>
                  </m:oMathPara>
                </a14:m>
                <a:endParaRPr kumimoji="0" lang="zh-CN" altLang="zh-CN" sz="2200" b="0" i="0" u="none" strike="noStrike" kern="100" cap="none" spc="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lvl="0">
                  <a:lnSpc>
                    <a:spcPct val="150000"/>
                  </a:lnSpc>
                  <a:defRPr/>
                </a:pPr>
                <a14:m>
                  <m:oMathPara xmlns:m="http://schemas.openxmlformats.org/officeDocument/2006/math">
                    <m:oMathParaPr>
                      <m:jc m:val="centerGroup"/>
                    </m:oMathParaPr>
                    <m:oMath xmlns:m="http://schemas.openxmlformats.org/officeDocument/2006/math">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                       </m:t>
                      </m:r>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𝑠𝑡</m:t>
                      </m:r>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  </m:t>
                      </m:r>
                      <m:sSub>
                        <m:sSubPr>
                          <m:ctrlPr>
                            <a:rPr kumimoji="0" lang="zh-CN"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ctrlPr>
                        </m:sSubPr>
                        <m:e>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𝑃</m:t>
                          </m:r>
                        </m:e>
                        <m:sub>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𝑁</m:t>
                          </m:r>
                        </m:sub>
                      </m:sSub>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𝑁</m:t>
                      </m:r>
                      <m:r>
                        <a:rPr kumimoji="0" lang="en-US" altLang="zh-CN" sz="2200" b="0" i="0"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m:t>
                      </m:r>
                      <m:sSub>
                        <m:sSubPr>
                          <m:ctrlPr>
                            <a:rPr kumimoji="0" lang="zh-CN"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ctrlPr>
                        </m:sSubPr>
                        <m:e>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𝑃</m:t>
                          </m:r>
                        </m:e>
                        <m:sub>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𝐻</m:t>
                          </m:r>
                        </m:sub>
                      </m:sSub>
                      <m:r>
                        <a:rPr kumimoji="0" lang="en-US" altLang="zh-CN" sz="2200" b="0" i="0"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m:t>
                      </m:r>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𝑎</m:t>
                      </m:r>
                      <m:r>
                        <a:rPr kumimoji="0" lang="en-US" altLang="zh-CN" sz="2200" b="0" i="0"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m:t>
                      </m:r>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𝑏</m:t>
                      </m:r>
                      <m:sSup>
                        <m:sSupPr>
                          <m:ctrlPr>
                            <a:rPr kumimoji="0" lang="zh-CN"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ctrlPr>
                        </m:sSupPr>
                        <m:e>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𝑁</m:t>
                          </m:r>
                        </m:e>
                        <m:sup>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𝛼</m:t>
                          </m:r>
                        </m:sup>
                      </m:sSup>
                      <m:r>
                        <a:rPr kumimoji="0" lang="en-US" altLang="zh-CN" sz="2200" b="0" i="0"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m:t>
                      </m:r>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𝐼</m:t>
                      </m:r>
                      <m:r>
                        <a:rPr kumimoji="0" lang="en-US" altLang="zh-CN" sz="2200" b="0" i="0"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m:t>
                      </m:r>
                      <m:sSub>
                        <m:sSubPr>
                          <m:ctrlPr>
                            <a:rPr kumimoji="0" lang="zh-CN"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ctrlPr>
                        </m:sSubPr>
                        <m:e>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𝑃</m:t>
                          </m:r>
                        </m:e>
                        <m:sub>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𝐻</m:t>
                          </m:r>
                        </m:sub>
                      </m:sSub>
                      <m:r>
                        <a:rPr kumimoji="0" lang="en-US" altLang="zh-CN" sz="2200" b="0" i="0"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 </m:t>
                      </m:r>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𝑀</m:t>
                      </m:r>
                      <m:r>
                        <a:rPr kumimoji="0" lang="en-US" altLang="zh-CN" sz="2200" b="0" i="0"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m:t>
                      </m:r>
                      <m:r>
                        <a:rPr kumimoji="0" lang="en-US" altLang="zh-CN" sz="2200" b="0" i="1"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𝑤</m:t>
                      </m:r>
                      <m:r>
                        <a:rPr kumimoji="0" lang="en-US" altLang="zh-CN" sz="2200" b="0" i="0" u="none" strike="noStrike" kern="1200" cap="none" spc="0" normalizeH="0" baseline="0" noProof="0">
                          <a:ln>
                            <a:noFill/>
                          </a:ln>
                          <a:solidFill>
                            <a:srgbClr val="262626"/>
                          </a:solidFill>
                          <a:effectLst/>
                          <a:uLnTx/>
                          <a:uFillTx/>
                          <a:latin typeface="Cambria Math" panose="02040503050406030204" pitchFamily="18" charset="0"/>
                          <a:cs typeface="宋体" panose="02010600030101010101" pitchFamily="2" charset="-122"/>
                        </a:rPr>
                        <m:t>(</m:t>
                      </m:r>
                      <m:r>
                        <a:rPr kumimoji="0" lang="en-US" altLang="zh-CN" sz="2200" b="0" i="0" u="none" strike="noStrike" kern="1200" cap="none" spc="0" normalizeH="0" baseline="0" noProof="0" smtClean="0">
                          <a:ln>
                            <a:noFill/>
                          </a:ln>
                          <a:solidFill>
                            <a:srgbClr val="262626"/>
                          </a:solidFill>
                          <a:effectLst/>
                          <a:uLnTx/>
                          <a:uFillTx/>
                          <a:latin typeface="Cambria Math" panose="02040503050406030204" pitchFamily="18" charset="0"/>
                          <a:cs typeface="宋体" panose="02010600030101010101" pitchFamily="2" charset="-122"/>
                        </a:rPr>
                        <m:t>1</m:t>
                      </m:r>
                      <m:r>
                        <a:rPr kumimoji="0" lang="en-US" altLang="zh-CN" sz="2200" b="0" i="1" u="none" strike="noStrike" kern="1200" cap="none" spc="0" normalizeH="0" baseline="0" noProof="0" smtClean="0">
                          <a:ln>
                            <a:noFill/>
                          </a:ln>
                          <a:solidFill>
                            <a:srgbClr val="262626"/>
                          </a:solidFill>
                          <a:effectLst/>
                          <a:uLnTx/>
                          <a:uFillTx/>
                          <a:latin typeface="Cambria Math" panose="02040503050406030204" pitchFamily="18" charset="0"/>
                          <a:cs typeface="宋体" panose="02010600030101010101" pitchFamily="2" charset="-122"/>
                        </a:rPr>
                        <m:t>−</m:t>
                      </m:r>
                      <m:r>
                        <a:rPr lang="en-US" altLang="zh-CN" sz="2200" i="1" kern="100">
                          <a:solidFill>
                            <a:srgbClr val="262626"/>
                          </a:solidFill>
                          <a:latin typeface="Cambria Math" panose="02040503050406030204" pitchFamily="18" charset="0"/>
                          <a:cs typeface="宋体" panose="02010600030101010101" pitchFamily="2" charset="-122"/>
                        </a:rPr>
                        <m:t>𝑙</m:t>
                      </m:r>
                      <m:r>
                        <a:rPr kumimoji="0" lang="en-US" altLang="zh-CN" sz="2200" b="0" i="0" u="none" strike="noStrike" kern="1200" cap="none" spc="0" normalizeH="0" baseline="0" noProof="0" smtClean="0">
                          <a:ln>
                            <a:noFill/>
                          </a:ln>
                          <a:solidFill>
                            <a:srgbClr val="262626"/>
                          </a:solidFill>
                          <a:effectLst/>
                          <a:uLnTx/>
                          <a:uFillTx/>
                          <a:latin typeface="Cambria Math" panose="02040503050406030204" pitchFamily="18" charset="0"/>
                          <a:cs typeface="宋体" panose="02010600030101010101" pitchFamily="2" charset="-122"/>
                        </a:rPr>
                        <m:t>)</m:t>
                      </m:r>
                    </m:oMath>
                  </m:oMathPara>
                </a14:m>
                <a:endParaRPr lang="zh-CN" altLang="en-US" dirty="0"/>
              </a:p>
            </p:txBody>
          </p:sp>
        </mc:Choice>
        <mc:Fallback>
          <p:sp>
            <p:nvSpPr>
              <p:cNvPr id="8" name="文本框 7"/>
              <p:cNvSpPr txBox="1">
                <a:spLocks noRot="1" noChangeAspect="1" noMove="1" noResize="1" noEditPoints="1" noAdjustHandles="1" noChangeArrowheads="1" noChangeShapeType="1" noTextEdit="1"/>
              </p:cNvSpPr>
              <p:nvPr/>
            </p:nvSpPr>
            <p:spPr>
              <a:xfrm>
                <a:off x="1673678" y="2134137"/>
                <a:ext cx="8572500" cy="1107996"/>
              </a:xfrm>
              <a:prstGeom prst="rect">
                <a:avLst/>
              </a:prstGeom>
              <a:blipFill rotWithShape="1">
                <a:blip r:embed="rId4"/>
                <a:stretch>
                  <a:fillRect l="-5" t="-48" r="5" b="41"/>
                </a:stretch>
              </a:blipFill>
            </p:spPr>
            <p:txBody>
              <a:bodyPr/>
              <a:lstStyle/>
              <a:p>
                <a:r>
                  <a:rPr lang="zh-CN" altLang="en-US">
                    <a:noFill/>
                  </a:rPr>
                  <a:t> </a:t>
                </a:r>
              </a:p>
            </p:txBody>
          </p:sp>
        </mc:Fallback>
      </mc:AlternateContent>
      <p:sp>
        <p:nvSpPr>
          <p:cNvPr id="11" name="文本框 10"/>
          <p:cNvSpPr txBox="1"/>
          <p:nvPr/>
        </p:nvSpPr>
        <p:spPr>
          <a:xfrm>
            <a:off x="9448798" y="4181584"/>
            <a:ext cx="1839685" cy="341632"/>
          </a:xfrm>
          <a:prstGeom prst="rect">
            <a:avLst/>
          </a:prstGeom>
          <a:noFill/>
        </p:spPr>
        <p:txBody>
          <a:bodyPr wrap="square" rtlCol="0">
            <a:spAutoFit/>
          </a:bodyPr>
          <a:lstStyle/>
          <a:p>
            <a:pPr algn="ctr">
              <a:lnSpc>
                <a:spcPct val="90000"/>
              </a:lnSpc>
              <a:spcBef>
                <a:spcPct val="0"/>
              </a:spcBef>
            </a:pPr>
            <a:r>
              <a:rPr lang="zh-CN" altLang="en-US" b="1" spc="300" dirty="0">
                <a:solidFill>
                  <a:schemeClr val="accent1"/>
                </a:solidFill>
                <a:cs typeface="+mn-ea"/>
              </a:rPr>
              <a:t>收入效应</a:t>
            </a:r>
            <a:endParaRPr lang="zh-CN" altLang="en-US" b="1" spc="300" dirty="0">
              <a:solidFill>
                <a:schemeClr val="accent1"/>
              </a:solidFill>
              <a:cs typeface="+mn-ea"/>
            </a:endParaRPr>
          </a:p>
        </p:txBody>
      </p:sp>
      <p:sp>
        <p:nvSpPr>
          <p:cNvPr id="12" name="文本框 11"/>
          <p:cNvSpPr txBox="1"/>
          <p:nvPr/>
        </p:nvSpPr>
        <p:spPr>
          <a:xfrm>
            <a:off x="9467849" y="5133616"/>
            <a:ext cx="1839685" cy="341632"/>
          </a:xfrm>
          <a:prstGeom prst="rect">
            <a:avLst/>
          </a:prstGeom>
          <a:noFill/>
        </p:spPr>
        <p:txBody>
          <a:bodyPr wrap="square" rtlCol="0">
            <a:spAutoFit/>
          </a:bodyPr>
          <a:lstStyle/>
          <a:p>
            <a:pPr algn="ctr">
              <a:lnSpc>
                <a:spcPct val="90000"/>
              </a:lnSpc>
              <a:spcBef>
                <a:spcPct val="0"/>
              </a:spcBef>
            </a:pPr>
            <a:r>
              <a:rPr lang="zh-CN" altLang="en-US" b="1" spc="300" dirty="0">
                <a:solidFill>
                  <a:schemeClr val="accent1"/>
                </a:solidFill>
                <a:cs typeface="+mn-ea"/>
              </a:rPr>
              <a:t>替代效应</a:t>
            </a:r>
            <a:endParaRPr lang="zh-CN" altLang="en-US" b="1" spc="300" dirty="0">
              <a:solidFill>
                <a:schemeClr val="accent1"/>
              </a:solidFill>
              <a:cs typeface="+mn-ea"/>
            </a:endParaRPr>
          </a:p>
        </p:txBody>
      </p:sp>
      <p:pic>
        <p:nvPicPr>
          <p:cNvPr id="13" name="图片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003971" y="385536"/>
            <a:ext cx="1603434" cy="1060939"/>
          </a:xfrm>
          <a:prstGeom prst="rect">
            <a:avLst/>
          </a:prstGeom>
        </p:spPr>
      </p:pic>
    </p:spTree>
    <p:custDataLst>
      <p:tags r:id="rId6"/>
    </p:custData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043794" y="2032954"/>
            <a:ext cx="7584622" cy="960584"/>
          </a:xfrm>
          <a:prstGeom prst="rect">
            <a:avLst/>
          </a:prstGeom>
          <a:noFill/>
        </p:spPr>
        <p:txBody>
          <a:bodyPr wrap="square" rtlCol="0">
            <a:spAutoFit/>
          </a:bodyPr>
          <a:lstStyle/>
          <a:p>
            <a:pPr marL="0" marR="0" lvl="0" indent="266700" algn="just" defTabSz="914400" rtl="0" eaLnBrk="1" fontAlgn="auto" latinLnBrk="0" hangingPunct="1">
              <a:lnSpc>
                <a:spcPct val="125000"/>
              </a:lnSpc>
              <a:spcBef>
                <a:spcPts val="0"/>
              </a:spcBef>
              <a:spcAft>
                <a:spcPts val="0"/>
              </a:spcAft>
              <a:buClrTx/>
              <a:buSzTx/>
              <a:buFontTx/>
              <a:buNone/>
              <a:defRPr/>
            </a:pPr>
            <a:r>
              <a:rPr lang="zh-CN" altLang="en-US" sz="2200" kern="100" dirty="0">
                <a:solidFill>
                  <a:srgbClr val="262626"/>
                </a:solidFill>
                <a:latin typeface="+mn-ea"/>
                <a:cs typeface="宋体" panose="02010600030101010101" pitchFamily="2" charset="-122"/>
              </a:rPr>
              <a:t>回归</a:t>
            </a:r>
            <a:r>
              <a:rPr kumimoji="0" lang="zh-CN" altLang="en-US" sz="2200" b="0" i="0" u="none" strike="noStrike" kern="100" cap="none" spc="0" normalizeH="0" baseline="0" noProof="0" dirty="0">
                <a:ln>
                  <a:noFill/>
                </a:ln>
                <a:solidFill>
                  <a:srgbClr val="262626"/>
                </a:solidFill>
                <a:effectLst/>
                <a:uLnTx/>
                <a:uFillTx/>
                <a:latin typeface="+mn-ea"/>
                <a:cs typeface="宋体" panose="02010600030101010101" pitchFamily="2" charset="-122"/>
              </a:rPr>
              <a:t>模型设定</a:t>
            </a:r>
            <a:r>
              <a:rPr kumimoji="0" lang="zh-CN" altLang="zh-CN" sz="2200" b="0" i="0" u="none" strike="noStrike" kern="100" cap="none" spc="0" normalizeH="0" baseline="0" noProof="0" dirty="0">
                <a:ln>
                  <a:noFill/>
                </a:ln>
                <a:solidFill>
                  <a:srgbClr val="262626"/>
                </a:solidFill>
                <a:effectLst/>
                <a:uLnTx/>
                <a:uFillTx/>
                <a:latin typeface="+mn-ea"/>
                <a:cs typeface="宋体" panose="02010600030101010101" pitchFamily="2" charset="-122"/>
              </a:rPr>
              <a:t>：</a:t>
            </a:r>
            <a:endParaRPr kumimoji="0" lang="zh-CN" altLang="zh-CN" sz="2200" b="0" i="0" u="none" strike="noStrike" kern="100" cap="none" spc="0" normalizeH="0" baseline="0" noProof="0" dirty="0">
              <a:ln>
                <a:noFill/>
              </a:ln>
              <a:solidFill>
                <a:srgbClr val="262626"/>
              </a:solidFill>
              <a:effectLst/>
              <a:uLnTx/>
              <a:uFillTx/>
              <a:latin typeface="+mn-ea"/>
              <a:cs typeface="Times New Roman" panose="02020603050405020304" pitchFamily="18" charset="0"/>
            </a:endParaRPr>
          </a:p>
          <a:p>
            <a:pPr>
              <a:lnSpc>
                <a:spcPct val="150000"/>
              </a:lnSpc>
            </a:pPr>
            <a:endParaRPr lang="zh-CN" altLang="en-US" sz="2200" dirty="0"/>
          </a:p>
        </p:txBody>
      </p:sp>
      <p:sp>
        <p:nvSpPr>
          <p:cNvPr id="3" name="文本框 2"/>
          <p:cNvSpPr txBox="1"/>
          <p:nvPr/>
        </p:nvSpPr>
        <p:spPr>
          <a:xfrm>
            <a:off x="3853545" y="753812"/>
            <a:ext cx="4365171" cy="590931"/>
          </a:xfrm>
          <a:prstGeom prst="rect">
            <a:avLst/>
          </a:prstGeom>
          <a:noFill/>
        </p:spPr>
        <p:txBody>
          <a:bodyPr wrap="square" rtlCol="0">
            <a:spAutoFit/>
          </a:bodyPr>
          <a:lstStyle/>
          <a:p>
            <a:pPr algn="ctr">
              <a:lnSpc>
                <a:spcPct val="90000"/>
              </a:lnSpc>
              <a:spcBef>
                <a:spcPct val="0"/>
              </a:spcBef>
            </a:pPr>
            <a:r>
              <a:rPr lang="zh-CN" altLang="en-US" sz="3600" b="1" spc="300" dirty="0">
                <a:solidFill>
                  <a:schemeClr val="accent1"/>
                </a:solidFill>
                <a:cs typeface="+mn-ea"/>
              </a:rPr>
              <a:t>实证模型</a:t>
            </a:r>
            <a:endParaRPr lang="zh-CN" altLang="en-US" sz="3600" b="1" spc="300" dirty="0">
              <a:solidFill>
                <a:schemeClr val="accent1"/>
              </a:solidFill>
              <a:cs typeface="+mn-ea"/>
            </a:endParaRPr>
          </a:p>
        </p:txBody>
      </p:sp>
      <mc:AlternateContent xmlns:mc="http://schemas.openxmlformats.org/markup-compatibility/2006">
        <mc:Choice xmlns:a14="http://schemas.microsoft.com/office/drawing/2010/main" Requires="a14">
          <p:sp>
            <p:nvSpPr>
              <p:cNvPr id="8" name="文本框 7"/>
              <p:cNvSpPr txBox="1"/>
              <p:nvPr/>
            </p:nvSpPr>
            <p:spPr>
              <a:xfrm>
                <a:off x="2043794" y="2670372"/>
                <a:ext cx="8572500" cy="646331"/>
              </a:xfrm>
              <a:prstGeom prst="rect">
                <a:avLst/>
              </a:prstGeom>
              <a:noFill/>
            </p:spPr>
            <p:txBody>
              <a:bodyPr wrap="square" rtlCol="0">
                <a:spAutoFit/>
              </a:bodyPr>
              <a:lstStyle/>
              <a:p>
                <a:pPr lvl="0" indent="266700" algn="just">
                  <a:lnSpc>
                    <a:spcPct val="150000"/>
                  </a:lnSpc>
                  <a:defRPr/>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i="1">
                              <a:latin typeface="Cambria Math" panose="02040503050406030204" pitchFamily="18" charset="0"/>
                              <a:ea typeface="宋体" panose="02010600030101010101" pitchFamily="2" charset="-122"/>
                              <a:cs typeface="宋体" panose="02010600030101010101" pitchFamily="2" charset="-122"/>
                            </a:rPr>
                            <m:t>𝑏𝑖𝑟𝑡ℎ</m:t>
                          </m:r>
                          <m:r>
                            <a:rPr lang="en-US" altLang="zh-CN" sz="2400">
                              <a:latin typeface="Cambria Math" panose="02040503050406030204" pitchFamily="18" charset="0"/>
                              <a:ea typeface="宋体" panose="02010600030101010101" pitchFamily="2" charset="-122"/>
                              <a:cs typeface="宋体" panose="02010600030101010101" pitchFamily="2" charset="-122"/>
                            </a:rPr>
                            <m:t>_</m:t>
                          </m:r>
                          <m:r>
                            <a:rPr lang="en-US" altLang="zh-CN" sz="2400" i="1">
                              <a:latin typeface="Cambria Math" panose="02040503050406030204" pitchFamily="18" charset="0"/>
                              <a:ea typeface="宋体" panose="02010600030101010101" pitchFamily="2" charset="-122"/>
                              <a:cs typeface="宋体" panose="02010600030101010101" pitchFamily="2" charset="-122"/>
                            </a:rPr>
                            <m:t>𝑟𝑎𝑡𝑒</m:t>
                          </m:r>
                        </m:e>
                        <m:sub>
                          <m:r>
                            <a:rPr lang="en-US" altLang="zh-CN" sz="2400" i="1">
                              <a:latin typeface="Cambria Math" panose="02040503050406030204" pitchFamily="18" charset="0"/>
                              <a:ea typeface="宋体" panose="02010600030101010101" pitchFamily="2" charset="-122"/>
                              <a:cs typeface="宋体" panose="02010600030101010101" pitchFamily="2" charset="-122"/>
                            </a:rPr>
                            <m:t>𝑖𝑡</m:t>
                          </m:r>
                        </m:sub>
                      </m:sSub>
                      <m:r>
                        <a:rPr lang="en-US" altLang="zh-CN" sz="2400">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i="1">
                              <a:latin typeface="Cambria Math" panose="02040503050406030204" pitchFamily="18" charset="0"/>
                              <a:ea typeface="宋体" panose="02010600030101010101" pitchFamily="2" charset="-122"/>
                              <a:cs typeface="宋体" panose="02010600030101010101" pitchFamily="2" charset="-122"/>
                            </a:rPr>
                            <m:t>𝛽</m:t>
                          </m:r>
                        </m:e>
                        <m:sub>
                          <m:r>
                            <a:rPr lang="en-US" altLang="zh-CN" sz="2400">
                              <a:latin typeface="Cambria Math" panose="02040503050406030204" pitchFamily="18" charset="0"/>
                              <a:ea typeface="宋体" panose="02010600030101010101" pitchFamily="2" charset="-122"/>
                              <a:cs typeface="宋体" panose="02010600030101010101" pitchFamily="2" charset="-122"/>
                            </a:rPr>
                            <m:t>0</m:t>
                          </m:r>
                        </m:sub>
                      </m:sSub>
                      <m:r>
                        <a:rPr lang="en-US" altLang="zh-CN" sz="2400">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i="1">
                              <a:latin typeface="Cambria Math" panose="02040503050406030204" pitchFamily="18" charset="0"/>
                              <a:ea typeface="宋体" panose="02010600030101010101" pitchFamily="2" charset="-122"/>
                              <a:cs typeface="宋体" panose="02010600030101010101" pitchFamily="2" charset="-122"/>
                            </a:rPr>
                            <m:t>𝛽</m:t>
                          </m:r>
                        </m:e>
                        <m:sub>
                          <m:r>
                            <a:rPr lang="en-US" altLang="zh-CN" sz="2400">
                              <a:latin typeface="Cambria Math" panose="02040503050406030204" pitchFamily="18" charset="0"/>
                              <a:ea typeface="宋体" panose="02010600030101010101" pitchFamily="2" charset="-122"/>
                              <a:cs typeface="宋体" panose="02010600030101010101" pitchFamily="2" charset="-122"/>
                            </a:rPr>
                            <m:t>1</m:t>
                          </m:r>
                        </m:sub>
                      </m:sSub>
                      <m:sSub>
                        <m:sSubPr>
                          <m:ctrlPr>
                            <a:rPr lang="zh-CN" altLang="zh-CN" sz="24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i="1">
                              <a:latin typeface="Cambria Math" panose="02040503050406030204" pitchFamily="18" charset="0"/>
                              <a:ea typeface="宋体" panose="02010600030101010101" pitchFamily="2" charset="-122"/>
                              <a:cs typeface="宋体" panose="02010600030101010101" pitchFamily="2" charset="-122"/>
                            </a:rPr>
                            <m:t>𝑙𝑛ℎ𝑠</m:t>
                          </m:r>
                          <m:r>
                            <a:rPr lang="en-US" altLang="zh-CN" sz="2400">
                              <a:latin typeface="Cambria Math" panose="02040503050406030204" pitchFamily="18" charset="0"/>
                              <a:ea typeface="宋体" panose="02010600030101010101" pitchFamily="2" charset="-122"/>
                              <a:cs typeface="宋体" panose="02010600030101010101" pitchFamily="2" charset="-122"/>
                            </a:rPr>
                            <m:t>_</m:t>
                          </m:r>
                          <m:r>
                            <a:rPr lang="en-US" altLang="zh-CN" sz="2400" i="1">
                              <a:latin typeface="Cambria Math" panose="02040503050406030204" pitchFamily="18" charset="0"/>
                              <a:ea typeface="宋体" panose="02010600030101010101" pitchFamily="2" charset="-122"/>
                              <a:cs typeface="宋体" panose="02010600030101010101" pitchFamily="2" charset="-122"/>
                            </a:rPr>
                            <m:t>𝑝𝑟𝑖𝑐𝑒</m:t>
                          </m:r>
                        </m:e>
                        <m:sub>
                          <m:r>
                            <a:rPr lang="en-US" altLang="zh-CN" sz="2400" i="1">
                              <a:latin typeface="Cambria Math" panose="02040503050406030204" pitchFamily="18" charset="0"/>
                              <a:ea typeface="宋体" panose="02010600030101010101" pitchFamily="2" charset="-122"/>
                              <a:cs typeface="宋体" panose="02010600030101010101" pitchFamily="2" charset="-122"/>
                            </a:rPr>
                            <m:t>𝑖𝑡</m:t>
                          </m:r>
                          <m:r>
                            <a:rPr lang="en-US" altLang="zh-CN" sz="2400" i="1">
                              <a:latin typeface="Cambria Math" panose="02040503050406030204" pitchFamily="18" charset="0"/>
                              <a:ea typeface="宋体" panose="02010600030101010101" pitchFamily="2" charset="-122"/>
                              <a:cs typeface="宋体" panose="02010600030101010101" pitchFamily="2" charset="-122"/>
                            </a:rPr>
                            <m:t>−</m:t>
                          </m:r>
                          <m:r>
                            <a:rPr lang="en-US" altLang="zh-CN" sz="2400">
                              <a:latin typeface="Cambria Math" panose="02040503050406030204" pitchFamily="18" charset="0"/>
                              <a:ea typeface="宋体" panose="02010600030101010101" pitchFamily="2" charset="-122"/>
                              <a:cs typeface="宋体" panose="02010600030101010101" pitchFamily="2" charset="-122"/>
                            </a:rPr>
                            <m:t>1</m:t>
                          </m:r>
                        </m:sub>
                      </m:sSub>
                      <m:r>
                        <a:rPr lang="en-US" altLang="zh-CN" sz="2400">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i="1">
                              <a:latin typeface="Cambria Math" panose="02040503050406030204" pitchFamily="18" charset="0"/>
                              <a:ea typeface="宋体" panose="02010600030101010101" pitchFamily="2" charset="-122"/>
                              <a:cs typeface="宋体" panose="02010600030101010101" pitchFamily="2" charset="-122"/>
                            </a:rPr>
                            <m:t>𝛽</m:t>
                          </m:r>
                        </m:e>
                        <m:sub>
                          <m:r>
                            <a:rPr lang="en-US" altLang="zh-CN" sz="2400" i="1">
                              <a:latin typeface="Cambria Math" panose="02040503050406030204" pitchFamily="18" charset="0"/>
                              <a:ea typeface="宋体" panose="02010600030101010101" pitchFamily="2" charset="-122"/>
                              <a:cs typeface="宋体" panose="02010600030101010101" pitchFamily="2" charset="-122"/>
                            </a:rPr>
                            <m:t>𝑖</m:t>
                          </m:r>
                        </m:sub>
                      </m:sSub>
                      <m:sSub>
                        <m:sSubPr>
                          <m:ctrlPr>
                            <a:rPr lang="zh-CN" altLang="zh-CN" sz="24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i="1">
                              <a:latin typeface="Cambria Math" panose="02040503050406030204" pitchFamily="18" charset="0"/>
                              <a:ea typeface="宋体" panose="02010600030101010101" pitchFamily="2" charset="-122"/>
                              <a:cs typeface="宋体" panose="02010600030101010101" pitchFamily="2" charset="-122"/>
                            </a:rPr>
                            <m:t>𝑋</m:t>
                          </m:r>
                        </m:e>
                        <m:sub>
                          <m:r>
                            <a:rPr lang="en-US" altLang="zh-CN" sz="2400" i="1">
                              <a:latin typeface="Cambria Math" panose="02040503050406030204" pitchFamily="18" charset="0"/>
                              <a:ea typeface="宋体" panose="02010600030101010101" pitchFamily="2" charset="-122"/>
                              <a:cs typeface="宋体" panose="02010600030101010101" pitchFamily="2" charset="-122"/>
                            </a:rPr>
                            <m:t>𝑖</m:t>
                          </m:r>
                        </m:sub>
                      </m:sSub>
                      <m:r>
                        <a:rPr lang="en-US" altLang="zh-CN" sz="2400">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i="1">
                              <a:latin typeface="Cambria Math" panose="02040503050406030204" pitchFamily="18" charset="0"/>
                              <a:ea typeface="宋体" panose="02010600030101010101" pitchFamily="2" charset="-122"/>
                              <a:cs typeface="宋体" panose="02010600030101010101" pitchFamily="2" charset="-122"/>
                            </a:rPr>
                            <m:t>𝜂</m:t>
                          </m:r>
                        </m:e>
                        <m:sub>
                          <m:r>
                            <a:rPr lang="en-US" altLang="zh-CN" sz="2400" i="1">
                              <a:latin typeface="Cambria Math" panose="02040503050406030204" pitchFamily="18" charset="0"/>
                              <a:ea typeface="宋体" panose="02010600030101010101" pitchFamily="2" charset="-122"/>
                              <a:cs typeface="宋体" panose="02010600030101010101" pitchFamily="2" charset="-122"/>
                            </a:rPr>
                            <m:t>𝑖</m:t>
                          </m:r>
                        </m:sub>
                      </m:sSub>
                      <m:r>
                        <a:rPr lang="en-US" altLang="zh-CN" sz="2400">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i="1">
                              <a:latin typeface="Cambria Math" panose="02040503050406030204" pitchFamily="18" charset="0"/>
                              <a:ea typeface="宋体" panose="02010600030101010101" pitchFamily="2" charset="-122"/>
                              <a:cs typeface="宋体" panose="02010600030101010101" pitchFamily="2" charset="-122"/>
                            </a:rPr>
                            <m:t>𝜆</m:t>
                          </m:r>
                        </m:e>
                        <m:sub>
                          <m:r>
                            <a:rPr lang="en-US" altLang="zh-CN" sz="2400" i="1">
                              <a:latin typeface="Cambria Math" panose="02040503050406030204" pitchFamily="18" charset="0"/>
                              <a:ea typeface="宋体" panose="02010600030101010101" pitchFamily="2" charset="-122"/>
                              <a:cs typeface="宋体" panose="02010600030101010101" pitchFamily="2" charset="-122"/>
                            </a:rPr>
                            <m:t>𝑡</m:t>
                          </m:r>
                        </m:sub>
                      </m:sSub>
                      <m:r>
                        <a:rPr lang="en-US" altLang="zh-CN" sz="2400">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i="1">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i="1">
                              <a:latin typeface="Cambria Math" panose="02040503050406030204" pitchFamily="18" charset="0"/>
                              <a:ea typeface="宋体" panose="02010600030101010101" pitchFamily="2" charset="-122"/>
                              <a:cs typeface="宋体" panose="02010600030101010101" pitchFamily="2" charset="-122"/>
                            </a:rPr>
                            <m:t>𝑢</m:t>
                          </m:r>
                        </m:e>
                        <m:sub>
                          <m:r>
                            <a:rPr lang="en-US" altLang="zh-CN" sz="2400" i="1">
                              <a:latin typeface="Cambria Math" panose="02040503050406030204" pitchFamily="18" charset="0"/>
                              <a:ea typeface="宋体" panose="02010600030101010101" pitchFamily="2" charset="-122"/>
                              <a:cs typeface="宋体" panose="02010600030101010101" pitchFamily="2" charset="-122"/>
                            </a:rPr>
                            <m:t>𝑖𝑡</m:t>
                          </m:r>
                        </m:sub>
                      </m:sSub>
                    </m:oMath>
                  </m:oMathPara>
                </a14:m>
                <a:endParaRPr lang="zh-CN" altLang="en-US" dirty="0"/>
              </a:p>
            </p:txBody>
          </p:sp>
        </mc:Choice>
        <mc:Fallback>
          <p:sp>
            <p:nvSpPr>
              <p:cNvPr id="8" name="文本框 7"/>
              <p:cNvSpPr txBox="1">
                <a:spLocks noRot="1" noChangeAspect="1" noMove="1" noResize="1" noEditPoints="1" noAdjustHandles="1" noChangeArrowheads="1" noChangeShapeType="1" noTextEdit="1"/>
              </p:cNvSpPr>
              <p:nvPr/>
            </p:nvSpPr>
            <p:spPr>
              <a:xfrm>
                <a:off x="2043794" y="2670372"/>
                <a:ext cx="8572500" cy="646331"/>
              </a:xfrm>
              <a:prstGeom prst="rect">
                <a:avLst/>
              </a:prstGeom>
              <a:blipFill rotWithShape="1">
                <a:blip r:embed="rId1"/>
                <a:stretch>
                  <a:fillRect l="-4" t="-30" r="4" b="15"/>
                </a:stretch>
              </a:blipFill>
            </p:spPr>
            <p:txBody>
              <a:bodyPr/>
              <a:lstStyle/>
              <a:p>
                <a:r>
                  <a:rPr lang="zh-CN" altLang="en-US">
                    <a:noFill/>
                  </a:rPr>
                  <a:t> </a:t>
                </a:r>
              </a:p>
            </p:txBody>
          </p:sp>
        </mc:Fallback>
      </mc:AlternateContent>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03971" y="385536"/>
            <a:ext cx="1603434" cy="1060939"/>
          </a:xfrm>
          <a:prstGeom prst="rect">
            <a:avLst/>
          </a:prstGeom>
        </p:spPr>
      </p:pic>
      <mc:AlternateContent xmlns:mc="http://schemas.openxmlformats.org/markup-compatibility/2006">
        <mc:Choice xmlns:a14="http://schemas.microsoft.com/office/drawing/2010/main" Requires="a14">
          <p:sp>
            <p:nvSpPr>
              <p:cNvPr id="5" name="文本框 4"/>
              <p:cNvSpPr txBox="1"/>
              <p:nvPr/>
            </p:nvSpPr>
            <p:spPr>
              <a:xfrm>
                <a:off x="2537732" y="3541298"/>
                <a:ext cx="7388681" cy="1505925"/>
              </a:xfrm>
              <a:prstGeom prst="rect">
                <a:avLst/>
              </a:prstGeom>
              <a:noFill/>
            </p:spPr>
            <p:txBody>
              <a:bodyPr wrap="square" rtlCol="0">
                <a:spAutoFit/>
              </a:bodyPr>
              <a:lstStyle/>
              <a:p>
                <a14:m>
                  <m:oMath xmlns:m="http://schemas.openxmlformats.org/officeDocument/2006/math">
                    <m:sSub>
                      <m:sSubPr>
                        <m:ctrlPr>
                          <a:rPr lang="zh-CN" altLang="zh-CN" i="1" smtClean="0">
                            <a:effectLst/>
                            <a:latin typeface="+mn-ea"/>
                            <a:cs typeface="宋体" panose="02010600030101010101" pitchFamily="2" charset="-122"/>
                          </a:rPr>
                        </m:ctrlPr>
                      </m:sSubPr>
                      <m:e>
                        <m:r>
                          <a:rPr lang="en-US" altLang="zh-CN" b="0" i="1" smtClean="0">
                            <a:effectLst/>
                            <a:latin typeface="Cambria Math" panose="02040503050406030204" pitchFamily="18" charset="0"/>
                            <a:cs typeface="宋体" panose="02010600030101010101" pitchFamily="2" charset="-122"/>
                          </a:rPr>
                          <m:t>         </m:t>
                        </m:r>
                        <m:r>
                          <a:rPr lang="en-US" altLang="zh-CN" sz="1800" i="1">
                            <a:effectLst/>
                            <a:latin typeface="+mn-ea"/>
                            <a:cs typeface="宋体" panose="02010600030101010101" pitchFamily="2" charset="-122"/>
                          </a:rPr>
                          <m:t>𝑏𝑖𝑟𝑡</m:t>
                        </m:r>
                        <m:sSub>
                          <m:sSubPr>
                            <m:ctrlPr>
                              <a:rPr lang="zh-CN" altLang="zh-CN" i="1">
                                <a:effectLst/>
                                <a:latin typeface="+mn-ea"/>
                                <a:cs typeface="宋体" panose="02010600030101010101" pitchFamily="2" charset="-122"/>
                              </a:rPr>
                            </m:ctrlPr>
                          </m:sSubPr>
                          <m:e>
                            <m:r>
                              <a:rPr lang="en-US" altLang="zh-CN" sz="1800" i="1">
                                <a:effectLst/>
                                <a:latin typeface="+mn-ea"/>
                                <a:cs typeface="宋体" panose="02010600030101010101" pitchFamily="2" charset="-122"/>
                              </a:rPr>
                              <m:t>ℎ</m:t>
                            </m:r>
                          </m:e>
                          <m:sub>
                            <m:r>
                              <a:rPr lang="en-US" altLang="zh-CN" sz="1800" i="1">
                                <a:effectLst/>
                                <a:latin typeface="+mn-ea"/>
                                <a:cs typeface="宋体" panose="02010600030101010101" pitchFamily="2" charset="-122"/>
                              </a:rPr>
                              <m:t>𝑟𝑎𝑡𝑒</m:t>
                            </m:r>
                          </m:sub>
                        </m:sSub>
                      </m:e>
                      <m:sub>
                        <m:r>
                          <a:rPr lang="en-US" altLang="zh-CN" sz="1800" i="1">
                            <a:effectLst/>
                            <a:latin typeface="+mn-ea"/>
                            <a:cs typeface="宋体" panose="02010600030101010101" pitchFamily="2" charset="-122"/>
                          </a:rPr>
                          <m:t>𝑖𝑡</m:t>
                        </m:r>
                      </m:sub>
                    </m:sSub>
                  </m:oMath>
                </a14:m>
                <a:r>
                  <a:rPr lang="zh-CN" altLang="zh-CN" sz="1800" dirty="0">
                    <a:effectLst/>
                    <a:latin typeface="+mn-ea"/>
                    <a:cs typeface="宋体" panose="02010600030101010101" pitchFamily="2" charset="-122"/>
                  </a:rPr>
                  <a:t>表示城市</a:t>
                </a:r>
                <a:r>
                  <a:rPr lang="en-US" altLang="zh-CN" sz="1800" dirty="0" err="1">
                    <a:effectLst/>
                    <a:latin typeface="+mn-ea"/>
                    <a:cs typeface="宋体" panose="02010600030101010101" pitchFamily="2" charset="-122"/>
                  </a:rPr>
                  <a:t>i</a:t>
                </a:r>
                <a:r>
                  <a:rPr lang="zh-CN" altLang="zh-CN" sz="1800" dirty="0">
                    <a:effectLst/>
                    <a:latin typeface="+mn-ea"/>
                    <a:cs typeface="宋体" panose="02010600030101010101" pitchFamily="2" charset="-122"/>
                  </a:rPr>
                  <a:t>在时期</a:t>
                </a:r>
                <a:r>
                  <a:rPr lang="en-US" altLang="zh-CN" sz="1800" dirty="0">
                    <a:effectLst/>
                    <a:latin typeface="+mn-ea"/>
                    <a:cs typeface="宋体" panose="02010600030101010101" pitchFamily="2" charset="-122"/>
                  </a:rPr>
                  <a:t>t</a:t>
                </a:r>
                <a:r>
                  <a:rPr lang="zh-CN" altLang="zh-CN" sz="1800" dirty="0">
                    <a:effectLst/>
                    <a:latin typeface="+mn-ea"/>
                    <a:cs typeface="宋体" panose="02010600030101010101" pitchFamily="2" charset="-122"/>
                  </a:rPr>
                  <a:t>的出生率，</a:t>
                </a:r>
                <a14:m>
                  <m:oMath xmlns:m="http://schemas.openxmlformats.org/officeDocument/2006/math">
                    <m:sSub>
                      <m:sSubPr>
                        <m:ctrlPr>
                          <a:rPr lang="zh-CN" altLang="zh-CN" i="1">
                            <a:effectLst/>
                            <a:latin typeface="+mn-ea"/>
                            <a:cs typeface="宋体" panose="02010600030101010101" pitchFamily="2" charset="-122"/>
                          </a:rPr>
                        </m:ctrlPr>
                      </m:sSubPr>
                      <m:e>
                        <m:r>
                          <a:rPr lang="en-US" altLang="zh-CN" sz="1800" i="1">
                            <a:effectLst/>
                            <a:latin typeface="+mn-ea"/>
                            <a:cs typeface="宋体" panose="02010600030101010101" pitchFamily="2" charset="-122"/>
                          </a:rPr>
                          <m:t>𝑙𝑛ℎ𝑠</m:t>
                        </m:r>
                        <m:r>
                          <a:rPr lang="en-US" altLang="zh-CN" sz="1800">
                            <a:effectLst/>
                            <a:latin typeface="+mn-ea"/>
                            <a:cs typeface="宋体" panose="02010600030101010101" pitchFamily="2" charset="-122"/>
                          </a:rPr>
                          <m:t>_</m:t>
                        </m:r>
                        <m:r>
                          <a:rPr lang="en-US" altLang="zh-CN" sz="1800" i="1">
                            <a:effectLst/>
                            <a:latin typeface="+mn-ea"/>
                            <a:cs typeface="宋体" panose="02010600030101010101" pitchFamily="2" charset="-122"/>
                          </a:rPr>
                          <m:t>𝑝𝑟𝑖𝑐𝑒</m:t>
                        </m:r>
                      </m:e>
                      <m:sub>
                        <m:r>
                          <a:rPr lang="en-US" altLang="zh-CN" sz="1800" i="1">
                            <a:effectLst/>
                            <a:latin typeface="+mn-ea"/>
                            <a:cs typeface="宋体" panose="02010600030101010101" pitchFamily="2" charset="-122"/>
                          </a:rPr>
                          <m:t>𝑖𝑡</m:t>
                        </m:r>
                        <m:r>
                          <a:rPr lang="en-US" altLang="zh-CN" sz="1800" i="1">
                            <a:effectLst/>
                            <a:latin typeface="+mn-ea"/>
                            <a:cs typeface="宋体" panose="02010600030101010101" pitchFamily="2" charset="-122"/>
                          </a:rPr>
                          <m:t>−</m:t>
                        </m:r>
                        <m:r>
                          <a:rPr lang="en-US" altLang="zh-CN" sz="1800">
                            <a:effectLst/>
                            <a:latin typeface="+mn-ea"/>
                            <a:cs typeface="宋体" panose="02010600030101010101" pitchFamily="2" charset="-122"/>
                          </a:rPr>
                          <m:t>1</m:t>
                        </m:r>
                      </m:sub>
                    </m:sSub>
                  </m:oMath>
                </a14:m>
                <a:r>
                  <a:rPr lang="zh-CN" altLang="zh-CN" sz="1800" dirty="0">
                    <a:effectLst/>
                    <a:latin typeface="+mn-ea"/>
                    <a:cs typeface="宋体" panose="02010600030101010101" pitchFamily="2" charset="-122"/>
                  </a:rPr>
                  <a:t>为滞后一期的商品房销售均价的对数。</a:t>
                </a:r>
                <a14:m>
                  <m:oMath xmlns:m="http://schemas.openxmlformats.org/officeDocument/2006/math">
                    <m:sSub>
                      <m:sSubPr>
                        <m:ctrlPr>
                          <a:rPr lang="zh-CN" altLang="zh-CN" i="1">
                            <a:effectLst/>
                            <a:latin typeface="+mn-ea"/>
                            <a:cs typeface="宋体" panose="02010600030101010101" pitchFamily="2" charset="-122"/>
                          </a:rPr>
                        </m:ctrlPr>
                      </m:sSubPr>
                      <m:e>
                        <m:r>
                          <a:rPr lang="en-US" altLang="zh-CN" sz="1800" i="1">
                            <a:effectLst/>
                            <a:latin typeface="+mn-ea"/>
                            <a:cs typeface="宋体" panose="02010600030101010101" pitchFamily="2" charset="-122"/>
                          </a:rPr>
                          <m:t>𝑋</m:t>
                        </m:r>
                      </m:e>
                      <m:sub>
                        <m:r>
                          <a:rPr lang="en-US" altLang="zh-CN" sz="1800" i="1">
                            <a:effectLst/>
                            <a:latin typeface="+mn-ea"/>
                            <a:cs typeface="宋体" panose="02010600030101010101" pitchFamily="2" charset="-122"/>
                          </a:rPr>
                          <m:t>𝑖</m:t>
                        </m:r>
                      </m:sub>
                    </m:sSub>
                    <m:r>
                      <a:rPr lang="zh-CN" altLang="en-US" i="1">
                        <a:latin typeface="Cambria Math" panose="02040503050406030204" pitchFamily="18" charset="0"/>
                        <a:cs typeface="宋体" panose="02010600030101010101" pitchFamily="2" charset="-122"/>
                      </a:rPr>
                      <m:t>为</m:t>
                    </m:r>
                  </m:oMath>
                </a14:m>
                <a:r>
                  <a:rPr lang="zh-CN" altLang="zh-CN" sz="1800" dirty="0">
                    <a:effectLst/>
                    <a:latin typeface="+mn-ea"/>
                    <a:cs typeface="宋体" panose="02010600030101010101" pitchFamily="2" charset="-122"/>
                  </a:rPr>
                  <a:t>控制变量，包括地区生产总值、政府教育支出占比、男女性别比、离婚对数、普通中学在读人数占比。</a:t>
                </a:r>
                <a14:m>
                  <m:oMath xmlns:m="http://schemas.openxmlformats.org/officeDocument/2006/math">
                    <m:sSub>
                      <m:sSubPr>
                        <m:ctrlPr>
                          <a:rPr lang="zh-CN" altLang="zh-CN" i="1">
                            <a:effectLst/>
                            <a:latin typeface="+mn-ea"/>
                            <a:cs typeface="宋体" panose="02010600030101010101" pitchFamily="2" charset="-122"/>
                          </a:rPr>
                        </m:ctrlPr>
                      </m:sSubPr>
                      <m:e>
                        <m:r>
                          <a:rPr lang="en-US" altLang="zh-CN" sz="1800" i="1">
                            <a:effectLst/>
                            <a:latin typeface="+mn-ea"/>
                            <a:cs typeface="宋体" panose="02010600030101010101" pitchFamily="2" charset="-122"/>
                          </a:rPr>
                          <m:t>𝜂</m:t>
                        </m:r>
                      </m:e>
                      <m:sub>
                        <m:r>
                          <a:rPr lang="en-US" altLang="zh-CN" sz="1800" i="1">
                            <a:effectLst/>
                            <a:latin typeface="+mn-ea"/>
                            <a:cs typeface="宋体" panose="02010600030101010101" pitchFamily="2" charset="-122"/>
                          </a:rPr>
                          <m:t>𝑖</m:t>
                        </m:r>
                      </m:sub>
                    </m:sSub>
                  </m:oMath>
                </a14:m>
                <a:r>
                  <a:rPr lang="zh-CN" altLang="zh-CN" sz="1800" dirty="0">
                    <a:effectLst/>
                    <a:latin typeface="+mn-ea"/>
                    <a:cs typeface="宋体" panose="02010600030101010101" pitchFamily="2" charset="-122"/>
                  </a:rPr>
                  <a:t>表示各个城市不随时间变化的个体固定效应，</a:t>
                </a:r>
                <a14:m>
                  <m:oMath xmlns:m="http://schemas.openxmlformats.org/officeDocument/2006/math">
                    <m:sSub>
                      <m:sSubPr>
                        <m:ctrlPr>
                          <a:rPr lang="zh-CN" altLang="zh-CN" i="1">
                            <a:effectLst/>
                            <a:latin typeface="+mn-ea"/>
                            <a:cs typeface="宋体" panose="02010600030101010101" pitchFamily="2" charset="-122"/>
                          </a:rPr>
                        </m:ctrlPr>
                      </m:sSubPr>
                      <m:e>
                        <m:r>
                          <a:rPr lang="en-US" altLang="zh-CN" sz="1800" i="1">
                            <a:effectLst/>
                            <a:latin typeface="+mn-ea"/>
                            <a:cs typeface="宋体" panose="02010600030101010101" pitchFamily="2" charset="-122"/>
                          </a:rPr>
                          <m:t>𝜆</m:t>
                        </m:r>
                      </m:e>
                      <m:sub>
                        <m:r>
                          <a:rPr lang="en-US" altLang="zh-CN" sz="1800" i="1">
                            <a:effectLst/>
                            <a:latin typeface="+mn-ea"/>
                            <a:cs typeface="宋体" panose="02010600030101010101" pitchFamily="2" charset="-122"/>
                          </a:rPr>
                          <m:t>𝑡</m:t>
                        </m:r>
                      </m:sub>
                    </m:sSub>
                  </m:oMath>
                </a14:m>
                <a:r>
                  <a:rPr lang="zh-CN" altLang="zh-CN" sz="1800" dirty="0">
                    <a:effectLst/>
                    <a:latin typeface="+mn-ea"/>
                    <a:cs typeface="宋体" panose="02010600030101010101" pitchFamily="2" charset="-122"/>
                  </a:rPr>
                  <a:t>表示不随个体变化的时间</a:t>
                </a:r>
                <a:r>
                  <a:rPr lang="zh-CN" altLang="zh-CN" sz="1800">
                    <a:effectLst/>
                    <a:latin typeface="+mn-ea"/>
                    <a:cs typeface="宋体" panose="02010600030101010101" pitchFamily="2" charset="-122"/>
                  </a:rPr>
                  <a:t>固定效应。</a:t>
                </a:r>
                <a:endParaRPr lang="zh-CN" altLang="en-US" dirty="0">
                  <a:latin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2537732" y="3541298"/>
                <a:ext cx="7388681" cy="1505925"/>
              </a:xfrm>
              <a:prstGeom prst="rect">
                <a:avLst/>
              </a:prstGeom>
              <a:blipFill rotWithShape="1">
                <a:blip r:embed="rId3"/>
                <a:stretch>
                  <a:fillRect l="-4" t="-36" r="1" b="-21826"/>
                </a:stretch>
              </a:blipFill>
            </p:spPr>
            <p:txBody>
              <a:bodyPr/>
              <a:lstStyle/>
              <a:p>
                <a:r>
                  <a:rPr lang="zh-CN" altLang="en-US">
                    <a:noFill/>
                  </a:rPr>
                  <a:t> </a:t>
                </a:r>
              </a:p>
            </p:txBody>
          </p:sp>
        </mc:Fallback>
      </mc:AlternateContent>
    </p:spTree>
    <p:custDataLst>
      <p:tags r:id="rId4"/>
    </p:custData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669971" y="751896"/>
            <a:ext cx="3211285" cy="590931"/>
          </a:xfrm>
          <a:prstGeom prst="rect">
            <a:avLst/>
          </a:prstGeom>
          <a:noFill/>
        </p:spPr>
        <p:txBody>
          <a:bodyPr wrap="square" rtlCol="0">
            <a:spAutoFit/>
          </a:bodyPr>
          <a:lstStyle/>
          <a:p>
            <a:pPr algn="ctr">
              <a:lnSpc>
                <a:spcPct val="90000"/>
              </a:lnSpc>
              <a:spcBef>
                <a:spcPct val="0"/>
              </a:spcBef>
            </a:pPr>
            <a:r>
              <a:rPr lang="zh-CN" altLang="en-US" sz="3600" b="1" spc="300" dirty="0">
                <a:solidFill>
                  <a:schemeClr val="accent1"/>
                </a:solidFill>
                <a:cs typeface="+mn-ea"/>
              </a:rPr>
              <a:t>实证回归</a:t>
            </a:r>
            <a:endParaRPr lang="zh-CN" altLang="en-US" sz="3600" b="1" spc="300" dirty="0">
              <a:solidFill>
                <a:schemeClr val="accent1"/>
              </a:solidFill>
              <a:cs typeface="+mn-ea"/>
            </a:endParaRPr>
          </a:p>
        </p:txBody>
      </p:sp>
      <p:pic>
        <p:nvPicPr>
          <p:cNvPr id="5" name="图片 4"/>
          <p:cNvPicPr>
            <a:picLocks noChangeAspect="1"/>
          </p:cNvPicPr>
          <p:nvPr/>
        </p:nvPicPr>
        <p:blipFill>
          <a:blip r:embed="rId1"/>
          <a:stretch>
            <a:fillRect/>
          </a:stretch>
        </p:blipFill>
        <p:spPr>
          <a:xfrm>
            <a:off x="696686" y="1643749"/>
            <a:ext cx="6087100" cy="4310743"/>
          </a:xfrm>
          <a:prstGeom prst="rect">
            <a:avLst/>
          </a:prstGeom>
        </p:spPr>
      </p:pic>
      <p:sp>
        <p:nvSpPr>
          <p:cNvPr id="6" name="矩形 5"/>
          <p:cNvSpPr/>
          <p:nvPr/>
        </p:nvSpPr>
        <p:spPr>
          <a:xfrm>
            <a:off x="1774371" y="2209805"/>
            <a:ext cx="4887686" cy="57694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60000"/>
                  <a:lumOff val="40000"/>
                </a:schemeClr>
              </a:solidFill>
            </a:endParaRPr>
          </a:p>
        </p:txBody>
      </p:sp>
      <p:sp>
        <p:nvSpPr>
          <p:cNvPr id="7" name="文本框 6"/>
          <p:cNvSpPr txBox="1"/>
          <p:nvPr/>
        </p:nvSpPr>
        <p:spPr>
          <a:xfrm>
            <a:off x="7434943" y="2385144"/>
            <a:ext cx="3744685" cy="25716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200" dirty="0">
                <a:latin typeface="+mn-ea"/>
              </a:rPr>
              <a:t>估计结果显示，逐步加入控制变量时，房价对出生率的影响都显著为负，表明房价上涨会对出生率产生显著的抑制效应。</a:t>
            </a:r>
            <a:endParaRPr lang="en-US" altLang="zh-CN" sz="2200" dirty="0">
              <a:latin typeface="+mn-ea"/>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03971" y="385536"/>
            <a:ext cx="1603434" cy="1060939"/>
          </a:xfrm>
          <a:prstGeom prst="rect">
            <a:avLst/>
          </a:prstGeom>
        </p:spPr>
      </p:pic>
    </p:spTree>
    <p:custDataLst>
      <p:tags r:id="rId3"/>
    </p:custData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40816" y="593065"/>
            <a:ext cx="3211285" cy="590931"/>
          </a:xfrm>
          <a:prstGeom prst="rect">
            <a:avLst/>
          </a:prstGeom>
          <a:noFill/>
        </p:spPr>
        <p:txBody>
          <a:bodyPr wrap="square" rtlCol="0">
            <a:spAutoFit/>
          </a:bodyPr>
          <a:lstStyle/>
          <a:p>
            <a:pPr algn="ctr">
              <a:lnSpc>
                <a:spcPct val="90000"/>
              </a:lnSpc>
              <a:spcBef>
                <a:spcPct val="0"/>
              </a:spcBef>
            </a:pPr>
            <a:r>
              <a:rPr lang="zh-CN" altLang="en-US" sz="3600" b="1" spc="300" dirty="0">
                <a:solidFill>
                  <a:schemeClr val="accent1"/>
                </a:solidFill>
                <a:cs typeface="+mn-ea"/>
              </a:rPr>
              <a:t>机制分析</a:t>
            </a:r>
            <a:endParaRPr lang="zh-CN" altLang="en-US" sz="3600" b="1" spc="300" dirty="0">
              <a:solidFill>
                <a:schemeClr val="accent1"/>
              </a:solidFill>
              <a:cs typeface="+mn-ea"/>
            </a:endParaRPr>
          </a:p>
        </p:txBody>
      </p:sp>
      <p:sp>
        <p:nvSpPr>
          <p:cNvPr id="7" name="文本框 6"/>
          <p:cNvSpPr txBox="1"/>
          <p:nvPr/>
        </p:nvSpPr>
        <p:spPr>
          <a:xfrm>
            <a:off x="6958909" y="2831885"/>
            <a:ext cx="4855030" cy="1556003"/>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2200" dirty="0">
                <a:latin typeface="+mn-ea"/>
              </a:rPr>
              <a:t>财富不平等对生育率的影响</a:t>
            </a:r>
            <a:endParaRPr lang="en-US" altLang="zh-CN" sz="2200" dirty="0">
              <a:latin typeface="+mn-ea"/>
            </a:endParaRPr>
          </a:p>
          <a:p>
            <a:pPr>
              <a:lnSpc>
                <a:spcPct val="150000"/>
              </a:lnSpc>
            </a:pPr>
            <a:r>
              <a:rPr lang="zh-CN" altLang="en-US" sz="2200" dirty="0">
                <a:latin typeface="+mn-ea"/>
              </a:rPr>
              <a:t>（</a:t>
            </a:r>
            <a:r>
              <a:rPr lang="en-US" altLang="zh-CN" sz="2200" dirty="0">
                <a:latin typeface="+mn-ea"/>
              </a:rPr>
              <a:t>1</a:t>
            </a:r>
            <a:r>
              <a:rPr lang="zh-CN" altLang="en-US" sz="2200" dirty="0">
                <a:latin typeface="+mn-ea"/>
              </a:rPr>
              <a:t>）居民的主观幸福感；</a:t>
            </a:r>
            <a:endParaRPr lang="en-US" altLang="zh-CN" sz="2200" dirty="0">
              <a:latin typeface="+mn-ea"/>
            </a:endParaRPr>
          </a:p>
          <a:p>
            <a:pPr>
              <a:lnSpc>
                <a:spcPct val="150000"/>
              </a:lnSpc>
            </a:pPr>
            <a:r>
              <a:rPr lang="zh-CN" altLang="en-US" sz="2200" dirty="0">
                <a:latin typeface="+mn-ea"/>
              </a:rPr>
              <a:t>（</a:t>
            </a:r>
            <a:r>
              <a:rPr lang="en-US" altLang="zh-CN" sz="2200" dirty="0">
                <a:latin typeface="+mn-ea"/>
              </a:rPr>
              <a:t>2</a:t>
            </a:r>
            <a:r>
              <a:rPr lang="zh-CN" altLang="en-US" sz="2200" dirty="0">
                <a:latin typeface="+mn-ea"/>
              </a:rPr>
              <a:t>）教育领域“过度投资”；</a:t>
            </a:r>
            <a:endParaRPr lang="zh-CN" altLang="en-US" sz="2200" dirty="0">
              <a:latin typeface="+mn-ea"/>
            </a:endParaRPr>
          </a:p>
        </p:txBody>
      </p:sp>
      <p:pic>
        <p:nvPicPr>
          <p:cNvPr id="8" name="图片 7"/>
          <p:cNvPicPr>
            <a:picLocks noChangeAspect="1"/>
          </p:cNvPicPr>
          <p:nvPr/>
        </p:nvPicPr>
        <p:blipFill>
          <a:blip r:embed="rId1"/>
          <a:stretch>
            <a:fillRect/>
          </a:stretch>
        </p:blipFill>
        <p:spPr>
          <a:xfrm>
            <a:off x="936170" y="1325161"/>
            <a:ext cx="5511109" cy="4678312"/>
          </a:xfrm>
          <a:prstGeom prst="rect">
            <a:avLst/>
          </a:prstGeom>
        </p:spPr>
      </p:pic>
      <p:sp>
        <p:nvSpPr>
          <p:cNvPr id="9" name="文本框 8"/>
          <p:cNvSpPr txBox="1"/>
          <p:nvPr/>
        </p:nvSpPr>
        <p:spPr>
          <a:xfrm>
            <a:off x="1817913" y="5955389"/>
            <a:ext cx="3973286" cy="430887"/>
          </a:xfrm>
          <a:prstGeom prst="rect">
            <a:avLst/>
          </a:prstGeom>
          <a:noFill/>
        </p:spPr>
        <p:txBody>
          <a:bodyPr wrap="square" rtlCol="0">
            <a:spAutoFit/>
          </a:bodyPr>
          <a:lstStyle/>
          <a:p>
            <a:pPr marL="342900" indent="-342900">
              <a:buFont typeface="Wingdings" panose="05000000000000000000" pitchFamily="2" charset="2"/>
              <a:buChar char="Ø"/>
            </a:pPr>
            <a:r>
              <a:rPr lang="zh-CN" altLang="en-US" sz="2200" dirty="0"/>
              <a:t>房价对财富不平等的影响</a:t>
            </a:r>
            <a:endParaRPr lang="zh-CN" altLang="en-US" sz="2200" dirty="0"/>
          </a:p>
        </p:txBody>
      </p:sp>
      <p:sp>
        <p:nvSpPr>
          <p:cNvPr id="10" name="矩形 9"/>
          <p:cNvSpPr/>
          <p:nvPr/>
        </p:nvSpPr>
        <p:spPr>
          <a:xfrm>
            <a:off x="2688770" y="2133604"/>
            <a:ext cx="3429000" cy="478971"/>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03971" y="385536"/>
            <a:ext cx="1603434" cy="1060939"/>
          </a:xfrm>
          <a:prstGeom prst="rect">
            <a:avLst/>
          </a:prstGeom>
        </p:spPr>
      </p:pic>
    </p:spTree>
    <p:custDataLst>
      <p:tags r:id="rId3"/>
    </p:custData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691743" y="1027791"/>
            <a:ext cx="3211285" cy="590931"/>
          </a:xfrm>
          <a:prstGeom prst="rect">
            <a:avLst/>
          </a:prstGeom>
          <a:noFill/>
        </p:spPr>
        <p:txBody>
          <a:bodyPr wrap="square" rtlCol="0">
            <a:spAutoFit/>
          </a:bodyPr>
          <a:lstStyle/>
          <a:p>
            <a:pPr algn="ctr">
              <a:lnSpc>
                <a:spcPct val="90000"/>
              </a:lnSpc>
              <a:spcBef>
                <a:spcPct val="0"/>
              </a:spcBef>
            </a:pPr>
            <a:r>
              <a:rPr lang="zh-CN" altLang="en-US" sz="3600" b="1" spc="300" dirty="0">
                <a:solidFill>
                  <a:schemeClr val="accent1"/>
                </a:solidFill>
                <a:cs typeface="+mn-ea"/>
              </a:rPr>
              <a:t>政策建议</a:t>
            </a:r>
            <a:endParaRPr lang="zh-CN" altLang="en-US" sz="3600" b="1" spc="300" dirty="0">
              <a:solidFill>
                <a:schemeClr val="accent1"/>
              </a:solidFill>
              <a:cs typeface="+mn-ea"/>
            </a:endParaRPr>
          </a:p>
        </p:txBody>
      </p:sp>
      <p:sp>
        <p:nvSpPr>
          <p:cNvPr id="7" name="文本框 6"/>
          <p:cNvSpPr txBox="1"/>
          <p:nvPr/>
        </p:nvSpPr>
        <p:spPr>
          <a:xfrm>
            <a:off x="2019299" y="1831538"/>
            <a:ext cx="8556171" cy="3587329"/>
          </a:xfrm>
          <a:prstGeom prst="rect">
            <a:avLst/>
          </a:prstGeom>
          <a:noFill/>
        </p:spPr>
        <p:txBody>
          <a:bodyPr wrap="square" rtlCol="0">
            <a:spAutoFit/>
          </a:bodyPr>
          <a:lstStyle/>
          <a:p>
            <a:pPr>
              <a:lnSpc>
                <a:spcPct val="150000"/>
              </a:lnSpc>
            </a:pPr>
            <a:r>
              <a:rPr lang="zh-CN" altLang="en-US" sz="2200" dirty="0">
                <a:latin typeface="+mn-ea"/>
              </a:rPr>
              <a:t>（</a:t>
            </a:r>
            <a:r>
              <a:rPr lang="en-US" altLang="zh-CN" sz="2200" dirty="0">
                <a:latin typeface="+mn-ea"/>
              </a:rPr>
              <a:t>1</a:t>
            </a:r>
            <a:r>
              <a:rPr lang="zh-CN" altLang="en-US" sz="2200" dirty="0">
                <a:latin typeface="+mn-ea"/>
              </a:rPr>
              <a:t>）通过限购、限贷、增加住房持有成本等政策抑制住房市场的投机性行为，减少房地产市场的过剩需求，抑制房价的过快上涨；</a:t>
            </a:r>
            <a:endParaRPr lang="en-US" altLang="zh-CN" sz="2200" dirty="0">
              <a:latin typeface="+mn-ea"/>
            </a:endParaRPr>
          </a:p>
          <a:p>
            <a:pPr>
              <a:lnSpc>
                <a:spcPct val="150000"/>
              </a:lnSpc>
            </a:pPr>
            <a:r>
              <a:rPr lang="zh-CN" altLang="en-US" sz="2200" dirty="0">
                <a:latin typeface="+mn-ea"/>
              </a:rPr>
              <a:t>（</a:t>
            </a:r>
            <a:r>
              <a:rPr lang="en-US" altLang="zh-CN" sz="2200" dirty="0">
                <a:latin typeface="+mn-ea"/>
              </a:rPr>
              <a:t>2</a:t>
            </a:r>
            <a:r>
              <a:rPr lang="zh-CN" altLang="en-US" sz="2200" dirty="0">
                <a:latin typeface="+mn-ea"/>
              </a:rPr>
              <a:t>）根据适应性预期理论，居民对未来房价走势的预期实际上取决于过去几年的房价增速。因此，政府应通过房地产市场调控政策的连续性和持续性，着力稳定公众对房价的预期；</a:t>
            </a:r>
            <a:endParaRPr lang="en-US" altLang="zh-CN" sz="2200" dirty="0">
              <a:latin typeface="+mn-ea"/>
            </a:endParaRPr>
          </a:p>
          <a:p>
            <a:pPr>
              <a:lnSpc>
                <a:spcPct val="150000"/>
              </a:lnSpc>
            </a:pPr>
            <a:r>
              <a:rPr lang="zh-CN" altLang="en-US" sz="2200" dirty="0">
                <a:latin typeface="+mn-ea"/>
              </a:rPr>
              <a:t>（</a:t>
            </a:r>
            <a:r>
              <a:rPr lang="en-US" altLang="zh-CN" sz="2200" dirty="0">
                <a:latin typeface="+mn-ea"/>
              </a:rPr>
              <a:t>3</a:t>
            </a:r>
            <a:r>
              <a:rPr lang="zh-CN" altLang="en-US" sz="2200" dirty="0">
                <a:latin typeface="+mn-ea"/>
              </a:rPr>
              <a:t>）逐步完善租房市场，通过集中建设等办法，切实增加保障性租赁住房和共有产权住房供给，规范发展长租房市场。 </a:t>
            </a:r>
            <a:endParaRPr lang="zh-CN" altLang="en-US" sz="2200" dirty="0">
              <a:latin typeface="+mn-ea"/>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003971" y="385536"/>
            <a:ext cx="1603434" cy="1060939"/>
          </a:xfrm>
          <a:prstGeom prst="rect">
            <a:avLst/>
          </a:prstGeom>
        </p:spPr>
      </p:pic>
    </p:spTree>
    <p:custDataLst>
      <p:tags r:id="rId2"/>
    </p:custData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powerpoint template design by DAJU_PPT正版来源小红书大橘PPT微信DAJU_PPT请勿抄袭搬运！盗版必究！"/>
          <p:cNvGrpSpPr/>
          <p:nvPr/>
        </p:nvGrpSpPr>
        <p:grpSpPr>
          <a:xfrm>
            <a:off x="0" y="0"/>
            <a:ext cx="12192000" cy="6858000"/>
            <a:chOff x="0" y="0"/>
            <a:chExt cx="12192000" cy="6858000"/>
          </a:xfrm>
        </p:grpSpPr>
        <p:grpSp>
          <p:nvGrpSpPr>
            <p:cNvPr id="8" name="组合 7"/>
            <p:cNvGrpSpPr/>
            <p:nvPr/>
          </p:nvGrpSpPr>
          <p:grpSpPr>
            <a:xfrm>
              <a:off x="0" y="0"/>
              <a:ext cx="12192000" cy="6858000"/>
              <a:chOff x="0" y="0"/>
              <a:chExt cx="12192000" cy="6858000"/>
            </a:xfrm>
          </p:grpSpPr>
          <p:sp>
            <p:nvSpPr>
              <p:cNvPr id="57" name="powerpoint template design by DAJU_PPT正版来源小红书大橘PPT微信DAJU_PPT请勿抄袭搬运！盗版必究！-1"/>
              <p:cNvSpPr/>
              <p:nvPr/>
            </p:nvSpPr>
            <p:spPr>
              <a:xfrm>
                <a:off x="0" y="0"/>
                <a:ext cx="1224280" cy="1224280"/>
              </a:xfrm>
              <a:custGeom>
                <a:avLst/>
                <a:gdLst>
                  <a:gd name="connsiteX0" fmla="*/ 0 w 1224280"/>
                  <a:gd name="connsiteY0" fmla="*/ 0 h 1224280"/>
                  <a:gd name="connsiteX1" fmla="*/ 1224280 w 1224280"/>
                  <a:gd name="connsiteY1" fmla="*/ 0 h 1224280"/>
                  <a:gd name="connsiteX2" fmla="*/ 0 w 1224280"/>
                  <a:gd name="connsiteY2" fmla="*/ 1224280 h 1224280"/>
                </a:gdLst>
                <a:ahLst/>
                <a:cxnLst>
                  <a:cxn ang="0">
                    <a:pos x="connsiteX0" y="connsiteY0"/>
                  </a:cxn>
                  <a:cxn ang="0">
                    <a:pos x="connsiteX1" y="connsiteY1"/>
                  </a:cxn>
                  <a:cxn ang="0">
                    <a:pos x="connsiteX2" y="connsiteY2"/>
                  </a:cxn>
                </a:cxnLst>
                <a:rect l="l" t="t" r="r" b="b"/>
                <a:pathLst>
                  <a:path w="1224280" h="1224280">
                    <a:moveTo>
                      <a:pt x="0" y="0"/>
                    </a:moveTo>
                    <a:lnTo>
                      <a:pt x="1224280" y="0"/>
                    </a:lnTo>
                    <a:cubicBezTo>
                      <a:pt x="1224280" y="676151"/>
                      <a:pt x="676151" y="1224280"/>
                      <a:pt x="0" y="122428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powerpoint template design by DAJU_PPT正版来源小红书大橘PPT微信DAJU_PPT请勿抄袭搬运！盗版必究！-2"/>
              <p:cNvSpPr/>
              <p:nvPr/>
            </p:nvSpPr>
            <p:spPr>
              <a:xfrm flipH="1">
                <a:off x="10967720" y="0"/>
                <a:ext cx="1224280" cy="1224280"/>
              </a:xfrm>
              <a:custGeom>
                <a:avLst/>
                <a:gdLst>
                  <a:gd name="connsiteX0" fmla="*/ 0 w 1224280"/>
                  <a:gd name="connsiteY0" fmla="*/ 0 h 1224280"/>
                  <a:gd name="connsiteX1" fmla="*/ 1224280 w 1224280"/>
                  <a:gd name="connsiteY1" fmla="*/ 0 h 1224280"/>
                  <a:gd name="connsiteX2" fmla="*/ 0 w 1224280"/>
                  <a:gd name="connsiteY2" fmla="*/ 1224280 h 1224280"/>
                </a:gdLst>
                <a:ahLst/>
                <a:cxnLst>
                  <a:cxn ang="0">
                    <a:pos x="connsiteX0" y="connsiteY0"/>
                  </a:cxn>
                  <a:cxn ang="0">
                    <a:pos x="connsiteX1" y="connsiteY1"/>
                  </a:cxn>
                  <a:cxn ang="0">
                    <a:pos x="connsiteX2" y="connsiteY2"/>
                  </a:cxn>
                </a:cxnLst>
                <a:rect l="l" t="t" r="r" b="b"/>
                <a:pathLst>
                  <a:path w="1224280" h="1224280">
                    <a:moveTo>
                      <a:pt x="0" y="0"/>
                    </a:moveTo>
                    <a:lnTo>
                      <a:pt x="1224280" y="0"/>
                    </a:lnTo>
                    <a:cubicBezTo>
                      <a:pt x="1224280" y="676151"/>
                      <a:pt x="676151" y="1224280"/>
                      <a:pt x="0" y="122428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powerpoint template design by DAJU_PPT正版来源小红书大橘PPT微信DAJU_PPT请勿抄袭搬运！盗版必究！-3"/>
              <p:cNvSpPr/>
              <p:nvPr/>
            </p:nvSpPr>
            <p:spPr>
              <a:xfrm flipV="1">
                <a:off x="0" y="5633720"/>
                <a:ext cx="1224280" cy="1224280"/>
              </a:xfrm>
              <a:custGeom>
                <a:avLst/>
                <a:gdLst>
                  <a:gd name="connsiteX0" fmla="*/ 0 w 1224280"/>
                  <a:gd name="connsiteY0" fmla="*/ 0 h 1224280"/>
                  <a:gd name="connsiteX1" fmla="*/ 1224280 w 1224280"/>
                  <a:gd name="connsiteY1" fmla="*/ 0 h 1224280"/>
                  <a:gd name="connsiteX2" fmla="*/ 0 w 1224280"/>
                  <a:gd name="connsiteY2" fmla="*/ 1224280 h 1224280"/>
                </a:gdLst>
                <a:ahLst/>
                <a:cxnLst>
                  <a:cxn ang="0">
                    <a:pos x="connsiteX0" y="connsiteY0"/>
                  </a:cxn>
                  <a:cxn ang="0">
                    <a:pos x="connsiteX1" y="connsiteY1"/>
                  </a:cxn>
                  <a:cxn ang="0">
                    <a:pos x="connsiteX2" y="connsiteY2"/>
                  </a:cxn>
                </a:cxnLst>
                <a:rect l="l" t="t" r="r" b="b"/>
                <a:pathLst>
                  <a:path w="1224280" h="1224280">
                    <a:moveTo>
                      <a:pt x="0" y="0"/>
                    </a:moveTo>
                    <a:lnTo>
                      <a:pt x="1224280" y="0"/>
                    </a:lnTo>
                    <a:cubicBezTo>
                      <a:pt x="1224280" y="676151"/>
                      <a:pt x="676151" y="1224280"/>
                      <a:pt x="0" y="122428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powerpoint template design by DAJU_PPT正版来源小红书大橘PPT微信DAJU_PPT请勿抄袭搬运！盗版必究！-4"/>
              <p:cNvSpPr/>
              <p:nvPr/>
            </p:nvSpPr>
            <p:spPr>
              <a:xfrm flipH="1" flipV="1">
                <a:off x="10967720" y="5633720"/>
                <a:ext cx="1224280" cy="1224280"/>
              </a:xfrm>
              <a:custGeom>
                <a:avLst/>
                <a:gdLst>
                  <a:gd name="connsiteX0" fmla="*/ 0 w 1224280"/>
                  <a:gd name="connsiteY0" fmla="*/ 0 h 1224280"/>
                  <a:gd name="connsiteX1" fmla="*/ 1224280 w 1224280"/>
                  <a:gd name="connsiteY1" fmla="*/ 0 h 1224280"/>
                  <a:gd name="connsiteX2" fmla="*/ 0 w 1224280"/>
                  <a:gd name="connsiteY2" fmla="*/ 1224280 h 1224280"/>
                </a:gdLst>
                <a:ahLst/>
                <a:cxnLst>
                  <a:cxn ang="0">
                    <a:pos x="connsiteX0" y="connsiteY0"/>
                  </a:cxn>
                  <a:cxn ang="0">
                    <a:pos x="connsiteX1" y="connsiteY1"/>
                  </a:cxn>
                  <a:cxn ang="0">
                    <a:pos x="connsiteX2" y="connsiteY2"/>
                  </a:cxn>
                </a:cxnLst>
                <a:rect l="l" t="t" r="r" b="b"/>
                <a:pathLst>
                  <a:path w="1224280" h="1224280">
                    <a:moveTo>
                      <a:pt x="0" y="0"/>
                    </a:moveTo>
                    <a:lnTo>
                      <a:pt x="1224280" y="0"/>
                    </a:lnTo>
                    <a:cubicBezTo>
                      <a:pt x="1224280" y="676151"/>
                      <a:pt x="676151" y="1224280"/>
                      <a:pt x="0" y="1224280"/>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powerpoint template design by DAJU_PPT正版来源小红书大橘PPT微信DAJU_PPT请勿抄袭搬运！盗版必究！-5"/>
            <p:cNvSpPr/>
            <p:nvPr/>
          </p:nvSpPr>
          <p:spPr>
            <a:xfrm>
              <a:off x="213360" y="205740"/>
              <a:ext cx="11765280" cy="6446520"/>
            </a:xfrm>
            <a:prstGeom prst="rect">
              <a:avLst/>
            </a:prstGeom>
            <a:solidFill>
              <a:schemeClr val="bg1"/>
            </a:solidFill>
            <a:ln w="12700" cap="flat" cmpd="sng" algn="ctr">
              <a:noFill/>
              <a:prstDash val="solid"/>
              <a:miter lim="800000"/>
            </a:ln>
            <a:effectLst>
              <a:outerShdw blurRad="228600" sx="98000" sy="98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powerpoint template design by DAJU_PPT正版来源小红书大橘PPT微信DAJU_PPT请勿抄袭搬运！盗版必究！-6"/>
            <p:cNvSpPr/>
            <p:nvPr/>
          </p:nvSpPr>
          <p:spPr>
            <a:xfrm>
              <a:off x="314960" y="304800"/>
              <a:ext cx="11562080" cy="6248400"/>
            </a:xfrm>
            <a:prstGeom prst="roundRect">
              <a:avLst>
                <a:gd name="adj" fmla="val 0"/>
              </a:avLst>
            </a:prstGeom>
            <a:noFill/>
            <a:ln w="254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powerpoint template design by DAJU_PPT正版来源小红书大橘PPT微信DAJU_PPT请勿抄袭搬运！盗版必究！"/>
          <p:cNvSpPr txBox="1"/>
          <p:nvPr/>
        </p:nvSpPr>
        <p:spPr>
          <a:xfrm>
            <a:off x="3858041" y="2931788"/>
            <a:ext cx="4628318" cy="1754326"/>
          </a:xfrm>
          <a:prstGeom prst="rect">
            <a:avLst/>
          </a:prstGeom>
          <a:noFill/>
        </p:spPr>
        <p:txBody>
          <a:bodyPr wrap="none" rtlCol="0">
            <a:spAutoFit/>
          </a:bodyPr>
          <a:lstStyle/>
          <a:p>
            <a:pPr algn="ctr"/>
            <a:r>
              <a:rPr lang="en-US" altLang="zh-CN" sz="4800" spc="300" dirty="0">
                <a:solidFill>
                  <a:schemeClr val="accent2"/>
                </a:solidFill>
                <a:cs typeface="+mn-ea"/>
                <a:sym typeface="+mn-lt"/>
              </a:rPr>
              <a:t>—</a:t>
            </a:r>
            <a:r>
              <a:rPr lang="en-US" altLang="zh-CN" sz="4800" spc="300" dirty="0">
                <a:solidFill>
                  <a:schemeClr val="accent1"/>
                </a:solidFill>
                <a:cs typeface="+mn-ea"/>
                <a:sym typeface="+mn-lt"/>
              </a:rPr>
              <a:t> </a:t>
            </a:r>
            <a:r>
              <a:rPr lang="en-US" altLang="zh-CN" sz="4800" spc="300" dirty="0">
                <a:cs typeface="+mn-ea"/>
                <a:sym typeface="+mn-lt"/>
              </a:rPr>
              <a:t>THANKS </a:t>
            </a:r>
            <a:r>
              <a:rPr lang="en-US" altLang="zh-CN" sz="4800" spc="300" dirty="0">
                <a:solidFill>
                  <a:schemeClr val="accent2"/>
                </a:solidFill>
                <a:cs typeface="+mn-ea"/>
                <a:sym typeface="+mn-lt"/>
              </a:rPr>
              <a:t>—</a:t>
            </a:r>
            <a:endParaRPr lang="en-US" altLang="zh-CN" sz="4800" spc="300" dirty="0">
              <a:solidFill>
                <a:schemeClr val="accent2"/>
              </a:solidFill>
              <a:cs typeface="+mn-ea"/>
              <a:sym typeface="+mn-lt"/>
            </a:endParaRPr>
          </a:p>
          <a:p>
            <a:pPr algn="ctr"/>
            <a:r>
              <a:rPr lang="zh-CN" altLang="en-US" sz="6000" b="1" spc="600" dirty="0">
                <a:solidFill>
                  <a:schemeClr val="accent1"/>
                </a:solidFill>
                <a:cs typeface="+mn-ea"/>
                <a:sym typeface="+mn-lt"/>
              </a:rPr>
              <a:t> 谢谢观看</a:t>
            </a:r>
            <a:endParaRPr lang="zh-CN" altLang="en-US" sz="6000" b="1" spc="600" dirty="0">
              <a:solidFill>
                <a:schemeClr val="accent1"/>
              </a:solidFill>
              <a:cs typeface="+mn-ea"/>
              <a:sym typeface="+mn-lt"/>
            </a:endParaRPr>
          </a:p>
        </p:txBody>
      </p:sp>
      <p:pic>
        <p:nvPicPr>
          <p:cNvPr id="15" name="图片 1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18265" y="907361"/>
            <a:ext cx="3020786" cy="1998754"/>
          </a:xfrm>
          <a:prstGeom prst="rect">
            <a:avLst/>
          </a:prstGeom>
        </p:spPr>
      </p:pic>
    </p:spTree>
    <p:custDataLst>
      <p:tags r:id="rId2"/>
    </p:custDataLst>
  </p:cSld>
  <p:clrMapOvr>
    <a:masterClrMapping/>
  </p:clrMapOvr>
  <p:transition>
    <p:fade/>
  </p:transition>
</p:sld>
</file>

<file path=ppt/tags/tag1.xml><?xml version="1.0" encoding="utf-8"?>
<p:tagLst xmlns:p="http://schemas.openxmlformats.org/presentationml/2006/main">
  <p:tag name="ISLIDE.ICON" val="#36637;"/>
</p:tagLst>
</file>

<file path=ppt/tags/tag2.xml><?xml version="1.0" encoding="utf-8"?>
<p:tagLst xmlns:p="http://schemas.openxmlformats.org/presentationml/2006/main">
  <p:tag name="ISLIDE.ICON" val="#35732;"/>
</p:tagLst>
</file>

<file path=ppt/tags/tag3.xml><?xml version="1.0" encoding="utf-8"?>
<p:tagLst xmlns:p="http://schemas.openxmlformats.org/presentationml/2006/main">
  <p:tag name="ISLIDE.ICON" val="#36637;"/>
</p:tagLst>
</file>

<file path=ppt/tags/tag4.xml><?xml version="1.0" encoding="utf-8"?>
<p:tagLst xmlns:p="http://schemas.openxmlformats.org/presentationml/2006/main">
  <p:tag name="ISLIDE.ICON" val="#36637;"/>
</p:tagLst>
</file>

<file path=ppt/tags/tag5.xml><?xml version="1.0" encoding="utf-8"?>
<p:tagLst xmlns:p="http://schemas.openxmlformats.org/presentationml/2006/main">
  <p:tag name="ISLIDE.ICON" val="#36637;"/>
</p:tagLst>
</file>

<file path=ppt/tags/tag6.xml><?xml version="1.0" encoding="utf-8"?>
<p:tagLst xmlns:p="http://schemas.openxmlformats.org/presentationml/2006/main">
  <p:tag name="ISLIDE.ICON" val="#36637;"/>
</p:tagLst>
</file>

<file path=ppt/tags/tag7.xml><?xml version="1.0" encoding="utf-8"?>
<p:tagLst xmlns:p="http://schemas.openxmlformats.org/presentationml/2006/main">
  <p:tag name="ISLIDE.ICON" val="#36637;"/>
</p:tagLst>
</file>

<file path=ppt/tags/tag8.xml><?xml version="1.0" encoding="utf-8"?>
<p:tagLst xmlns:p="http://schemas.openxmlformats.org/presentationml/2006/main">
  <p:tag name="ISLIDE.ICON" val="#36637;"/>
</p:tagLst>
</file>

<file path=ppt/tags/tag9.xml><?xml version="1.0" encoding="utf-8"?>
<p:tagLst xmlns:p="http://schemas.openxmlformats.org/presentationml/2006/main">
  <p:tag name="ISLIDE.ICON" val="#36637;"/>
</p:tagLst>
</file>

<file path=ppt/tags/tag10.xml><?xml version="1.0" encoding="utf-8"?>
<p:tagLst xmlns:p="http://schemas.openxmlformats.org/presentationml/2006/main">
  <p:tag name="ISLIDE.ICON" val="#36637;"/>
</p:tagLst>
</file>

<file path=ppt/tags/tag11.xml><?xml version="1.0" encoding="utf-8"?>
<p:tagLst xmlns:p="http://schemas.openxmlformats.org/presentationml/2006/main">
  <p:tag name="ISLIDE.ICON" val="#36637;"/>
</p:tagLst>
</file>

<file path=ppt/tags/tag12.xml><?xml version="1.0" encoding="utf-8"?>
<p:tagLst xmlns:p="http://schemas.openxmlformats.org/presentationml/2006/main">
  <p:tag name="ISLIDE.GUIDESSETTING" val="{&quot;Id&quot;:null,&quot;Name&quot;:&quot;适中&quot;,&quot;HeaderHeight&quot;:10.0,&quot;FooterHeight&quot;:5.0,&quot;SideMargin&quot;:5.0,&quot;TopMargin&quot;:0.0,&quot;BottomMargin&quot;:0.0,&quot;IntervalMargin&quot;:1.5,&quot;SettingType&quot;:&quot;System&quot;}"/>
  <p:tag name="KSO_WPP_MARK_KEY" val="dbbd1fe0-3348-4a46-bbe8-f7fc9b9d64f9"/>
  <p:tag name="COMMONDATA" val="eyJoZGlkIjoiZWZjZmFhMTI4YjdmNTBkYjJkMDA3MDViOTcxYzYwYjYifQ=="/>
</p:tagLst>
</file>

<file path=ppt/theme/theme1.xml><?xml version="1.0" encoding="utf-8"?>
<a:theme xmlns:a="http://schemas.openxmlformats.org/drawingml/2006/main" name="Office Theme">
  <a:themeElements>
    <a:clrScheme name="复旦大学">
      <a:dk1>
        <a:srgbClr val="262626"/>
      </a:dk1>
      <a:lt1>
        <a:srgbClr val="FFFFFF"/>
      </a:lt1>
      <a:dk2>
        <a:srgbClr val="262626"/>
      </a:dk2>
      <a:lt2>
        <a:srgbClr val="F0F0F0"/>
      </a:lt2>
      <a:accent1>
        <a:srgbClr val="BE101C"/>
      </a:accent1>
      <a:accent2>
        <a:srgbClr val="CFAF6A"/>
      </a:accent2>
      <a:accent3>
        <a:srgbClr val="BE101C"/>
      </a:accent3>
      <a:accent4>
        <a:srgbClr val="CFAF6A"/>
      </a:accent4>
      <a:accent5>
        <a:srgbClr val="C00000"/>
      </a:accent5>
      <a:accent6>
        <a:srgbClr val="CFAF6A"/>
      </a:accent6>
      <a:hlink>
        <a:srgbClr val="0F73EE"/>
      </a:hlink>
      <a:folHlink>
        <a:srgbClr val="BFBFBF"/>
      </a:folHlink>
    </a:clrScheme>
    <a:fontScheme name="mmhun255">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1768</Words>
  <Application>WPS 演示</Application>
  <PresentationFormat>宽屏</PresentationFormat>
  <Paragraphs>120</Paragraphs>
  <Slides>15</Slides>
  <Notes>10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Arial</vt:lpstr>
      <vt:lpstr>宋体</vt:lpstr>
      <vt:lpstr>Wingdings</vt:lpstr>
      <vt:lpstr>微软雅黑</vt:lpstr>
      <vt:lpstr>Times New Roman</vt:lpstr>
      <vt:lpstr>Cambria Math</vt:lpstr>
      <vt:lpstr>Arial Unicode MS</vt:lpstr>
      <vt:lpstr>Office Theme</vt:lpstr>
      <vt:lpstr>PowerPoint 演示文稿</vt:lpstr>
      <vt:lpstr>PowerPoint 演示文稿</vt:lpstr>
      <vt:lpstr>PowerPoint 演示文稿</vt:lpstr>
      <vt:lpstr>个人基本情况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2314981968@qq.com</dc:creator>
  <cp:lastModifiedBy>WPS_1478658564</cp:lastModifiedBy>
  <cp:revision>109</cp:revision>
  <dcterms:created xsi:type="dcterms:W3CDTF">2019-11-26T03:41:00Z</dcterms:created>
  <dcterms:modified xsi:type="dcterms:W3CDTF">2022-11-30T10:17:43Z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BC69EB345F4F457288BFAD1BFA019858</vt:lpwstr>
  </property>
  <property fmtid="{D5CDD505-2E9C-101B-9397-08002B2CF9AE}" pid="3" name="KSOProductBuildVer">
    <vt:lpwstr>2052-11.1.0.12763</vt:lpwstr>
  </property>
</Properties>
</file>