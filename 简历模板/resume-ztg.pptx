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33"/>
  </p:normalViewPr>
  <p:slideViewPr>
    <p:cSldViewPr snapToGrid="0" showGuides="1">
      <p:cViewPr>
        <p:scale>
          <a:sx n="75" d="100"/>
          <a:sy n="75" d="100"/>
        </p:scale>
        <p:origin x="2970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8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0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0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92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95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62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07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68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16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44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7AD4D-6BBF-49E7-B870-6EED174E287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A935-C032-415D-8D00-C379C3F78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9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A41AACD-570D-4D01-B5BE-F431FC2C39DD}"/>
              </a:ext>
            </a:extLst>
          </p:cNvPr>
          <p:cNvGrpSpPr/>
          <p:nvPr/>
        </p:nvGrpSpPr>
        <p:grpSpPr>
          <a:xfrm>
            <a:off x="2006203" y="381230"/>
            <a:ext cx="2845652" cy="487809"/>
            <a:chOff x="2006203" y="433685"/>
            <a:chExt cx="2845652" cy="48780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F20D96-46F2-4929-8C35-3D93849DAB72}"/>
                </a:ext>
              </a:extLst>
            </p:cNvPr>
            <p:cNvSpPr txBox="1"/>
            <p:nvPr/>
          </p:nvSpPr>
          <p:spPr>
            <a:xfrm>
              <a:off x="3105835" y="43368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马宇佩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F7D439-53C5-4C9C-839C-BE04DA1F108F}"/>
                </a:ext>
              </a:extLst>
            </p:cNvPr>
            <p:cNvSpPr txBox="1"/>
            <p:nvPr/>
          </p:nvSpPr>
          <p:spPr>
            <a:xfrm>
              <a:off x="2006203" y="675273"/>
              <a:ext cx="28456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山西大学</a:t>
              </a: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| 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自动化与软件学院 </a:t>
              </a: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| 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测控技术与仪器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381AB50-838F-487F-A4C5-764D4542FB21}"/>
              </a:ext>
            </a:extLst>
          </p:cNvPr>
          <p:cNvGrpSpPr/>
          <p:nvPr/>
        </p:nvGrpSpPr>
        <p:grpSpPr>
          <a:xfrm>
            <a:off x="327968" y="1874353"/>
            <a:ext cx="6136515" cy="922241"/>
            <a:chOff x="331791" y="1976102"/>
            <a:chExt cx="6136515" cy="92224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758216-FE11-46A2-9C39-F4F0F0395305}"/>
                </a:ext>
              </a:extLst>
            </p:cNvPr>
            <p:cNvSpPr txBox="1"/>
            <p:nvPr/>
          </p:nvSpPr>
          <p:spPr>
            <a:xfrm>
              <a:off x="332538" y="1976102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个人简述</a:t>
              </a:r>
              <a:endParaRPr lang="en-US" altLang="zh-CN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7D46B8E-C8FE-4230-B9AE-7A5865F005BC}"/>
                </a:ext>
              </a:extLst>
            </p:cNvPr>
            <p:cNvCxnSpPr/>
            <p:nvPr/>
          </p:nvCxnSpPr>
          <p:spPr>
            <a:xfrm>
              <a:off x="415088" y="220596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5573D6C-6A8E-4988-A7F9-3E284FA59D88}"/>
                </a:ext>
              </a:extLst>
            </p:cNvPr>
            <p:cNvSpPr txBox="1"/>
            <p:nvPr/>
          </p:nvSpPr>
          <p:spPr>
            <a:xfrm>
              <a:off x="331791" y="2207256"/>
              <a:ext cx="6135767" cy="691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乐观善良、自律踏实的大三本科生，数理基础扎实，学习能力强，有良好项目基础和科研经历。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GPA 3.72/4.5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专业排名 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2/69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2%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3F60C1-0FF3-47D5-9D99-405E22DE8A07}"/>
              </a:ext>
            </a:extLst>
          </p:cNvPr>
          <p:cNvGrpSpPr/>
          <p:nvPr/>
        </p:nvGrpSpPr>
        <p:grpSpPr>
          <a:xfrm>
            <a:off x="281245" y="7043578"/>
            <a:ext cx="6135775" cy="503373"/>
            <a:chOff x="332531" y="2989562"/>
            <a:chExt cx="6135775" cy="50337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63CF64-EC8A-48F9-B283-8DCC28DA5D1C}"/>
                </a:ext>
              </a:extLst>
            </p:cNvPr>
            <p:cNvSpPr txBox="1"/>
            <p:nvPr/>
          </p:nvSpPr>
          <p:spPr>
            <a:xfrm>
              <a:off x="332538" y="2989562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荣誉奖项</a:t>
              </a:r>
              <a:endParaRPr lang="en-US" altLang="zh-CN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42884EB-23A2-49BD-95AF-08B263CBCFF3}"/>
                </a:ext>
              </a:extLst>
            </p:cNvPr>
            <p:cNvCxnSpPr/>
            <p:nvPr/>
          </p:nvCxnSpPr>
          <p:spPr>
            <a:xfrm>
              <a:off x="415088" y="321942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688724-6148-44A3-A92F-C7C99769B45F}"/>
                </a:ext>
              </a:extLst>
            </p:cNvPr>
            <p:cNvSpPr txBox="1"/>
            <p:nvPr/>
          </p:nvSpPr>
          <p:spPr>
            <a:xfrm>
              <a:off x="332531" y="3217347"/>
              <a:ext cx="6135767" cy="275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国家励志奖学金、一等奖学金、山西大学三好学生、优秀共青团员、体育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文艺类奖项若干等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4895F6-89B9-4A8A-BFE3-701EAAD186FC}"/>
              </a:ext>
            </a:extLst>
          </p:cNvPr>
          <p:cNvGrpSpPr/>
          <p:nvPr/>
        </p:nvGrpSpPr>
        <p:grpSpPr>
          <a:xfrm>
            <a:off x="276179" y="7539482"/>
            <a:ext cx="6135766" cy="735030"/>
            <a:chOff x="332538" y="3610564"/>
            <a:chExt cx="6135768" cy="73503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2AD368D-691A-48A1-A380-796562699B09}"/>
                </a:ext>
              </a:extLst>
            </p:cNvPr>
            <p:cNvSpPr txBox="1"/>
            <p:nvPr/>
          </p:nvSpPr>
          <p:spPr>
            <a:xfrm>
              <a:off x="332538" y="3610564"/>
              <a:ext cx="9220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语言与技能</a:t>
              </a:r>
              <a:endParaRPr lang="en-US" altLang="zh-CN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2B8932C-C643-4E82-8439-8EF7B9055592}"/>
                </a:ext>
              </a:extLst>
            </p:cNvPr>
            <p:cNvCxnSpPr/>
            <p:nvPr/>
          </p:nvCxnSpPr>
          <p:spPr>
            <a:xfrm>
              <a:off x="415088" y="3840424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A2662FE-B341-4E8E-BE07-D50F616CDF6A}"/>
                </a:ext>
              </a:extLst>
            </p:cNvPr>
            <p:cNvSpPr txBox="1"/>
            <p:nvPr/>
          </p:nvSpPr>
          <p:spPr>
            <a:xfrm>
              <a:off x="332539" y="3862257"/>
              <a:ext cx="6135765" cy="483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语言：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CET-4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504      CET-6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437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技能：出色的写作能力、与人相处的能力（互评成绩班级排名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1/29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 等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F9B69B1-B933-445C-957B-8D28BCB35E13}"/>
              </a:ext>
            </a:extLst>
          </p:cNvPr>
          <p:cNvGrpSpPr/>
          <p:nvPr/>
        </p:nvGrpSpPr>
        <p:grpSpPr>
          <a:xfrm>
            <a:off x="292035" y="5967515"/>
            <a:ext cx="6110967" cy="923168"/>
            <a:chOff x="330283" y="5438519"/>
            <a:chExt cx="6110967" cy="154075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FD35A4D8-08CD-4C05-A1AD-DD0BC5C7EC54}"/>
                </a:ext>
              </a:extLst>
            </p:cNvPr>
            <p:cNvGrpSpPr/>
            <p:nvPr/>
          </p:nvGrpSpPr>
          <p:grpSpPr>
            <a:xfrm>
              <a:off x="330283" y="5438519"/>
              <a:ext cx="6106391" cy="385068"/>
              <a:chOff x="332538" y="3610564"/>
              <a:chExt cx="6106393" cy="385068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B9AE0CD-713B-47B9-9A6E-820B90167462}"/>
                  </a:ext>
                </a:extLst>
              </p:cNvPr>
              <p:cNvSpPr txBox="1"/>
              <p:nvPr/>
            </p:nvSpPr>
            <p:spPr>
              <a:xfrm>
                <a:off x="332538" y="3610564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竞赛经历</a:t>
                </a:r>
                <a:endParaRPr lang="en-US" altLang="zh-CN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C15EF0D-B04E-4A61-8F58-E2CF48778CB2}"/>
                  </a:ext>
                </a:extLst>
              </p:cNvPr>
              <p:cNvCxnSpPr/>
              <p:nvPr/>
            </p:nvCxnSpPr>
            <p:spPr>
              <a:xfrm>
                <a:off x="385713" y="3995632"/>
                <a:ext cx="60532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B8BB381-E47C-4293-BA72-1A84FE3A26F0}"/>
                </a:ext>
              </a:extLst>
            </p:cNvPr>
            <p:cNvSpPr txBox="1"/>
            <p:nvPr/>
          </p:nvSpPr>
          <p:spPr>
            <a:xfrm>
              <a:off x="5237794" y="6333901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2020.07-2020.08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DFADAC8-3BCB-47CD-B987-9E54FD3D91D6}"/>
                </a:ext>
              </a:extLst>
            </p:cNvPr>
            <p:cNvSpPr txBox="1"/>
            <p:nvPr/>
          </p:nvSpPr>
          <p:spPr>
            <a:xfrm>
              <a:off x="5176216" y="5911975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2020.8-2020.12</a:t>
              </a:r>
              <a:endPara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AC1FE38-7D54-43A3-8BF0-2DDF3F416A14}"/>
                </a:ext>
              </a:extLst>
            </p:cNvPr>
            <p:cNvSpPr txBox="1"/>
            <p:nvPr/>
          </p:nvSpPr>
          <p:spPr>
            <a:xfrm>
              <a:off x="5242370" y="6748441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2020.05-2020.05</a:t>
              </a:r>
              <a:endPara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EF0943B-B11B-48A8-94FA-DCF725D36502}"/>
              </a:ext>
            </a:extLst>
          </p:cNvPr>
          <p:cNvGrpSpPr/>
          <p:nvPr/>
        </p:nvGrpSpPr>
        <p:grpSpPr>
          <a:xfrm>
            <a:off x="302818" y="2789182"/>
            <a:ext cx="6160165" cy="2659262"/>
            <a:chOff x="330297" y="3079489"/>
            <a:chExt cx="6160165" cy="108739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1073D5B-DCC1-4E86-9ABA-5B13789EDC2F}"/>
                </a:ext>
              </a:extLst>
            </p:cNvPr>
            <p:cNvGrpSpPr/>
            <p:nvPr/>
          </p:nvGrpSpPr>
          <p:grpSpPr>
            <a:xfrm>
              <a:off x="330297" y="3079489"/>
              <a:ext cx="6135769" cy="1087391"/>
              <a:chOff x="332535" y="3675266"/>
              <a:chExt cx="6135771" cy="1087391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BAA6C0C-FE09-4CAB-8565-C5A4115D2327}"/>
                  </a:ext>
                </a:extLst>
              </p:cNvPr>
              <p:cNvSpPr txBox="1"/>
              <p:nvPr/>
            </p:nvSpPr>
            <p:spPr>
              <a:xfrm>
                <a:off x="356937" y="3675266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科研经历</a:t>
                </a:r>
                <a:endParaRPr lang="en-US" altLang="zh-CN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29516DA-C8B8-4D86-8174-B6BF8FD40DC6}"/>
                  </a:ext>
                </a:extLst>
              </p:cNvPr>
              <p:cNvCxnSpPr/>
              <p:nvPr/>
            </p:nvCxnSpPr>
            <p:spPr>
              <a:xfrm>
                <a:off x="415088" y="3840424"/>
                <a:ext cx="60532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7B8E993-F44E-4FA9-8146-4251838BABBA}"/>
                  </a:ext>
                </a:extLst>
              </p:cNvPr>
              <p:cNvSpPr txBox="1"/>
              <p:nvPr/>
            </p:nvSpPr>
            <p:spPr>
              <a:xfrm>
                <a:off x="332535" y="3840424"/>
                <a:ext cx="6135765" cy="922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sv-SE" altLang="zh-CN" sz="1100" b="1" dirty="0"/>
                  <a:t>1</a:t>
                </a:r>
                <a:r>
                  <a:rPr lang="zh-CN" altLang="en-US" sz="1100" b="1" dirty="0"/>
                  <a:t>、</a:t>
                </a:r>
                <a:r>
                  <a:rPr lang="en-US" altLang="zh-CN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PGA-STGCN</a:t>
                </a:r>
                <a:r>
                  <a:rPr lang="zh-CN" altLang="en-US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：基于物理先验与门控注意力的地铁车厢级客流预测网络</a:t>
                </a:r>
                <a:endPara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endParaRPr lang="en-US" altLang="zh-CN" sz="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zh-CN" sz="800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Tiangou</a:t>
                </a:r>
                <a:r>
                  <a:rPr lang="en-US" altLang="zh-CN" sz="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Zhang</a:t>
                </a:r>
                <a:r>
                  <a:rPr lang="en-US" altLang="zh-CN" sz="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Si</a:t>
                </a:r>
                <a:r>
                  <a:rPr lang="zh-CN" altLang="en-US" sz="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Li, et al, TINA: A Fair Inter-datacenter Transmission Mechanism with Deadline Guarantee, INFOCOM 2020, CCF A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[Under Review] </a:t>
                </a:r>
                <a:r>
                  <a:rPr lang="en-US" altLang="zh-CN" sz="800" b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Tiangou</a:t>
                </a:r>
                <a:r>
                  <a:rPr lang="en-US" altLang="zh-CN"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Zhang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Li, et al, Efficient </a:t>
                </a:r>
                <a:r>
                  <a:rPr lang="en-US" altLang="zh-CN" sz="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Coflow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Transmission for Distributed Stream Processing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[Work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Progress] </a:t>
                </a:r>
                <a:r>
                  <a:rPr lang="en-US" altLang="zh-CN" sz="800" b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Tiangou</a:t>
                </a:r>
                <a:r>
                  <a:rPr lang="en-US" altLang="zh-CN"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Zhang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</a:t>
                </a:r>
                <a:r>
                  <a:rPr lang="zh-CN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Li, et al, Deeper Exercise Monitoring for Smart Gym using Fused RFID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、基于深度学习的智能体判卷系统</a:t>
                </a:r>
                <a:endPara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、智轨慧乘</a:t>
                </a:r>
                <a:r>
                  <a:rPr lang="en-US" altLang="zh-CN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1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基于深度学习的地铁车厢客流智能引导系统</a:t>
                </a:r>
                <a:endPara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9B0D019-DCBC-410D-B1DA-10B254FCEF49}"/>
                </a:ext>
              </a:extLst>
            </p:cNvPr>
            <p:cNvSpPr txBox="1"/>
            <p:nvPr/>
          </p:nvSpPr>
          <p:spPr>
            <a:xfrm>
              <a:off x="5291582" y="3279472"/>
              <a:ext cx="1198880" cy="1510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2025.06 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</a:p>
            <a:p>
              <a:pPr algn="r"/>
              <a:endPara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7049C2D-3F6E-4E78-9D34-CBAD08E01296}"/>
                </a:ext>
              </a:extLst>
            </p:cNvPr>
            <p:cNvSpPr txBox="1"/>
            <p:nvPr/>
          </p:nvSpPr>
          <p:spPr>
            <a:xfrm>
              <a:off x="5227025" y="3708299"/>
              <a:ext cx="1198880" cy="156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2025.06 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367532E-D9F5-4534-B44F-0D1D3FF0F527}"/>
              </a:ext>
            </a:extLst>
          </p:cNvPr>
          <p:cNvGrpSpPr/>
          <p:nvPr/>
        </p:nvGrpSpPr>
        <p:grpSpPr>
          <a:xfrm>
            <a:off x="358729" y="916933"/>
            <a:ext cx="5774484" cy="944432"/>
            <a:chOff x="331041" y="812105"/>
            <a:chExt cx="5774484" cy="944432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2424618-106F-47AF-AA24-C1B53C18D297}"/>
                </a:ext>
              </a:extLst>
            </p:cNvPr>
            <p:cNvSpPr txBox="1"/>
            <p:nvPr/>
          </p:nvSpPr>
          <p:spPr>
            <a:xfrm>
              <a:off x="332538" y="812105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基本信息</a:t>
              </a:r>
              <a:endParaRPr lang="en-US" altLang="zh-CN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A722106-FB16-406C-B5A9-9143ACABF8EA}"/>
                </a:ext>
              </a:extLst>
            </p:cNvPr>
            <p:cNvCxnSpPr>
              <a:cxnSpLocks/>
            </p:cNvCxnSpPr>
            <p:nvPr/>
          </p:nvCxnSpPr>
          <p:spPr>
            <a:xfrm>
              <a:off x="415088" y="1041965"/>
              <a:ext cx="56904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B86B644-5DBB-4883-AB88-A4901CA13C24}"/>
                </a:ext>
              </a:extLst>
            </p:cNvPr>
            <p:cNvSpPr txBox="1"/>
            <p:nvPr/>
          </p:nvSpPr>
          <p:spPr>
            <a:xfrm>
              <a:off x="331041" y="1045060"/>
              <a:ext cx="3850734" cy="711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男   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岁   汉族   中共党员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微信：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13933838842		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邮箱：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13933838842@163.com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山西大学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自动化与软件学院 </a:t>
              </a:r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测控技术与仪器（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2023-2027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568ACF0D-1C91-DF01-728E-B586AC6589A4}"/>
              </a:ext>
            </a:extLst>
          </p:cNvPr>
          <p:cNvSpPr/>
          <p:nvPr/>
        </p:nvSpPr>
        <p:spPr>
          <a:xfrm>
            <a:off x="5589731" y="328887"/>
            <a:ext cx="1252064" cy="163581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8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6E6CB2-5BE6-41B1-A8EE-A2CBCCC808D5}"/>
              </a:ext>
            </a:extLst>
          </p:cNvPr>
          <p:cNvSpPr txBox="1"/>
          <p:nvPr/>
        </p:nvSpPr>
        <p:spPr>
          <a:xfrm>
            <a:off x="2724388" y="363107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Tiangou Zhang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C62E26D-12A6-4791-AA31-311F8AE8D831}"/>
              </a:ext>
            </a:extLst>
          </p:cNvPr>
          <p:cNvGrpSpPr/>
          <p:nvPr/>
        </p:nvGrpSpPr>
        <p:grpSpPr>
          <a:xfrm>
            <a:off x="323038" y="708153"/>
            <a:ext cx="6135767" cy="1383977"/>
            <a:chOff x="327035" y="487080"/>
            <a:chExt cx="6135767" cy="138397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529A06-4C74-4891-B75D-63799FFEF4AB}"/>
                </a:ext>
              </a:extLst>
            </p:cNvPr>
            <p:cNvSpPr txBox="1"/>
            <p:nvPr/>
          </p:nvSpPr>
          <p:spPr>
            <a:xfrm>
              <a:off x="328532" y="531517"/>
              <a:ext cx="10374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Information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F643358-B58C-4952-80D8-835D5E0FF9F5}"/>
                </a:ext>
              </a:extLst>
            </p:cNvPr>
            <p:cNvCxnSpPr>
              <a:cxnSpLocks/>
            </p:cNvCxnSpPr>
            <p:nvPr/>
          </p:nvCxnSpPr>
          <p:spPr>
            <a:xfrm>
              <a:off x="411082" y="761377"/>
              <a:ext cx="56904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136854-13E3-47C0-BB53-5BEED570CD69}"/>
                </a:ext>
              </a:extLst>
            </p:cNvPr>
            <p:cNvSpPr txBox="1"/>
            <p:nvPr/>
          </p:nvSpPr>
          <p:spPr>
            <a:xfrm>
              <a:off x="327035" y="764472"/>
              <a:ext cx="5751896" cy="11065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Male	Age 19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Tel/WeChat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123-4567-8900		E-mail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tiangou@std.uestc.edu.cn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University of Electronic Science and Technology of China (UESTC)</a:t>
              </a:r>
              <a:r>
                <a:rPr lang="zh-CN" altLang="en-US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(2018-2022)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School of Computer Science and Engineering - Computer Science and Technology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Weighted average 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94.63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, GPA: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3.96/4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, ranking 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1/713 (0.14%)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Overall quality ranking 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1/713 (0.14%)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D6F0E3C-2578-4E44-B63B-9FFD63775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" r="305"/>
            <a:stretch/>
          </p:blipFill>
          <p:spPr>
            <a:xfrm>
              <a:off x="5465187" y="487080"/>
              <a:ext cx="997615" cy="997615"/>
            </a:xfrm>
            <a:prstGeom prst="ellipse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7B272CF-81B6-4AAF-BFA5-72D0A25877BD}"/>
              </a:ext>
            </a:extLst>
          </p:cNvPr>
          <p:cNvGrpSpPr/>
          <p:nvPr/>
        </p:nvGrpSpPr>
        <p:grpSpPr>
          <a:xfrm>
            <a:off x="322290" y="2101124"/>
            <a:ext cx="6136515" cy="714491"/>
            <a:chOff x="331791" y="1976102"/>
            <a:chExt cx="6136515" cy="71449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FA5FFAE-4B21-4589-8904-5D818F66A39A}"/>
                </a:ext>
              </a:extLst>
            </p:cNvPr>
            <p:cNvSpPr txBox="1"/>
            <p:nvPr/>
          </p:nvSpPr>
          <p:spPr>
            <a:xfrm>
              <a:off x="332538" y="1976102"/>
              <a:ext cx="6527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Profile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A573DD-4A9A-431C-AF33-1DED8745723B}"/>
                </a:ext>
              </a:extLst>
            </p:cNvPr>
            <p:cNvCxnSpPr/>
            <p:nvPr/>
          </p:nvCxnSpPr>
          <p:spPr>
            <a:xfrm>
              <a:off x="415088" y="220596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E82990B-8901-4CFA-BB7D-AB888CEC24D6}"/>
                </a:ext>
              </a:extLst>
            </p:cNvPr>
            <p:cNvSpPr txBox="1"/>
            <p:nvPr/>
          </p:nvSpPr>
          <p:spPr>
            <a:xfrm>
              <a:off x="331791" y="2207256"/>
              <a:ext cx="6135767" cy="483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Optimistic, kind and self-disciplined 3rd year undergraduates with a solid foundation in mathematics, strong learning ability, good project background and research experience.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9822D47-7DA0-4E86-A553-E64EA0C1B4BB}"/>
              </a:ext>
            </a:extLst>
          </p:cNvPr>
          <p:cNvGrpSpPr/>
          <p:nvPr/>
        </p:nvGrpSpPr>
        <p:grpSpPr>
          <a:xfrm>
            <a:off x="322282" y="2824609"/>
            <a:ext cx="6135775" cy="711122"/>
            <a:chOff x="332531" y="2989562"/>
            <a:chExt cx="6135775" cy="71112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D577605-4E2D-418C-A1D8-0F48DAFC1946}"/>
                </a:ext>
              </a:extLst>
            </p:cNvPr>
            <p:cNvSpPr txBox="1"/>
            <p:nvPr/>
          </p:nvSpPr>
          <p:spPr>
            <a:xfrm>
              <a:off x="332538" y="2989562"/>
              <a:ext cx="705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Honors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25935EB-B606-4E5D-BCFA-D9220F8E7100}"/>
                </a:ext>
              </a:extLst>
            </p:cNvPr>
            <p:cNvCxnSpPr/>
            <p:nvPr/>
          </p:nvCxnSpPr>
          <p:spPr>
            <a:xfrm>
              <a:off x="415088" y="321942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FE3BE81-1FDA-4C6D-874C-EACB60B91853}"/>
                </a:ext>
              </a:extLst>
            </p:cNvPr>
            <p:cNvSpPr txBox="1"/>
            <p:nvPr/>
          </p:nvSpPr>
          <p:spPr>
            <a:xfrm>
              <a:off x="332531" y="3217347"/>
              <a:ext cx="6135767" cy="483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National Scholarship, First-class Scholarship, Sichuan Comprehensive Quality A Certificate, Outstanding Communist Youth League Member, several awards in sports/arts, etc.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D50062E-43D1-4F11-885A-2590E0711BDD}"/>
              </a:ext>
            </a:extLst>
          </p:cNvPr>
          <p:cNvGrpSpPr/>
          <p:nvPr/>
        </p:nvGrpSpPr>
        <p:grpSpPr>
          <a:xfrm>
            <a:off x="322272" y="8860821"/>
            <a:ext cx="6135766" cy="735030"/>
            <a:chOff x="332538" y="3610564"/>
            <a:chExt cx="6135768" cy="73503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E13FD2A-E30A-4C3A-B539-FCB88FBF5461}"/>
                </a:ext>
              </a:extLst>
            </p:cNvPr>
            <p:cNvSpPr txBox="1"/>
            <p:nvPr/>
          </p:nvSpPr>
          <p:spPr>
            <a:xfrm>
              <a:off x="332538" y="3610564"/>
              <a:ext cx="5469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Skills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CA4C432-085D-47E7-B57D-3D963430FA6E}"/>
                </a:ext>
              </a:extLst>
            </p:cNvPr>
            <p:cNvCxnSpPr/>
            <p:nvPr/>
          </p:nvCxnSpPr>
          <p:spPr>
            <a:xfrm>
              <a:off x="415088" y="3840424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85AD29B-98C9-4056-88E4-A2F3F9C169C6}"/>
                </a:ext>
              </a:extLst>
            </p:cNvPr>
            <p:cNvSpPr txBox="1"/>
            <p:nvPr/>
          </p:nvSpPr>
          <p:spPr>
            <a:xfrm>
              <a:off x="332539" y="3862257"/>
              <a:ext cx="6135765" cy="483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English proficiency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CET-6: 590</a:t>
              </a:r>
              <a:r>
                <a:rPr lang="zh-CN" altLang="en-US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IELTS: 7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Exceptional writing skills, Good with people (rank 1/29 in class mutual evaluation), etc.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81482ED-2395-47C3-9BB4-85D3EB7BD086}"/>
              </a:ext>
            </a:extLst>
          </p:cNvPr>
          <p:cNvGrpSpPr/>
          <p:nvPr/>
        </p:nvGrpSpPr>
        <p:grpSpPr>
          <a:xfrm>
            <a:off x="322272" y="8116794"/>
            <a:ext cx="6135766" cy="735030"/>
            <a:chOff x="-6615935" y="8498960"/>
            <a:chExt cx="6135766" cy="73503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AB997FE-A6B0-409B-B6D5-EE45C7E15921}"/>
                </a:ext>
              </a:extLst>
            </p:cNvPr>
            <p:cNvGrpSpPr/>
            <p:nvPr/>
          </p:nvGrpSpPr>
          <p:grpSpPr>
            <a:xfrm>
              <a:off x="-6615935" y="8498960"/>
              <a:ext cx="6135766" cy="735030"/>
              <a:chOff x="332538" y="3610564"/>
              <a:chExt cx="6135768" cy="735030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0F71FF4-A62D-423E-B303-EC04E3532D6A}"/>
                  </a:ext>
                </a:extLst>
              </p:cNvPr>
              <p:cNvSpPr txBox="1"/>
              <p:nvPr/>
            </p:nvSpPr>
            <p:spPr>
              <a:xfrm>
                <a:off x="332538" y="3610564"/>
                <a:ext cx="101983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Experiences</a:t>
                </a:r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99337FB-5ED7-4BC8-B8DB-A5EDC13127A7}"/>
                  </a:ext>
                </a:extLst>
              </p:cNvPr>
              <p:cNvCxnSpPr/>
              <p:nvPr/>
            </p:nvCxnSpPr>
            <p:spPr>
              <a:xfrm>
                <a:off x="415088" y="3840424"/>
                <a:ext cx="60532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F3A8B93-D86F-43F6-9E1D-A80B76B5BC4F}"/>
                  </a:ext>
                </a:extLst>
              </p:cNvPr>
              <p:cNvSpPr txBox="1"/>
              <p:nvPr/>
            </p:nvSpPr>
            <p:spPr>
              <a:xfrm>
                <a:off x="332539" y="3862257"/>
                <a:ext cx="6135765" cy="483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QunGreen Volunteer Teaching Team      founder/leader</a:t>
                </a:r>
                <a:endPara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UESTC RelaxingZone Online Culture Studio      leader</a:t>
                </a:r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46889F-5370-47B3-BA2A-D80A99F385CF}"/>
                </a:ext>
              </a:extLst>
            </p:cNvPr>
            <p:cNvSpPr txBox="1"/>
            <p:nvPr/>
          </p:nvSpPr>
          <p:spPr>
            <a:xfrm>
              <a:off x="-1680795" y="8790121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07/2019-08/2019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00232F6-5EEB-42DE-BA26-A1EFBC2744D4}"/>
                </a:ext>
              </a:extLst>
            </p:cNvPr>
            <p:cNvSpPr txBox="1"/>
            <p:nvPr/>
          </p:nvSpPr>
          <p:spPr>
            <a:xfrm>
              <a:off x="-1685577" y="8996540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09/2018-06/2020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B70ABD1-06F8-46BA-A1A4-63CF7E07B456}"/>
              </a:ext>
            </a:extLst>
          </p:cNvPr>
          <p:cNvGrpSpPr/>
          <p:nvPr/>
        </p:nvGrpSpPr>
        <p:grpSpPr>
          <a:xfrm>
            <a:off x="322280" y="5836577"/>
            <a:ext cx="6135769" cy="1549032"/>
            <a:chOff x="-6615924" y="6497989"/>
            <a:chExt cx="6135769" cy="154903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1AB1358-83BD-4F03-B076-B9CD22DA53AF}"/>
                </a:ext>
              </a:extLst>
            </p:cNvPr>
            <p:cNvGrpSpPr/>
            <p:nvPr/>
          </p:nvGrpSpPr>
          <p:grpSpPr>
            <a:xfrm>
              <a:off x="-6615924" y="6497989"/>
              <a:ext cx="6135769" cy="1549032"/>
              <a:chOff x="332535" y="3610564"/>
              <a:chExt cx="6135771" cy="1549032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62FD93B-5410-4B2E-A8BB-6C56000E4BD5}"/>
                  </a:ext>
                </a:extLst>
              </p:cNvPr>
              <p:cNvSpPr txBox="1"/>
              <p:nvPr/>
            </p:nvSpPr>
            <p:spPr>
              <a:xfrm>
                <a:off x="332538" y="3610564"/>
                <a:ext cx="9108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Internship</a:t>
                </a:r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180D9E87-3F87-48D5-B653-3E41D5F48192}"/>
                  </a:ext>
                </a:extLst>
              </p:cNvPr>
              <p:cNvCxnSpPr/>
              <p:nvPr/>
            </p:nvCxnSpPr>
            <p:spPr>
              <a:xfrm>
                <a:off x="415088" y="3840424"/>
                <a:ext cx="60532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1AE4472-AD89-4424-B5C8-518B49BE836E}"/>
                  </a:ext>
                </a:extLst>
              </p:cNvPr>
              <p:cNvSpPr txBox="1"/>
              <p:nvPr/>
            </p:nvSpPr>
            <p:spPr>
              <a:xfrm>
                <a:off x="332535" y="3845262"/>
                <a:ext cx="6135765" cy="1314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SenseTime, Shanghai      Algorithm Intern</a:t>
                </a:r>
                <a:endPara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Acted as an algorithm intern, participated in the development of SenseTime</a:t>
                </a:r>
                <a:r>
                  <a:rPr lang="en-US" altLang="zh-CN" sz="900">
                    <a:latin typeface="Corbel" panose="020B0503020204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’</a:t>
                </a: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 Progressive Care System, and designed models to achieve accurate analysis of patients</a:t>
                </a:r>
                <a:r>
                  <a:rPr lang="en-US" altLang="zh-CN" sz="900">
                    <a:latin typeface="Corbel" panose="020B0503020204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’</a:t>
                </a: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sleep quality based on monitored indicators.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ByteDance, Beijing      Front-end Intern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Acted as a front-end intern, participated in the development of a public welfare project group of ByteDance, and rated </a:t>
                </a:r>
                <a:r>
                  <a:rPr kumimoji="0" lang="en-US" altLang="zh-CN" sz="900" b="0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Excellent</a:t>
                </a:r>
                <a:r>
                  <a:rPr kumimoji="0" lang="en-US" altLang="zh-CN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769DC16-C5AA-4F41-B77F-E44BF1C38B4D}"/>
                </a:ext>
              </a:extLst>
            </p:cNvPr>
            <p:cNvSpPr txBox="1"/>
            <p:nvPr/>
          </p:nvSpPr>
          <p:spPr>
            <a:xfrm>
              <a:off x="-1688292" y="6778670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08/2020-12/2020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0D839DD-5032-4EA7-B23C-50DF87C68EC0}"/>
                </a:ext>
              </a:extLst>
            </p:cNvPr>
            <p:cNvSpPr txBox="1"/>
            <p:nvPr/>
          </p:nvSpPr>
          <p:spPr>
            <a:xfrm>
              <a:off x="-1693099" y="7392641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07/2020-08/2020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463AF24-BB78-45F6-BD61-7FA9729DA30E}"/>
              </a:ext>
            </a:extLst>
          </p:cNvPr>
          <p:cNvGrpSpPr/>
          <p:nvPr/>
        </p:nvGrpSpPr>
        <p:grpSpPr>
          <a:xfrm>
            <a:off x="322272" y="7394603"/>
            <a:ext cx="6135771" cy="713197"/>
            <a:chOff x="-6615932" y="7326983"/>
            <a:chExt cx="6135771" cy="713197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C5EA83A-E7FE-4510-8255-E8C48A0B1217}"/>
                </a:ext>
              </a:extLst>
            </p:cNvPr>
            <p:cNvGrpSpPr/>
            <p:nvPr/>
          </p:nvGrpSpPr>
          <p:grpSpPr>
            <a:xfrm>
              <a:off x="-6615932" y="7326983"/>
              <a:ext cx="6135771" cy="713197"/>
              <a:chOff x="332533" y="3610564"/>
              <a:chExt cx="6135773" cy="713197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27DAF1F-7FA0-4D7F-8DB1-5BA3E4F9D63F}"/>
                  </a:ext>
                </a:extLst>
              </p:cNvPr>
              <p:cNvSpPr txBox="1"/>
              <p:nvPr/>
            </p:nvSpPr>
            <p:spPr>
              <a:xfrm>
                <a:off x="332538" y="3610564"/>
                <a:ext cx="7537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Projects</a:t>
                </a:r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2C77583-C4A2-4E8F-AB55-F65F4DC1C185}"/>
                  </a:ext>
                </a:extLst>
              </p:cNvPr>
              <p:cNvCxnSpPr/>
              <p:nvPr/>
            </p:nvCxnSpPr>
            <p:spPr>
              <a:xfrm>
                <a:off x="415088" y="3840424"/>
                <a:ext cx="60532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1EAB654-1DB1-44EE-B462-92FCC12FF747}"/>
                  </a:ext>
                </a:extLst>
              </p:cNvPr>
              <p:cNvSpPr txBox="1"/>
              <p:nvPr/>
            </p:nvSpPr>
            <p:spPr>
              <a:xfrm>
                <a:off x="332533" y="3840424"/>
                <a:ext cx="6135765" cy="483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Summer Camp for Tencent Cloud Developer</a:t>
                </a:r>
                <a:endParaRPr lang="en-US" altLang="zh-CN" sz="900" b="1" i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Participated in cloud development of WeChat mini apps,</a:t>
                </a:r>
                <a:r>
                  <a:rPr lang="zh-CN" altLang="en-US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 was awarded </a:t>
                </a:r>
                <a:r>
                  <a:rPr lang="en-US" altLang="zh-CN" sz="900" u="sng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Outstanding Camper</a:t>
                </a:r>
                <a:r>
                  <a:rPr lang="en-US" altLang="zh-CN" sz="9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(5%).</a:t>
                </a:r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1F545E4-4A7A-48E6-813A-370B4083D1DC}"/>
                </a:ext>
              </a:extLst>
            </p:cNvPr>
            <p:cNvSpPr txBox="1"/>
            <p:nvPr/>
          </p:nvSpPr>
          <p:spPr>
            <a:xfrm>
              <a:off x="-1685989" y="7602331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05/2020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48735F1-3413-F37E-1FA9-0244704EB398}"/>
              </a:ext>
            </a:extLst>
          </p:cNvPr>
          <p:cNvGrpSpPr/>
          <p:nvPr/>
        </p:nvGrpSpPr>
        <p:grpSpPr>
          <a:xfrm>
            <a:off x="322280" y="3544725"/>
            <a:ext cx="6213437" cy="2282858"/>
            <a:chOff x="322280" y="3351074"/>
            <a:chExt cx="6213437" cy="228285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4F59303-82F6-47E0-BDC6-02C04B023847}"/>
                </a:ext>
              </a:extLst>
            </p:cNvPr>
            <p:cNvGrpSpPr/>
            <p:nvPr/>
          </p:nvGrpSpPr>
          <p:grpSpPr>
            <a:xfrm>
              <a:off x="322280" y="3351074"/>
              <a:ext cx="6213437" cy="2282858"/>
              <a:chOff x="-6611164" y="4229558"/>
              <a:chExt cx="6213437" cy="2282858"/>
            </a:xfrm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08ED0157-E66B-4FCB-88D6-5967BB33C369}"/>
                  </a:ext>
                </a:extLst>
              </p:cNvPr>
              <p:cNvGrpSpPr/>
              <p:nvPr/>
            </p:nvGrpSpPr>
            <p:grpSpPr>
              <a:xfrm>
                <a:off x="-6611164" y="4229558"/>
                <a:ext cx="6213437" cy="2282858"/>
                <a:chOff x="332535" y="3610564"/>
                <a:chExt cx="6213439" cy="2282858"/>
              </a:xfrm>
            </p:grpSpPr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77017B5-73A1-474D-97EF-03E591EE3EA3}"/>
                    </a:ext>
                  </a:extLst>
                </p:cNvPr>
                <p:cNvSpPr txBox="1"/>
                <p:nvPr/>
              </p:nvSpPr>
              <p:spPr>
                <a:xfrm>
                  <a:off x="332538" y="3610564"/>
                  <a:ext cx="81945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Research</a:t>
                  </a:r>
                </a:p>
              </p:txBody>
            </p: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52E14E93-178C-4E6B-A224-F874487C1388}"/>
                    </a:ext>
                  </a:extLst>
                </p:cNvPr>
                <p:cNvCxnSpPr/>
                <p:nvPr/>
              </p:nvCxnSpPr>
              <p:spPr>
                <a:xfrm>
                  <a:off x="415088" y="3840424"/>
                  <a:ext cx="60532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8F1A5CC-2C94-4E78-900E-923A3E5D1F23}"/>
                    </a:ext>
                  </a:extLst>
                </p:cNvPr>
                <p:cNvSpPr txBox="1"/>
                <p:nvPr/>
              </p:nvSpPr>
              <p:spPr>
                <a:xfrm>
                  <a:off x="332535" y="3840424"/>
                  <a:ext cx="6213439" cy="2052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Mobile Communications</a:t>
                  </a:r>
                  <a:endParaRPr lang="en-US" altLang="zh-CN" sz="9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Studying under Prof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. Wenhao Wu, working in Mobile Comm, </a:t>
                  </a: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and still in the process 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of theoretical learning</a:t>
                  </a: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.</a:t>
                  </a:r>
                  <a:endParaRPr lang="en-US" altLang="zh-CN" sz="9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Network Transmission Optimization</a:t>
                  </a:r>
                  <a:endParaRPr lang="en-US" altLang="zh-CN" sz="9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Joined the Guangzhou </a:t>
                  </a: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Key Laboratory 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of Advanced Networks. </a:t>
                  </a: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Studying under Prof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. Xing Qian.</a:t>
                  </a:r>
                  <a:endPara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paper accepted to INFOCOM 2020, 1 under review, and 1</a:t>
                  </a:r>
                  <a:r>
                    <a:rPr lang="zh-CN" altLang="en-US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work</a:t>
                  </a:r>
                  <a:r>
                    <a:rPr lang="zh-CN" altLang="en-US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in</a:t>
                  </a:r>
                  <a:r>
                    <a:rPr lang="zh-CN" altLang="en-US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9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progress</a:t>
                  </a:r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.</a:t>
                  </a:r>
                </a:p>
                <a:p>
                  <a:pPr marL="171450" indent="-171450">
                    <a:lnSpc>
                      <a:spcPct val="150000"/>
                    </a:lnSpc>
                    <a:buFontTx/>
                    <a:buChar char="-"/>
                  </a:pPr>
                  <a:r>
                    <a:rPr lang="en-US" altLang="zh-CN" sz="8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Tiangou Zhang</a:t>
                  </a:r>
                  <a:r>
                    <a:rPr lang="en-US" altLang="zh-CN" sz="8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, Si</a:t>
                  </a:r>
                  <a:r>
                    <a:rPr lang="zh-CN" altLang="en-US" sz="8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Li, et al, TINA: A Fair Inter-datacenter Transmission Mechanism with Deadline Guarantee, INFOCOM 2020, CCF A</a:t>
                  </a:r>
                </a:p>
                <a:p>
                  <a:pPr marL="171450" indent="-171450">
                    <a:lnSpc>
                      <a:spcPct val="150000"/>
                    </a:lnSpc>
                    <a:buFontTx/>
                    <a:buChar char="-"/>
                  </a:pP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[Under Review] </a:t>
                  </a:r>
                  <a:r>
                    <a:rPr lang="en-US" altLang="zh-CN" sz="800" b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Tiangou Zhang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,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Li, et al, Efficient Coflow Transmission for Distributed Stream Processing</a:t>
                  </a:r>
                </a:p>
                <a:p>
                  <a:pPr marL="171450" indent="-171450">
                    <a:lnSpc>
                      <a:spcPct val="150000"/>
                    </a:lnSpc>
                    <a:buFontTx/>
                    <a:buChar char="-"/>
                  </a:pP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[Work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in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Progress] </a:t>
                  </a:r>
                  <a:r>
                    <a:rPr lang="en-US" altLang="zh-CN" sz="800" b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Tiangou Zhang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,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</a:t>
                  </a:r>
                  <a:r>
                    <a:rPr lang="zh-CN" altLang="en-US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sz="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Li, et al, Deeper Exercise Monitoring for Smart Gym using Fused RFID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Unconventional superconductivity in magic-angle graphene superlattices</a:t>
                  </a:r>
                  <a:endParaRPr lang="en-US" altLang="zh-CN" sz="9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08B4D53-288D-40C3-BCEF-2726AD5DE0C6}"/>
                  </a:ext>
                </a:extLst>
              </p:cNvPr>
              <p:cNvSpPr txBox="1"/>
              <p:nvPr/>
            </p:nvSpPr>
            <p:spPr>
              <a:xfrm>
                <a:off x="-1681226" y="4917869"/>
                <a:ext cx="11988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10/2019-02/2021</a:t>
                </a:r>
                <a:endParaRPr lang="zh-CN" altLang="en-US" sz="9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1EB08B1-D7DF-4BB0-A9F9-477937A27CE0}"/>
                  </a:ext>
                </a:extLst>
              </p:cNvPr>
              <p:cNvSpPr txBox="1"/>
              <p:nvPr/>
            </p:nvSpPr>
            <p:spPr>
              <a:xfrm>
                <a:off x="-1674278" y="4507876"/>
                <a:ext cx="11988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9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02/2021-now</a:t>
                </a:r>
                <a:endParaRPr lang="zh-CN" altLang="en-US" sz="9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96AB810-D0A3-49C1-83E4-A1805AB3384C}"/>
                </a:ext>
              </a:extLst>
            </p:cNvPr>
            <p:cNvSpPr txBox="1"/>
            <p:nvPr/>
          </p:nvSpPr>
          <p:spPr>
            <a:xfrm>
              <a:off x="5259166" y="5385880"/>
              <a:ext cx="11988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9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12/2019-09/2020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1379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Words>664</Words>
  <Application>Microsoft Office PowerPoint</Application>
  <PresentationFormat>A4 纸张(210x297 毫米)</PresentationFormat>
  <Paragraphs>73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Calibri Light</vt:lpstr>
      <vt:lpstr>Corbel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岳 子豪</dc:creator>
  <cp:lastModifiedBy>宇佩 马</cp:lastModifiedBy>
  <cp:revision>7</cp:revision>
  <dcterms:created xsi:type="dcterms:W3CDTF">2022-04-08T08:47:24Z</dcterms:created>
  <dcterms:modified xsi:type="dcterms:W3CDTF">2026-03-16T08:33:41Z</dcterms:modified>
</cp:coreProperties>
</file>