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337" r:id="rId5"/>
    <p:sldId id="317" r:id="rId6"/>
    <p:sldId id="352" r:id="rId7"/>
    <p:sldId id="355" r:id="rId8"/>
    <p:sldId id="334" r:id="rId9"/>
    <p:sldId id="340" r:id="rId10"/>
    <p:sldId id="335" r:id="rId11"/>
    <p:sldId id="339" r:id="rId12"/>
    <p:sldId id="354" r:id="rId13"/>
    <p:sldId id="341" r:id="rId14"/>
    <p:sldId id="336" r:id="rId15"/>
    <p:sldId id="342" r:id="rId16"/>
    <p:sldId id="353" r:id="rId17"/>
    <p:sldId id="343" r:id="rId18"/>
    <p:sldId id="345" r:id="rId19"/>
    <p:sldId id="349" r:id="rId20"/>
    <p:sldId id="351" r:id="rId21"/>
    <p:sldId id="350" r:id="rId22"/>
    <p:sldId id="348" r:id="rId23"/>
    <p:sldId id="296"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77DE"/>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57" autoAdjust="0"/>
    <p:restoredTop sz="94660"/>
  </p:normalViewPr>
  <p:slideViewPr>
    <p:cSldViewPr snapToGrid="0" showGuides="1">
      <p:cViewPr varScale="1">
        <p:scale>
          <a:sx n="79" d="100"/>
          <a:sy n="79" d="100"/>
        </p:scale>
        <p:origin x="138" y="54"/>
      </p:cViewPr>
      <p:guideLst>
        <p:guide orient="horz" pos="2251"/>
        <p:guide pos="3840"/>
        <p:guide pos="3024"/>
        <p:guide pos="7242"/>
        <p:guide orient="horz" pos="686"/>
        <p:guide orient="horz" pos="3249"/>
        <p:guide orient="horz" pos="3997"/>
        <p:guide orient="horz" pos="38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E4B91-4E85-47AA-BDE2-66536373DB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09861-6FC9-4A49-A93B-AF9E71B1BE8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我的答辩主要分为</a:t>
            </a:r>
            <a:r>
              <a:rPr lang="zh-CN" altLang="en-US" sz="1200" kern="1200" dirty="0">
                <a:solidFill>
                  <a:schemeClr val="tx1"/>
                </a:solidFill>
                <a:effectLst/>
                <a:latin typeface="+mn-lt"/>
                <a:ea typeface="+mn-ea"/>
                <a:cs typeface="+mn-cs"/>
              </a:rPr>
              <a:t>成员及导师</a:t>
            </a:r>
            <a:r>
              <a:rPr lang="zh-CN" altLang="zh-CN" sz="1200" kern="1200" dirty="0">
                <a:solidFill>
                  <a:schemeClr val="tx1"/>
                </a:solidFill>
                <a:effectLst/>
                <a:latin typeface="+mn-lt"/>
                <a:ea typeface="+mn-ea"/>
                <a:cs typeface="+mn-cs"/>
              </a:rPr>
              <a:t>简介、研究背景及现状、研究方案和研究条件及创新四个部分。</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D09861-6FC9-4A49-A93B-AF9E71B1BE8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09861-6FC9-4A49-A93B-AF9E71B1BE8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sp>
        <p:nvSpPr>
          <p:cNvPr id="7" name="矩形 6"/>
          <p:cNvSpPr/>
          <p:nvPr userDrawn="1"/>
        </p:nvSpPr>
        <p:spPr>
          <a:xfrm>
            <a:off x="0" y="1905574"/>
            <a:ext cx="12192000" cy="3696915"/>
          </a:xfrm>
          <a:prstGeom prst="rect">
            <a:avLst/>
          </a:prstGeom>
          <a:solidFill>
            <a:srgbClr val="1D297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图片占位符 56"/>
          <p:cNvSpPr>
            <a:spLocks noGrp="1"/>
          </p:cNvSpPr>
          <p:nvPr>
            <p:ph type="pic" sz="quarter" idx="11"/>
          </p:nvPr>
        </p:nvSpPr>
        <p:spPr>
          <a:xfrm>
            <a:off x="6659536" y="1905000"/>
            <a:ext cx="5546978" cy="3696912"/>
          </a:xfrm>
          <a:custGeom>
            <a:avLst/>
            <a:gdLst>
              <a:gd name="connsiteX0" fmla="*/ 1608076 w 5532465"/>
              <a:gd name="connsiteY0" fmla="*/ 0 h 3697288"/>
              <a:gd name="connsiteX1" fmla="*/ 5532465 w 5532465"/>
              <a:gd name="connsiteY1" fmla="*/ 0 h 3697288"/>
              <a:gd name="connsiteX2" fmla="*/ 5532465 w 5532465"/>
              <a:gd name="connsiteY2" fmla="*/ 3697288 h 3697288"/>
              <a:gd name="connsiteX3" fmla="*/ 0 w 5532465"/>
              <a:gd name="connsiteY3" fmla="*/ 3697288 h 3697288"/>
            </a:gdLst>
            <a:ahLst/>
            <a:cxnLst>
              <a:cxn ang="0">
                <a:pos x="connsiteX0" y="connsiteY0"/>
              </a:cxn>
              <a:cxn ang="0">
                <a:pos x="connsiteX1" y="connsiteY1"/>
              </a:cxn>
              <a:cxn ang="0">
                <a:pos x="connsiteX2" y="connsiteY2"/>
              </a:cxn>
              <a:cxn ang="0">
                <a:pos x="connsiteX3" y="connsiteY3"/>
              </a:cxn>
            </a:cxnLst>
            <a:rect l="l" t="t" r="r" b="b"/>
            <a:pathLst>
              <a:path w="5532465" h="3697288">
                <a:moveTo>
                  <a:pt x="1608076" y="0"/>
                </a:moveTo>
                <a:lnTo>
                  <a:pt x="5532465" y="0"/>
                </a:lnTo>
                <a:lnTo>
                  <a:pt x="5532465" y="3697288"/>
                </a:lnTo>
                <a:lnTo>
                  <a:pt x="0" y="3697288"/>
                </a:lnTo>
                <a:close/>
              </a:path>
            </a:pathLst>
          </a:custGeom>
        </p:spPr>
        <p:txBody>
          <a:bodyPr wrap="square">
            <a:noAutofit/>
          </a:bodyPr>
          <a:lstStyle/>
          <a:p>
            <a:endParaRPr lang="zh-CN" altLang="en-US"/>
          </a:p>
        </p:txBody>
      </p:sp>
      <p:sp>
        <p:nvSpPr>
          <p:cNvPr id="2" name="标题 1"/>
          <p:cNvSpPr>
            <a:spLocks noGrp="1"/>
          </p:cNvSpPr>
          <p:nvPr>
            <p:ph type="title"/>
          </p:nvPr>
        </p:nvSpPr>
        <p:spPr>
          <a:xfrm>
            <a:off x="659738" y="2423975"/>
            <a:ext cx="6847664" cy="1880879"/>
          </a:xfrm>
        </p:spPr>
        <p:txBody>
          <a:bodyPr lIns="0" tIns="0" anchor="b"/>
          <a:lstStyle>
            <a:lvl1pPr>
              <a:lnSpc>
                <a:spcPct val="100000"/>
              </a:lnSpc>
              <a:defRPr sz="6000">
                <a:solidFill>
                  <a:schemeClr val="bg1"/>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661014" y="4734601"/>
            <a:ext cx="2357957" cy="354148"/>
          </a:xfrm>
        </p:spPr>
        <p:txBody>
          <a:bodyPr lIns="0"/>
          <a:lstStyle>
            <a:lvl1pPr marL="0" indent="0">
              <a:lnSpc>
                <a:spcPct val="100000"/>
              </a:lnSpc>
              <a:spcBef>
                <a:spcPts val="0"/>
              </a:spcBef>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答辩人：</a:t>
            </a:r>
            <a:r>
              <a:rPr lang="en-US" altLang="zh-CN" dirty="0"/>
              <a:t>XXXX </a:t>
            </a:r>
            <a:endParaRPr lang="zh-CN" altLang="en-US" dirty="0"/>
          </a:p>
        </p:txBody>
      </p:sp>
      <p:sp>
        <p:nvSpPr>
          <p:cNvPr id="55" name="文本框 54"/>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bg1">
                    <a:lumMod val="65000"/>
                  </a:schemeClr>
                </a:solidFill>
              </a:rPr>
              <a:t>含弘光大  继往开来 </a:t>
            </a:r>
            <a:r>
              <a:rPr lang="en-US" altLang="zh-CN" spc="300" dirty="0">
                <a:solidFill>
                  <a:schemeClr val="bg1">
                    <a:lumMod val="65000"/>
                  </a:schemeClr>
                </a:solidFill>
              </a:rPr>
              <a:t>| www.swu.edu.cn</a:t>
            </a:r>
            <a:endParaRPr lang="zh-CN" altLang="en-US" spc="300" dirty="0">
              <a:solidFill>
                <a:schemeClr val="bg1">
                  <a:lumMod val="65000"/>
                </a:schemeClr>
              </a:solidFill>
            </a:endParaRPr>
          </a:p>
        </p:txBody>
      </p:sp>
      <p:sp>
        <p:nvSpPr>
          <p:cNvPr id="56" name="文本占位符 2"/>
          <p:cNvSpPr>
            <a:spLocks noGrp="1"/>
          </p:cNvSpPr>
          <p:nvPr>
            <p:ph type="body" idx="10" hasCustomPrompt="1"/>
          </p:nvPr>
        </p:nvSpPr>
        <p:spPr>
          <a:xfrm>
            <a:off x="3498557" y="4734601"/>
            <a:ext cx="3700529" cy="354148"/>
          </a:xfrm>
        </p:spPr>
        <p:txBody>
          <a:bodyPr lIns="0"/>
          <a:lstStyle>
            <a:lvl1pPr marL="0" indent="0">
              <a:lnSpc>
                <a:spcPct val="100000"/>
              </a:lnSpc>
              <a:spcBef>
                <a:spcPts val="0"/>
              </a:spcBef>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指导老师：</a:t>
            </a:r>
            <a:r>
              <a:rPr lang="en-US" altLang="zh-CN" dirty="0"/>
              <a:t>XXXX </a:t>
            </a:r>
            <a:endParaRPr lang="zh-CN" altLang="en-US" dirty="0"/>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514" y="92575"/>
            <a:ext cx="4254005" cy="17942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2">
    <p:spTree>
      <p:nvGrpSpPr>
        <p:cNvPr id="1" name=""/>
        <p:cNvGrpSpPr/>
        <p:nvPr/>
      </p:nvGrpSpPr>
      <p:grpSpPr>
        <a:xfrm>
          <a:off x="0" y="0"/>
          <a:ext cx="0" cy="0"/>
          <a:chOff x="0" y="0"/>
          <a:chExt cx="0" cy="0"/>
        </a:xfrm>
      </p:grpSpPr>
      <p:sp>
        <p:nvSpPr>
          <p:cNvPr id="16" name="矩形 15"/>
          <p:cNvSpPr/>
          <p:nvPr userDrawn="1"/>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片占位符 11"/>
          <p:cNvSpPr>
            <a:spLocks noGrp="1"/>
          </p:cNvSpPr>
          <p:nvPr>
            <p:ph type="pic" sz="quarter" idx="10"/>
          </p:nvPr>
        </p:nvSpPr>
        <p:spPr>
          <a:xfrm>
            <a:off x="0" y="0"/>
            <a:ext cx="12192000" cy="3429000"/>
          </a:xfrm>
        </p:spPr>
        <p:txBody>
          <a:bodyPr/>
          <a:lstStyle/>
          <a:p>
            <a:endParaRPr lang="zh-CN" altLang="en-US"/>
          </a:p>
        </p:txBody>
      </p:sp>
      <p:sp>
        <p:nvSpPr>
          <p:cNvPr id="13" name="标题 1"/>
          <p:cNvSpPr>
            <a:spLocks noGrp="1"/>
          </p:cNvSpPr>
          <p:nvPr>
            <p:ph type="title"/>
          </p:nvPr>
        </p:nvSpPr>
        <p:spPr>
          <a:xfrm>
            <a:off x="659738" y="3975100"/>
            <a:ext cx="10859162" cy="933004"/>
          </a:xfrm>
        </p:spPr>
        <p:txBody>
          <a:bodyPr lIns="0" tIns="0" anchor="b"/>
          <a:lstStyle>
            <a:lvl1pPr algn="ctr">
              <a:lnSpc>
                <a:spcPct val="100000"/>
              </a:lnSpc>
              <a:defRPr sz="6000">
                <a:solidFill>
                  <a:schemeClr val="accent1"/>
                </a:solidFill>
              </a:defRPr>
            </a:lvl1pPr>
          </a:lstStyle>
          <a:p>
            <a:r>
              <a:rPr lang="zh-CN" altLang="en-US" dirty="0"/>
              <a:t>单击此处编辑母版标题样式</a:t>
            </a:r>
            <a:endParaRPr lang="zh-CN" altLang="en-US" dirty="0"/>
          </a:p>
        </p:txBody>
      </p:sp>
      <p:sp>
        <p:nvSpPr>
          <p:cNvPr id="18" name="内容占位符 17"/>
          <p:cNvSpPr>
            <a:spLocks noGrp="1"/>
          </p:cNvSpPr>
          <p:nvPr>
            <p:ph sz="quarter" idx="12" hasCustomPrompt="1"/>
          </p:nvPr>
        </p:nvSpPr>
        <p:spPr>
          <a:xfrm>
            <a:off x="3114675" y="4960491"/>
            <a:ext cx="5962650" cy="347663"/>
          </a:xfrm>
        </p:spPr>
        <p:txBody>
          <a:bodyPr>
            <a:noAutofit/>
          </a:bodyPr>
          <a:lstStyle>
            <a:lvl1pPr marL="0" indent="0" algn="ctr">
              <a:buNone/>
              <a:defRPr sz="2000">
                <a:solidFill>
                  <a:schemeClr val="bg1">
                    <a:lumMod val="65000"/>
                  </a:schemeClr>
                </a:solidFill>
                <a:latin typeface="+mn-lt"/>
              </a:defRPr>
            </a:lvl1pPr>
          </a:lstStyle>
          <a:p>
            <a:pPr lvl="0"/>
            <a:r>
              <a:rPr lang="zh-CN" altLang="en-US" dirty="0"/>
              <a:t>请输入英文副标题</a:t>
            </a:r>
            <a:endParaRPr lang="zh-CN" altLang="en-US" dirty="0"/>
          </a:p>
        </p:txBody>
      </p:sp>
      <p:sp>
        <p:nvSpPr>
          <p:cNvPr id="8" name="文本占位符 2"/>
          <p:cNvSpPr>
            <a:spLocks noGrp="1"/>
          </p:cNvSpPr>
          <p:nvPr>
            <p:ph type="body" idx="1" hasCustomPrompt="1"/>
          </p:nvPr>
        </p:nvSpPr>
        <p:spPr>
          <a:xfrm>
            <a:off x="3060691" y="5850432"/>
            <a:ext cx="2357957"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答辩人：</a:t>
            </a:r>
            <a:r>
              <a:rPr lang="en-US" altLang="zh-CN" dirty="0"/>
              <a:t>XXXX </a:t>
            </a:r>
            <a:endParaRPr lang="zh-CN" altLang="en-US" dirty="0"/>
          </a:p>
        </p:txBody>
      </p:sp>
      <p:sp>
        <p:nvSpPr>
          <p:cNvPr id="9" name="文本占位符 2"/>
          <p:cNvSpPr>
            <a:spLocks noGrp="1"/>
          </p:cNvSpPr>
          <p:nvPr>
            <p:ph type="body" idx="11" hasCustomPrompt="1"/>
          </p:nvPr>
        </p:nvSpPr>
        <p:spPr>
          <a:xfrm>
            <a:off x="5898234" y="5850432"/>
            <a:ext cx="3700529"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指导老师：</a:t>
            </a:r>
            <a:r>
              <a:rPr lang="en-US" altLang="zh-CN" dirty="0"/>
              <a:t>XXXX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3）">
    <p:spTree>
      <p:nvGrpSpPr>
        <p:cNvPr id="1" name=""/>
        <p:cNvGrpSpPr/>
        <p:nvPr/>
      </p:nvGrpSpPr>
      <p:grpSpPr>
        <a:xfrm>
          <a:off x="0" y="0"/>
          <a:ext cx="0" cy="0"/>
          <a:chOff x="0" y="0"/>
          <a:chExt cx="0" cy="0"/>
        </a:xfrm>
      </p:grpSpPr>
      <p:sp>
        <p:nvSpPr>
          <p:cNvPr id="6" name="矩形 5"/>
          <p:cNvSpPr/>
          <p:nvPr userDrawn="1"/>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949247" y="1667893"/>
            <a:ext cx="2178207" cy="523220"/>
          </a:xfrm>
          <a:prstGeom prst="rect">
            <a:avLst/>
          </a:prstGeom>
          <a:noFill/>
        </p:spPr>
        <p:txBody>
          <a:bodyPr wrap="square" rtlCol="0">
            <a:spAutoFit/>
          </a:bodyPr>
          <a:lstStyle/>
          <a:p>
            <a:pPr algn="dist"/>
            <a:r>
              <a:rPr lang="en-US" altLang="zh-CN" sz="2800" dirty="0">
                <a:solidFill>
                  <a:schemeClr val="bg1"/>
                </a:solidFill>
                <a:latin typeface="+mj-ea"/>
                <a:ea typeface="+mj-ea"/>
              </a:rPr>
              <a:t>CONTENT</a:t>
            </a:r>
            <a:endParaRPr lang="zh-CN" altLang="en-US" sz="2800" dirty="0">
              <a:solidFill>
                <a:schemeClr val="bg1"/>
              </a:solidFill>
              <a:latin typeface="+mj-ea"/>
              <a:ea typeface="+mj-ea"/>
            </a:endParaRPr>
          </a:p>
        </p:txBody>
      </p:sp>
      <p:pic>
        <p:nvPicPr>
          <p:cNvPr id="8" name="图片 7"/>
          <p:cNvPicPr>
            <a:picLocks noChangeAspect="1"/>
          </p:cNvPicPr>
          <p:nvPr userDrawn="1"/>
        </p:nvPicPr>
        <p:blipFill>
          <a:blip r:embed="rId2">
            <a:alphaModFix amt="10000"/>
            <a:lum bright="70000" contrast="-70000"/>
          </a:blip>
          <a:stretch>
            <a:fillRect/>
          </a:stretch>
        </p:blipFill>
        <p:spPr>
          <a:xfrm>
            <a:off x="727169" y="0"/>
            <a:ext cx="6856688" cy="6877093"/>
          </a:xfrm>
          <a:prstGeom prst="rect">
            <a:avLst/>
          </a:prstGeom>
        </p:spPr>
      </p:pic>
      <p:grpSp>
        <p:nvGrpSpPr>
          <p:cNvPr id="9" name="组合 8"/>
          <p:cNvGrpSpPr/>
          <p:nvPr userDrawn="1"/>
        </p:nvGrpSpPr>
        <p:grpSpPr>
          <a:xfrm>
            <a:off x="1622092" y="2409437"/>
            <a:ext cx="832516" cy="747374"/>
            <a:chOff x="1333501" y="5545626"/>
            <a:chExt cx="1409699" cy="747374"/>
          </a:xfrm>
        </p:grpSpPr>
        <p:cxnSp>
          <p:nvCxnSpPr>
            <p:cNvPr id="10" name="直接连接符 9"/>
            <p:cNvCxnSpPr/>
            <p:nvPr/>
          </p:nvCxnSpPr>
          <p:spPr>
            <a:xfrm>
              <a:off x="1333501" y="5545626"/>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333501" y="5919313"/>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333501" y="6293000"/>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nvSpPr>
        <p:spPr>
          <a:xfrm>
            <a:off x="930197" y="805954"/>
            <a:ext cx="2216307" cy="830997"/>
          </a:xfrm>
          <a:prstGeom prst="rect">
            <a:avLst/>
          </a:prstGeom>
        </p:spPr>
        <p:txBody>
          <a:bodyPr wrap="square">
            <a:spAutoFit/>
          </a:bodyPr>
          <a:lstStyle/>
          <a:p>
            <a:pPr algn="dist"/>
            <a:r>
              <a:rPr lang="zh-CN" altLang="en-US" sz="4800" b="1" dirty="0">
                <a:solidFill>
                  <a:schemeClr val="bg1"/>
                </a:solidFill>
                <a:latin typeface="+mj-ea"/>
              </a:rPr>
              <a:t>目录</a:t>
            </a:r>
            <a:endParaRPr lang="en-US" altLang="zh-CN" sz="4800" b="1" dirty="0">
              <a:solidFill>
                <a:schemeClr val="bg1"/>
              </a:solidFill>
              <a:latin typeface="+mj-ea"/>
            </a:endParaRPr>
          </a:p>
        </p:txBody>
      </p:sp>
      <p:sp>
        <p:nvSpPr>
          <p:cNvPr id="56" name="文本框 55"/>
          <p:cNvSpPr txBox="1"/>
          <p:nvPr/>
        </p:nvSpPr>
        <p:spPr>
          <a:xfrm>
            <a:off x="6076705" y="1450776"/>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01</a:t>
            </a:r>
            <a:endParaRPr lang="zh-CN" altLang="en-US" sz="7200" b="0" dirty="0">
              <a:solidFill>
                <a:srgbClr val="CECECE"/>
              </a:solidFill>
              <a:latin typeface="+mn-lt"/>
              <a:ea typeface="+mj-ea"/>
            </a:endParaRPr>
          </a:p>
        </p:txBody>
      </p:sp>
      <p:sp>
        <p:nvSpPr>
          <p:cNvPr id="71" name="文本框 70"/>
          <p:cNvSpPr txBox="1"/>
          <p:nvPr userDrawn="1"/>
        </p:nvSpPr>
        <p:spPr>
          <a:xfrm>
            <a:off x="0" y="5314097"/>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含弘光大</a:t>
            </a:r>
            <a:endParaRPr lang="zh-CN" altLang="en-US" sz="3600" b="1" dirty="0">
              <a:solidFill>
                <a:schemeClr val="bg1">
                  <a:alpha val="33000"/>
                </a:schemeClr>
              </a:solidFill>
            </a:endParaRPr>
          </a:p>
        </p:txBody>
      </p:sp>
      <p:sp>
        <p:nvSpPr>
          <p:cNvPr id="72" name="文本框 71"/>
          <p:cNvSpPr txBox="1"/>
          <p:nvPr userDrawn="1"/>
        </p:nvSpPr>
        <p:spPr>
          <a:xfrm>
            <a:off x="0" y="5997981"/>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继往开来</a:t>
            </a:r>
            <a:endParaRPr lang="zh-CN" altLang="en-US" sz="3600" b="1" dirty="0">
              <a:solidFill>
                <a:schemeClr val="bg1">
                  <a:alpha val="33000"/>
                </a:schemeClr>
              </a:solidFill>
            </a:endParaRPr>
          </a:p>
        </p:txBody>
      </p:sp>
      <p:sp>
        <p:nvSpPr>
          <p:cNvPr id="74" name="文本占位符 52"/>
          <p:cNvSpPr>
            <a:spLocks noGrp="1"/>
          </p:cNvSpPr>
          <p:nvPr>
            <p:ph type="body" sz="quarter" idx="10" hasCustomPrompt="1"/>
          </p:nvPr>
        </p:nvSpPr>
        <p:spPr>
          <a:xfrm>
            <a:off x="7270707" y="2145520"/>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86" name="文本占位符 85"/>
          <p:cNvSpPr>
            <a:spLocks noGrp="1"/>
          </p:cNvSpPr>
          <p:nvPr>
            <p:ph type="body" sz="quarter" idx="13" hasCustomPrompt="1"/>
          </p:nvPr>
        </p:nvSpPr>
        <p:spPr>
          <a:xfrm>
            <a:off x="7261225" y="1636713"/>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89" name="文本框 88"/>
          <p:cNvSpPr txBox="1"/>
          <p:nvPr userDrawn="1"/>
        </p:nvSpPr>
        <p:spPr>
          <a:xfrm>
            <a:off x="6076705" y="3047537"/>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02</a:t>
            </a:r>
            <a:endParaRPr lang="zh-CN" altLang="en-US" sz="7200" b="0" dirty="0">
              <a:solidFill>
                <a:srgbClr val="CECECE"/>
              </a:solidFill>
              <a:latin typeface="+mn-lt"/>
              <a:ea typeface="+mj-ea"/>
            </a:endParaRPr>
          </a:p>
        </p:txBody>
      </p:sp>
      <p:sp>
        <p:nvSpPr>
          <p:cNvPr id="90" name="文本占位符 52"/>
          <p:cNvSpPr>
            <a:spLocks noGrp="1"/>
          </p:cNvSpPr>
          <p:nvPr>
            <p:ph type="body" sz="quarter" idx="14" hasCustomPrompt="1"/>
          </p:nvPr>
        </p:nvSpPr>
        <p:spPr>
          <a:xfrm>
            <a:off x="7270707" y="3742281"/>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91" name="文本占位符 85"/>
          <p:cNvSpPr>
            <a:spLocks noGrp="1"/>
          </p:cNvSpPr>
          <p:nvPr>
            <p:ph type="body" sz="quarter" idx="15" hasCustomPrompt="1"/>
          </p:nvPr>
        </p:nvSpPr>
        <p:spPr>
          <a:xfrm>
            <a:off x="7261225" y="3233474"/>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92" name="文本框 91"/>
          <p:cNvSpPr txBox="1"/>
          <p:nvPr userDrawn="1"/>
        </p:nvSpPr>
        <p:spPr>
          <a:xfrm>
            <a:off x="6076705" y="4526543"/>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03</a:t>
            </a:r>
            <a:endParaRPr lang="zh-CN" altLang="en-US" sz="7200" b="0" dirty="0">
              <a:solidFill>
                <a:srgbClr val="CECECE"/>
              </a:solidFill>
              <a:latin typeface="+mn-lt"/>
              <a:ea typeface="+mj-ea"/>
            </a:endParaRPr>
          </a:p>
        </p:txBody>
      </p:sp>
      <p:sp>
        <p:nvSpPr>
          <p:cNvPr id="93" name="文本占位符 52"/>
          <p:cNvSpPr>
            <a:spLocks noGrp="1"/>
          </p:cNvSpPr>
          <p:nvPr>
            <p:ph type="body" sz="quarter" idx="16" hasCustomPrompt="1"/>
          </p:nvPr>
        </p:nvSpPr>
        <p:spPr>
          <a:xfrm>
            <a:off x="7270707" y="5221287"/>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94" name="文本占位符 85"/>
          <p:cNvSpPr>
            <a:spLocks noGrp="1"/>
          </p:cNvSpPr>
          <p:nvPr>
            <p:ph type="body" sz="quarter" idx="17" hasCustomPrompt="1"/>
          </p:nvPr>
        </p:nvSpPr>
        <p:spPr>
          <a:xfrm>
            <a:off x="7261225" y="4712480"/>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pic>
        <p:nvPicPr>
          <p:cNvPr id="62" name="图片 6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32750" y="149150"/>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4）">
    <p:spTree>
      <p:nvGrpSpPr>
        <p:cNvPr id="1" name=""/>
        <p:cNvGrpSpPr/>
        <p:nvPr/>
      </p:nvGrpSpPr>
      <p:grpSpPr>
        <a:xfrm>
          <a:off x="0" y="0"/>
          <a:ext cx="0" cy="0"/>
          <a:chOff x="0" y="0"/>
          <a:chExt cx="0" cy="0"/>
        </a:xfrm>
      </p:grpSpPr>
      <p:sp>
        <p:nvSpPr>
          <p:cNvPr id="6" name="矩形 5"/>
          <p:cNvSpPr/>
          <p:nvPr userDrawn="1"/>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949247" y="1667893"/>
            <a:ext cx="2178207" cy="523220"/>
          </a:xfrm>
          <a:prstGeom prst="rect">
            <a:avLst/>
          </a:prstGeom>
          <a:noFill/>
        </p:spPr>
        <p:txBody>
          <a:bodyPr wrap="square" rtlCol="0">
            <a:spAutoFit/>
          </a:bodyPr>
          <a:lstStyle/>
          <a:p>
            <a:pPr algn="dist"/>
            <a:r>
              <a:rPr lang="en-US" altLang="zh-CN" sz="2800" dirty="0">
                <a:solidFill>
                  <a:schemeClr val="bg1"/>
                </a:solidFill>
                <a:latin typeface="+mj-ea"/>
                <a:ea typeface="+mj-ea"/>
              </a:rPr>
              <a:t>CONTENT</a:t>
            </a:r>
            <a:endParaRPr lang="zh-CN" altLang="en-US" sz="2800" dirty="0">
              <a:solidFill>
                <a:schemeClr val="bg1"/>
              </a:solidFill>
              <a:latin typeface="+mj-ea"/>
              <a:ea typeface="+mj-ea"/>
            </a:endParaRPr>
          </a:p>
        </p:txBody>
      </p:sp>
      <p:pic>
        <p:nvPicPr>
          <p:cNvPr id="8" name="图片 7"/>
          <p:cNvPicPr>
            <a:picLocks noChangeAspect="1"/>
          </p:cNvPicPr>
          <p:nvPr userDrawn="1"/>
        </p:nvPicPr>
        <p:blipFill>
          <a:blip r:embed="rId2">
            <a:alphaModFix amt="10000"/>
            <a:lum bright="70000" contrast="-70000"/>
          </a:blip>
          <a:stretch>
            <a:fillRect/>
          </a:stretch>
        </p:blipFill>
        <p:spPr>
          <a:xfrm>
            <a:off x="727169" y="0"/>
            <a:ext cx="6856688" cy="6877093"/>
          </a:xfrm>
          <a:prstGeom prst="rect">
            <a:avLst/>
          </a:prstGeom>
        </p:spPr>
      </p:pic>
      <p:grpSp>
        <p:nvGrpSpPr>
          <p:cNvPr id="9" name="组合 8"/>
          <p:cNvGrpSpPr/>
          <p:nvPr userDrawn="1"/>
        </p:nvGrpSpPr>
        <p:grpSpPr>
          <a:xfrm>
            <a:off x="1622092" y="2409437"/>
            <a:ext cx="832516" cy="747374"/>
            <a:chOff x="1333501" y="5545626"/>
            <a:chExt cx="1409699" cy="747374"/>
          </a:xfrm>
        </p:grpSpPr>
        <p:cxnSp>
          <p:nvCxnSpPr>
            <p:cNvPr id="10" name="直接连接符 9"/>
            <p:cNvCxnSpPr/>
            <p:nvPr/>
          </p:nvCxnSpPr>
          <p:spPr>
            <a:xfrm>
              <a:off x="1333501" y="5545626"/>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333501" y="5919313"/>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333501" y="6293000"/>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nvSpPr>
        <p:spPr>
          <a:xfrm>
            <a:off x="930197" y="805954"/>
            <a:ext cx="2216307" cy="830997"/>
          </a:xfrm>
          <a:prstGeom prst="rect">
            <a:avLst/>
          </a:prstGeom>
        </p:spPr>
        <p:txBody>
          <a:bodyPr wrap="square">
            <a:spAutoFit/>
          </a:bodyPr>
          <a:lstStyle/>
          <a:p>
            <a:pPr algn="dist"/>
            <a:r>
              <a:rPr lang="zh-CN" altLang="en-US" sz="4800" b="1" dirty="0">
                <a:solidFill>
                  <a:schemeClr val="bg1"/>
                </a:solidFill>
                <a:latin typeface="+mj-ea"/>
              </a:rPr>
              <a:t>目录</a:t>
            </a:r>
            <a:endParaRPr lang="en-US" altLang="zh-CN" sz="4800" b="1" dirty="0">
              <a:solidFill>
                <a:schemeClr val="bg1"/>
              </a:solidFill>
              <a:latin typeface="+mj-ea"/>
            </a:endParaRPr>
          </a:p>
        </p:txBody>
      </p:sp>
      <p:sp>
        <p:nvSpPr>
          <p:cNvPr id="56" name="文本框 55"/>
          <p:cNvSpPr txBox="1"/>
          <p:nvPr/>
        </p:nvSpPr>
        <p:spPr>
          <a:xfrm>
            <a:off x="6076705" y="1184076"/>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01</a:t>
            </a:r>
            <a:endParaRPr lang="zh-CN" altLang="en-US" sz="7200" b="0" dirty="0">
              <a:solidFill>
                <a:srgbClr val="CECECE"/>
              </a:solidFill>
              <a:latin typeface="+mn-lt"/>
              <a:ea typeface="+mj-ea"/>
            </a:endParaRPr>
          </a:p>
        </p:txBody>
      </p:sp>
      <p:sp>
        <p:nvSpPr>
          <p:cNvPr id="71" name="文本框 70"/>
          <p:cNvSpPr txBox="1"/>
          <p:nvPr userDrawn="1"/>
        </p:nvSpPr>
        <p:spPr>
          <a:xfrm>
            <a:off x="0" y="5314097"/>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含弘光大</a:t>
            </a:r>
            <a:endParaRPr lang="zh-CN" altLang="en-US" sz="3600" b="1" dirty="0">
              <a:solidFill>
                <a:schemeClr val="bg1">
                  <a:alpha val="33000"/>
                </a:schemeClr>
              </a:solidFill>
            </a:endParaRPr>
          </a:p>
        </p:txBody>
      </p:sp>
      <p:sp>
        <p:nvSpPr>
          <p:cNvPr id="72" name="文本框 71"/>
          <p:cNvSpPr txBox="1"/>
          <p:nvPr userDrawn="1"/>
        </p:nvSpPr>
        <p:spPr>
          <a:xfrm>
            <a:off x="0" y="5997981"/>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继往开来</a:t>
            </a:r>
            <a:endParaRPr lang="zh-CN" altLang="en-US" sz="3600" b="1" dirty="0">
              <a:solidFill>
                <a:schemeClr val="bg1">
                  <a:alpha val="33000"/>
                </a:schemeClr>
              </a:solidFill>
            </a:endParaRPr>
          </a:p>
        </p:txBody>
      </p:sp>
      <p:sp>
        <p:nvSpPr>
          <p:cNvPr id="74" name="文本占位符 52"/>
          <p:cNvSpPr>
            <a:spLocks noGrp="1"/>
          </p:cNvSpPr>
          <p:nvPr>
            <p:ph type="body" sz="quarter" idx="10" hasCustomPrompt="1"/>
          </p:nvPr>
        </p:nvSpPr>
        <p:spPr>
          <a:xfrm>
            <a:off x="7270707" y="1878820"/>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86" name="文本占位符 85"/>
          <p:cNvSpPr>
            <a:spLocks noGrp="1"/>
          </p:cNvSpPr>
          <p:nvPr>
            <p:ph type="body" sz="quarter" idx="13" hasCustomPrompt="1"/>
          </p:nvPr>
        </p:nvSpPr>
        <p:spPr>
          <a:xfrm>
            <a:off x="7261225" y="1370013"/>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62" name="文本框 61"/>
          <p:cNvSpPr txBox="1"/>
          <p:nvPr userDrawn="1"/>
        </p:nvSpPr>
        <p:spPr>
          <a:xfrm>
            <a:off x="6076705" y="2537776"/>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02</a:t>
            </a:r>
            <a:endParaRPr lang="zh-CN" altLang="en-US" sz="7200" b="0" dirty="0">
              <a:solidFill>
                <a:srgbClr val="CECECE"/>
              </a:solidFill>
              <a:latin typeface="+mn-lt"/>
              <a:ea typeface="+mj-ea"/>
            </a:endParaRPr>
          </a:p>
        </p:txBody>
      </p:sp>
      <p:sp>
        <p:nvSpPr>
          <p:cNvPr id="63" name="文本占位符 52"/>
          <p:cNvSpPr>
            <a:spLocks noGrp="1"/>
          </p:cNvSpPr>
          <p:nvPr>
            <p:ph type="body" sz="quarter" idx="14" hasCustomPrompt="1"/>
          </p:nvPr>
        </p:nvSpPr>
        <p:spPr>
          <a:xfrm>
            <a:off x="7270707" y="3231002"/>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64" name="文本占位符 85"/>
          <p:cNvSpPr>
            <a:spLocks noGrp="1"/>
          </p:cNvSpPr>
          <p:nvPr>
            <p:ph type="body" sz="quarter" idx="15" hasCustomPrompt="1"/>
          </p:nvPr>
        </p:nvSpPr>
        <p:spPr>
          <a:xfrm>
            <a:off x="7261225" y="2722195"/>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73" name="文本框 72"/>
          <p:cNvSpPr txBox="1"/>
          <p:nvPr userDrawn="1"/>
        </p:nvSpPr>
        <p:spPr>
          <a:xfrm>
            <a:off x="6076705" y="3891476"/>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03</a:t>
            </a:r>
            <a:endParaRPr lang="zh-CN" altLang="en-US" sz="7200" b="0" dirty="0">
              <a:solidFill>
                <a:srgbClr val="CECECE"/>
              </a:solidFill>
              <a:latin typeface="+mn-lt"/>
              <a:ea typeface="+mj-ea"/>
            </a:endParaRPr>
          </a:p>
        </p:txBody>
      </p:sp>
      <p:sp>
        <p:nvSpPr>
          <p:cNvPr id="75" name="文本占位符 52"/>
          <p:cNvSpPr>
            <a:spLocks noGrp="1"/>
          </p:cNvSpPr>
          <p:nvPr>
            <p:ph type="body" sz="quarter" idx="16" hasCustomPrompt="1"/>
          </p:nvPr>
        </p:nvSpPr>
        <p:spPr>
          <a:xfrm>
            <a:off x="7270707" y="4614282"/>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76" name="文本占位符 85"/>
          <p:cNvSpPr>
            <a:spLocks noGrp="1"/>
          </p:cNvSpPr>
          <p:nvPr>
            <p:ph type="body" sz="quarter" idx="17" hasCustomPrompt="1"/>
          </p:nvPr>
        </p:nvSpPr>
        <p:spPr>
          <a:xfrm>
            <a:off x="7261225" y="4105475"/>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77" name="文本框 76"/>
          <p:cNvSpPr txBox="1"/>
          <p:nvPr userDrawn="1"/>
        </p:nvSpPr>
        <p:spPr>
          <a:xfrm>
            <a:off x="6076705" y="5245176"/>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04</a:t>
            </a:r>
            <a:endParaRPr lang="zh-CN" altLang="en-US" sz="7200" b="0" dirty="0">
              <a:solidFill>
                <a:srgbClr val="CECECE"/>
              </a:solidFill>
              <a:latin typeface="+mn-lt"/>
              <a:ea typeface="+mj-ea"/>
            </a:endParaRPr>
          </a:p>
        </p:txBody>
      </p:sp>
      <p:sp>
        <p:nvSpPr>
          <p:cNvPr id="78" name="文本占位符 52"/>
          <p:cNvSpPr>
            <a:spLocks noGrp="1"/>
          </p:cNvSpPr>
          <p:nvPr>
            <p:ph type="body" sz="quarter" idx="18" hasCustomPrompt="1"/>
          </p:nvPr>
        </p:nvSpPr>
        <p:spPr>
          <a:xfrm>
            <a:off x="7270707" y="5939920"/>
            <a:ext cx="3524087"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6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79" name="文本占位符 85"/>
          <p:cNvSpPr>
            <a:spLocks noGrp="1"/>
          </p:cNvSpPr>
          <p:nvPr>
            <p:ph type="body" sz="quarter" idx="19" hasCustomPrompt="1"/>
          </p:nvPr>
        </p:nvSpPr>
        <p:spPr>
          <a:xfrm>
            <a:off x="7261225" y="5431113"/>
            <a:ext cx="2264633" cy="449148"/>
          </a:xfrm>
        </p:spPr>
        <p:txBody>
          <a:bodyPr>
            <a:noAutofit/>
          </a:bodyPr>
          <a:lstStyle>
            <a:lvl1pPr marL="0" indent="0" algn="dist" defTabSz="914400" rtl="0" eaLnBrk="1" latinLnBrk="0" hangingPunct="1">
              <a:lnSpc>
                <a:spcPct val="90000"/>
              </a:lnSpc>
              <a:spcBef>
                <a:spcPct val="0"/>
              </a:spcBef>
              <a:buNone/>
              <a:defRPr lang="zh-CN" altLang="en-US" sz="3600" b="1" kern="1200" dirty="0" smtClean="0">
                <a:solidFill>
                  <a:srgbClr val="1D2974"/>
                </a:solidFill>
                <a:latin typeface="+mj-ea"/>
                <a:ea typeface="+mj-ea"/>
                <a:cs typeface="+mn-cs"/>
              </a:defRPr>
            </a:lvl1pPr>
          </a:lstStyle>
          <a:p>
            <a:pPr lvl="0"/>
            <a:r>
              <a:rPr lang="zh-CN" altLang="en-US" dirty="0"/>
              <a:t>章节标题</a:t>
            </a:r>
            <a:endParaRPr lang="zh-CN" altLang="en-US" dirty="0"/>
          </a:p>
        </p:txBody>
      </p:sp>
      <p:pic>
        <p:nvPicPr>
          <p:cNvPr id="65" name="图片 6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32750" y="149150"/>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页（5）">
    <p:spTree>
      <p:nvGrpSpPr>
        <p:cNvPr id="1" name=""/>
        <p:cNvGrpSpPr/>
        <p:nvPr/>
      </p:nvGrpSpPr>
      <p:grpSpPr>
        <a:xfrm>
          <a:off x="0" y="0"/>
          <a:ext cx="0" cy="0"/>
          <a:chOff x="0" y="0"/>
          <a:chExt cx="0" cy="0"/>
        </a:xfrm>
      </p:grpSpPr>
      <p:sp>
        <p:nvSpPr>
          <p:cNvPr id="6" name="矩形 5"/>
          <p:cNvSpPr/>
          <p:nvPr userDrawn="1"/>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sp>
        <p:nvSpPr>
          <p:cNvPr id="7" name="文本框 6"/>
          <p:cNvSpPr txBox="1"/>
          <p:nvPr userDrawn="1"/>
        </p:nvSpPr>
        <p:spPr>
          <a:xfrm>
            <a:off x="949247" y="1667893"/>
            <a:ext cx="2178207" cy="523220"/>
          </a:xfrm>
          <a:prstGeom prst="rect">
            <a:avLst/>
          </a:prstGeom>
          <a:noFill/>
        </p:spPr>
        <p:txBody>
          <a:bodyPr wrap="square" rtlCol="0">
            <a:spAutoFit/>
          </a:bodyPr>
          <a:lstStyle/>
          <a:p>
            <a:pPr algn="dist"/>
            <a:r>
              <a:rPr lang="en-US" altLang="zh-CN" sz="2800" dirty="0">
                <a:solidFill>
                  <a:schemeClr val="bg1"/>
                </a:solidFill>
                <a:latin typeface="+mj-ea"/>
                <a:ea typeface="+mj-ea"/>
              </a:rPr>
              <a:t>CONTENT</a:t>
            </a:r>
            <a:endParaRPr lang="zh-CN" altLang="en-US" sz="2800" dirty="0">
              <a:solidFill>
                <a:schemeClr val="bg1"/>
              </a:solidFill>
              <a:latin typeface="+mj-ea"/>
              <a:ea typeface="+mj-ea"/>
            </a:endParaRPr>
          </a:p>
        </p:txBody>
      </p:sp>
      <p:pic>
        <p:nvPicPr>
          <p:cNvPr id="8" name="图片 7"/>
          <p:cNvPicPr>
            <a:picLocks noChangeAspect="1"/>
          </p:cNvPicPr>
          <p:nvPr userDrawn="1"/>
        </p:nvPicPr>
        <p:blipFill>
          <a:blip r:embed="rId2">
            <a:alphaModFix amt="10000"/>
            <a:lum bright="70000" contrast="-70000"/>
          </a:blip>
          <a:stretch>
            <a:fillRect/>
          </a:stretch>
        </p:blipFill>
        <p:spPr>
          <a:xfrm>
            <a:off x="727169" y="0"/>
            <a:ext cx="6856688" cy="6877093"/>
          </a:xfrm>
          <a:prstGeom prst="rect">
            <a:avLst/>
          </a:prstGeom>
        </p:spPr>
      </p:pic>
      <p:grpSp>
        <p:nvGrpSpPr>
          <p:cNvPr id="9" name="组合 8"/>
          <p:cNvGrpSpPr/>
          <p:nvPr userDrawn="1"/>
        </p:nvGrpSpPr>
        <p:grpSpPr>
          <a:xfrm>
            <a:off x="1622092" y="2409437"/>
            <a:ext cx="832516" cy="747374"/>
            <a:chOff x="1333501" y="5545626"/>
            <a:chExt cx="1409699" cy="747374"/>
          </a:xfrm>
        </p:grpSpPr>
        <p:cxnSp>
          <p:nvCxnSpPr>
            <p:cNvPr id="10" name="直接连接符 9"/>
            <p:cNvCxnSpPr/>
            <p:nvPr/>
          </p:nvCxnSpPr>
          <p:spPr>
            <a:xfrm>
              <a:off x="1333501" y="5545626"/>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333501" y="5919313"/>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333501" y="6293000"/>
              <a:ext cx="1409699"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nvSpPr>
        <p:spPr>
          <a:xfrm>
            <a:off x="930197" y="805954"/>
            <a:ext cx="2216307" cy="830997"/>
          </a:xfrm>
          <a:prstGeom prst="rect">
            <a:avLst/>
          </a:prstGeom>
        </p:spPr>
        <p:txBody>
          <a:bodyPr wrap="square">
            <a:spAutoFit/>
          </a:bodyPr>
          <a:lstStyle/>
          <a:p>
            <a:pPr algn="dist"/>
            <a:r>
              <a:rPr lang="zh-CN" altLang="en-US" sz="4800" b="1" dirty="0">
                <a:solidFill>
                  <a:schemeClr val="bg1"/>
                </a:solidFill>
                <a:latin typeface="+mj-ea"/>
              </a:rPr>
              <a:t>目录</a:t>
            </a:r>
            <a:endParaRPr lang="en-US" altLang="zh-CN" sz="4800" b="1" dirty="0">
              <a:solidFill>
                <a:schemeClr val="bg1"/>
              </a:solidFill>
              <a:latin typeface="+mj-ea"/>
            </a:endParaRPr>
          </a:p>
        </p:txBody>
      </p:sp>
      <p:sp>
        <p:nvSpPr>
          <p:cNvPr id="56" name="文本框 55"/>
          <p:cNvSpPr txBox="1"/>
          <p:nvPr/>
        </p:nvSpPr>
        <p:spPr>
          <a:xfrm>
            <a:off x="4854041" y="1303230"/>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01</a:t>
            </a:r>
            <a:endParaRPr lang="zh-CN" altLang="en-US" sz="7200" b="0" dirty="0">
              <a:solidFill>
                <a:srgbClr val="CECECE"/>
              </a:solidFill>
              <a:latin typeface="+mn-lt"/>
              <a:ea typeface="+mj-ea"/>
            </a:endParaRPr>
          </a:p>
        </p:txBody>
      </p:sp>
      <p:sp>
        <p:nvSpPr>
          <p:cNvPr id="71" name="文本框 70"/>
          <p:cNvSpPr txBox="1"/>
          <p:nvPr userDrawn="1"/>
        </p:nvSpPr>
        <p:spPr>
          <a:xfrm>
            <a:off x="0" y="5314097"/>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含弘光大</a:t>
            </a:r>
            <a:endParaRPr lang="zh-CN" altLang="en-US" sz="3600" b="1" dirty="0">
              <a:solidFill>
                <a:schemeClr val="bg1">
                  <a:alpha val="33000"/>
                </a:schemeClr>
              </a:solidFill>
            </a:endParaRPr>
          </a:p>
        </p:txBody>
      </p:sp>
      <p:sp>
        <p:nvSpPr>
          <p:cNvPr id="72" name="文本框 71"/>
          <p:cNvSpPr txBox="1"/>
          <p:nvPr userDrawn="1"/>
        </p:nvSpPr>
        <p:spPr>
          <a:xfrm>
            <a:off x="0" y="5997981"/>
            <a:ext cx="4076700" cy="646331"/>
          </a:xfrm>
          <a:prstGeom prst="rect">
            <a:avLst/>
          </a:prstGeom>
          <a:noFill/>
        </p:spPr>
        <p:txBody>
          <a:bodyPr wrap="square" rtlCol="0">
            <a:spAutoFit/>
          </a:bodyPr>
          <a:lstStyle/>
          <a:p>
            <a:pPr algn="ctr"/>
            <a:r>
              <a:rPr lang="zh-CN" altLang="en-US" sz="3600" b="1" dirty="0">
                <a:solidFill>
                  <a:schemeClr val="bg1">
                    <a:alpha val="33000"/>
                  </a:schemeClr>
                </a:solidFill>
              </a:rPr>
              <a:t>继往开来</a:t>
            </a:r>
            <a:endParaRPr lang="zh-CN" altLang="en-US" sz="3600" b="1" dirty="0">
              <a:solidFill>
                <a:schemeClr val="bg1">
                  <a:alpha val="33000"/>
                </a:schemeClr>
              </a:solidFill>
            </a:endParaRPr>
          </a:p>
        </p:txBody>
      </p:sp>
      <p:sp>
        <p:nvSpPr>
          <p:cNvPr id="74" name="文本占位符 52"/>
          <p:cNvSpPr>
            <a:spLocks noGrp="1"/>
          </p:cNvSpPr>
          <p:nvPr>
            <p:ph type="body" sz="quarter" idx="10" hasCustomPrompt="1"/>
          </p:nvPr>
        </p:nvSpPr>
        <p:spPr>
          <a:xfrm>
            <a:off x="6048043" y="1997974"/>
            <a:ext cx="3109449"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4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86" name="文本占位符 85"/>
          <p:cNvSpPr>
            <a:spLocks noGrp="1"/>
          </p:cNvSpPr>
          <p:nvPr>
            <p:ph type="body" sz="quarter" idx="13" hasCustomPrompt="1"/>
          </p:nvPr>
        </p:nvSpPr>
        <p:spPr>
          <a:xfrm>
            <a:off x="6038561" y="1546317"/>
            <a:ext cx="2203049" cy="449148"/>
          </a:xfrm>
        </p:spPr>
        <p:txBody>
          <a:bodyPr>
            <a:noAutofit/>
          </a:bodyPr>
          <a:lstStyle>
            <a:lvl1pPr marL="0" indent="0" algn="dist" defTabSz="914400" rtl="0" eaLnBrk="1" latinLnBrk="0" hangingPunct="1">
              <a:lnSpc>
                <a:spcPct val="90000"/>
              </a:lnSpc>
              <a:spcBef>
                <a:spcPct val="0"/>
              </a:spcBef>
              <a:buNone/>
              <a:defRPr lang="zh-CN" altLang="en-US" sz="32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65" name="文本框 64"/>
          <p:cNvSpPr txBox="1"/>
          <p:nvPr userDrawn="1"/>
        </p:nvSpPr>
        <p:spPr>
          <a:xfrm>
            <a:off x="4854041" y="3261932"/>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03</a:t>
            </a:r>
            <a:endParaRPr lang="zh-CN" altLang="en-US" sz="7200" b="0" dirty="0">
              <a:solidFill>
                <a:srgbClr val="CECECE"/>
              </a:solidFill>
              <a:latin typeface="+mn-lt"/>
              <a:ea typeface="+mj-ea"/>
            </a:endParaRPr>
          </a:p>
        </p:txBody>
      </p:sp>
      <p:sp>
        <p:nvSpPr>
          <p:cNvPr id="66" name="文本占位符 52"/>
          <p:cNvSpPr>
            <a:spLocks noGrp="1"/>
          </p:cNvSpPr>
          <p:nvPr>
            <p:ph type="body" sz="quarter" idx="14" hasCustomPrompt="1"/>
          </p:nvPr>
        </p:nvSpPr>
        <p:spPr>
          <a:xfrm>
            <a:off x="6048043" y="3956676"/>
            <a:ext cx="3109449"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4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67" name="文本占位符 85"/>
          <p:cNvSpPr>
            <a:spLocks noGrp="1"/>
          </p:cNvSpPr>
          <p:nvPr>
            <p:ph type="body" sz="quarter" idx="15" hasCustomPrompt="1"/>
          </p:nvPr>
        </p:nvSpPr>
        <p:spPr>
          <a:xfrm>
            <a:off x="6038561" y="3505019"/>
            <a:ext cx="2203049" cy="449148"/>
          </a:xfrm>
        </p:spPr>
        <p:txBody>
          <a:bodyPr>
            <a:noAutofit/>
          </a:bodyPr>
          <a:lstStyle>
            <a:lvl1pPr marL="0" indent="0" algn="dist" defTabSz="914400" rtl="0" eaLnBrk="1" latinLnBrk="0" hangingPunct="1">
              <a:lnSpc>
                <a:spcPct val="90000"/>
              </a:lnSpc>
              <a:spcBef>
                <a:spcPct val="0"/>
              </a:spcBef>
              <a:buNone/>
              <a:defRPr lang="zh-CN" altLang="en-US" sz="32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68" name="文本框 67"/>
          <p:cNvSpPr txBox="1"/>
          <p:nvPr userDrawn="1"/>
        </p:nvSpPr>
        <p:spPr>
          <a:xfrm>
            <a:off x="4854041" y="5220634"/>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05</a:t>
            </a:r>
            <a:endParaRPr lang="zh-CN" altLang="en-US" sz="7200" b="0" dirty="0">
              <a:solidFill>
                <a:srgbClr val="CECECE"/>
              </a:solidFill>
              <a:latin typeface="+mn-lt"/>
              <a:ea typeface="+mj-ea"/>
            </a:endParaRPr>
          </a:p>
        </p:txBody>
      </p:sp>
      <p:sp>
        <p:nvSpPr>
          <p:cNvPr id="69" name="文本占位符 52"/>
          <p:cNvSpPr>
            <a:spLocks noGrp="1"/>
          </p:cNvSpPr>
          <p:nvPr>
            <p:ph type="body" sz="quarter" idx="16" hasCustomPrompt="1"/>
          </p:nvPr>
        </p:nvSpPr>
        <p:spPr>
          <a:xfrm>
            <a:off x="6048043" y="5915378"/>
            <a:ext cx="3109449"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4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70" name="文本占位符 85"/>
          <p:cNvSpPr>
            <a:spLocks noGrp="1"/>
          </p:cNvSpPr>
          <p:nvPr>
            <p:ph type="body" sz="quarter" idx="17" hasCustomPrompt="1"/>
          </p:nvPr>
        </p:nvSpPr>
        <p:spPr>
          <a:xfrm>
            <a:off x="6038561" y="5454196"/>
            <a:ext cx="2203049" cy="449148"/>
          </a:xfrm>
        </p:spPr>
        <p:txBody>
          <a:bodyPr>
            <a:noAutofit/>
          </a:bodyPr>
          <a:lstStyle>
            <a:lvl1pPr marL="0" indent="0" algn="dist" defTabSz="914400" rtl="0" eaLnBrk="1" latinLnBrk="0" hangingPunct="1">
              <a:lnSpc>
                <a:spcPct val="90000"/>
              </a:lnSpc>
              <a:spcBef>
                <a:spcPct val="0"/>
              </a:spcBef>
              <a:buNone/>
              <a:defRPr lang="zh-CN" altLang="en-US" sz="32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80" name="文本框 79"/>
          <p:cNvSpPr txBox="1"/>
          <p:nvPr userDrawn="1"/>
        </p:nvSpPr>
        <p:spPr>
          <a:xfrm>
            <a:off x="7047608" y="2282581"/>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02</a:t>
            </a:r>
            <a:endParaRPr lang="zh-CN" altLang="en-US" sz="7200" b="0" dirty="0">
              <a:solidFill>
                <a:srgbClr val="CECECE"/>
              </a:solidFill>
              <a:latin typeface="+mn-lt"/>
              <a:ea typeface="+mj-ea"/>
            </a:endParaRPr>
          </a:p>
        </p:txBody>
      </p:sp>
      <p:sp>
        <p:nvSpPr>
          <p:cNvPr id="81" name="文本占位符 52"/>
          <p:cNvSpPr>
            <a:spLocks noGrp="1"/>
          </p:cNvSpPr>
          <p:nvPr>
            <p:ph type="body" sz="quarter" idx="18" hasCustomPrompt="1"/>
          </p:nvPr>
        </p:nvSpPr>
        <p:spPr>
          <a:xfrm>
            <a:off x="8241610" y="2970228"/>
            <a:ext cx="3109449"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4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82" name="文本占位符 85"/>
          <p:cNvSpPr>
            <a:spLocks noGrp="1"/>
          </p:cNvSpPr>
          <p:nvPr>
            <p:ph type="body" sz="quarter" idx="19" hasCustomPrompt="1"/>
          </p:nvPr>
        </p:nvSpPr>
        <p:spPr>
          <a:xfrm>
            <a:off x="8232128" y="2509046"/>
            <a:ext cx="2203049" cy="449148"/>
          </a:xfrm>
        </p:spPr>
        <p:txBody>
          <a:bodyPr>
            <a:noAutofit/>
          </a:bodyPr>
          <a:lstStyle>
            <a:lvl1pPr marL="0" indent="0" algn="dist" defTabSz="914400" rtl="0" eaLnBrk="1" latinLnBrk="0" hangingPunct="1">
              <a:lnSpc>
                <a:spcPct val="90000"/>
              </a:lnSpc>
              <a:spcBef>
                <a:spcPct val="0"/>
              </a:spcBef>
              <a:buNone/>
              <a:defRPr lang="zh-CN" altLang="en-US" sz="32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83" name="文本框 82"/>
          <p:cNvSpPr txBox="1"/>
          <p:nvPr userDrawn="1"/>
        </p:nvSpPr>
        <p:spPr>
          <a:xfrm>
            <a:off x="7047608" y="4250808"/>
            <a:ext cx="1332543" cy="1200329"/>
          </a:xfrm>
          <a:prstGeom prst="rect">
            <a:avLst/>
          </a:prstGeom>
          <a:noFill/>
        </p:spPr>
        <p:txBody>
          <a:bodyPr wrap="square" rtlCol="0">
            <a:spAutoFit/>
          </a:bodyPr>
          <a:lstStyle/>
          <a:p>
            <a:r>
              <a:rPr lang="en-US" altLang="zh-CN" sz="7200" b="0" dirty="0">
                <a:solidFill>
                  <a:srgbClr val="CECECE"/>
                </a:solidFill>
                <a:latin typeface="+mn-lt"/>
                <a:ea typeface="+mj-ea"/>
              </a:rPr>
              <a:t>04</a:t>
            </a:r>
            <a:endParaRPr lang="zh-CN" altLang="en-US" sz="7200" b="0" dirty="0">
              <a:solidFill>
                <a:srgbClr val="CECECE"/>
              </a:solidFill>
              <a:latin typeface="+mn-lt"/>
              <a:ea typeface="+mj-ea"/>
            </a:endParaRPr>
          </a:p>
        </p:txBody>
      </p:sp>
      <p:sp>
        <p:nvSpPr>
          <p:cNvPr id="84" name="文本占位符 52"/>
          <p:cNvSpPr>
            <a:spLocks noGrp="1"/>
          </p:cNvSpPr>
          <p:nvPr>
            <p:ph type="body" sz="quarter" idx="20" hasCustomPrompt="1"/>
          </p:nvPr>
        </p:nvSpPr>
        <p:spPr>
          <a:xfrm>
            <a:off x="8241610" y="4949146"/>
            <a:ext cx="3109449"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4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85" name="文本占位符 85"/>
          <p:cNvSpPr>
            <a:spLocks noGrp="1"/>
          </p:cNvSpPr>
          <p:nvPr>
            <p:ph type="body" sz="quarter" idx="21" hasCustomPrompt="1"/>
          </p:nvPr>
        </p:nvSpPr>
        <p:spPr>
          <a:xfrm>
            <a:off x="8232128" y="4497489"/>
            <a:ext cx="2203049" cy="449148"/>
          </a:xfrm>
        </p:spPr>
        <p:txBody>
          <a:bodyPr>
            <a:noAutofit/>
          </a:bodyPr>
          <a:lstStyle>
            <a:lvl1pPr marL="0" indent="0" algn="dist" defTabSz="914400" rtl="0" eaLnBrk="1" latinLnBrk="0" hangingPunct="1">
              <a:lnSpc>
                <a:spcPct val="90000"/>
              </a:lnSpc>
              <a:spcBef>
                <a:spcPct val="0"/>
              </a:spcBef>
              <a:buNone/>
              <a:defRPr lang="zh-CN" altLang="en-US" sz="3200" b="1" kern="1200" dirty="0" smtClean="0">
                <a:solidFill>
                  <a:srgbClr val="1D2974"/>
                </a:solidFill>
                <a:latin typeface="+mj-ea"/>
                <a:ea typeface="+mj-ea"/>
                <a:cs typeface="+mn-cs"/>
              </a:defRPr>
            </a:lvl1pPr>
          </a:lstStyle>
          <a:p>
            <a:pPr lvl="0"/>
            <a:r>
              <a:rPr lang="zh-CN" altLang="en-US" dirty="0"/>
              <a:t>章节标题</a:t>
            </a:r>
            <a:endParaRPr lang="zh-CN" altLang="en-US" dirty="0"/>
          </a:p>
        </p:txBody>
      </p:sp>
      <p:pic>
        <p:nvPicPr>
          <p:cNvPr id="75" name="图片 7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32750" y="149150"/>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录页（6）">
    <p:spTree>
      <p:nvGrpSpPr>
        <p:cNvPr id="1" name=""/>
        <p:cNvGrpSpPr/>
        <p:nvPr/>
      </p:nvGrpSpPr>
      <p:grpSpPr>
        <a:xfrm>
          <a:off x="0" y="0"/>
          <a:ext cx="0" cy="0"/>
          <a:chOff x="0" y="0"/>
          <a:chExt cx="0" cy="0"/>
        </a:xfrm>
      </p:grpSpPr>
      <p:sp>
        <p:nvSpPr>
          <p:cNvPr id="16" name="矩形 15"/>
          <p:cNvSpPr/>
          <p:nvPr userDrawn="1"/>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片占位符 11"/>
          <p:cNvSpPr>
            <a:spLocks noGrp="1"/>
          </p:cNvSpPr>
          <p:nvPr>
            <p:ph type="pic" sz="quarter" idx="10"/>
          </p:nvPr>
        </p:nvSpPr>
        <p:spPr>
          <a:xfrm>
            <a:off x="0" y="0"/>
            <a:ext cx="12192000" cy="3429000"/>
          </a:xfrm>
        </p:spPr>
        <p:txBody>
          <a:bodyPr/>
          <a:lstStyle/>
          <a:p>
            <a:endParaRPr lang="zh-CN" altLang="en-US"/>
          </a:p>
        </p:txBody>
      </p:sp>
      <p:sp>
        <p:nvSpPr>
          <p:cNvPr id="10" name="文本框 9"/>
          <p:cNvSpPr txBox="1"/>
          <p:nvPr userDrawn="1"/>
        </p:nvSpPr>
        <p:spPr>
          <a:xfrm>
            <a:off x="431800" y="395605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01</a:t>
            </a:r>
            <a:endParaRPr lang="zh-CN" altLang="en-US" sz="5400" b="0" dirty="0">
              <a:solidFill>
                <a:srgbClr val="CECECE"/>
              </a:solidFill>
              <a:latin typeface="+mn-lt"/>
              <a:ea typeface="+mj-ea"/>
            </a:endParaRPr>
          </a:p>
        </p:txBody>
      </p:sp>
      <p:sp>
        <p:nvSpPr>
          <p:cNvPr id="11" name="文本占位符 52"/>
          <p:cNvSpPr>
            <a:spLocks noGrp="1"/>
          </p:cNvSpPr>
          <p:nvPr>
            <p:ph type="body" sz="quarter" idx="11" hasCustomPrompt="1"/>
          </p:nvPr>
        </p:nvSpPr>
        <p:spPr>
          <a:xfrm>
            <a:off x="1266825" y="449310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14" name="文本占位符 85"/>
          <p:cNvSpPr>
            <a:spLocks noGrp="1"/>
          </p:cNvSpPr>
          <p:nvPr>
            <p:ph type="body" sz="quarter" idx="13" hasCustomPrompt="1"/>
          </p:nvPr>
        </p:nvSpPr>
        <p:spPr>
          <a:xfrm>
            <a:off x="1266825" y="414198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15" name="文本框 14"/>
          <p:cNvSpPr txBox="1"/>
          <p:nvPr userDrawn="1"/>
        </p:nvSpPr>
        <p:spPr>
          <a:xfrm>
            <a:off x="4366483" y="395605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03</a:t>
            </a:r>
            <a:endParaRPr lang="zh-CN" altLang="en-US" sz="5400" b="0" dirty="0">
              <a:solidFill>
                <a:srgbClr val="CECECE"/>
              </a:solidFill>
              <a:latin typeface="+mn-lt"/>
              <a:ea typeface="+mj-ea"/>
            </a:endParaRPr>
          </a:p>
        </p:txBody>
      </p:sp>
      <p:sp>
        <p:nvSpPr>
          <p:cNvPr id="17" name="文本占位符 52"/>
          <p:cNvSpPr>
            <a:spLocks noGrp="1"/>
          </p:cNvSpPr>
          <p:nvPr>
            <p:ph type="body" sz="quarter" idx="14" hasCustomPrompt="1"/>
          </p:nvPr>
        </p:nvSpPr>
        <p:spPr>
          <a:xfrm>
            <a:off x="5201508" y="449310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19" name="文本占位符 85"/>
          <p:cNvSpPr>
            <a:spLocks noGrp="1"/>
          </p:cNvSpPr>
          <p:nvPr>
            <p:ph type="body" sz="quarter" idx="15" hasCustomPrompt="1"/>
          </p:nvPr>
        </p:nvSpPr>
        <p:spPr>
          <a:xfrm>
            <a:off x="5201508" y="414198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20" name="文本框 19"/>
          <p:cNvSpPr txBox="1"/>
          <p:nvPr userDrawn="1"/>
        </p:nvSpPr>
        <p:spPr>
          <a:xfrm>
            <a:off x="8301166" y="395605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05</a:t>
            </a:r>
            <a:endParaRPr lang="zh-CN" altLang="en-US" sz="5400" b="0" dirty="0">
              <a:solidFill>
                <a:srgbClr val="CECECE"/>
              </a:solidFill>
              <a:latin typeface="+mn-lt"/>
              <a:ea typeface="+mj-ea"/>
            </a:endParaRPr>
          </a:p>
        </p:txBody>
      </p:sp>
      <p:sp>
        <p:nvSpPr>
          <p:cNvPr id="21" name="文本占位符 52"/>
          <p:cNvSpPr>
            <a:spLocks noGrp="1"/>
          </p:cNvSpPr>
          <p:nvPr>
            <p:ph type="body" sz="quarter" idx="16" hasCustomPrompt="1"/>
          </p:nvPr>
        </p:nvSpPr>
        <p:spPr>
          <a:xfrm>
            <a:off x="9136191" y="449310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22" name="文本占位符 85"/>
          <p:cNvSpPr>
            <a:spLocks noGrp="1"/>
          </p:cNvSpPr>
          <p:nvPr>
            <p:ph type="body" sz="quarter" idx="17" hasCustomPrompt="1"/>
          </p:nvPr>
        </p:nvSpPr>
        <p:spPr>
          <a:xfrm>
            <a:off x="9136191" y="414198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23" name="文本框 22"/>
          <p:cNvSpPr txBox="1"/>
          <p:nvPr userDrawn="1"/>
        </p:nvSpPr>
        <p:spPr>
          <a:xfrm>
            <a:off x="431800" y="527050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02</a:t>
            </a:r>
            <a:endParaRPr lang="zh-CN" altLang="en-US" sz="5400" b="0" dirty="0">
              <a:solidFill>
                <a:srgbClr val="CECECE"/>
              </a:solidFill>
              <a:latin typeface="+mn-lt"/>
              <a:ea typeface="+mj-ea"/>
            </a:endParaRPr>
          </a:p>
        </p:txBody>
      </p:sp>
      <p:sp>
        <p:nvSpPr>
          <p:cNvPr id="24" name="文本占位符 52"/>
          <p:cNvSpPr>
            <a:spLocks noGrp="1"/>
          </p:cNvSpPr>
          <p:nvPr>
            <p:ph type="body" sz="quarter" idx="18" hasCustomPrompt="1"/>
          </p:nvPr>
        </p:nvSpPr>
        <p:spPr>
          <a:xfrm>
            <a:off x="1266825" y="580755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25" name="文本占位符 85"/>
          <p:cNvSpPr>
            <a:spLocks noGrp="1"/>
          </p:cNvSpPr>
          <p:nvPr>
            <p:ph type="body" sz="quarter" idx="19" hasCustomPrompt="1"/>
          </p:nvPr>
        </p:nvSpPr>
        <p:spPr>
          <a:xfrm>
            <a:off x="1266825" y="545643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26" name="文本框 25"/>
          <p:cNvSpPr txBox="1"/>
          <p:nvPr userDrawn="1"/>
        </p:nvSpPr>
        <p:spPr>
          <a:xfrm>
            <a:off x="4366483" y="527050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04</a:t>
            </a:r>
            <a:endParaRPr lang="zh-CN" altLang="en-US" sz="5400" b="0" dirty="0">
              <a:solidFill>
                <a:srgbClr val="CECECE"/>
              </a:solidFill>
              <a:latin typeface="+mn-lt"/>
              <a:ea typeface="+mj-ea"/>
            </a:endParaRPr>
          </a:p>
        </p:txBody>
      </p:sp>
      <p:sp>
        <p:nvSpPr>
          <p:cNvPr id="27" name="文本占位符 52"/>
          <p:cNvSpPr>
            <a:spLocks noGrp="1"/>
          </p:cNvSpPr>
          <p:nvPr>
            <p:ph type="body" sz="quarter" idx="20" hasCustomPrompt="1"/>
          </p:nvPr>
        </p:nvSpPr>
        <p:spPr>
          <a:xfrm>
            <a:off x="5201508" y="580755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28" name="文本占位符 85"/>
          <p:cNvSpPr>
            <a:spLocks noGrp="1"/>
          </p:cNvSpPr>
          <p:nvPr>
            <p:ph type="body" sz="quarter" idx="21" hasCustomPrompt="1"/>
          </p:nvPr>
        </p:nvSpPr>
        <p:spPr>
          <a:xfrm>
            <a:off x="5201508" y="545643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
        <p:nvSpPr>
          <p:cNvPr id="29" name="文本框 28"/>
          <p:cNvSpPr txBox="1"/>
          <p:nvPr userDrawn="1"/>
        </p:nvSpPr>
        <p:spPr>
          <a:xfrm>
            <a:off x="8301166" y="5270500"/>
            <a:ext cx="1332543" cy="923330"/>
          </a:xfrm>
          <a:prstGeom prst="rect">
            <a:avLst/>
          </a:prstGeom>
          <a:noFill/>
        </p:spPr>
        <p:txBody>
          <a:bodyPr wrap="square" rtlCol="0">
            <a:spAutoFit/>
          </a:bodyPr>
          <a:lstStyle/>
          <a:p>
            <a:r>
              <a:rPr lang="en-US" altLang="zh-CN" sz="5400" b="0" dirty="0">
                <a:solidFill>
                  <a:srgbClr val="CECECE"/>
                </a:solidFill>
                <a:latin typeface="+mn-lt"/>
                <a:ea typeface="+mj-ea"/>
              </a:rPr>
              <a:t>06</a:t>
            </a:r>
            <a:endParaRPr lang="zh-CN" altLang="en-US" sz="5400" b="0" dirty="0">
              <a:solidFill>
                <a:srgbClr val="CECECE"/>
              </a:solidFill>
              <a:latin typeface="+mn-lt"/>
              <a:ea typeface="+mj-ea"/>
            </a:endParaRPr>
          </a:p>
        </p:txBody>
      </p:sp>
      <p:sp>
        <p:nvSpPr>
          <p:cNvPr id="30" name="文本占位符 52"/>
          <p:cNvSpPr>
            <a:spLocks noGrp="1"/>
          </p:cNvSpPr>
          <p:nvPr>
            <p:ph type="body" sz="quarter" idx="22" hasCustomPrompt="1"/>
          </p:nvPr>
        </p:nvSpPr>
        <p:spPr>
          <a:xfrm>
            <a:off x="9136191" y="5807552"/>
            <a:ext cx="2708275"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1100" kern="1200" dirty="0" smtClean="0">
                <a:solidFill>
                  <a:schemeClr val="bg1">
                    <a:lumMod val="7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31" name="文本占位符 85"/>
          <p:cNvSpPr>
            <a:spLocks noGrp="1"/>
          </p:cNvSpPr>
          <p:nvPr>
            <p:ph type="body" sz="quarter" idx="23" hasCustomPrompt="1"/>
          </p:nvPr>
        </p:nvSpPr>
        <p:spPr>
          <a:xfrm>
            <a:off x="9136191" y="5456437"/>
            <a:ext cx="2264633" cy="449148"/>
          </a:xfrm>
        </p:spPr>
        <p:txBody>
          <a:bodyPr>
            <a:noAutofit/>
          </a:bodyPr>
          <a:lstStyle>
            <a:lvl1pPr marL="0" indent="0" algn="dist" defTabSz="914400" rtl="0" eaLnBrk="1" latinLnBrk="0" hangingPunct="1">
              <a:lnSpc>
                <a:spcPct val="90000"/>
              </a:lnSpc>
              <a:spcBef>
                <a:spcPct val="0"/>
              </a:spcBef>
              <a:buNone/>
              <a:defRPr lang="zh-CN" altLang="en-US" sz="2400" b="1" kern="1200" dirty="0" smtClean="0">
                <a:solidFill>
                  <a:srgbClr val="1D2974"/>
                </a:solidFill>
                <a:latin typeface="+mj-ea"/>
                <a:ea typeface="+mj-ea"/>
                <a:cs typeface="+mn-cs"/>
              </a:defRPr>
            </a:lvl1pPr>
          </a:lstStyle>
          <a:p>
            <a:pPr lvl="0"/>
            <a:r>
              <a:rPr lang="zh-CN" altLang="en-US" dirty="0"/>
              <a:t>章节标题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01</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02</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过渡页3">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03</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过渡页4">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04</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过渡页5">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05</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过渡页6">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6951" y="3135408"/>
            <a:ext cx="4054117" cy="1325563"/>
          </a:xfrm>
        </p:spPr>
        <p:txBody>
          <a:bodyPr/>
          <a:lstStyle>
            <a:lvl1pPr>
              <a:lnSpc>
                <a:spcPct val="100000"/>
              </a:lnSpc>
              <a:defRPr lang="zh-CN" altLang="en-US" sz="7200" b="1" kern="1200" dirty="0" smtClean="0">
                <a:solidFill>
                  <a:srgbClr val="1D2974"/>
                </a:solidFill>
                <a:latin typeface="+mj-ea"/>
                <a:ea typeface="+mj-ea"/>
                <a:cs typeface="+mn-cs"/>
              </a:defRPr>
            </a:lvl1pPr>
          </a:lstStyle>
          <a:p>
            <a:r>
              <a:rPr lang="zh-CN" altLang="en-US" dirty="0"/>
              <a:t>章节标题</a:t>
            </a:r>
            <a:endParaRPr lang="zh-CN" altLang="en-US" dirty="0"/>
          </a:p>
        </p:txBody>
      </p:sp>
      <p:sp>
        <p:nvSpPr>
          <p:cNvPr id="6" name="文本框 5"/>
          <p:cNvSpPr txBox="1"/>
          <p:nvPr userDrawn="1"/>
        </p:nvSpPr>
        <p:spPr>
          <a:xfrm>
            <a:off x="1267731" y="1462032"/>
            <a:ext cx="2553904" cy="2646878"/>
          </a:xfrm>
          <a:prstGeom prst="rect">
            <a:avLst/>
          </a:prstGeom>
          <a:noFill/>
        </p:spPr>
        <p:txBody>
          <a:bodyPr wrap="none" rtlCol="0">
            <a:spAutoFit/>
          </a:bodyPr>
          <a:lstStyle/>
          <a:p>
            <a:r>
              <a:rPr lang="en-US" altLang="zh-CN" sz="16600" b="1" dirty="0">
                <a:gradFill>
                  <a:gsLst>
                    <a:gs pos="0">
                      <a:srgbClr val="878787"/>
                    </a:gs>
                    <a:gs pos="84000">
                      <a:srgbClr val="BBBBBB">
                        <a:alpha val="0"/>
                      </a:srgbClr>
                    </a:gs>
                    <a:gs pos="100000">
                      <a:srgbClr val="CECECE">
                        <a:alpha val="30000"/>
                      </a:srgbClr>
                    </a:gs>
                  </a:gsLst>
                  <a:lin ang="5400000" scaled="1"/>
                </a:gradFill>
              </a:rPr>
              <a:t>06</a:t>
            </a:r>
            <a:endParaRPr lang="zh-CN" altLang="en-US" sz="16600" b="1" dirty="0">
              <a:gradFill>
                <a:gsLst>
                  <a:gs pos="0">
                    <a:srgbClr val="878787"/>
                  </a:gs>
                  <a:gs pos="84000">
                    <a:srgbClr val="BBBBBB">
                      <a:alpha val="0"/>
                    </a:srgbClr>
                  </a:gs>
                  <a:gs pos="100000">
                    <a:srgbClr val="CECECE">
                      <a:alpha val="30000"/>
                    </a:srgbClr>
                  </a:gs>
                </a:gsLst>
                <a:lin ang="5400000" scaled="1"/>
              </a:gradFill>
            </a:endParaRPr>
          </a:p>
        </p:txBody>
      </p:sp>
      <p:pic>
        <p:nvPicPr>
          <p:cNvPr id="49" name="图片 48"/>
          <p:cNvPicPr>
            <a:picLocks noChangeAspect="1"/>
          </p:cNvPicPr>
          <p:nvPr userDrawn="1"/>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p:cNvSpPr>
            <a:spLocks noGrp="1"/>
          </p:cNvSpPr>
          <p:nvPr>
            <p:ph type="body" sz="quarter" idx="10" hasCustomPrompt="1"/>
          </p:nvPr>
        </p:nvSpPr>
        <p:spPr>
          <a:xfrm>
            <a:off x="1484881" y="4483270"/>
            <a:ext cx="4662764" cy="386278"/>
          </a:xfrm>
        </p:spPr>
        <p:txBody>
          <a:bodyPr>
            <a:noAutofit/>
          </a:bodyPr>
          <a:lstStyle>
            <a:lvl1pPr marL="0" indent="0" algn="dist" defTabSz="914400" rtl="0" eaLnBrk="1" latinLnBrk="0" hangingPunct="1">
              <a:lnSpc>
                <a:spcPct val="100000"/>
              </a:lnSpc>
              <a:spcBef>
                <a:spcPts val="1000"/>
              </a:spcBef>
              <a:buFont typeface="Arial" panose="020B0604020202020204" pitchFamily="34" charset="0"/>
              <a:buNone/>
              <a:defRPr lang="zh-CN" altLang="en-US" sz="2000" kern="1200" dirty="0" smtClean="0">
                <a:solidFill>
                  <a:schemeClr val="bg1">
                    <a:lumMod val="65000"/>
                  </a:schemeClr>
                </a:solidFill>
                <a:latin typeface="+mn-lt"/>
                <a:ea typeface="+mn-ea"/>
                <a:cs typeface="+mn-cs"/>
              </a:defRPr>
            </a:lvl1pPr>
            <a:lvl2pPr marL="457200" indent="0">
              <a:buNone/>
              <a:defRPr/>
            </a:lvl2pPr>
          </a:lstStyle>
          <a:p>
            <a:pPr lvl="0"/>
            <a:r>
              <a:rPr lang="en-US" altLang="zh-CN" dirty="0"/>
              <a:t>PLEASE ENTER ENGLISH TITLE</a:t>
            </a:r>
            <a:endParaRPr lang="zh-CN" altLang="en-US" dirty="0"/>
          </a:p>
        </p:txBody>
      </p:sp>
      <p:sp>
        <p:nvSpPr>
          <p:cNvPr id="54" name="文本框 53"/>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accent1">
                    <a:lumMod val="40000"/>
                    <a:lumOff val="60000"/>
                  </a:schemeClr>
                </a:solidFill>
              </a:rPr>
              <a:t>含弘光大  继往开来 </a:t>
            </a:r>
            <a:r>
              <a:rPr lang="en-US" altLang="zh-CN" spc="300" dirty="0">
                <a:solidFill>
                  <a:schemeClr val="accent1">
                    <a:lumMod val="40000"/>
                    <a:lumOff val="60000"/>
                  </a:schemeClr>
                </a:solidFill>
              </a:rPr>
              <a:t>| www.swu.edu.cn</a:t>
            </a:r>
            <a:endParaRPr lang="zh-CN" altLang="en-US" spc="300" dirty="0">
              <a:solidFill>
                <a:schemeClr val="accent1">
                  <a:lumMod val="40000"/>
                  <a:lumOff val="60000"/>
                </a:schemeClr>
              </a:solidFill>
            </a:endParaRPr>
          </a:p>
        </p:txBody>
      </p:sp>
      <p:pic>
        <p:nvPicPr>
          <p:cNvPr id="50" name="图片 4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2446" y="310415"/>
            <a:ext cx="3101563" cy="13082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7" y="-42297"/>
            <a:ext cx="2918494" cy="1230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52" name="矩形 51"/>
          <p:cNvSpPr/>
          <p:nvPr userDrawn="1"/>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1060450" y="323240"/>
            <a:ext cx="7890690"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71892"/>
            <a:ext cx="2120900" cy="369332"/>
          </a:xfrm>
          <a:prstGeom prst="rect">
            <a:avLst/>
          </a:prstGeom>
          <a:noFill/>
        </p:spPr>
        <p:txBody>
          <a:bodyPr wrap="square" lIns="0" rtlCol="0">
            <a:normAutofit/>
          </a:bodyPr>
          <a:lstStyle/>
          <a:p>
            <a:r>
              <a:rPr lang="zh-CN" altLang="en-US" sz="1400" spc="300" dirty="0">
                <a:solidFill>
                  <a:schemeClr val="bg1"/>
                </a:solidFill>
              </a:rPr>
              <a:t>含弘光大  继往开来</a:t>
            </a:r>
            <a:endParaRPr lang="zh-CN" altLang="en-US" sz="1400" spc="300" dirty="0">
              <a:solidFill>
                <a:schemeClr val="bg1"/>
              </a:solidFill>
            </a:endParaRPr>
          </a:p>
        </p:txBody>
      </p:sp>
      <p:sp>
        <p:nvSpPr>
          <p:cNvPr id="51" name="文本框 50"/>
          <p:cNvSpPr txBox="1"/>
          <p:nvPr userDrawn="1"/>
        </p:nvSpPr>
        <p:spPr>
          <a:xfrm>
            <a:off x="9404350" y="6471892"/>
            <a:ext cx="2347413" cy="369332"/>
          </a:xfrm>
          <a:prstGeom prst="rect">
            <a:avLst/>
          </a:prstGeom>
          <a:noFill/>
        </p:spPr>
        <p:txBody>
          <a:bodyPr wrap="square" lIns="0" rIns="0" rtlCol="0">
            <a:normAutofit/>
          </a:bodyPr>
          <a:lstStyle/>
          <a:p>
            <a:pPr lvl="0" algn="r"/>
            <a:r>
              <a:rPr lang="en-US" altLang="zh-CN" sz="1400" spc="300" dirty="0">
                <a:solidFill>
                  <a:schemeClr val="bg1"/>
                </a:solidFill>
              </a:rPr>
              <a:t>www.swu.edu.cn</a:t>
            </a:r>
            <a:endParaRPr lang="zh-CN" altLang="en-US" sz="1400" spc="300" dirty="0">
              <a:solidFill>
                <a:schemeClr val="bg1"/>
              </a:solidFill>
            </a:endParaRPr>
          </a:p>
        </p:txBody>
      </p:sp>
      <p:grpSp>
        <p:nvGrpSpPr>
          <p:cNvPr id="53" name="组合 52"/>
          <p:cNvGrpSpPr/>
          <p:nvPr userDrawn="1"/>
        </p:nvGrpSpPr>
        <p:grpSpPr>
          <a:xfrm>
            <a:off x="540944" y="390295"/>
            <a:ext cx="421475" cy="346021"/>
            <a:chOff x="540944" y="369189"/>
            <a:chExt cx="421475" cy="346021"/>
          </a:xfrm>
        </p:grpSpPr>
        <p:sp>
          <p:nvSpPr>
            <p:cNvPr id="54" name="等腰三角形 53"/>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6" name="图片 5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02107" y="-42297"/>
            <a:ext cx="2990834" cy="126149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平行四边形 3"/>
          <p:cNvSpPr/>
          <p:nvPr userDrawn="1"/>
        </p:nvSpPr>
        <p:spPr>
          <a:xfrm>
            <a:off x="6084372" y="0"/>
            <a:ext cx="6006934" cy="6858002"/>
          </a:xfrm>
          <a:prstGeom prst="parallelogram">
            <a:avLst>
              <a:gd name="adj" fmla="val 4263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图片占位符 59"/>
          <p:cNvSpPr>
            <a:spLocks noGrp="1"/>
          </p:cNvSpPr>
          <p:nvPr>
            <p:ph type="pic" sz="quarter" idx="11"/>
          </p:nvPr>
        </p:nvSpPr>
        <p:spPr>
          <a:xfrm>
            <a:off x="6503268" y="0"/>
            <a:ext cx="6439734" cy="6857999"/>
          </a:xfrm>
          <a:custGeom>
            <a:avLst/>
            <a:gdLst>
              <a:gd name="connsiteX0" fmla="*/ 2588645 w 6850062"/>
              <a:gd name="connsiteY0" fmla="*/ 0 h 6858000"/>
              <a:gd name="connsiteX1" fmla="*/ 6850062 w 6850062"/>
              <a:gd name="connsiteY1" fmla="*/ 0 h 6858000"/>
              <a:gd name="connsiteX2" fmla="*/ 6850062 w 6850062"/>
              <a:gd name="connsiteY2" fmla="*/ 6858000 h 6858000"/>
              <a:gd name="connsiteX3" fmla="*/ 0 w 68500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50062" h="6858000">
                <a:moveTo>
                  <a:pt x="2588645" y="0"/>
                </a:moveTo>
                <a:lnTo>
                  <a:pt x="6850062" y="0"/>
                </a:lnTo>
                <a:lnTo>
                  <a:pt x="6850062" y="6858000"/>
                </a:lnTo>
                <a:lnTo>
                  <a:pt x="0" y="6858000"/>
                </a:lnTo>
                <a:close/>
              </a:path>
            </a:pathLst>
          </a:custGeom>
        </p:spPr>
        <p:txBody>
          <a:bodyPr wrap="square">
            <a:noAutofit/>
          </a:bodyPr>
          <a:lstStyle/>
          <a:p>
            <a:endParaRPr lang="zh-CN" altLang="en-US"/>
          </a:p>
        </p:txBody>
      </p:sp>
      <p:sp>
        <p:nvSpPr>
          <p:cNvPr id="2" name="标题 1"/>
          <p:cNvSpPr>
            <a:spLocks noGrp="1"/>
          </p:cNvSpPr>
          <p:nvPr>
            <p:ph type="title"/>
          </p:nvPr>
        </p:nvSpPr>
        <p:spPr>
          <a:xfrm>
            <a:off x="659738" y="2081075"/>
            <a:ext cx="6847664" cy="1880879"/>
          </a:xfrm>
        </p:spPr>
        <p:txBody>
          <a:bodyPr lIns="0" tIns="0" anchor="b"/>
          <a:lstStyle>
            <a:lvl1pPr>
              <a:lnSpc>
                <a:spcPct val="100000"/>
              </a:lnSpc>
              <a:defRPr sz="6000">
                <a:solidFill>
                  <a:schemeClr val="accent1"/>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661014" y="4734601"/>
            <a:ext cx="2357957" cy="354148"/>
          </a:xfrm>
        </p:spPr>
        <p:txBody>
          <a:bodyPr lIns="0"/>
          <a:lstStyle>
            <a:lvl1pPr marL="0" indent="0">
              <a:lnSpc>
                <a:spcPct val="100000"/>
              </a:lnSpc>
              <a:spcBef>
                <a:spcPts val="0"/>
              </a:spcBef>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答辩人：</a:t>
            </a:r>
            <a:r>
              <a:rPr lang="en-US" altLang="zh-CN" dirty="0"/>
              <a:t>XXXX </a:t>
            </a:r>
            <a:endParaRPr lang="zh-CN" altLang="en-US" dirty="0"/>
          </a:p>
        </p:txBody>
      </p:sp>
      <p:cxnSp>
        <p:nvCxnSpPr>
          <p:cNvPr id="51" name="直接连接符 50"/>
          <p:cNvCxnSpPr/>
          <p:nvPr userDrawn="1"/>
        </p:nvCxnSpPr>
        <p:spPr>
          <a:xfrm>
            <a:off x="660400" y="4342278"/>
            <a:ext cx="610016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userDrawn="1"/>
        </p:nvSpPr>
        <p:spPr>
          <a:xfrm>
            <a:off x="660400" y="6279802"/>
            <a:ext cx="5976576" cy="369332"/>
          </a:xfrm>
          <a:prstGeom prst="rect">
            <a:avLst/>
          </a:prstGeom>
          <a:noFill/>
        </p:spPr>
        <p:txBody>
          <a:bodyPr wrap="square" lIns="0" rtlCol="0">
            <a:normAutofit/>
          </a:bodyPr>
          <a:lstStyle/>
          <a:p>
            <a:r>
              <a:rPr lang="zh-CN" altLang="en-US" spc="300" dirty="0">
                <a:solidFill>
                  <a:schemeClr val="bg1">
                    <a:lumMod val="65000"/>
                  </a:schemeClr>
                </a:solidFill>
              </a:rPr>
              <a:t>含弘光大  继往开来 </a:t>
            </a:r>
            <a:r>
              <a:rPr lang="en-US" altLang="zh-CN" spc="300" dirty="0">
                <a:solidFill>
                  <a:schemeClr val="bg1">
                    <a:lumMod val="65000"/>
                  </a:schemeClr>
                </a:solidFill>
              </a:rPr>
              <a:t>| www.swu.edu.cn</a:t>
            </a:r>
            <a:endParaRPr lang="zh-CN" altLang="en-US" spc="300" dirty="0">
              <a:solidFill>
                <a:schemeClr val="bg1">
                  <a:lumMod val="65000"/>
                </a:schemeClr>
              </a:solidFill>
            </a:endParaRPr>
          </a:p>
        </p:txBody>
      </p:sp>
      <p:sp>
        <p:nvSpPr>
          <p:cNvPr id="56" name="文本占位符 2"/>
          <p:cNvSpPr>
            <a:spLocks noGrp="1"/>
          </p:cNvSpPr>
          <p:nvPr>
            <p:ph type="body" idx="10" hasCustomPrompt="1"/>
          </p:nvPr>
        </p:nvSpPr>
        <p:spPr>
          <a:xfrm>
            <a:off x="3498557" y="4734601"/>
            <a:ext cx="3700529" cy="354148"/>
          </a:xfrm>
        </p:spPr>
        <p:txBody>
          <a:bodyPr lIns="0"/>
          <a:lstStyle>
            <a:lvl1pPr marL="0" indent="0">
              <a:lnSpc>
                <a:spcPct val="100000"/>
              </a:lnSpc>
              <a:spcBef>
                <a:spcPts val="0"/>
              </a:spcBef>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指导老师：</a:t>
            </a:r>
            <a:r>
              <a:rPr lang="en-US" altLang="zh-CN" dirty="0"/>
              <a:t>XXXX </a:t>
            </a:r>
            <a:endParaRPr lang="zh-CN" altLang="en-US" dirty="0"/>
          </a:p>
        </p:txBody>
      </p:sp>
      <p:sp>
        <p:nvSpPr>
          <p:cNvPr id="53" name="文本框 52"/>
          <p:cNvSpPr txBox="1"/>
          <p:nvPr userDrawn="1"/>
        </p:nvSpPr>
        <p:spPr>
          <a:xfrm>
            <a:off x="7462625" y="1223403"/>
            <a:ext cx="4315572" cy="1015663"/>
          </a:xfrm>
          <a:prstGeom prst="rect">
            <a:avLst/>
          </a:prstGeom>
          <a:noFill/>
        </p:spPr>
        <p:txBody>
          <a:bodyPr wrap="square" rtlCol="0">
            <a:spAutoFit/>
          </a:bodyPr>
          <a:lstStyle/>
          <a:p>
            <a:pPr algn="r"/>
            <a:r>
              <a:rPr lang="zh-CN" altLang="en-US" sz="6000" b="1" dirty="0">
                <a:solidFill>
                  <a:schemeClr val="bg1">
                    <a:alpha val="33000"/>
                  </a:schemeClr>
                </a:solidFill>
              </a:rPr>
              <a:t>含弘光大</a:t>
            </a:r>
            <a:endParaRPr lang="zh-CN" altLang="en-US" sz="6000" b="1" dirty="0">
              <a:solidFill>
                <a:schemeClr val="bg1">
                  <a:alpha val="33000"/>
                </a:schemeClr>
              </a:solidFill>
            </a:endParaRPr>
          </a:p>
        </p:txBody>
      </p:sp>
      <p:sp>
        <p:nvSpPr>
          <p:cNvPr id="54" name="文本框 53"/>
          <p:cNvSpPr txBox="1"/>
          <p:nvPr userDrawn="1"/>
        </p:nvSpPr>
        <p:spPr>
          <a:xfrm>
            <a:off x="7233621" y="2283372"/>
            <a:ext cx="4315572" cy="1015663"/>
          </a:xfrm>
          <a:prstGeom prst="rect">
            <a:avLst/>
          </a:prstGeom>
          <a:noFill/>
        </p:spPr>
        <p:txBody>
          <a:bodyPr wrap="square" rtlCol="0">
            <a:spAutoFit/>
          </a:bodyPr>
          <a:lstStyle/>
          <a:p>
            <a:pPr algn="r"/>
            <a:r>
              <a:rPr lang="zh-CN" altLang="en-US" sz="6000" b="1" dirty="0">
                <a:solidFill>
                  <a:schemeClr val="bg1">
                    <a:alpha val="33000"/>
                  </a:schemeClr>
                </a:solidFill>
              </a:rPr>
              <a:t>继往开来</a:t>
            </a:r>
            <a:endParaRPr lang="zh-CN" altLang="en-US" sz="6000" b="1" dirty="0">
              <a:solidFill>
                <a:schemeClr val="bg1">
                  <a:alpha val="33000"/>
                </a:schemeClr>
              </a:solidFill>
            </a:endParaRPr>
          </a:p>
        </p:txBody>
      </p:sp>
      <p:pic>
        <p:nvPicPr>
          <p:cNvPr id="52" name="图片 5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0492" y="177347"/>
            <a:ext cx="3321771" cy="140108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结尾页2">
    <p:spTree>
      <p:nvGrpSpPr>
        <p:cNvPr id="1" name=""/>
        <p:cNvGrpSpPr/>
        <p:nvPr/>
      </p:nvGrpSpPr>
      <p:grpSpPr>
        <a:xfrm>
          <a:off x="0" y="0"/>
          <a:ext cx="0" cy="0"/>
          <a:chOff x="0" y="0"/>
          <a:chExt cx="0" cy="0"/>
        </a:xfrm>
      </p:grpSpPr>
      <p:sp>
        <p:nvSpPr>
          <p:cNvPr id="16" name="矩形 15"/>
          <p:cNvSpPr/>
          <p:nvPr userDrawn="1"/>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片占位符 11"/>
          <p:cNvSpPr>
            <a:spLocks noGrp="1"/>
          </p:cNvSpPr>
          <p:nvPr>
            <p:ph type="pic" sz="quarter" idx="10"/>
          </p:nvPr>
        </p:nvSpPr>
        <p:spPr>
          <a:xfrm>
            <a:off x="0" y="0"/>
            <a:ext cx="12192000" cy="3429000"/>
          </a:xfrm>
        </p:spPr>
        <p:txBody>
          <a:bodyPr/>
          <a:lstStyle/>
          <a:p>
            <a:endParaRPr lang="zh-CN" altLang="en-US"/>
          </a:p>
        </p:txBody>
      </p:sp>
      <p:sp>
        <p:nvSpPr>
          <p:cNvPr id="13" name="标题 1"/>
          <p:cNvSpPr>
            <a:spLocks noGrp="1"/>
          </p:cNvSpPr>
          <p:nvPr>
            <p:ph type="title"/>
          </p:nvPr>
        </p:nvSpPr>
        <p:spPr>
          <a:xfrm>
            <a:off x="659738" y="4394822"/>
            <a:ext cx="10859162" cy="933004"/>
          </a:xfrm>
        </p:spPr>
        <p:txBody>
          <a:bodyPr lIns="0" tIns="0" anchor="b"/>
          <a:lstStyle>
            <a:lvl1pPr algn="ctr">
              <a:lnSpc>
                <a:spcPct val="100000"/>
              </a:lnSpc>
              <a:defRPr sz="6000" b="1">
                <a:solidFill>
                  <a:schemeClr val="accent1"/>
                </a:solidFill>
              </a:defRPr>
            </a:lvl1pPr>
          </a:lstStyle>
          <a:p>
            <a:r>
              <a:rPr lang="zh-CN" altLang="en-US" dirty="0"/>
              <a:t>单击此处编辑母版标题样式</a:t>
            </a:r>
            <a:endParaRPr lang="zh-CN" altLang="en-US" dirty="0"/>
          </a:p>
        </p:txBody>
      </p:sp>
      <p:sp>
        <p:nvSpPr>
          <p:cNvPr id="14" name="文本占位符 2"/>
          <p:cNvSpPr>
            <a:spLocks noGrp="1"/>
          </p:cNvSpPr>
          <p:nvPr>
            <p:ph type="body" idx="1" hasCustomPrompt="1"/>
          </p:nvPr>
        </p:nvSpPr>
        <p:spPr>
          <a:xfrm>
            <a:off x="3060691" y="5850432"/>
            <a:ext cx="2357957"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答辩人：</a:t>
            </a:r>
            <a:r>
              <a:rPr lang="en-US" altLang="zh-CN" dirty="0"/>
              <a:t>XXXX </a:t>
            </a:r>
            <a:endParaRPr lang="zh-CN" altLang="en-US" dirty="0"/>
          </a:p>
        </p:txBody>
      </p:sp>
      <p:sp>
        <p:nvSpPr>
          <p:cNvPr id="15" name="文本占位符 2"/>
          <p:cNvSpPr>
            <a:spLocks noGrp="1"/>
          </p:cNvSpPr>
          <p:nvPr>
            <p:ph type="body" idx="11" hasCustomPrompt="1"/>
          </p:nvPr>
        </p:nvSpPr>
        <p:spPr>
          <a:xfrm>
            <a:off x="5898234" y="5850432"/>
            <a:ext cx="3700529"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指导老师：</a:t>
            </a:r>
            <a:r>
              <a:rPr lang="en-US" altLang="zh-CN" dirty="0"/>
              <a:t>XXXX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文版式1">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0" y="3822700"/>
            <a:ext cx="12192000" cy="2557463"/>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文版式2">
    <p:spTree>
      <p:nvGrpSpPr>
        <p:cNvPr id="1" name=""/>
        <p:cNvGrpSpPr/>
        <p:nvPr/>
      </p:nvGrpSpPr>
      <p:grpSpPr>
        <a:xfrm>
          <a:off x="0" y="0"/>
          <a:ext cx="0" cy="0"/>
          <a:chOff x="0" y="0"/>
          <a:chExt cx="0" cy="0"/>
        </a:xfrm>
      </p:grpSpPr>
      <p:sp>
        <p:nvSpPr>
          <p:cNvPr id="56" name="矩形 55"/>
          <p:cNvSpPr/>
          <p:nvPr userDrawn="1"/>
        </p:nvSpPr>
        <p:spPr>
          <a:xfrm>
            <a:off x="7696763" y="1794505"/>
            <a:ext cx="3822137" cy="402119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图片占位符 3"/>
          <p:cNvSpPr>
            <a:spLocks noGrp="1"/>
          </p:cNvSpPr>
          <p:nvPr>
            <p:ph type="pic" sz="quarter" idx="10"/>
          </p:nvPr>
        </p:nvSpPr>
        <p:spPr>
          <a:xfrm>
            <a:off x="7297663" y="1633538"/>
            <a:ext cx="4068005" cy="4017962"/>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6" y="25545"/>
            <a:ext cx="2689894" cy="113456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文版式3">
    <p:spTree>
      <p:nvGrpSpPr>
        <p:cNvPr id="1" name=""/>
        <p:cNvGrpSpPr/>
        <p:nvPr/>
      </p:nvGrpSpPr>
      <p:grpSpPr>
        <a:xfrm>
          <a:off x="0" y="0"/>
          <a:ext cx="0" cy="0"/>
          <a:chOff x="0" y="0"/>
          <a:chExt cx="0" cy="0"/>
        </a:xfrm>
      </p:grpSpPr>
      <p:sp>
        <p:nvSpPr>
          <p:cNvPr id="58" name="图片占位符 3"/>
          <p:cNvSpPr>
            <a:spLocks noGrp="1"/>
          </p:cNvSpPr>
          <p:nvPr>
            <p:ph type="pic" sz="quarter" idx="10"/>
          </p:nvPr>
        </p:nvSpPr>
        <p:spPr>
          <a:xfrm>
            <a:off x="0" y="1019546"/>
            <a:ext cx="12192000" cy="2557463"/>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文版式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2413001" y="1979613"/>
            <a:ext cx="2154238" cy="2152650"/>
          </a:xfrm>
        </p:spPr>
        <p:txBody>
          <a:bodyPr/>
          <a:lstStyle/>
          <a:p>
            <a:endParaRPr lang="zh-CN" altLang="en-US"/>
          </a:p>
        </p:txBody>
      </p:sp>
      <p:sp>
        <p:nvSpPr>
          <p:cNvPr id="62" name="图片占位符 3"/>
          <p:cNvSpPr>
            <a:spLocks noGrp="1"/>
          </p:cNvSpPr>
          <p:nvPr>
            <p:ph type="pic" sz="quarter" idx="11"/>
          </p:nvPr>
        </p:nvSpPr>
        <p:spPr>
          <a:xfrm>
            <a:off x="4734468" y="1436861"/>
            <a:ext cx="2154238" cy="2152650"/>
          </a:xfrm>
        </p:spPr>
        <p:txBody>
          <a:bodyPr/>
          <a:lstStyle/>
          <a:p>
            <a:endParaRPr lang="zh-CN" altLang="en-US"/>
          </a:p>
        </p:txBody>
      </p:sp>
      <p:sp>
        <p:nvSpPr>
          <p:cNvPr id="63" name="图片占位符 3"/>
          <p:cNvSpPr>
            <a:spLocks noGrp="1"/>
          </p:cNvSpPr>
          <p:nvPr>
            <p:ph type="pic" sz="quarter" idx="12"/>
          </p:nvPr>
        </p:nvSpPr>
        <p:spPr>
          <a:xfrm>
            <a:off x="7053026" y="1731992"/>
            <a:ext cx="2154238" cy="2152650"/>
          </a:xfrm>
        </p:spPr>
        <p:txBody>
          <a:bodyPr/>
          <a:lstStyle/>
          <a:p>
            <a:endParaRPr lang="zh-CN" altLang="en-US"/>
          </a:p>
        </p:txBody>
      </p:sp>
      <p:sp>
        <p:nvSpPr>
          <p:cNvPr id="64" name="图片占位符 3"/>
          <p:cNvSpPr>
            <a:spLocks noGrp="1"/>
          </p:cNvSpPr>
          <p:nvPr>
            <p:ph type="pic" sz="quarter" idx="13"/>
          </p:nvPr>
        </p:nvSpPr>
        <p:spPr>
          <a:xfrm>
            <a:off x="9380675" y="2499141"/>
            <a:ext cx="2154238" cy="2152650"/>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6" name="图片 5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文版式5">
    <p:spTree>
      <p:nvGrpSpPr>
        <p:cNvPr id="1" name=""/>
        <p:cNvGrpSpPr/>
        <p:nvPr/>
      </p:nvGrpSpPr>
      <p:grpSpPr>
        <a:xfrm>
          <a:off x="0" y="0"/>
          <a:ext cx="0" cy="0"/>
          <a:chOff x="0" y="0"/>
          <a:chExt cx="0" cy="0"/>
        </a:xfrm>
      </p:grpSpPr>
      <p:sp>
        <p:nvSpPr>
          <p:cNvPr id="54" name="矩形 53"/>
          <p:cNvSpPr/>
          <p:nvPr userDrawn="1"/>
        </p:nvSpPr>
        <p:spPr>
          <a:xfrm>
            <a:off x="1365536" y="1468907"/>
            <a:ext cx="4100904" cy="43144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图片占位符 3"/>
          <p:cNvSpPr>
            <a:spLocks noGrp="1"/>
          </p:cNvSpPr>
          <p:nvPr>
            <p:ph type="pic" sz="quarter" idx="10"/>
          </p:nvPr>
        </p:nvSpPr>
        <p:spPr>
          <a:xfrm>
            <a:off x="962025" y="1296988"/>
            <a:ext cx="4365625" cy="4314825"/>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6" name="图片 5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多图展示8">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1135400" y="2151866"/>
            <a:ext cx="1340968" cy="1322405"/>
          </a:xfrm>
          <a:prstGeom prst="ellipse">
            <a:avLst/>
          </a:prstGeom>
        </p:spPr>
        <p:txBody>
          <a:bodyPr/>
          <a:lstStyle/>
          <a:p>
            <a:endParaRPr lang="zh-CN" altLang="en-US" dirty="0"/>
          </a:p>
        </p:txBody>
      </p:sp>
      <p:sp>
        <p:nvSpPr>
          <p:cNvPr id="64" name="图片占位符 3"/>
          <p:cNvSpPr>
            <a:spLocks noGrp="1"/>
          </p:cNvSpPr>
          <p:nvPr>
            <p:ph type="pic" sz="quarter" idx="11"/>
          </p:nvPr>
        </p:nvSpPr>
        <p:spPr>
          <a:xfrm>
            <a:off x="3998284" y="2151865"/>
            <a:ext cx="1340968" cy="1322405"/>
          </a:xfrm>
          <a:prstGeom prst="ellipse">
            <a:avLst/>
          </a:prstGeom>
        </p:spPr>
        <p:txBody>
          <a:bodyPr/>
          <a:lstStyle/>
          <a:p>
            <a:endParaRPr lang="zh-CN" altLang="en-US" dirty="0"/>
          </a:p>
        </p:txBody>
      </p:sp>
      <p:sp>
        <p:nvSpPr>
          <p:cNvPr id="52" name="矩形 51"/>
          <p:cNvSpPr/>
          <p:nvPr userDrawn="1"/>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1060450" y="323240"/>
            <a:ext cx="7890690"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71892"/>
            <a:ext cx="2120900" cy="369332"/>
          </a:xfrm>
          <a:prstGeom prst="rect">
            <a:avLst/>
          </a:prstGeom>
          <a:noFill/>
        </p:spPr>
        <p:txBody>
          <a:bodyPr wrap="square" lIns="0" rtlCol="0">
            <a:normAutofit/>
          </a:bodyPr>
          <a:lstStyle/>
          <a:p>
            <a:r>
              <a:rPr lang="zh-CN" altLang="en-US" sz="1400" spc="300" dirty="0">
                <a:solidFill>
                  <a:schemeClr val="bg1"/>
                </a:solidFill>
              </a:rPr>
              <a:t>含弘光大  继往开来</a:t>
            </a:r>
            <a:endParaRPr lang="zh-CN" altLang="en-US" sz="1400" spc="300" dirty="0">
              <a:solidFill>
                <a:schemeClr val="bg1"/>
              </a:solidFill>
            </a:endParaRPr>
          </a:p>
        </p:txBody>
      </p:sp>
      <p:sp>
        <p:nvSpPr>
          <p:cNvPr id="51" name="文本框 50"/>
          <p:cNvSpPr txBox="1"/>
          <p:nvPr userDrawn="1"/>
        </p:nvSpPr>
        <p:spPr>
          <a:xfrm>
            <a:off x="9404350" y="6471892"/>
            <a:ext cx="2347413" cy="369332"/>
          </a:xfrm>
          <a:prstGeom prst="rect">
            <a:avLst/>
          </a:prstGeom>
          <a:noFill/>
        </p:spPr>
        <p:txBody>
          <a:bodyPr wrap="square" lIns="0" rIns="0" rtlCol="0">
            <a:normAutofit/>
          </a:bodyPr>
          <a:lstStyle/>
          <a:p>
            <a:pPr lvl="0" algn="r"/>
            <a:r>
              <a:rPr lang="en-US" altLang="zh-CN" sz="1400" spc="300" dirty="0">
                <a:solidFill>
                  <a:schemeClr val="bg1"/>
                </a:solidFill>
              </a:rPr>
              <a:t>www.swu.edu.cn</a:t>
            </a:r>
            <a:endParaRPr lang="zh-CN" altLang="en-US" sz="1400" spc="300" dirty="0">
              <a:solidFill>
                <a:schemeClr val="bg1"/>
              </a:solidFill>
            </a:endParaRPr>
          </a:p>
        </p:txBody>
      </p:sp>
      <p:grpSp>
        <p:nvGrpSpPr>
          <p:cNvPr id="53" name="组合 52"/>
          <p:cNvGrpSpPr/>
          <p:nvPr userDrawn="1"/>
        </p:nvGrpSpPr>
        <p:grpSpPr>
          <a:xfrm>
            <a:off x="540944" y="390295"/>
            <a:ext cx="421475" cy="346021"/>
            <a:chOff x="540944" y="369189"/>
            <a:chExt cx="421475" cy="346021"/>
          </a:xfrm>
        </p:grpSpPr>
        <p:sp>
          <p:nvSpPr>
            <p:cNvPr id="54" name="等腰三角形 53"/>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图片占位符 3"/>
          <p:cNvSpPr>
            <a:spLocks noGrp="1"/>
          </p:cNvSpPr>
          <p:nvPr>
            <p:ph type="pic" sz="quarter" idx="12"/>
          </p:nvPr>
        </p:nvSpPr>
        <p:spPr>
          <a:xfrm>
            <a:off x="6861168" y="2151865"/>
            <a:ext cx="1340968" cy="1322405"/>
          </a:xfrm>
          <a:prstGeom prst="ellipse">
            <a:avLst/>
          </a:prstGeom>
        </p:spPr>
        <p:txBody>
          <a:bodyPr/>
          <a:lstStyle/>
          <a:p>
            <a:endParaRPr lang="zh-CN" altLang="en-US" dirty="0"/>
          </a:p>
        </p:txBody>
      </p:sp>
      <p:sp>
        <p:nvSpPr>
          <p:cNvPr id="72" name="图片占位符 3"/>
          <p:cNvSpPr>
            <a:spLocks noGrp="1"/>
          </p:cNvSpPr>
          <p:nvPr>
            <p:ph type="pic" sz="quarter" idx="13"/>
          </p:nvPr>
        </p:nvSpPr>
        <p:spPr>
          <a:xfrm>
            <a:off x="9724052" y="2151865"/>
            <a:ext cx="1340968" cy="1322405"/>
          </a:xfrm>
          <a:prstGeom prst="ellipse">
            <a:avLst/>
          </a:prstGeom>
        </p:spPr>
        <p:txBody>
          <a:bodyPr/>
          <a:lstStyle/>
          <a:p>
            <a:endParaRPr lang="zh-CN" altLang="en-US" dirty="0"/>
          </a:p>
        </p:txBody>
      </p:sp>
      <p:sp>
        <p:nvSpPr>
          <p:cNvPr id="73" name="图片占位符 3"/>
          <p:cNvSpPr>
            <a:spLocks noGrp="1"/>
          </p:cNvSpPr>
          <p:nvPr>
            <p:ph type="pic" sz="quarter" idx="14"/>
          </p:nvPr>
        </p:nvSpPr>
        <p:spPr>
          <a:xfrm>
            <a:off x="1135400" y="4086132"/>
            <a:ext cx="1340968" cy="1322405"/>
          </a:xfrm>
          <a:prstGeom prst="ellipse">
            <a:avLst/>
          </a:prstGeom>
        </p:spPr>
        <p:txBody>
          <a:bodyPr/>
          <a:lstStyle/>
          <a:p>
            <a:endParaRPr lang="zh-CN" altLang="en-US" dirty="0"/>
          </a:p>
        </p:txBody>
      </p:sp>
      <p:sp>
        <p:nvSpPr>
          <p:cNvPr id="74" name="图片占位符 3"/>
          <p:cNvSpPr>
            <a:spLocks noGrp="1"/>
          </p:cNvSpPr>
          <p:nvPr>
            <p:ph type="pic" sz="quarter" idx="15"/>
          </p:nvPr>
        </p:nvSpPr>
        <p:spPr>
          <a:xfrm>
            <a:off x="3998284" y="4086131"/>
            <a:ext cx="1340968" cy="1322405"/>
          </a:xfrm>
          <a:prstGeom prst="ellipse">
            <a:avLst/>
          </a:prstGeom>
        </p:spPr>
        <p:txBody>
          <a:bodyPr/>
          <a:lstStyle/>
          <a:p>
            <a:endParaRPr lang="zh-CN" altLang="en-US" dirty="0"/>
          </a:p>
        </p:txBody>
      </p:sp>
      <p:sp>
        <p:nvSpPr>
          <p:cNvPr id="75" name="图片占位符 3"/>
          <p:cNvSpPr>
            <a:spLocks noGrp="1"/>
          </p:cNvSpPr>
          <p:nvPr>
            <p:ph type="pic" sz="quarter" idx="16"/>
          </p:nvPr>
        </p:nvSpPr>
        <p:spPr>
          <a:xfrm>
            <a:off x="6861168" y="4086131"/>
            <a:ext cx="1340968" cy="1322405"/>
          </a:xfrm>
          <a:prstGeom prst="ellipse">
            <a:avLst/>
          </a:prstGeom>
        </p:spPr>
        <p:txBody>
          <a:bodyPr/>
          <a:lstStyle/>
          <a:p>
            <a:endParaRPr lang="zh-CN" altLang="en-US" dirty="0"/>
          </a:p>
        </p:txBody>
      </p:sp>
      <p:sp>
        <p:nvSpPr>
          <p:cNvPr id="76" name="图片占位符 3"/>
          <p:cNvSpPr>
            <a:spLocks noGrp="1"/>
          </p:cNvSpPr>
          <p:nvPr>
            <p:ph type="pic" sz="quarter" idx="17"/>
          </p:nvPr>
        </p:nvSpPr>
        <p:spPr>
          <a:xfrm>
            <a:off x="9724052" y="4086131"/>
            <a:ext cx="1340968" cy="1322405"/>
          </a:xfrm>
          <a:prstGeom prst="ellipse">
            <a:avLst/>
          </a:prstGeom>
        </p:spPr>
        <p:txBody>
          <a:bodyPr/>
          <a:lstStyle/>
          <a:p>
            <a:endParaRPr lang="zh-CN" altLang="en-US" dirty="0"/>
          </a:p>
        </p:txBody>
      </p:sp>
      <p:pic>
        <p:nvPicPr>
          <p:cNvPr id="59" name="图片 5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多图展示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862702" y="2197506"/>
            <a:ext cx="1826962" cy="1801671"/>
          </a:xfrm>
          <a:prstGeom prst="ellipse">
            <a:avLst/>
          </a:prstGeom>
        </p:spPr>
        <p:txBody>
          <a:bodyPr/>
          <a:lstStyle/>
          <a:p>
            <a:endParaRPr lang="zh-CN" altLang="en-US" dirty="0"/>
          </a:p>
        </p:txBody>
      </p:sp>
      <p:sp>
        <p:nvSpPr>
          <p:cNvPr id="52" name="矩形 51"/>
          <p:cNvSpPr/>
          <p:nvPr userDrawn="1"/>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1060450" y="323240"/>
            <a:ext cx="7890690"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71892"/>
            <a:ext cx="2120900" cy="369332"/>
          </a:xfrm>
          <a:prstGeom prst="rect">
            <a:avLst/>
          </a:prstGeom>
          <a:noFill/>
        </p:spPr>
        <p:txBody>
          <a:bodyPr wrap="square" lIns="0" rtlCol="0">
            <a:normAutofit/>
          </a:bodyPr>
          <a:lstStyle/>
          <a:p>
            <a:r>
              <a:rPr lang="zh-CN" altLang="en-US" sz="1400" spc="300" dirty="0">
                <a:solidFill>
                  <a:schemeClr val="bg1"/>
                </a:solidFill>
              </a:rPr>
              <a:t>含弘光大  继往开来</a:t>
            </a:r>
            <a:endParaRPr lang="zh-CN" altLang="en-US" sz="1400" spc="300" dirty="0">
              <a:solidFill>
                <a:schemeClr val="bg1"/>
              </a:solidFill>
            </a:endParaRPr>
          </a:p>
        </p:txBody>
      </p:sp>
      <p:sp>
        <p:nvSpPr>
          <p:cNvPr id="51" name="文本框 50"/>
          <p:cNvSpPr txBox="1"/>
          <p:nvPr userDrawn="1"/>
        </p:nvSpPr>
        <p:spPr>
          <a:xfrm>
            <a:off x="9404350" y="6471892"/>
            <a:ext cx="2347413" cy="369332"/>
          </a:xfrm>
          <a:prstGeom prst="rect">
            <a:avLst/>
          </a:prstGeom>
          <a:noFill/>
        </p:spPr>
        <p:txBody>
          <a:bodyPr wrap="square" lIns="0" rIns="0" rtlCol="0">
            <a:normAutofit/>
          </a:bodyPr>
          <a:lstStyle/>
          <a:p>
            <a:pPr lvl="0" algn="r"/>
            <a:r>
              <a:rPr lang="en-US" altLang="zh-CN" sz="1400" spc="300" dirty="0">
                <a:solidFill>
                  <a:schemeClr val="bg1"/>
                </a:solidFill>
              </a:rPr>
              <a:t>www.swu.edu.cn</a:t>
            </a:r>
            <a:endParaRPr lang="zh-CN" altLang="en-US" sz="1400" spc="300" dirty="0">
              <a:solidFill>
                <a:schemeClr val="bg1"/>
              </a:solidFill>
            </a:endParaRPr>
          </a:p>
        </p:txBody>
      </p:sp>
      <p:grpSp>
        <p:nvGrpSpPr>
          <p:cNvPr id="53" name="组合 52"/>
          <p:cNvGrpSpPr/>
          <p:nvPr userDrawn="1"/>
        </p:nvGrpSpPr>
        <p:grpSpPr>
          <a:xfrm>
            <a:off x="540944" y="390295"/>
            <a:ext cx="421475" cy="346021"/>
            <a:chOff x="540944" y="369189"/>
            <a:chExt cx="421475" cy="346021"/>
          </a:xfrm>
        </p:grpSpPr>
        <p:sp>
          <p:nvSpPr>
            <p:cNvPr id="54" name="等腰三角形 53"/>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图片占位符 3"/>
          <p:cNvSpPr>
            <a:spLocks noGrp="1"/>
          </p:cNvSpPr>
          <p:nvPr>
            <p:ph type="pic" sz="quarter" idx="11"/>
          </p:nvPr>
        </p:nvSpPr>
        <p:spPr>
          <a:xfrm>
            <a:off x="3732280" y="2197506"/>
            <a:ext cx="1826962" cy="1801671"/>
          </a:xfrm>
          <a:prstGeom prst="ellipse">
            <a:avLst/>
          </a:prstGeom>
        </p:spPr>
        <p:txBody>
          <a:bodyPr/>
          <a:lstStyle/>
          <a:p>
            <a:endParaRPr lang="zh-CN" altLang="en-US" dirty="0"/>
          </a:p>
        </p:txBody>
      </p:sp>
      <p:sp>
        <p:nvSpPr>
          <p:cNvPr id="70" name="图片占位符 3"/>
          <p:cNvSpPr>
            <a:spLocks noGrp="1"/>
          </p:cNvSpPr>
          <p:nvPr>
            <p:ph type="pic" sz="quarter" idx="12"/>
          </p:nvPr>
        </p:nvSpPr>
        <p:spPr>
          <a:xfrm>
            <a:off x="6601858" y="2197506"/>
            <a:ext cx="1826962" cy="1801671"/>
          </a:xfrm>
          <a:prstGeom prst="ellipse">
            <a:avLst/>
          </a:prstGeom>
        </p:spPr>
        <p:txBody>
          <a:bodyPr/>
          <a:lstStyle/>
          <a:p>
            <a:endParaRPr lang="zh-CN" altLang="en-US" dirty="0"/>
          </a:p>
        </p:txBody>
      </p:sp>
      <p:sp>
        <p:nvSpPr>
          <p:cNvPr id="77" name="图片占位符 3"/>
          <p:cNvSpPr>
            <a:spLocks noGrp="1"/>
          </p:cNvSpPr>
          <p:nvPr>
            <p:ph type="pic" sz="quarter" idx="13"/>
          </p:nvPr>
        </p:nvSpPr>
        <p:spPr>
          <a:xfrm>
            <a:off x="9471435" y="2197506"/>
            <a:ext cx="1826962" cy="1801671"/>
          </a:xfrm>
          <a:prstGeom prst="ellipse">
            <a:avLst/>
          </a:prstGeom>
        </p:spPr>
        <p:txBody>
          <a:bodyPr/>
          <a:lstStyle/>
          <a:p>
            <a:endParaRPr lang="zh-CN" altLang="en-US" dirty="0"/>
          </a:p>
        </p:txBody>
      </p:sp>
      <p:pic>
        <p:nvPicPr>
          <p:cNvPr id="56" name="图片 5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多图展示3">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4403725" y="1765300"/>
            <a:ext cx="2228850" cy="3117323"/>
          </a:xfrm>
        </p:spPr>
        <p:txBody>
          <a:bodyPr/>
          <a:lstStyle/>
          <a:p>
            <a:endParaRPr lang="zh-CN" altLang="en-US"/>
          </a:p>
        </p:txBody>
      </p:sp>
      <p:sp>
        <p:nvSpPr>
          <p:cNvPr id="60" name="图片占位符 4"/>
          <p:cNvSpPr>
            <a:spLocks noGrp="1"/>
          </p:cNvSpPr>
          <p:nvPr>
            <p:ph type="pic" sz="quarter" idx="11"/>
          </p:nvPr>
        </p:nvSpPr>
        <p:spPr>
          <a:xfrm>
            <a:off x="6747667" y="1765300"/>
            <a:ext cx="2252813" cy="3117323"/>
          </a:xfrm>
        </p:spPr>
        <p:txBody>
          <a:bodyPr/>
          <a:lstStyle/>
          <a:p>
            <a:endParaRPr lang="zh-CN" altLang="en-US"/>
          </a:p>
        </p:txBody>
      </p:sp>
      <p:sp>
        <p:nvSpPr>
          <p:cNvPr id="61" name="图片占位符 4"/>
          <p:cNvSpPr>
            <a:spLocks noGrp="1"/>
          </p:cNvSpPr>
          <p:nvPr>
            <p:ph type="pic" sz="quarter" idx="12"/>
          </p:nvPr>
        </p:nvSpPr>
        <p:spPr>
          <a:xfrm>
            <a:off x="9115573" y="1765300"/>
            <a:ext cx="2252813" cy="3117323"/>
          </a:xfrm>
        </p:spPr>
        <p:txBody>
          <a:bodyPr/>
          <a:lstStyle/>
          <a:p>
            <a:endParaRPr lang="zh-CN" altLang="en-US"/>
          </a:p>
        </p:txBody>
      </p:sp>
      <p:sp>
        <p:nvSpPr>
          <p:cNvPr id="52" name="矩形 51"/>
          <p:cNvSpPr/>
          <p:nvPr userDrawn="1"/>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a:xfrm>
            <a:off x="1060450" y="323240"/>
            <a:ext cx="7890690"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71892"/>
            <a:ext cx="2120900" cy="369332"/>
          </a:xfrm>
          <a:prstGeom prst="rect">
            <a:avLst/>
          </a:prstGeom>
          <a:noFill/>
        </p:spPr>
        <p:txBody>
          <a:bodyPr wrap="square" lIns="0" rtlCol="0">
            <a:normAutofit/>
          </a:bodyPr>
          <a:lstStyle/>
          <a:p>
            <a:r>
              <a:rPr lang="zh-CN" altLang="en-US" sz="1400" spc="300" dirty="0">
                <a:solidFill>
                  <a:schemeClr val="bg1"/>
                </a:solidFill>
              </a:rPr>
              <a:t>含弘光大  继往开来</a:t>
            </a:r>
            <a:endParaRPr lang="zh-CN" altLang="en-US" sz="1400" spc="300" dirty="0">
              <a:solidFill>
                <a:schemeClr val="bg1"/>
              </a:solidFill>
            </a:endParaRPr>
          </a:p>
        </p:txBody>
      </p:sp>
      <p:sp>
        <p:nvSpPr>
          <p:cNvPr id="51" name="文本框 50"/>
          <p:cNvSpPr txBox="1"/>
          <p:nvPr userDrawn="1"/>
        </p:nvSpPr>
        <p:spPr>
          <a:xfrm>
            <a:off x="9404350" y="6471892"/>
            <a:ext cx="2347413" cy="369332"/>
          </a:xfrm>
          <a:prstGeom prst="rect">
            <a:avLst/>
          </a:prstGeom>
          <a:noFill/>
        </p:spPr>
        <p:txBody>
          <a:bodyPr wrap="square" lIns="0" rIns="0" rtlCol="0">
            <a:normAutofit/>
          </a:bodyPr>
          <a:lstStyle/>
          <a:p>
            <a:pPr lvl="0" algn="r"/>
            <a:r>
              <a:rPr lang="en-US" altLang="zh-CN" sz="1400" spc="300" dirty="0">
                <a:solidFill>
                  <a:schemeClr val="bg1"/>
                </a:solidFill>
              </a:rPr>
              <a:t>www.swu.edu.cn</a:t>
            </a:r>
            <a:endParaRPr lang="zh-CN" altLang="en-US" sz="1400" spc="300" dirty="0">
              <a:solidFill>
                <a:schemeClr val="bg1"/>
              </a:solidFill>
            </a:endParaRPr>
          </a:p>
        </p:txBody>
      </p:sp>
      <p:grpSp>
        <p:nvGrpSpPr>
          <p:cNvPr id="53" name="组合 52"/>
          <p:cNvGrpSpPr/>
          <p:nvPr userDrawn="1"/>
        </p:nvGrpSpPr>
        <p:grpSpPr>
          <a:xfrm>
            <a:off x="540944" y="390295"/>
            <a:ext cx="421475" cy="346021"/>
            <a:chOff x="540944" y="369189"/>
            <a:chExt cx="421475" cy="346021"/>
          </a:xfrm>
        </p:grpSpPr>
        <p:sp>
          <p:nvSpPr>
            <p:cNvPr id="54" name="等腰三角形 53"/>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6" name="图片 5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CKUP1">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62525" y="1276777"/>
            <a:ext cx="2260572" cy="4717620"/>
          </a:xfrm>
          <a:prstGeom prst="roundRect">
            <a:avLst>
              <a:gd name="adj" fmla="val 10617"/>
            </a:avLst>
          </a:prstGeom>
        </p:spPr>
        <p:txBody>
          <a:bodyPr/>
          <a:lstStyle/>
          <a:p>
            <a:endParaRPr lang="zh-CN" altLang="en-US" dirty="0"/>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CKUP2">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4004961" y="2119313"/>
            <a:ext cx="4241427" cy="2684462"/>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OCKUP3">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5715952" y="1751014"/>
            <a:ext cx="4975753" cy="2926640"/>
          </a:xfrm>
        </p:spPr>
        <p:txBody>
          <a:bodyPr/>
          <a:lstStyle/>
          <a:p>
            <a:endParaRPr lang="zh-CN" altLang="en-US"/>
          </a:p>
        </p:txBody>
      </p:sp>
      <p:sp>
        <p:nvSpPr>
          <p:cNvPr id="57" name="图片占位符 3"/>
          <p:cNvSpPr>
            <a:spLocks noGrp="1"/>
          </p:cNvSpPr>
          <p:nvPr>
            <p:ph type="pic" sz="quarter" idx="11"/>
          </p:nvPr>
        </p:nvSpPr>
        <p:spPr>
          <a:xfrm>
            <a:off x="9593580" y="3253729"/>
            <a:ext cx="1743260" cy="2371088"/>
          </a:xfrm>
        </p:spPr>
        <p:txBody>
          <a:bodyPr/>
          <a:lstStyle/>
          <a:p>
            <a:endParaRPr lang="zh-CN" altLang="en-US"/>
          </a:p>
        </p:txBody>
      </p:sp>
      <p:sp>
        <p:nvSpPr>
          <p:cNvPr id="2" name="标题 1"/>
          <p:cNvSpPr>
            <a:spLocks noGrp="1"/>
          </p:cNvSpPr>
          <p:nvPr>
            <p:ph type="title" hasCustomPrompt="1"/>
          </p:nvPr>
        </p:nvSpPr>
        <p:spPr>
          <a:xfrm>
            <a:off x="1057274" y="323240"/>
            <a:ext cx="7893865" cy="480131"/>
          </a:xfrm>
          <a:noFill/>
        </p:spPr>
        <p:txBody>
          <a:bodyPr wrap="square" lIns="0" rtlCol="0">
            <a:spAutoFit/>
          </a:bodyPr>
          <a:lstStyle>
            <a:lvl1pPr>
              <a:defRPr lang="zh-CN" altLang="en-US" sz="2800" b="1" dirty="0">
                <a:solidFill>
                  <a:srgbClr val="1D2974"/>
                </a:solidFill>
                <a:latin typeface="+mj-ea"/>
                <a:cs typeface="+mn-cs"/>
              </a:defRPr>
            </a:lvl1pPr>
          </a:lstStyle>
          <a:p>
            <a:r>
              <a:rPr lang="zh-CN" altLang="en-US" sz="2800" b="1" dirty="0">
                <a:solidFill>
                  <a:srgbClr val="1D2974"/>
                </a:solidFill>
                <a:latin typeface="+mj-ea"/>
                <a:ea typeface="+mj-ea"/>
              </a:rPr>
              <a:t>请输入你的标题或观点</a:t>
            </a:r>
            <a:endParaRPr lang="en-US" altLang="zh-CN" sz="2800" b="1" dirty="0">
              <a:solidFill>
                <a:srgbClr val="1D2974"/>
              </a:solidFill>
              <a:latin typeface="+mj-ea"/>
              <a:ea typeface="+mj-ea"/>
            </a:endParaRPr>
          </a:p>
        </p:txBody>
      </p:sp>
      <p:cxnSp>
        <p:nvCxnSpPr>
          <p:cNvPr id="7" name="直接连接符 6"/>
          <p:cNvCxnSpPr/>
          <p:nvPr userDrawn="1"/>
        </p:nvCxn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userDrawn="1"/>
        </p:nvSpPr>
        <p:spPr>
          <a:xfrm>
            <a:off x="495300" y="6426922"/>
            <a:ext cx="2120900" cy="369332"/>
          </a:xfrm>
          <a:prstGeom prst="rect">
            <a:avLst/>
          </a:prstGeom>
          <a:noFill/>
        </p:spPr>
        <p:txBody>
          <a:bodyPr wrap="square" lIns="0" rtlCol="0">
            <a:normAutofit/>
          </a:bodyPr>
          <a:lstStyle/>
          <a:p>
            <a:r>
              <a:rPr lang="zh-CN" altLang="en-US" sz="1400" spc="300" dirty="0">
                <a:solidFill>
                  <a:schemeClr val="accent1">
                    <a:lumMod val="60000"/>
                    <a:lumOff val="40000"/>
                  </a:schemeClr>
                </a:solidFill>
              </a:rPr>
              <a:t>含弘光大  继往开来</a:t>
            </a:r>
            <a:endParaRPr lang="zh-CN" altLang="en-US" sz="1400" spc="300" dirty="0">
              <a:solidFill>
                <a:schemeClr val="accent1">
                  <a:lumMod val="60000"/>
                  <a:lumOff val="40000"/>
                </a:schemeClr>
              </a:solidFill>
            </a:endParaRPr>
          </a:p>
        </p:txBody>
      </p:sp>
      <p:sp>
        <p:nvSpPr>
          <p:cNvPr id="51" name="文本框 50"/>
          <p:cNvSpPr txBox="1"/>
          <p:nvPr userDrawn="1"/>
        </p:nvSpPr>
        <p:spPr>
          <a:xfrm>
            <a:off x="9404350" y="6426922"/>
            <a:ext cx="2347413" cy="369332"/>
          </a:xfrm>
          <a:prstGeom prst="rect">
            <a:avLst/>
          </a:prstGeom>
          <a:noFill/>
        </p:spPr>
        <p:txBody>
          <a:bodyPr wrap="square" lIns="0" rIns="0" rtlCol="0">
            <a:normAutofit/>
          </a:bodyPr>
          <a:lstStyle/>
          <a:p>
            <a:pPr lvl="0" algn="r"/>
            <a:r>
              <a:rPr lang="en-US" altLang="zh-CN" sz="1400" spc="300" dirty="0">
                <a:solidFill>
                  <a:schemeClr val="accent1">
                    <a:lumMod val="60000"/>
                    <a:lumOff val="40000"/>
                  </a:schemeClr>
                </a:solidFill>
              </a:rPr>
              <a:t>www.swu.edu.cn</a:t>
            </a:r>
            <a:endParaRPr lang="zh-CN" altLang="en-US" sz="1400" spc="300" dirty="0">
              <a:solidFill>
                <a:schemeClr val="accent1">
                  <a:lumMod val="60000"/>
                  <a:lumOff val="40000"/>
                </a:schemeClr>
              </a:solidFill>
            </a:endParaRPr>
          </a:p>
        </p:txBody>
      </p:sp>
      <p:grpSp>
        <p:nvGrpSpPr>
          <p:cNvPr id="55" name="组合 54"/>
          <p:cNvGrpSpPr/>
          <p:nvPr userDrawn="1"/>
        </p:nvGrpSpPr>
        <p:grpSpPr>
          <a:xfrm>
            <a:off x="540944" y="390295"/>
            <a:ext cx="421475" cy="346021"/>
            <a:chOff x="540944" y="369189"/>
            <a:chExt cx="421475" cy="346021"/>
          </a:xfrm>
        </p:grpSpPr>
        <p:sp>
          <p:nvSpPr>
            <p:cNvPr id="52" name="等腰三角形 51"/>
            <p:cNvSpPr/>
            <p:nvPr userDrawn="1"/>
          </p:nvSpPr>
          <p:spPr>
            <a:xfrm rot="5400000">
              <a:off x="517080" y="393053"/>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userDrawn="1"/>
          </p:nvSpPr>
          <p:spPr>
            <a:xfrm rot="5400000">
              <a:off x="696063" y="418887"/>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4" name="图片 5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2105" y="1"/>
            <a:ext cx="2756569" cy="11626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5EE5F3-CFA0-43AC-95F1-F06D2333B3E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27D481-3F20-4588-8E0E-ADBEB6EB827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5EE5F3-CFA0-43AC-95F1-F06D2333B3E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27D481-3F20-4588-8E0E-ADBEB6EB827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5EE5F3-CFA0-43AC-95F1-F06D2333B3E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7D481-3F20-4588-8E0E-ADBEB6EB827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mc:AlternateContent xmlns:mc="http://schemas.openxmlformats.org/markup-compatibility/2006">
    <mc:Choice xmlns:p14="http://schemas.microsoft.com/office/powerpoint/2010/main" Requires="p14">
      <p:transition p14:dur="0" advTm="9555"/>
    </mc:Choice>
    <mc:Fallback>
      <p:transition advTm="9555"/>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microsoft.com/office/2007/relationships/hdphoto" Target="../media/image12.wdp"/><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5232" y="2607934"/>
            <a:ext cx="11242090" cy="1281422"/>
          </a:xfrm>
        </p:spPr>
        <p:txBody>
          <a:bodyPr>
            <a:noAutofit/>
          </a:bodyPr>
          <a:lstStyle/>
          <a:p>
            <a:pPr algn="ctr"/>
            <a:r>
              <a:rPr lang="zh-CN" altLang="zh-CN" sz="3600" b="1" dirty="0"/>
              <a:t>数字金融发展与城乡居民家庭金融资产</a:t>
            </a:r>
            <a:r>
              <a:rPr lang="zh-CN" altLang="en-US" sz="3600" b="1" dirty="0"/>
              <a:t>组合</a:t>
            </a:r>
            <a:r>
              <a:rPr lang="zh-CN" altLang="zh-CN" sz="3600" b="1" dirty="0"/>
              <a:t>有效性差</a:t>
            </a:r>
            <a:r>
              <a:rPr lang="zh-CN" altLang="en-US" sz="3600" b="1" dirty="0"/>
              <a:t>异</a:t>
            </a:r>
            <a:br>
              <a:rPr lang="zh-CN" altLang="zh-CN" sz="3600" dirty="0"/>
            </a:br>
            <a:r>
              <a:rPr lang="zh-CN" altLang="zh-CN" sz="3600" dirty="0"/>
              <a:t>——来自中国家庭金融调查（</a:t>
            </a:r>
            <a:r>
              <a:rPr lang="en-US" altLang="zh-CN" sz="3600" dirty="0"/>
              <a:t>CHFS2019</a:t>
            </a:r>
            <a:r>
              <a:rPr lang="zh-CN" altLang="zh-CN" sz="3600" dirty="0"/>
              <a:t>）的证据</a:t>
            </a:r>
            <a:endParaRPr lang="zh-CN" altLang="zh-CN" sz="3600" dirty="0"/>
          </a:p>
        </p:txBody>
      </p:sp>
      <p:sp>
        <p:nvSpPr>
          <p:cNvPr id="22" name="文本占位符 21"/>
          <p:cNvSpPr>
            <a:spLocks noGrp="1"/>
          </p:cNvSpPr>
          <p:nvPr>
            <p:ph type="body" idx="1"/>
          </p:nvPr>
        </p:nvSpPr>
        <p:spPr/>
        <p:txBody>
          <a:bodyPr>
            <a:normAutofit fontScale="65000" lnSpcReduction="20000"/>
          </a:bodyPr>
          <a:lstStyle/>
          <a:p>
            <a:r>
              <a:rPr lang="zh-CN" altLang="en-US" dirty="0"/>
              <a:t>汇报人：</a:t>
            </a:r>
            <a:r>
              <a:rPr lang="en-US" altLang="zh-CN" dirty="0"/>
              <a:t>xxx</a:t>
            </a:r>
            <a:endParaRPr lang="en-US" altLang="zh-CN" dirty="0"/>
          </a:p>
        </p:txBody>
      </p:sp>
      <p:sp>
        <p:nvSpPr>
          <p:cNvPr id="14" name="文本框 13"/>
          <p:cNvSpPr txBox="1"/>
          <p:nvPr/>
        </p:nvSpPr>
        <p:spPr>
          <a:xfrm>
            <a:off x="6095999" y="4788996"/>
            <a:ext cx="3561521" cy="830997"/>
          </a:xfrm>
          <a:prstGeom prst="rect">
            <a:avLst/>
          </a:prstGeom>
          <a:noFill/>
        </p:spPr>
        <p:txBody>
          <a:bodyPr wrap="square" rtlCol="0">
            <a:spAutoFit/>
          </a:bodyPr>
          <a:lstStyle/>
          <a:p>
            <a:pPr algn="r"/>
            <a:r>
              <a:rPr lang="zh-CN" altLang="en-US" sz="4800" b="1" dirty="0">
                <a:solidFill>
                  <a:schemeClr val="bg1">
                    <a:alpha val="33000"/>
                  </a:schemeClr>
                </a:solidFill>
              </a:rPr>
              <a:t>含弘光大</a:t>
            </a:r>
            <a:endParaRPr lang="zh-CN" altLang="en-US" sz="4800" b="1" dirty="0">
              <a:solidFill>
                <a:schemeClr val="bg1">
                  <a:alpha val="33000"/>
                </a:schemeClr>
              </a:solidFill>
            </a:endParaRPr>
          </a:p>
        </p:txBody>
      </p:sp>
      <p:sp>
        <p:nvSpPr>
          <p:cNvPr id="15" name="文本框 14"/>
          <p:cNvSpPr txBox="1"/>
          <p:nvPr/>
        </p:nvSpPr>
        <p:spPr>
          <a:xfrm>
            <a:off x="7876428" y="4774665"/>
            <a:ext cx="4315572" cy="830997"/>
          </a:xfrm>
          <a:prstGeom prst="rect">
            <a:avLst/>
          </a:prstGeom>
          <a:noFill/>
        </p:spPr>
        <p:txBody>
          <a:bodyPr wrap="square" rtlCol="0">
            <a:spAutoFit/>
          </a:bodyPr>
          <a:lstStyle/>
          <a:p>
            <a:pPr algn="r"/>
            <a:r>
              <a:rPr lang="zh-CN" altLang="en-US" sz="4800" b="1" dirty="0">
                <a:solidFill>
                  <a:schemeClr val="bg1">
                    <a:alpha val="33000"/>
                  </a:schemeClr>
                </a:solidFill>
              </a:rPr>
              <a:t>继往开来</a:t>
            </a:r>
            <a:endParaRPr lang="zh-CN" altLang="en-US" sz="4800" b="1" dirty="0">
              <a:solidFill>
                <a:schemeClr val="bg1">
                  <a:alpha val="33000"/>
                </a:schemeClr>
              </a:solidFill>
            </a:endParaRPr>
          </a:p>
        </p:txBody>
      </p:sp>
      <p:cxnSp>
        <p:nvCxnSpPr>
          <p:cNvPr id="5" name="直接连接符 4"/>
          <p:cNvCxnSpPr/>
          <p:nvPr/>
        </p:nvCxnSpPr>
        <p:spPr>
          <a:xfrm>
            <a:off x="661014" y="4342306"/>
            <a:ext cx="1109207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408214" y="391712"/>
            <a:ext cx="3680741" cy="6078536"/>
          </a:xfrm>
          <a:prstGeom prst="roundRect">
            <a:avLst>
              <a:gd name="adj" fmla="val 0"/>
            </a:avLst>
          </a:prstGeom>
          <a:solidFill>
            <a:schemeClr val="accent1"/>
          </a:solidFill>
          <a:ln>
            <a:noFill/>
          </a:ln>
          <a:effectLst>
            <a:outerShdw blurRad="254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63500" sx="102000" sy="102000" algn="ctr" rotWithShape="0">
                  <a:prstClr val="black">
                    <a:alpha val="40000"/>
                  </a:prstClr>
                </a:outerShdw>
              </a:effectLst>
            </a:endParaRPr>
          </a:p>
        </p:txBody>
      </p:sp>
      <p:cxnSp>
        <p:nvCxnSpPr>
          <p:cNvPr id="3" name="直接连接符 2"/>
          <p:cNvCxnSpPr/>
          <p:nvPr/>
        </p:nvCxnSpPr>
        <p:spPr>
          <a:xfrm>
            <a:off x="4252795" y="391711"/>
            <a:ext cx="0" cy="60785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593712" y="720231"/>
            <a:ext cx="1015663" cy="1921369"/>
          </a:xfrm>
          <a:prstGeom prst="rect">
            <a:avLst/>
          </a:prstGeom>
          <a:noFill/>
        </p:spPr>
        <p:txBody>
          <a:bodyPr vert="eaVert" wrap="square" rtlCol="0">
            <a:spAutoFit/>
          </a:bodyPr>
          <a:lstStyle/>
          <a:p>
            <a:pPr algn="dist"/>
            <a:r>
              <a:rPr lang="zh-CN" altLang="en-US" sz="5400" dirty="0">
                <a:solidFill>
                  <a:schemeClr val="bg1"/>
                </a:solidFill>
                <a:latin typeface="+mj-ea"/>
                <a:ea typeface="+mj-ea"/>
              </a:rPr>
              <a:t>目录</a:t>
            </a:r>
            <a:endParaRPr lang="zh-CN" altLang="en-US" sz="5400" dirty="0">
              <a:solidFill>
                <a:schemeClr val="bg1"/>
              </a:solidFill>
              <a:latin typeface="+mj-ea"/>
              <a:ea typeface="+mj-ea"/>
            </a:endParaRPr>
          </a:p>
        </p:txBody>
      </p:sp>
      <p:sp>
        <p:nvSpPr>
          <p:cNvPr id="6" name="等腰三角形 5"/>
          <p:cNvSpPr/>
          <p:nvPr/>
        </p:nvSpPr>
        <p:spPr>
          <a:xfrm rot="10800000">
            <a:off x="2964383" y="2868799"/>
            <a:ext cx="274320" cy="23648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5603364" y="361894"/>
            <a:ext cx="5456557" cy="1015663"/>
            <a:chOff x="1258900" y="2017885"/>
            <a:chExt cx="5456557" cy="1015663"/>
          </a:xfrm>
        </p:grpSpPr>
        <p:sp>
          <p:nvSpPr>
            <p:cNvPr id="8" name="文本框 7"/>
            <p:cNvSpPr txBox="1"/>
            <p:nvPr/>
          </p:nvSpPr>
          <p:spPr>
            <a:xfrm>
              <a:off x="1258900" y="2017885"/>
              <a:ext cx="1484975" cy="1015663"/>
            </a:xfrm>
            <a:prstGeom prst="rect">
              <a:avLst/>
            </a:prstGeom>
            <a:noFill/>
          </p:spPr>
          <p:txBody>
            <a:bodyPr wrap="square" rtlCol="0">
              <a:spAutoFit/>
            </a:bodyPr>
            <a:lstStyle/>
            <a:p>
              <a:pPr algn="ctr"/>
              <a:r>
                <a:rPr lang="en-US" altLang="zh-CN" sz="6000" dirty="0">
                  <a:solidFill>
                    <a:schemeClr val="accent1"/>
                  </a:solidFill>
                  <a:latin typeface="+mj-ea"/>
                  <a:ea typeface="+mj-ea"/>
                </a:rPr>
                <a:t>01</a:t>
              </a:r>
              <a:endParaRPr lang="zh-CN" altLang="en-US" sz="6000" dirty="0">
                <a:solidFill>
                  <a:schemeClr val="accent1"/>
                </a:solidFill>
                <a:latin typeface="+mj-ea"/>
                <a:ea typeface="+mj-ea"/>
              </a:endParaRPr>
            </a:p>
          </p:txBody>
        </p:sp>
        <p:sp>
          <p:nvSpPr>
            <p:cNvPr id="9" name="文本框 8"/>
            <p:cNvSpPr txBox="1"/>
            <p:nvPr/>
          </p:nvSpPr>
          <p:spPr>
            <a:xfrm>
              <a:off x="2276670" y="2233329"/>
              <a:ext cx="4438787" cy="584775"/>
            </a:xfrm>
            <a:prstGeom prst="rect">
              <a:avLst/>
            </a:prstGeom>
            <a:noFill/>
          </p:spPr>
          <p:txBody>
            <a:bodyPr wrap="square" rtlCol="0">
              <a:spAutoFit/>
            </a:bodyPr>
            <a:lstStyle/>
            <a:p>
              <a:r>
                <a:rPr lang="zh-CN" altLang="en-US" sz="3200" dirty="0">
                  <a:solidFill>
                    <a:schemeClr val="accent1"/>
                  </a:solidFill>
                  <a:latin typeface="+mj-ea"/>
                  <a:ea typeface="+mj-ea"/>
                </a:rPr>
                <a:t> 研究背景与问题提出</a:t>
              </a:r>
              <a:endParaRPr lang="zh-CN" altLang="en-US" sz="3200" dirty="0">
                <a:solidFill>
                  <a:schemeClr val="accent1"/>
                </a:solidFill>
                <a:latin typeface="+mj-ea"/>
                <a:ea typeface="+mj-ea"/>
              </a:endParaRPr>
            </a:p>
          </p:txBody>
        </p:sp>
      </p:grpSp>
      <p:grpSp>
        <p:nvGrpSpPr>
          <p:cNvPr id="11" name="组合 10"/>
          <p:cNvGrpSpPr/>
          <p:nvPr/>
        </p:nvGrpSpPr>
        <p:grpSpPr>
          <a:xfrm>
            <a:off x="5596188" y="1627613"/>
            <a:ext cx="5203577" cy="1015663"/>
            <a:chOff x="1258900" y="2017885"/>
            <a:chExt cx="5203577" cy="1015663"/>
          </a:xfrm>
        </p:grpSpPr>
        <p:sp>
          <p:nvSpPr>
            <p:cNvPr id="12" name="文本框 11"/>
            <p:cNvSpPr txBox="1"/>
            <p:nvPr/>
          </p:nvSpPr>
          <p:spPr>
            <a:xfrm>
              <a:off x="1258900" y="2017885"/>
              <a:ext cx="1484975" cy="1015663"/>
            </a:xfrm>
            <a:prstGeom prst="rect">
              <a:avLst/>
            </a:prstGeom>
            <a:noFill/>
          </p:spPr>
          <p:txBody>
            <a:bodyPr wrap="square" rtlCol="0">
              <a:spAutoFit/>
            </a:bodyPr>
            <a:lstStyle/>
            <a:p>
              <a:pPr algn="ctr"/>
              <a:r>
                <a:rPr lang="en-US" altLang="zh-CN" sz="6000" dirty="0">
                  <a:solidFill>
                    <a:schemeClr val="accent1"/>
                  </a:solidFill>
                  <a:latin typeface="+mj-ea"/>
                  <a:ea typeface="+mj-ea"/>
                </a:rPr>
                <a:t>02</a:t>
              </a:r>
              <a:endParaRPr lang="zh-CN" altLang="en-US" sz="6000" dirty="0">
                <a:solidFill>
                  <a:schemeClr val="accent1"/>
                </a:solidFill>
                <a:latin typeface="+mj-ea"/>
                <a:ea typeface="+mj-ea"/>
              </a:endParaRPr>
            </a:p>
          </p:txBody>
        </p:sp>
        <p:sp>
          <p:nvSpPr>
            <p:cNvPr id="13" name="文本框 12"/>
            <p:cNvSpPr txBox="1"/>
            <p:nvPr/>
          </p:nvSpPr>
          <p:spPr>
            <a:xfrm>
              <a:off x="2177280" y="2233329"/>
              <a:ext cx="4285197" cy="584775"/>
            </a:xfrm>
            <a:prstGeom prst="rect">
              <a:avLst/>
            </a:prstGeom>
            <a:noFill/>
          </p:spPr>
          <p:txBody>
            <a:bodyPr wrap="square" rtlCol="0">
              <a:spAutoFit/>
            </a:bodyPr>
            <a:lstStyle/>
            <a:p>
              <a:pPr algn="ctr"/>
              <a:r>
                <a:rPr lang="zh-CN" altLang="en-US" sz="3200" dirty="0">
                  <a:solidFill>
                    <a:schemeClr val="accent1"/>
                  </a:solidFill>
                  <a:latin typeface="+mj-ea"/>
                  <a:ea typeface="+mj-ea"/>
                </a:rPr>
                <a:t>理论分析与研究假说</a:t>
              </a:r>
              <a:endParaRPr lang="zh-CN" altLang="en-US" sz="3200" dirty="0">
                <a:solidFill>
                  <a:schemeClr val="accent1"/>
                </a:solidFill>
                <a:latin typeface="+mj-ea"/>
                <a:ea typeface="+mj-ea"/>
              </a:endParaRPr>
            </a:p>
          </p:txBody>
        </p:sp>
      </p:grpSp>
      <p:grpSp>
        <p:nvGrpSpPr>
          <p:cNvPr id="15" name="组合 14"/>
          <p:cNvGrpSpPr/>
          <p:nvPr/>
        </p:nvGrpSpPr>
        <p:grpSpPr>
          <a:xfrm>
            <a:off x="5596188" y="2893331"/>
            <a:ext cx="5595703" cy="1015663"/>
            <a:chOff x="1258900" y="2017885"/>
            <a:chExt cx="5595703" cy="1015663"/>
          </a:xfrm>
        </p:grpSpPr>
        <p:sp>
          <p:nvSpPr>
            <p:cNvPr id="16" name="文本框 15"/>
            <p:cNvSpPr txBox="1"/>
            <p:nvPr/>
          </p:nvSpPr>
          <p:spPr>
            <a:xfrm>
              <a:off x="1258900" y="2017885"/>
              <a:ext cx="1484975" cy="1015663"/>
            </a:xfrm>
            <a:prstGeom prst="rect">
              <a:avLst/>
            </a:prstGeom>
            <a:noFill/>
          </p:spPr>
          <p:txBody>
            <a:bodyPr wrap="square" rtlCol="0">
              <a:spAutoFit/>
            </a:bodyPr>
            <a:lstStyle/>
            <a:p>
              <a:pPr algn="ctr"/>
              <a:r>
                <a:rPr lang="en-US" altLang="zh-CN" sz="6000" dirty="0">
                  <a:solidFill>
                    <a:schemeClr val="accent1"/>
                  </a:solidFill>
                  <a:latin typeface="+mj-ea"/>
                  <a:ea typeface="+mj-ea"/>
                </a:rPr>
                <a:t>03</a:t>
              </a:r>
              <a:endParaRPr lang="zh-CN" altLang="en-US" sz="6000" dirty="0">
                <a:solidFill>
                  <a:schemeClr val="accent1"/>
                </a:solidFill>
                <a:latin typeface="+mj-ea"/>
                <a:ea typeface="+mj-ea"/>
              </a:endParaRPr>
            </a:p>
          </p:txBody>
        </p:sp>
        <p:sp>
          <p:nvSpPr>
            <p:cNvPr id="17" name="文本框 16"/>
            <p:cNvSpPr txBox="1"/>
            <p:nvPr/>
          </p:nvSpPr>
          <p:spPr>
            <a:xfrm>
              <a:off x="2415816" y="2233329"/>
              <a:ext cx="4438787" cy="584775"/>
            </a:xfrm>
            <a:prstGeom prst="rect">
              <a:avLst/>
            </a:prstGeom>
            <a:noFill/>
          </p:spPr>
          <p:txBody>
            <a:bodyPr wrap="square" rtlCol="0">
              <a:spAutoFit/>
            </a:bodyPr>
            <a:lstStyle/>
            <a:p>
              <a:r>
                <a:rPr lang="zh-CN" altLang="en-US" sz="3200" dirty="0">
                  <a:solidFill>
                    <a:schemeClr val="accent1"/>
                  </a:solidFill>
                  <a:latin typeface="+mj-ea"/>
                  <a:ea typeface="+mj-ea"/>
                </a:rPr>
                <a:t>数据选取与模型构建</a:t>
              </a:r>
              <a:endParaRPr lang="zh-CN" altLang="en-US" sz="3200" dirty="0">
                <a:solidFill>
                  <a:schemeClr val="accent1"/>
                </a:solidFill>
                <a:latin typeface="+mj-ea"/>
                <a:ea typeface="+mj-ea"/>
              </a:endParaRPr>
            </a:p>
          </p:txBody>
        </p:sp>
      </p:grpSp>
      <p:grpSp>
        <p:nvGrpSpPr>
          <p:cNvPr id="19" name="组合 18"/>
          <p:cNvGrpSpPr/>
          <p:nvPr/>
        </p:nvGrpSpPr>
        <p:grpSpPr>
          <a:xfrm>
            <a:off x="5603364" y="4159050"/>
            <a:ext cx="4253029" cy="1015663"/>
            <a:chOff x="1258900" y="2017885"/>
            <a:chExt cx="4253029" cy="1015663"/>
          </a:xfrm>
        </p:grpSpPr>
        <p:sp>
          <p:nvSpPr>
            <p:cNvPr id="20" name="文本框 19"/>
            <p:cNvSpPr txBox="1"/>
            <p:nvPr/>
          </p:nvSpPr>
          <p:spPr>
            <a:xfrm>
              <a:off x="1258900" y="2017885"/>
              <a:ext cx="1484975" cy="1015663"/>
            </a:xfrm>
            <a:prstGeom prst="rect">
              <a:avLst/>
            </a:prstGeom>
            <a:noFill/>
          </p:spPr>
          <p:txBody>
            <a:bodyPr wrap="square" rtlCol="0">
              <a:spAutoFit/>
            </a:bodyPr>
            <a:lstStyle/>
            <a:p>
              <a:pPr algn="ctr"/>
              <a:r>
                <a:rPr lang="en-US" altLang="zh-CN" sz="6000" dirty="0">
                  <a:solidFill>
                    <a:schemeClr val="accent1"/>
                  </a:solidFill>
                  <a:latin typeface="+mj-ea"/>
                  <a:ea typeface="+mj-ea"/>
                </a:rPr>
                <a:t>04</a:t>
              </a:r>
              <a:endParaRPr lang="zh-CN" altLang="en-US" sz="6000" dirty="0">
                <a:solidFill>
                  <a:schemeClr val="accent1"/>
                </a:solidFill>
                <a:latin typeface="+mj-ea"/>
                <a:ea typeface="+mj-ea"/>
              </a:endParaRPr>
            </a:p>
          </p:txBody>
        </p:sp>
        <p:sp>
          <p:nvSpPr>
            <p:cNvPr id="21" name="文本框 20"/>
            <p:cNvSpPr txBox="1"/>
            <p:nvPr/>
          </p:nvSpPr>
          <p:spPr>
            <a:xfrm>
              <a:off x="2018256" y="2233329"/>
              <a:ext cx="3493673" cy="584775"/>
            </a:xfrm>
            <a:prstGeom prst="rect">
              <a:avLst/>
            </a:prstGeom>
            <a:noFill/>
          </p:spPr>
          <p:txBody>
            <a:bodyPr wrap="square" rtlCol="0">
              <a:spAutoFit/>
            </a:bodyPr>
            <a:lstStyle/>
            <a:p>
              <a:pPr algn="ctr"/>
              <a:r>
                <a:rPr lang="zh-CN" altLang="en-US" sz="3200" dirty="0">
                  <a:solidFill>
                    <a:schemeClr val="accent1"/>
                  </a:solidFill>
                  <a:latin typeface="+mj-ea"/>
                  <a:ea typeface="+mj-ea"/>
                </a:rPr>
                <a:t>实证结果分析</a:t>
              </a:r>
              <a:endParaRPr lang="zh-CN" altLang="en-US" sz="3200" dirty="0">
                <a:solidFill>
                  <a:schemeClr val="accent1"/>
                </a:solidFill>
                <a:latin typeface="+mj-ea"/>
                <a:ea typeface="+mj-ea"/>
              </a:endParaRPr>
            </a:p>
          </p:txBody>
        </p:sp>
      </p:grpSp>
      <p:grpSp>
        <p:nvGrpSpPr>
          <p:cNvPr id="31" name="组合 30"/>
          <p:cNvGrpSpPr/>
          <p:nvPr/>
        </p:nvGrpSpPr>
        <p:grpSpPr>
          <a:xfrm>
            <a:off x="7403511" y="336658"/>
            <a:ext cx="6256350" cy="6184684"/>
            <a:chOff x="4065588" y="1646238"/>
            <a:chExt cx="969963" cy="958850"/>
          </a:xfrm>
          <a:solidFill>
            <a:schemeClr val="accent1">
              <a:alpha val="5000"/>
            </a:schemeClr>
          </a:solidFill>
        </p:grpSpPr>
        <p:sp>
          <p:nvSpPr>
            <p:cNvPr id="32" name="Freeform 5"/>
            <p:cNvSpPr/>
            <p:nvPr/>
          </p:nvSpPr>
          <p:spPr bwMode="auto">
            <a:xfrm>
              <a:off x="4478338" y="1900238"/>
              <a:ext cx="134938" cy="63500"/>
            </a:xfrm>
            <a:custGeom>
              <a:avLst/>
              <a:gdLst>
                <a:gd name="T0" fmla="*/ 0 w 584"/>
                <a:gd name="T1" fmla="*/ 272 h 272"/>
                <a:gd name="T2" fmla="*/ 122 w 584"/>
                <a:gd name="T3" fmla="*/ 233 h 272"/>
                <a:gd name="T4" fmla="*/ 584 w 584"/>
                <a:gd name="T5" fmla="*/ 272 h 272"/>
                <a:gd name="T6" fmla="*/ 471 w 584"/>
                <a:gd name="T7" fmla="*/ 123 h 272"/>
                <a:gd name="T8" fmla="*/ 116 w 584"/>
                <a:gd name="T9" fmla="*/ 134 h 272"/>
                <a:gd name="T10" fmla="*/ 0 w 584"/>
                <a:gd name="T11" fmla="*/ 272 h 272"/>
              </a:gdLst>
              <a:ahLst/>
              <a:cxnLst>
                <a:cxn ang="0">
                  <a:pos x="T0" y="T1"/>
                </a:cxn>
                <a:cxn ang="0">
                  <a:pos x="T2" y="T3"/>
                </a:cxn>
                <a:cxn ang="0">
                  <a:pos x="T4" y="T5"/>
                </a:cxn>
                <a:cxn ang="0">
                  <a:pos x="T6" y="T7"/>
                </a:cxn>
                <a:cxn ang="0">
                  <a:pos x="T8" y="T9"/>
                </a:cxn>
                <a:cxn ang="0">
                  <a:pos x="T10" y="T11"/>
                </a:cxn>
              </a:cxnLst>
              <a:rect l="0" t="0" r="r" b="b"/>
              <a:pathLst>
                <a:path w="584" h="272">
                  <a:moveTo>
                    <a:pt x="0" y="272"/>
                  </a:moveTo>
                  <a:lnTo>
                    <a:pt x="122" y="233"/>
                  </a:lnTo>
                  <a:cubicBezTo>
                    <a:pt x="349" y="156"/>
                    <a:pt x="436" y="269"/>
                    <a:pt x="584" y="272"/>
                  </a:cubicBezTo>
                  <a:cubicBezTo>
                    <a:pt x="584" y="179"/>
                    <a:pt x="535" y="154"/>
                    <a:pt x="471" y="123"/>
                  </a:cubicBezTo>
                  <a:cubicBezTo>
                    <a:pt x="224" y="0"/>
                    <a:pt x="315" y="35"/>
                    <a:pt x="116" y="134"/>
                  </a:cubicBezTo>
                  <a:cubicBezTo>
                    <a:pt x="51" y="166"/>
                    <a:pt x="7" y="183"/>
                    <a:pt x="0" y="2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3" name="Freeform 6"/>
            <p:cNvSpPr/>
            <p:nvPr/>
          </p:nvSpPr>
          <p:spPr bwMode="auto">
            <a:xfrm>
              <a:off x="4413250" y="2001838"/>
              <a:ext cx="39688" cy="90488"/>
            </a:xfrm>
            <a:custGeom>
              <a:avLst/>
              <a:gdLst>
                <a:gd name="T0" fmla="*/ 0 w 169"/>
                <a:gd name="T1" fmla="*/ 389 h 389"/>
                <a:gd name="T2" fmla="*/ 76 w 169"/>
                <a:gd name="T3" fmla="*/ 330 h 389"/>
                <a:gd name="T4" fmla="*/ 169 w 169"/>
                <a:gd name="T5" fmla="*/ 279 h 389"/>
                <a:gd name="T6" fmla="*/ 169 w 169"/>
                <a:gd name="T7" fmla="*/ 0 h 389"/>
                <a:gd name="T8" fmla="*/ 34 w 169"/>
                <a:gd name="T9" fmla="*/ 145 h 389"/>
                <a:gd name="T10" fmla="*/ 0 w 169"/>
                <a:gd name="T11" fmla="*/ 389 h 389"/>
              </a:gdLst>
              <a:ahLst/>
              <a:cxnLst>
                <a:cxn ang="0">
                  <a:pos x="T0" y="T1"/>
                </a:cxn>
                <a:cxn ang="0">
                  <a:pos x="T2" y="T3"/>
                </a:cxn>
                <a:cxn ang="0">
                  <a:pos x="T4" y="T5"/>
                </a:cxn>
                <a:cxn ang="0">
                  <a:pos x="T6" y="T7"/>
                </a:cxn>
                <a:cxn ang="0">
                  <a:pos x="T8" y="T9"/>
                </a:cxn>
                <a:cxn ang="0">
                  <a:pos x="T10" y="T11"/>
                </a:cxn>
              </a:cxnLst>
              <a:rect l="0" t="0" r="r" b="b"/>
              <a:pathLst>
                <a:path w="169" h="389">
                  <a:moveTo>
                    <a:pt x="0" y="389"/>
                  </a:moveTo>
                  <a:cubicBezTo>
                    <a:pt x="36" y="380"/>
                    <a:pt x="47" y="348"/>
                    <a:pt x="76" y="330"/>
                  </a:cubicBezTo>
                  <a:cubicBezTo>
                    <a:pt x="107" y="311"/>
                    <a:pt x="137" y="301"/>
                    <a:pt x="169" y="279"/>
                  </a:cubicBezTo>
                  <a:lnTo>
                    <a:pt x="169" y="0"/>
                  </a:lnTo>
                  <a:cubicBezTo>
                    <a:pt x="103" y="5"/>
                    <a:pt x="54" y="92"/>
                    <a:pt x="34" y="145"/>
                  </a:cubicBezTo>
                  <a:cubicBezTo>
                    <a:pt x="9" y="216"/>
                    <a:pt x="0" y="294"/>
                    <a:pt x="0" y="3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4" name="Freeform 7"/>
            <p:cNvSpPr/>
            <p:nvPr/>
          </p:nvSpPr>
          <p:spPr bwMode="auto">
            <a:xfrm>
              <a:off x="4637088" y="2001838"/>
              <a:ext cx="41275" cy="88900"/>
            </a:xfrm>
            <a:custGeom>
              <a:avLst/>
              <a:gdLst>
                <a:gd name="T0" fmla="*/ 0 w 178"/>
                <a:gd name="T1" fmla="*/ 279 h 381"/>
                <a:gd name="T2" fmla="*/ 178 w 178"/>
                <a:gd name="T3" fmla="*/ 381 h 381"/>
                <a:gd name="T4" fmla="*/ 17 w 178"/>
                <a:gd name="T5" fmla="*/ 0 h 381"/>
                <a:gd name="T6" fmla="*/ 0 w 178"/>
                <a:gd name="T7" fmla="*/ 279 h 381"/>
              </a:gdLst>
              <a:ahLst/>
              <a:cxnLst>
                <a:cxn ang="0">
                  <a:pos x="T0" y="T1"/>
                </a:cxn>
                <a:cxn ang="0">
                  <a:pos x="T2" y="T3"/>
                </a:cxn>
                <a:cxn ang="0">
                  <a:pos x="T4" y="T5"/>
                </a:cxn>
                <a:cxn ang="0">
                  <a:pos x="T6" y="T7"/>
                </a:cxn>
              </a:cxnLst>
              <a:rect l="0" t="0" r="r" b="b"/>
              <a:pathLst>
                <a:path w="178" h="381">
                  <a:moveTo>
                    <a:pt x="0" y="279"/>
                  </a:moveTo>
                  <a:cubicBezTo>
                    <a:pt x="51" y="306"/>
                    <a:pt x="127" y="369"/>
                    <a:pt x="178" y="381"/>
                  </a:cubicBezTo>
                  <a:cubicBezTo>
                    <a:pt x="178" y="237"/>
                    <a:pt x="125" y="25"/>
                    <a:pt x="17" y="0"/>
                  </a:cubicBezTo>
                  <a:lnTo>
                    <a:pt x="0"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5" name="Freeform 8"/>
            <p:cNvSpPr/>
            <p:nvPr/>
          </p:nvSpPr>
          <p:spPr bwMode="auto">
            <a:xfrm>
              <a:off x="4557713" y="2289176"/>
              <a:ext cx="12700" cy="46038"/>
            </a:xfrm>
            <a:custGeom>
              <a:avLst/>
              <a:gdLst>
                <a:gd name="T0" fmla="*/ 0 w 54"/>
                <a:gd name="T1" fmla="*/ 192 h 192"/>
                <a:gd name="T2" fmla="*/ 47 w 54"/>
                <a:gd name="T3" fmla="*/ 116 h 192"/>
                <a:gd name="T4" fmla="*/ 53 w 54"/>
                <a:gd name="T5" fmla="*/ 0 h 192"/>
                <a:gd name="T6" fmla="*/ 2 w 54"/>
                <a:gd name="T7" fmla="*/ 22 h 192"/>
                <a:gd name="T8" fmla="*/ 0 w 54"/>
                <a:gd name="T9" fmla="*/ 192 h 192"/>
              </a:gdLst>
              <a:ahLst/>
              <a:cxnLst>
                <a:cxn ang="0">
                  <a:pos x="T0" y="T1"/>
                </a:cxn>
                <a:cxn ang="0">
                  <a:pos x="T2" y="T3"/>
                </a:cxn>
                <a:cxn ang="0">
                  <a:pos x="T4" y="T5"/>
                </a:cxn>
                <a:cxn ang="0">
                  <a:pos x="T6" y="T7"/>
                </a:cxn>
                <a:cxn ang="0">
                  <a:pos x="T8" y="T9"/>
                </a:cxn>
              </a:cxnLst>
              <a:rect l="0" t="0" r="r" b="b"/>
              <a:pathLst>
                <a:path w="54" h="192">
                  <a:moveTo>
                    <a:pt x="0" y="192"/>
                  </a:moveTo>
                  <a:cubicBezTo>
                    <a:pt x="37" y="174"/>
                    <a:pt x="40" y="164"/>
                    <a:pt x="47" y="116"/>
                  </a:cubicBezTo>
                  <a:cubicBezTo>
                    <a:pt x="53" y="75"/>
                    <a:pt x="54" y="46"/>
                    <a:pt x="53" y="0"/>
                  </a:cubicBezTo>
                  <a:lnTo>
                    <a:pt x="2" y="22"/>
                  </a:lnTo>
                  <a:lnTo>
                    <a:pt x="0"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6" name="Freeform 9"/>
            <p:cNvSpPr/>
            <p:nvPr/>
          </p:nvSpPr>
          <p:spPr bwMode="auto">
            <a:xfrm>
              <a:off x="4551363" y="2193926"/>
              <a:ext cx="20638" cy="17463"/>
            </a:xfrm>
            <a:custGeom>
              <a:avLst/>
              <a:gdLst>
                <a:gd name="T0" fmla="*/ 0 w 84"/>
                <a:gd name="T1" fmla="*/ 75 h 75"/>
                <a:gd name="T2" fmla="*/ 84 w 84"/>
                <a:gd name="T3" fmla="*/ 69 h 75"/>
                <a:gd name="T4" fmla="*/ 0 w 84"/>
                <a:gd name="T5" fmla="*/ 75 h 75"/>
              </a:gdLst>
              <a:ahLst/>
              <a:cxnLst>
                <a:cxn ang="0">
                  <a:pos x="T0" y="T1"/>
                </a:cxn>
                <a:cxn ang="0">
                  <a:pos x="T2" y="T3"/>
                </a:cxn>
                <a:cxn ang="0">
                  <a:pos x="T4" y="T5"/>
                </a:cxn>
              </a:cxnLst>
              <a:rect l="0" t="0" r="r" b="b"/>
              <a:pathLst>
                <a:path w="84" h="75">
                  <a:moveTo>
                    <a:pt x="0" y="75"/>
                  </a:moveTo>
                  <a:lnTo>
                    <a:pt x="84" y="69"/>
                  </a:lnTo>
                  <a:cubicBezTo>
                    <a:pt x="56" y="13"/>
                    <a:pt x="15" y="0"/>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7" name="Freeform 10"/>
            <p:cNvSpPr/>
            <p:nvPr/>
          </p:nvSpPr>
          <p:spPr bwMode="auto">
            <a:xfrm>
              <a:off x="4476750" y="1973263"/>
              <a:ext cx="146050" cy="93663"/>
            </a:xfrm>
            <a:custGeom>
              <a:avLst/>
              <a:gdLst>
                <a:gd name="T0" fmla="*/ 0 w 631"/>
                <a:gd name="T1" fmla="*/ 75 h 403"/>
                <a:gd name="T2" fmla="*/ 0 w 631"/>
                <a:gd name="T3" fmla="*/ 372 h 403"/>
                <a:gd name="T4" fmla="*/ 330 w 631"/>
                <a:gd name="T5" fmla="*/ 329 h 403"/>
                <a:gd name="T6" fmla="*/ 592 w 631"/>
                <a:gd name="T7" fmla="*/ 338 h 403"/>
                <a:gd name="T8" fmla="*/ 469 w 631"/>
                <a:gd name="T9" fmla="*/ 29 h 403"/>
                <a:gd name="T10" fmla="*/ 65 w 631"/>
                <a:gd name="T11" fmla="*/ 47 h 403"/>
                <a:gd name="T12" fmla="*/ 0 w 631"/>
                <a:gd name="T13" fmla="*/ 75 h 403"/>
              </a:gdLst>
              <a:ahLst/>
              <a:cxnLst>
                <a:cxn ang="0">
                  <a:pos x="T0" y="T1"/>
                </a:cxn>
                <a:cxn ang="0">
                  <a:pos x="T2" y="T3"/>
                </a:cxn>
                <a:cxn ang="0">
                  <a:pos x="T4" y="T5"/>
                </a:cxn>
                <a:cxn ang="0">
                  <a:pos x="T6" y="T7"/>
                </a:cxn>
                <a:cxn ang="0">
                  <a:pos x="T8" y="T9"/>
                </a:cxn>
                <a:cxn ang="0">
                  <a:pos x="T10" y="T11"/>
                </a:cxn>
                <a:cxn ang="0">
                  <a:pos x="T12" y="T13"/>
                </a:cxn>
              </a:cxnLst>
              <a:rect l="0" t="0" r="r" b="b"/>
              <a:pathLst>
                <a:path w="631" h="403">
                  <a:moveTo>
                    <a:pt x="0" y="75"/>
                  </a:moveTo>
                  <a:lnTo>
                    <a:pt x="0" y="372"/>
                  </a:lnTo>
                  <a:cubicBezTo>
                    <a:pt x="68" y="372"/>
                    <a:pt x="180" y="329"/>
                    <a:pt x="330" y="329"/>
                  </a:cubicBezTo>
                  <a:cubicBezTo>
                    <a:pt x="435" y="329"/>
                    <a:pt x="592" y="403"/>
                    <a:pt x="592" y="338"/>
                  </a:cubicBezTo>
                  <a:cubicBezTo>
                    <a:pt x="592" y="31"/>
                    <a:pt x="631" y="64"/>
                    <a:pt x="469" y="29"/>
                  </a:cubicBezTo>
                  <a:cubicBezTo>
                    <a:pt x="360" y="6"/>
                    <a:pt x="174" y="0"/>
                    <a:pt x="65" y="47"/>
                  </a:cubicBezTo>
                  <a:cubicBezTo>
                    <a:pt x="37" y="59"/>
                    <a:pt x="29" y="68"/>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8" name="Freeform 11"/>
            <p:cNvSpPr/>
            <p:nvPr/>
          </p:nvSpPr>
          <p:spPr bwMode="auto">
            <a:xfrm>
              <a:off x="4486275" y="2066926"/>
              <a:ext cx="120650" cy="60325"/>
            </a:xfrm>
            <a:custGeom>
              <a:avLst/>
              <a:gdLst>
                <a:gd name="T0" fmla="*/ 0 w 525"/>
                <a:gd name="T1" fmla="*/ 80 h 257"/>
                <a:gd name="T2" fmla="*/ 262 w 525"/>
                <a:gd name="T3" fmla="*/ 257 h 257"/>
                <a:gd name="T4" fmla="*/ 525 w 525"/>
                <a:gd name="T5" fmla="*/ 54 h 257"/>
                <a:gd name="T6" fmla="*/ 120 w 525"/>
                <a:gd name="T7" fmla="*/ 30 h 257"/>
                <a:gd name="T8" fmla="*/ 0 w 525"/>
                <a:gd name="T9" fmla="*/ 80 h 257"/>
              </a:gdLst>
              <a:ahLst/>
              <a:cxnLst>
                <a:cxn ang="0">
                  <a:pos x="T0" y="T1"/>
                </a:cxn>
                <a:cxn ang="0">
                  <a:pos x="T2" y="T3"/>
                </a:cxn>
                <a:cxn ang="0">
                  <a:pos x="T4" y="T5"/>
                </a:cxn>
                <a:cxn ang="0">
                  <a:pos x="T6" y="T7"/>
                </a:cxn>
                <a:cxn ang="0">
                  <a:pos x="T8" y="T9"/>
                </a:cxn>
              </a:cxnLst>
              <a:rect l="0" t="0" r="r" b="b"/>
              <a:pathLst>
                <a:path w="525" h="257">
                  <a:moveTo>
                    <a:pt x="0" y="80"/>
                  </a:moveTo>
                  <a:cubicBezTo>
                    <a:pt x="12" y="126"/>
                    <a:pt x="165" y="257"/>
                    <a:pt x="262" y="257"/>
                  </a:cubicBezTo>
                  <a:cubicBezTo>
                    <a:pt x="350" y="257"/>
                    <a:pt x="482" y="136"/>
                    <a:pt x="525" y="54"/>
                  </a:cubicBezTo>
                  <a:cubicBezTo>
                    <a:pt x="440" y="13"/>
                    <a:pt x="241" y="0"/>
                    <a:pt x="120" y="30"/>
                  </a:cubicBezTo>
                  <a:cubicBezTo>
                    <a:pt x="69" y="43"/>
                    <a:pt x="42" y="57"/>
                    <a:pt x="0"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9" name="Freeform 12"/>
            <p:cNvSpPr/>
            <p:nvPr/>
          </p:nvSpPr>
          <p:spPr bwMode="auto">
            <a:xfrm>
              <a:off x="4229100" y="1758951"/>
              <a:ext cx="622300" cy="609600"/>
            </a:xfrm>
            <a:custGeom>
              <a:avLst/>
              <a:gdLst>
                <a:gd name="T0" fmla="*/ 532 w 2683"/>
                <a:gd name="T1" fmla="*/ 2604 h 2604"/>
                <a:gd name="T2" fmla="*/ 693 w 2683"/>
                <a:gd name="T3" fmla="*/ 2071 h 2604"/>
                <a:gd name="T4" fmla="*/ 775 w 2683"/>
                <a:gd name="T5" fmla="*/ 1111 h 2604"/>
                <a:gd name="T6" fmla="*/ 945 w 2683"/>
                <a:gd name="T7" fmla="*/ 935 h 2604"/>
                <a:gd name="T8" fmla="*/ 1062 w 2683"/>
                <a:gd name="T9" fmla="*/ 704 h 2604"/>
                <a:gd name="T10" fmla="*/ 1320 w 2683"/>
                <a:gd name="T11" fmla="*/ 606 h 2604"/>
                <a:gd name="T12" fmla="*/ 1320 w 2683"/>
                <a:gd name="T13" fmla="*/ 589 h 2604"/>
                <a:gd name="T14" fmla="*/ 1131 w 2683"/>
                <a:gd name="T15" fmla="*/ 523 h 2604"/>
                <a:gd name="T16" fmla="*/ 1015 w 2683"/>
                <a:gd name="T17" fmla="*/ 344 h 2604"/>
                <a:gd name="T18" fmla="*/ 1286 w 2683"/>
                <a:gd name="T19" fmla="*/ 513 h 2604"/>
                <a:gd name="T20" fmla="*/ 1316 w 2683"/>
                <a:gd name="T21" fmla="*/ 408 h 2604"/>
                <a:gd name="T22" fmla="*/ 1320 w 2683"/>
                <a:gd name="T23" fmla="*/ 268 h 2604"/>
                <a:gd name="T24" fmla="*/ 1362 w 2683"/>
                <a:gd name="T25" fmla="*/ 259 h 2604"/>
                <a:gd name="T26" fmla="*/ 1413 w 2683"/>
                <a:gd name="T27" fmla="*/ 276 h 2604"/>
                <a:gd name="T28" fmla="*/ 1420 w 2683"/>
                <a:gd name="T29" fmla="*/ 430 h 2604"/>
                <a:gd name="T30" fmla="*/ 1490 w 2683"/>
                <a:gd name="T31" fmla="*/ 498 h 2604"/>
                <a:gd name="T32" fmla="*/ 1675 w 2683"/>
                <a:gd name="T33" fmla="*/ 344 h 2604"/>
                <a:gd name="T34" fmla="*/ 1717 w 2683"/>
                <a:gd name="T35" fmla="*/ 352 h 2604"/>
                <a:gd name="T36" fmla="*/ 1631 w 2683"/>
                <a:gd name="T37" fmla="*/ 503 h 2604"/>
                <a:gd name="T38" fmla="*/ 1500 w 2683"/>
                <a:gd name="T39" fmla="*/ 558 h 2604"/>
                <a:gd name="T40" fmla="*/ 1447 w 2683"/>
                <a:gd name="T41" fmla="*/ 572 h 2604"/>
                <a:gd name="T42" fmla="*/ 1734 w 2683"/>
                <a:gd name="T43" fmla="*/ 793 h 2604"/>
                <a:gd name="T44" fmla="*/ 1788 w 2683"/>
                <a:gd name="T45" fmla="*/ 916 h 2604"/>
                <a:gd name="T46" fmla="*/ 1958 w 2683"/>
                <a:gd name="T47" fmla="*/ 1094 h 2604"/>
                <a:gd name="T48" fmla="*/ 2022 w 2683"/>
                <a:gd name="T49" fmla="*/ 1377 h 2604"/>
                <a:gd name="T50" fmla="*/ 2031 w 2683"/>
                <a:gd name="T51" fmla="*/ 1538 h 2604"/>
                <a:gd name="T52" fmla="*/ 2031 w 2683"/>
                <a:gd name="T53" fmla="*/ 1969 h 2604"/>
                <a:gd name="T54" fmla="*/ 2200 w 2683"/>
                <a:gd name="T55" fmla="*/ 2587 h 2604"/>
                <a:gd name="T56" fmla="*/ 2683 w 2683"/>
                <a:gd name="T57" fmla="*/ 1597 h 2604"/>
                <a:gd name="T58" fmla="*/ 2559 w 2683"/>
                <a:gd name="T59" fmla="*/ 1018 h 2604"/>
                <a:gd name="T60" fmla="*/ 2439 w 2683"/>
                <a:gd name="T61" fmla="*/ 816 h 2604"/>
                <a:gd name="T62" fmla="*/ 2329 w 2683"/>
                <a:gd name="T63" fmla="*/ 680 h 2604"/>
                <a:gd name="T64" fmla="*/ 2291 w 2683"/>
                <a:gd name="T65" fmla="*/ 634 h 2604"/>
                <a:gd name="T66" fmla="*/ 1909 w 2683"/>
                <a:gd name="T67" fmla="*/ 363 h 2604"/>
                <a:gd name="T68" fmla="*/ 51 w 2683"/>
                <a:gd name="T69" fmla="*/ 1318 h 2604"/>
                <a:gd name="T70" fmla="*/ 34 w 2683"/>
                <a:gd name="T71" fmla="*/ 1429 h 2604"/>
                <a:gd name="T72" fmla="*/ 273 w 2683"/>
                <a:gd name="T73" fmla="*/ 2339 h 2604"/>
                <a:gd name="T74" fmla="*/ 359 w 2683"/>
                <a:gd name="T75" fmla="*/ 2447 h 2604"/>
                <a:gd name="T76" fmla="*/ 532 w 2683"/>
                <a:gd name="T77" fmla="*/ 2604 h 2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83" h="2604">
                  <a:moveTo>
                    <a:pt x="532" y="2604"/>
                  </a:moveTo>
                  <a:cubicBezTo>
                    <a:pt x="596" y="2558"/>
                    <a:pt x="692" y="2200"/>
                    <a:pt x="693" y="2071"/>
                  </a:cubicBezTo>
                  <a:cubicBezTo>
                    <a:pt x="696" y="1808"/>
                    <a:pt x="665" y="1336"/>
                    <a:pt x="775" y="1111"/>
                  </a:cubicBezTo>
                  <a:cubicBezTo>
                    <a:pt x="824" y="1010"/>
                    <a:pt x="891" y="987"/>
                    <a:pt x="945" y="935"/>
                  </a:cubicBezTo>
                  <a:cubicBezTo>
                    <a:pt x="1017" y="866"/>
                    <a:pt x="924" y="808"/>
                    <a:pt x="1062" y="704"/>
                  </a:cubicBezTo>
                  <a:cubicBezTo>
                    <a:pt x="1131" y="652"/>
                    <a:pt x="1203" y="606"/>
                    <a:pt x="1320" y="606"/>
                  </a:cubicBezTo>
                  <a:lnTo>
                    <a:pt x="1320" y="589"/>
                  </a:lnTo>
                  <a:cubicBezTo>
                    <a:pt x="1241" y="571"/>
                    <a:pt x="1192" y="564"/>
                    <a:pt x="1131" y="523"/>
                  </a:cubicBezTo>
                  <a:cubicBezTo>
                    <a:pt x="1049" y="468"/>
                    <a:pt x="1015" y="428"/>
                    <a:pt x="1015" y="344"/>
                  </a:cubicBezTo>
                  <a:cubicBezTo>
                    <a:pt x="1144" y="344"/>
                    <a:pt x="1115" y="513"/>
                    <a:pt x="1286" y="513"/>
                  </a:cubicBezTo>
                  <a:cubicBezTo>
                    <a:pt x="1324" y="513"/>
                    <a:pt x="1310" y="452"/>
                    <a:pt x="1316" y="408"/>
                  </a:cubicBezTo>
                  <a:cubicBezTo>
                    <a:pt x="1323" y="363"/>
                    <a:pt x="1320" y="314"/>
                    <a:pt x="1320" y="268"/>
                  </a:cubicBezTo>
                  <a:cubicBezTo>
                    <a:pt x="1353" y="265"/>
                    <a:pt x="1340" y="259"/>
                    <a:pt x="1362" y="259"/>
                  </a:cubicBezTo>
                  <a:cubicBezTo>
                    <a:pt x="1378" y="259"/>
                    <a:pt x="1389" y="271"/>
                    <a:pt x="1413" y="276"/>
                  </a:cubicBezTo>
                  <a:cubicBezTo>
                    <a:pt x="1413" y="336"/>
                    <a:pt x="1415" y="382"/>
                    <a:pt x="1420" y="430"/>
                  </a:cubicBezTo>
                  <a:cubicBezTo>
                    <a:pt x="1428" y="513"/>
                    <a:pt x="1410" y="526"/>
                    <a:pt x="1490" y="498"/>
                  </a:cubicBezTo>
                  <a:cubicBezTo>
                    <a:pt x="1608" y="456"/>
                    <a:pt x="1641" y="344"/>
                    <a:pt x="1675" y="344"/>
                  </a:cubicBezTo>
                  <a:cubicBezTo>
                    <a:pt x="1698" y="344"/>
                    <a:pt x="1699" y="348"/>
                    <a:pt x="1717" y="352"/>
                  </a:cubicBezTo>
                  <a:cubicBezTo>
                    <a:pt x="1733" y="417"/>
                    <a:pt x="1694" y="444"/>
                    <a:pt x="1631" y="503"/>
                  </a:cubicBezTo>
                  <a:cubicBezTo>
                    <a:pt x="1568" y="562"/>
                    <a:pt x="1544" y="551"/>
                    <a:pt x="1500" y="558"/>
                  </a:cubicBezTo>
                  <a:cubicBezTo>
                    <a:pt x="1483" y="560"/>
                    <a:pt x="1467" y="568"/>
                    <a:pt x="1447" y="572"/>
                  </a:cubicBezTo>
                  <a:cubicBezTo>
                    <a:pt x="1482" y="621"/>
                    <a:pt x="1689" y="653"/>
                    <a:pt x="1734" y="793"/>
                  </a:cubicBezTo>
                  <a:cubicBezTo>
                    <a:pt x="1750" y="846"/>
                    <a:pt x="1747" y="883"/>
                    <a:pt x="1788" y="916"/>
                  </a:cubicBezTo>
                  <a:cubicBezTo>
                    <a:pt x="1855" y="969"/>
                    <a:pt x="1897" y="974"/>
                    <a:pt x="1958" y="1094"/>
                  </a:cubicBezTo>
                  <a:cubicBezTo>
                    <a:pt x="1999" y="1177"/>
                    <a:pt x="2023" y="1255"/>
                    <a:pt x="2022" y="1377"/>
                  </a:cubicBezTo>
                  <a:cubicBezTo>
                    <a:pt x="2022" y="1434"/>
                    <a:pt x="2031" y="1471"/>
                    <a:pt x="2031" y="1538"/>
                  </a:cubicBezTo>
                  <a:lnTo>
                    <a:pt x="2031" y="1969"/>
                  </a:lnTo>
                  <a:cubicBezTo>
                    <a:pt x="2040" y="2142"/>
                    <a:pt x="2064" y="2496"/>
                    <a:pt x="2200" y="2587"/>
                  </a:cubicBezTo>
                  <a:cubicBezTo>
                    <a:pt x="2428" y="2435"/>
                    <a:pt x="2683" y="1983"/>
                    <a:pt x="2683" y="1597"/>
                  </a:cubicBezTo>
                  <a:cubicBezTo>
                    <a:pt x="2683" y="1366"/>
                    <a:pt x="2642" y="1192"/>
                    <a:pt x="2559" y="1018"/>
                  </a:cubicBezTo>
                  <a:cubicBezTo>
                    <a:pt x="2523" y="943"/>
                    <a:pt x="2483" y="882"/>
                    <a:pt x="2439" y="816"/>
                  </a:cubicBezTo>
                  <a:lnTo>
                    <a:pt x="2329" y="680"/>
                  </a:lnTo>
                  <a:cubicBezTo>
                    <a:pt x="2311" y="661"/>
                    <a:pt x="2309" y="653"/>
                    <a:pt x="2291" y="634"/>
                  </a:cubicBezTo>
                  <a:cubicBezTo>
                    <a:pt x="2202" y="536"/>
                    <a:pt x="2028" y="419"/>
                    <a:pt x="1909" y="363"/>
                  </a:cubicBezTo>
                  <a:cubicBezTo>
                    <a:pt x="1129" y="0"/>
                    <a:pt x="199" y="480"/>
                    <a:pt x="51" y="1318"/>
                  </a:cubicBezTo>
                  <a:cubicBezTo>
                    <a:pt x="44" y="1353"/>
                    <a:pt x="37" y="1398"/>
                    <a:pt x="34" y="1429"/>
                  </a:cubicBezTo>
                  <a:cubicBezTo>
                    <a:pt x="0" y="1758"/>
                    <a:pt x="90" y="2062"/>
                    <a:pt x="273" y="2339"/>
                  </a:cubicBezTo>
                  <a:cubicBezTo>
                    <a:pt x="309" y="2393"/>
                    <a:pt x="328" y="2407"/>
                    <a:pt x="359" y="2447"/>
                  </a:cubicBezTo>
                  <a:cubicBezTo>
                    <a:pt x="401" y="2501"/>
                    <a:pt x="474" y="2574"/>
                    <a:pt x="532" y="26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0" name="Freeform 13"/>
            <p:cNvSpPr>
              <a:spLocks noEditPoints="1"/>
            </p:cNvSpPr>
            <p:nvPr/>
          </p:nvSpPr>
          <p:spPr bwMode="auto">
            <a:xfrm>
              <a:off x="4208463" y="1784351"/>
              <a:ext cx="668338" cy="698500"/>
            </a:xfrm>
            <a:custGeom>
              <a:avLst/>
              <a:gdLst>
                <a:gd name="T0" fmla="*/ 1575 w 2879"/>
                <a:gd name="T1" fmla="*/ 2823 h 2992"/>
                <a:gd name="T2" fmla="*/ 1761 w 2879"/>
                <a:gd name="T3" fmla="*/ 2882 h 2992"/>
                <a:gd name="T4" fmla="*/ 1321 w 2879"/>
                <a:gd name="T5" fmla="*/ 2857 h 2992"/>
                <a:gd name="T6" fmla="*/ 1355 w 2879"/>
                <a:gd name="T7" fmla="*/ 2848 h 2992"/>
                <a:gd name="T8" fmla="*/ 1524 w 2879"/>
                <a:gd name="T9" fmla="*/ 2798 h 2992"/>
                <a:gd name="T10" fmla="*/ 1363 w 2879"/>
                <a:gd name="T11" fmla="*/ 2798 h 2992"/>
                <a:gd name="T12" fmla="*/ 1316 w 2879"/>
                <a:gd name="T13" fmla="*/ 2911 h 2992"/>
                <a:gd name="T14" fmla="*/ 1160 w 2879"/>
                <a:gd name="T15" fmla="*/ 2772 h 2992"/>
                <a:gd name="T16" fmla="*/ 1084 w 2879"/>
                <a:gd name="T17" fmla="*/ 2874 h 2992"/>
                <a:gd name="T18" fmla="*/ 1143 w 2879"/>
                <a:gd name="T19" fmla="*/ 2755 h 2992"/>
                <a:gd name="T20" fmla="*/ 1084 w 2879"/>
                <a:gd name="T21" fmla="*/ 2874 h 2992"/>
                <a:gd name="T22" fmla="*/ 1599 w 2879"/>
                <a:gd name="T23" fmla="*/ 2806 h 2992"/>
                <a:gd name="T24" fmla="*/ 1837 w 2879"/>
                <a:gd name="T25" fmla="*/ 2730 h 2992"/>
                <a:gd name="T26" fmla="*/ 1803 w 2879"/>
                <a:gd name="T27" fmla="*/ 2815 h 2992"/>
                <a:gd name="T28" fmla="*/ 1710 w 2879"/>
                <a:gd name="T29" fmla="*/ 2815 h 2992"/>
                <a:gd name="T30" fmla="*/ 1427 w 2879"/>
                <a:gd name="T31" fmla="*/ 2339 h 2992"/>
                <a:gd name="T32" fmla="*/ 1311 w 2879"/>
                <a:gd name="T33" fmla="*/ 1892 h 2992"/>
                <a:gd name="T34" fmla="*/ 1346 w 2879"/>
                <a:gd name="T35" fmla="*/ 1665 h 2992"/>
                <a:gd name="T36" fmla="*/ 1457 w 2879"/>
                <a:gd name="T37" fmla="*/ 1886 h 2992"/>
                <a:gd name="T38" fmla="*/ 1511 w 2879"/>
                <a:gd name="T39" fmla="*/ 2100 h 2992"/>
                <a:gd name="T40" fmla="*/ 1627 w 2879"/>
                <a:gd name="T41" fmla="*/ 2196 h 2992"/>
                <a:gd name="T42" fmla="*/ 1479 w 2879"/>
                <a:gd name="T43" fmla="*/ 2701 h 2992"/>
                <a:gd name="T44" fmla="*/ 1353 w 2879"/>
                <a:gd name="T45" fmla="*/ 2165 h 2992"/>
                <a:gd name="T46" fmla="*/ 965 w 2879"/>
                <a:gd name="T47" fmla="*/ 2696 h 2992"/>
                <a:gd name="T48" fmla="*/ 329 w 2879"/>
                <a:gd name="T49" fmla="*/ 2283 h 2992"/>
                <a:gd name="T50" fmla="*/ 442 w 2879"/>
                <a:gd name="T51" fmla="*/ 514 h 2992"/>
                <a:gd name="T52" fmla="*/ 2390 w 2879"/>
                <a:gd name="T53" fmla="*/ 467 h 2992"/>
                <a:gd name="T54" fmla="*/ 2537 w 2879"/>
                <a:gd name="T55" fmla="*/ 2304 h 2992"/>
                <a:gd name="T56" fmla="*/ 1914 w 2879"/>
                <a:gd name="T57" fmla="*/ 2696 h 2992"/>
                <a:gd name="T58" fmla="*/ 2068 w 2879"/>
                <a:gd name="T59" fmla="*/ 2270 h 2992"/>
                <a:gd name="T60" fmla="*/ 1812 w 2879"/>
                <a:gd name="T61" fmla="*/ 1308 h 2992"/>
                <a:gd name="T62" fmla="*/ 1679 w 2879"/>
                <a:gd name="T63" fmla="*/ 1601 h 2992"/>
                <a:gd name="T64" fmla="*/ 1770 w 2879"/>
                <a:gd name="T65" fmla="*/ 2095 h 2992"/>
                <a:gd name="T66" fmla="*/ 1685 w 2879"/>
                <a:gd name="T67" fmla="*/ 2493 h 2992"/>
                <a:gd name="T68" fmla="*/ 1383 w 2879"/>
                <a:gd name="T69" fmla="*/ 1607 h 2992"/>
                <a:gd name="T70" fmla="*/ 1228 w 2879"/>
                <a:gd name="T71" fmla="*/ 2442 h 2992"/>
                <a:gd name="T72" fmla="*/ 1135 w 2879"/>
                <a:gd name="T73" fmla="*/ 1849 h 2992"/>
                <a:gd name="T74" fmla="*/ 958 w 2879"/>
                <a:gd name="T75" fmla="*/ 1385 h 2992"/>
                <a:gd name="T76" fmla="*/ 677 w 2879"/>
                <a:gd name="T77" fmla="*/ 2535 h 2992"/>
                <a:gd name="T78" fmla="*/ 914 w 2879"/>
                <a:gd name="T79" fmla="*/ 2806 h 2992"/>
                <a:gd name="T80" fmla="*/ 1934 w 2879"/>
                <a:gd name="T81" fmla="*/ 2911 h 2992"/>
                <a:gd name="T82" fmla="*/ 2320 w 2879"/>
                <a:gd name="T83" fmla="*/ 2603 h 2992"/>
                <a:gd name="T84" fmla="*/ 2523 w 2879"/>
                <a:gd name="T85" fmla="*/ 520 h 2992"/>
                <a:gd name="T86" fmla="*/ 1516 w 2879"/>
                <a:gd name="T87" fmla="*/ 29 h 2992"/>
                <a:gd name="T88" fmla="*/ 408 w 2879"/>
                <a:gd name="T89" fmla="*/ 463 h 2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9" h="2992">
                  <a:moveTo>
                    <a:pt x="1549" y="2908"/>
                  </a:moveTo>
                  <a:lnTo>
                    <a:pt x="1549" y="2823"/>
                  </a:lnTo>
                  <a:lnTo>
                    <a:pt x="1575" y="2823"/>
                  </a:lnTo>
                  <a:cubicBezTo>
                    <a:pt x="1577" y="2850"/>
                    <a:pt x="1583" y="2853"/>
                    <a:pt x="1583" y="2882"/>
                  </a:cubicBezTo>
                  <a:cubicBezTo>
                    <a:pt x="1583" y="2908"/>
                    <a:pt x="1573" y="2905"/>
                    <a:pt x="1549" y="2908"/>
                  </a:cubicBezTo>
                  <a:close/>
                  <a:moveTo>
                    <a:pt x="1761" y="2882"/>
                  </a:moveTo>
                  <a:cubicBezTo>
                    <a:pt x="1750" y="2860"/>
                    <a:pt x="1753" y="2873"/>
                    <a:pt x="1753" y="2840"/>
                  </a:cubicBezTo>
                  <a:cubicBezTo>
                    <a:pt x="1813" y="2845"/>
                    <a:pt x="1781" y="2880"/>
                    <a:pt x="1761" y="2882"/>
                  </a:cubicBezTo>
                  <a:close/>
                  <a:moveTo>
                    <a:pt x="1321" y="2857"/>
                  </a:moveTo>
                  <a:lnTo>
                    <a:pt x="1321" y="2806"/>
                  </a:lnTo>
                  <a:lnTo>
                    <a:pt x="1346" y="2806"/>
                  </a:lnTo>
                  <a:cubicBezTo>
                    <a:pt x="1348" y="2829"/>
                    <a:pt x="1350" y="2829"/>
                    <a:pt x="1355" y="2848"/>
                  </a:cubicBezTo>
                  <a:cubicBezTo>
                    <a:pt x="1341" y="2850"/>
                    <a:pt x="1328" y="2848"/>
                    <a:pt x="1321" y="2857"/>
                  </a:cubicBezTo>
                  <a:close/>
                  <a:moveTo>
                    <a:pt x="1363" y="2798"/>
                  </a:moveTo>
                  <a:lnTo>
                    <a:pt x="1524" y="2798"/>
                  </a:lnTo>
                  <a:cubicBezTo>
                    <a:pt x="1504" y="2840"/>
                    <a:pt x="1521" y="2884"/>
                    <a:pt x="1524" y="2925"/>
                  </a:cubicBezTo>
                  <a:lnTo>
                    <a:pt x="1338" y="2925"/>
                  </a:lnTo>
                  <a:cubicBezTo>
                    <a:pt x="1376" y="2868"/>
                    <a:pt x="1399" y="2865"/>
                    <a:pt x="1363" y="2798"/>
                  </a:cubicBezTo>
                  <a:close/>
                  <a:moveTo>
                    <a:pt x="1287" y="2874"/>
                  </a:moveTo>
                  <a:cubicBezTo>
                    <a:pt x="1307" y="2879"/>
                    <a:pt x="1312" y="2882"/>
                    <a:pt x="1338" y="2882"/>
                  </a:cubicBezTo>
                  <a:cubicBezTo>
                    <a:pt x="1331" y="2906"/>
                    <a:pt x="1340" y="2897"/>
                    <a:pt x="1316" y="2911"/>
                  </a:cubicBezTo>
                  <a:cubicBezTo>
                    <a:pt x="1275" y="2934"/>
                    <a:pt x="1165" y="2927"/>
                    <a:pt x="1143" y="2882"/>
                  </a:cubicBezTo>
                  <a:cubicBezTo>
                    <a:pt x="1135" y="2866"/>
                    <a:pt x="1139" y="2855"/>
                    <a:pt x="1145" y="2835"/>
                  </a:cubicBezTo>
                  <a:cubicBezTo>
                    <a:pt x="1153" y="2811"/>
                    <a:pt x="1158" y="2797"/>
                    <a:pt x="1160" y="2772"/>
                  </a:cubicBezTo>
                  <a:lnTo>
                    <a:pt x="1312" y="2783"/>
                  </a:lnTo>
                  <a:cubicBezTo>
                    <a:pt x="1289" y="2816"/>
                    <a:pt x="1287" y="2814"/>
                    <a:pt x="1287" y="2874"/>
                  </a:cubicBezTo>
                  <a:close/>
                  <a:moveTo>
                    <a:pt x="1084" y="2874"/>
                  </a:moveTo>
                  <a:cubicBezTo>
                    <a:pt x="1021" y="2874"/>
                    <a:pt x="1025" y="2869"/>
                    <a:pt x="974" y="2857"/>
                  </a:cubicBezTo>
                  <a:lnTo>
                    <a:pt x="1036" y="2731"/>
                  </a:lnTo>
                  <a:cubicBezTo>
                    <a:pt x="1070" y="2739"/>
                    <a:pt x="1099" y="2754"/>
                    <a:pt x="1143" y="2755"/>
                  </a:cubicBezTo>
                  <a:cubicBezTo>
                    <a:pt x="1125" y="2800"/>
                    <a:pt x="1149" y="2744"/>
                    <a:pt x="1122" y="2776"/>
                  </a:cubicBezTo>
                  <a:cubicBezTo>
                    <a:pt x="1104" y="2798"/>
                    <a:pt x="1114" y="2769"/>
                    <a:pt x="1116" y="2807"/>
                  </a:cubicBezTo>
                  <a:cubicBezTo>
                    <a:pt x="1118" y="2844"/>
                    <a:pt x="1120" y="2874"/>
                    <a:pt x="1084" y="2874"/>
                  </a:cubicBezTo>
                  <a:close/>
                  <a:moveTo>
                    <a:pt x="1736" y="2899"/>
                  </a:moveTo>
                  <a:cubicBezTo>
                    <a:pt x="1699" y="2908"/>
                    <a:pt x="1632" y="2924"/>
                    <a:pt x="1592" y="2925"/>
                  </a:cubicBezTo>
                  <a:cubicBezTo>
                    <a:pt x="1607" y="2859"/>
                    <a:pt x="1616" y="2924"/>
                    <a:pt x="1599" y="2806"/>
                  </a:cubicBezTo>
                  <a:cubicBezTo>
                    <a:pt x="1592" y="2802"/>
                    <a:pt x="1584" y="2800"/>
                    <a:pt x="1581" y="2800"/>
                  </a:cubicBezTo>
                  <a:lnTo>
                    <a:pt x="1558" y="2789"/>
                  </a:lnTo>
                  <a:cubicBezTo>
                    <a:pt x="1664" y="2765"/>
                    <a:pt x="1744" y="2775"/>
                    <a:pt x="1837" y="2730"/>
                  </a:cubicBezTo>
                  <a:lnTo>
                    <a:pt x="1888" y="2857"/>
                  </a:lnTo>
                  <a:cubicBezTo>
                    <a:pt x="1864" y="2869"/>
                    <a:pt x="1833" y="2876"/>
                    <a:pt x="1803" y="2882"/>
                  </a:cubicBezTo>
                  <a:lnTo>
                    <a:pt x="1803" y="2815"/>
                  </a:lnTo>
                  <a:cubicBezTo>
                    <a:pt x="1759" y="2811"/>
                    <a:pt x="1788" y="2804"/>
                    <a:pt x="1744" y="2815"/>
                  </a:cubicBezTo>
                  <a:cubicBezTo>
                    <a:pt x="1756" y="2797"/>
                    <a:pt x="1767" y="2781"/>
                    <a:pt x="1778" y="2764"/>
                  </a:cubicBezTo>
                  <a:cubicBezTo>
                    <a:pt x="1738" y="2773"/>
                    <a:pt x="1722" y="2778"/>
                    <a:pt x="1710" y="2815"/>
                  </a:cubicBezTo>
                  <a:cubicBezTo>
                    <a:pt x="1701" y="2846"/>
                    <a:pt x="1719" y="2868"/>
                    <a:pt x="1736" y="2899"/>
                  </a:cubicBezTo>
                  <a:close/>
                  <a:moveTo>
                    <a:pt x="1353" y="2165"/>
                  </a:moveTo>
                  <a:cubicBezTo>
                    <a:pt x="1390" y="2221"/>
                    <a:pt x="1360" y="2325"/>
                    <a:pt x="1427" y="2339"/>
                  </a:cubicBezTo>
                  <a:cubicBezTo>
                    <a:pt x="1434" y="2077"/>
                    <a:pt x="1373" y="2191"/>
                    <a:pt x="1342" y="2121"/>
                  </a:cubicBezTo>
                  <a:cubicBezTo>
                    <a:pt x="1327" y="2045"/>
                    <a:pt x="1349" y="2044"/>
                    <a:pt x="1358" y="1989"/>
                  </a:cubicBezTo>
                  <a:cubicBezTo>
                    <a:pt x="1365" y="1942"/>
                    <a:pt x="1321" y="1950"/>
                    <a:pt x="1311" y="1892"/>
                  </a:cubicBezTo>
                  <a:cubicBezTo>
                    <a:pt x="1357" y="1820"/>
                    <a:pt x="1435" y="1869"/>
                    <a:pt x="1428" y="1793"/>
                  </a:cubicBezTo>
                  <a:cubicBezTo>
                    <a:pt x="1395" y="1772"/>
                    <a:pt x="1337" y="1792"/>
                    <a:pt x="1316" y="1759"/>
                  </a:cubicBezTo>
                  <a:cubicBezTo>
                    <a:pt x="1296" y="1727"/>
                    <a:pt x="1329" y="1682"/>
                    <a:pt x="1346" y="1665"/>
                  </a:cubicBezTo>
                  <a:cubicBezTo>
                    <a:pt x="1395" y="1679"/>
                    <a:pt x="1376" y="1680"/>
                    <a:pt x="1400" y="1719"/>
                  </a:cubicBezTo>
                  <a:cubicBezTo>
                    <a:pt x="1515" y="1731"/>
                    <a:pt x="1523" y="1715"/>
                    <a:pt x="1625" y="1757"/>
                  </a:cubicBezTo>
                  <a:cubicBezTo>
                    <a:pt x="1634" y="1916"/>
                    <a:pt x="1547" y="1882"/>
                    <a:pt x="1457" y="1886"/>
                  </a:cubicBezTo>
                  <a:cubicBezTo>
                    <a:pt x="1427" y="1888"/>
                    <a:pt x="1405" y="1892"/>
                    <a:pt x="1385" y="1909"/>
                  </a:cubicBezTo>
                  <a:cubicBezTo>
                    <a:pt x="1409" y="1929"/>
                    <a:pt x="1409" y="1927"/>
                    <a:pt x="1448" y="1935"/>
                  </a:cubicBezTo>
                  <a:cubicBezTo>
                    <a:pt x="1533" y="1952"/>
                    <a:pt x="1492" y="2005"/>
                    <a:pt x="1511" y="2100"/>
                  </a:cubicBezTo>
                  <a:cubicBezTo>
                    <a:pt x="1550" y="2041"/>
                    <a:pt x="1523" y="1991"/>
                    <a:pt x="1577" y="1967"/>
                  </a:cubicBezTo>
                  <a:cubicBezTo>
                    <a:pt x="1610" y="2042"/>
                    <a:pt x="1601" y="2076"/>
                    <a:pt x="1577" y="2149"/>
                  </a:cubicBezTo>
                  <a:cubicBezTo>
                    <a:pt x="1617" y="2174"/>
                    <a:pt x="1618" y="2137"/>
                    <a:pt x="1627" y="2196"/>
                  </a:cubicBezTo>
                  <a:cubicBezTo>
                    <a:pt x="1638" y="2274"/>
                    <a:pt x="1612" y="2358"/>
                    <a:pt x="1557" y="2407"/>
                  </a:cubicBezTo>
                  <a:cubicBezTo>
                    <a:pt x="1497" y="2459"/>
                    <a:pt x="1503" y="2425"/>
                    <a:pt x="1502" y="2535"/>
                  </a:cubicBezTo>
                  <a:cubicBezTo>
                    <a:pt x="1502" y="2594"/>
                    <a:pt x="1503" y="2655"/>
                    <a:pt x="1479" y="2701"/>
                  </a:cubicBezTo>
                  <a:cubicBezTo>
                    <a:pt x="1383" y="2681"/>
                    <a:pt x="1423" y="2605"/>
                    <a:pt x="1425" y="2434"/>
                  </a:cubicBezTo>
                  <a:cubicBezTo>
                    <a:pt x="1366" y="2389"/>
                    <a:pt x="1294" y="2369"/>
                    <a:pt x="1302" y="2221"/>
                  </a:cubicBezTo>
                  <a:cubicBezTo>
                    <a:pt x="1305" y="2178"/>
                    <a:pt x="1313" y="2169"/>
                    <a:pt x="1353" y="2165"/>
                  </a:cubicBezTo>
                  <a:close/>
                  <a:moveTo>
                    <a:pt x="677" y="2535"/>
                  </a:moveTo>
                  <a:cubicBezTo>
                    <a:pt x="685" y="2563"/>
                    <a:pt x="678" y="2547"/>
                    <a:pt x="699" y="2565"/>
                  </a:cubicBezTo>
                  <a:cubicBezTo>
                    <a:pt x="752" y="2611"/>
                    <a:pt x="903" y="2695"/>
                    <a:pt x="965" y="2696"/>
                  </a:cubicBezTo>
                  <a:cubicBezTo>
                    <a:pt x="959" y="2722"/>
                    <a:pt x="954" y="2721"/>
                    <a:pt x="948" y="2747"/>
                  </a:cubicBezTo>
                  <a:cubicBezTo>
                    <a:pt x="896" y="2746"/>
                    <a:pt x="791" y="2693"/>
                    <a:pt x="755" y="2669"/>
                  </a:cubicBezTo>
                  <a:cubicBezTo>
                    <a:pt x="589" y="2561"/>
                    <a:pt x="451" y="2449"/>
                    <a:pt x="329" y="2283"/>
                  </a:cubicBezTo>
                  <a:cubicBezTo>
                    <a:pt x="91" y="1958"/>
                    <a:pt x="5" y="1570"/>
                    <a:pt x="97" y="1150"/>
                  </a:cubicBezTo>
                  <a:cubicBezTo>
                    <a:pt x="143" y="940"/>
                    <a:pt x="268" y="687"/>
                    <a:pt x="421" y="535"/>
                  </a:cubicBezTo>
                  <a:cubicBezTo>
                    <a:pt x="430" y="526"/>
                    <a:pt x="434" y="523"/>
                    <a:pt x="442" y="514"/>
                  </a:cubicBezTo>
                  <a:cubicBezTo>
                    <a:pt x="504" y="446"/>
                    <a:pt x="576" y="385"/>
                    <a:pt x="652" y="334"/>
                  </a:cubicBezTo>
                  <a:cubicBezTo>
                    <a:pt x="1121" y="23"/>
                    <a:pt x="1735" y="0"/>
                    <a:pt x="2203" y="315"/>
                  </a:cubicBezTo>
                  <a:lnTo>
                    <a:pt x="2390" y="467"/>
                  </a:lnTo>
                  <a:cubicBezTo>
                    <a:pt x="2613" y="693"/>
                    <a:pt x="2811" y="1034"/>
                    <a:pt x="2811" y="1375"/>
                  </a:cubicBezTo>
                  <a:lnTo>
                    <a:pt x="2811" y="1528"/>
                  </a:lnTo>
                  <a:cubicBezTo>
                    <a:pt x="2811" y="1813"/>
                    <a:pt x="2667" y="2145"/>
                    <a:pt x="2537" y="2304"/>
                  </a:cubicBezTo>
                  <a:cubicBezTo>
                    <a:pt x="2493" y="2358"/>
                    <a:pt x="2460" y="2391"/>
                    <a:pt x="2411" y="2440"/>
                  </a:cubicBezTo>
                  <a:cubicBezTo>
                    <a:pt x="2306" y="2545"/>
                    <a:pt x="2055" y="2744"/>
                    <a:pt x="1922" y="2747"/>
                  </a:cubicBezTo>
                  <a:cubicBezTo>
                    <a:pt x="1917" y="2727"/>
                    <a:pt x="1914" y="2722"/>
                    <a:pt x="1914" y="2696"/>
                  </a:cubicBezTo>
                  <a:cubicBezTo>
                    <a:pt x="1995" y="2694"/>
                    <a:pt x="2114" y="2602"/>
                    <a:pt x="2176" y="2569"/>
                  </a:cubicBezTo>
                  <a:cubicBezTo>
                    <a:pt x="2169" y="2539"/>
                    <a:pt x="2155" y="2526"/>
                    <a:pt x="2142" y="2501"/>
                  </a:cubicBezTo>
                  <a:cubicBezTo>
                    <a:pt x="2102" y="2424"/>
                    <a:pt x="2080" y="2361"/>
                    <a:pt x="2068" y="2270"/>
                  </a:cubicBezTo>
                  <a:cubicBezTo>
                    <a:pt x="2051" y="2134"/>
                    <a:pt x="2024" y="1600"/>
                    <a:pt x="2024" y="1502"/>
                  </a:cubicBezTo>
                  <a:cubicBezTo>
                    <a:pt x="2024" y="1424"/>
                    <a:pt x="1992" y="1413"/>
                    <a:pt x="1945" y="1378"/>
                  </a:cubicBezTo>
                  <a:cubicBezTo>
                    <a:pt x="1914" y="1354"/>
                    <a:pt x="1853" y="1317"/>
                    <a:pt x="1812" y="1308"/>
                  </a:cubicBezTo>
                  <a:cubicBezTo>
                    <a:pt x="1769" y="1389"/>
                    <a:pt x="1656" y="1489"/>
                    <a:pt x="1575" y="1511"/>
                  </a:cubicBezTo>
                  <a:cubicBezTo>
                    <a:pt x="1583" y="1540"/>
                    <a:pt x="1596" y="1544"/>
                    <a:pt x="1621" y="1558"/>
                  </a:cubicBezTo>
                  <a:cubicBezTo>
                    <a:pt x="1654" y="1577"/>
                    <a:pt x="1652" y="1575"/>
                    <a:pt x="1679" y="1601"/>
                  </a:cubicBezTo>
                  <a:cubicBezTo>
                    <a:pt x="1722" y="1645"/>
                    <a:pt x="1728" y="1668"/>
                    <a:pt x="1742" y="1733"/>
                  </a:cubicBezTo>
                  <a:cubicBezTo>
                    <a:pt x="1753" y="1781"/>
                    <a:pt x="1762" y="1854"/>
                    <a:pt x="1761" y="1908"/>
                  </a:cubicBezTo>
                  <a:cubicBezTo>
                    <a:pt x="1761" y="1979"/>
                    <a:pt x="1770" y="2024"/>
                    <a:pt x="1770" y="2095"/>
                  </a:cubicBezTo>
                  <a:cubicBezTo>
                    <a:pt x="1770" y="2175"/>
                    <a:pt x="1761" y="2221"/>
                    <a:pt x="1761" y="2298"/>
                  </a:cubicBezTo>
                  <a:cubicBezTo>
                    <a:pt x="1762" y="2375"/>
                    <a:pt x="1746" y="2429"/>
                    <a:pt x="1744" y="2493"/>
                  </a:cubicBezTo>
                  <a:lnTo>
                    <a:pt x="1685" y="2493"/>
                  </a:lnTo>
                  <a:cubicBezTo>
                    <a:pt x="1681" y="2447"/>
                    <a:pt x="1668" y="2400"/>
                    <a:pt x="1668" y="2349"/>
                  </a:cubicBezTo>
                  <a:cubicBezTo>
                    <a:pt x="1668" y="2091"/>
                    <a:pt x="1708" y="1881"/>
                    <a:pt x="1609" y="1688"/>
                  </a:cubicBezTo>
                  <a:cubicBezTo>
                    <a:pt x="1566" y="1604"/>
                    <a:pt x="1470" y="1541"/>
                    <a:pt x="1383" y="1607"/>
                  </a:cubicBezTo>
                  <a:cubicBezTo>
                    <a:pt x="1200" y="1748"/>
                    <a:pt x="1245" y="1884"/>
                    <a:pt x="1223" y="2031"/>
                  </a:cubicBezTo>
                  <a:cubicBezTo>
                    <a:pt x="1217" y="2072"/>
                    <a:pt x="1218" y="2102"/>
                    <a:pt x="1224" y="2141"/>
                  </a:cubicBezTo>
                  <a:lnTo>
                    <a:pt x="1228" y="2442"/>
                  </a:lnTo>
                  <a:cubicBezTo>
                    <a:pt x="1228" y="2487"/>
                    <a:pt x="1205" y="2500"/>
                    <a:pt x="1160" y="2501"/>
                  </a:cubicBezTo>
                  <a:cubicBezTo>
                    <a:pt x="1159" y="2465"/>
                    <a:pt x="1152" y="2467"/>
                    <a:pt x="1151" y="2425"/>
                  </a:cubicBezTo>
                  <a:lnTo>
                    <a:pt x="1135" y="1849"/>
                  </a:lnTo>
                  <a:cubicBezTo>
                    <a:pt x="1135" y="1673"/>
                    <a:pt x="1215" y="1607"/>
                    <a:pt x="1321" y="1536"/>
                  </a:cubicBezTo>
                  <a:cubicBezTo>
                    <a:pt x="1259" y="1444"/>
                    <a:pt x="1243" y="1545"/>
                    <a:pt x="1084" y="1308"/>
                  </a:cubicBezTo>
                  <a:cubicBezTo>
                    <a:pt x="1032" y="1335"/>
                    <a:pt x="1004" y="1350"/>
                    <a:pt x="958" y="1385"/>
                  </a:cubicBezTo>
                  <a:cubicBezTo>
                    <a:pt x="891" y="1434"/>
                    <a:pt x="881" y="1445"/>
                    <a:pt x="880" y="1511"/>
                  </a:cubicBezTo>
                  <a:cubicBezTo>
                    <a:pt x="878" y="1674"/>
                    <a:pt x="851" y="2123"/>
                    <a:pt x="824" y="2266"/>
                  </a:cubicBezTo>
                  <a:cubicBezTo>
                    <a:pt x="805" y="2361"/>
                    <a:pt x="772" y="2527"/>
                    <a:pt x="677" y="2535"/>
                  </a:cubicBezTo>
                  <a:close/>
                  <a:moveTo>
                    <a:pt x="0" y="1426"/>
                  </a:moveTo>
                  <a:cubicBezTo>
                    <a:pt x="0" y="1915"/>
                    <a:pt x="185" y="2298"/>
                    <a:pt x="549" y="2596"/>
                  </a:cubicBezTo>
                  <a:cubicBezTo>
                    <a:pt x="716" y="2732"/>
                    <a:pt x="761" y="2732"/>
                    <a:pt x="914" y="2806"/>
                  </a:cubicBezTo>
                  <a:cubicBezTo>
                    <a:pt x="902" y="2825"/>
                    <a:pt x="889" y="2842"/>
                    <a:pt x="889" y="2874"/>
                  </a:cubicBezTo>
                  <a:cubicBezTo>
                    <a:pt x="889" y="2941"/>
                    <a:pt x="1344" y="2992"/>
                    <a:pt x="1482" y="2992"/>
                  </a:cubicBezTo>
                  <a:cubicBezTo>
                    <a:pt x="1595" y="2992"/>
                    <a:pt x="1822" y="2950"/>
                    <a:pt x="1934" y="2911"/>
                  </a:cubicBezTo>
                  <a:cubicBezTo>
                    <a:pt x="1961" y="2902"/>
                    <a:pt x="1965" y="2897"/>
                    <a:pt x="1990" y="2891"/>
                  </a:cubicBezTo>
                  <a:cubicBezTo>
                    <a:pt x="1987" y="2857"/>
                    <a:pt x="1972" y="2841"/>
                    <a:pt x="1964" y="2806"/>
                  </a:cubicBezTo>
                  <a:cubicBezTo>
                    <a:pt x="2149" y="2709"/>
                    <a:pt x="2126" y="2751"/>
                    <a:pt x="2320" y="2603"/>
                  </a:cubicBezTo>
                  <a:cubicBezTo>
                    <a:pt x="2642" y="2357"/>
                    <a:pt x="2879" y="1923"/>
                    <a:pt x="2879" y="1477"/>
                  </a:cubicBezTo>
                  <a:cubicBezTo>
                    <a:pt x="2879" y="1164"/>
                    <a:pt x="2759" y="794"/>
                    <a:pt x="2563" y="565"/>
                  </a:cubicBezTo>
                  <a:cubicBezTo>
                    <a:pt x="2547" y="546"/>
                    <a:pt x="2538" y="540"/>
                    <a:pt x="2523" y="520"/>
                  </a:cubicBezTo>
                  <a:cubicBezTo>
                    <a:pt x="2507" y="499"/>
                    <a:pt x="2498" y="491"/>
                    <a:pt x="2479" y="471"/>
                  </a:cubicBezTo>
                  <a:cubicBezTo>
                    <a:pt x="2361" y="355"/>
                    <a:pt x="2228" y="254"/>
                    <a:pt x="2072" y="176"/>
                  </a:cubicBezTo>
                  <a:cubicBezTo>
                    <a:pt x="1922" y="101"/>
                    <a:pt x="1735" y="29"/>
                    <a:pt x="1516" y="29"/>
                  </a:cubicBezTo>
                  <a:cubicBezTo>
                    <a:pt x="1101" y="29"/>
                    <a:pt x="857" y="107"/>
                    <a:pt x="552" y="335"/>
                  </a:cubicBezTo>
                  <a:cubicBezTo>
                    <a:pt x="527" y="353"/>
                    <a:pt x="523" y="359"/>
                    <a:pt x="502" y="378"/>
                  </a:cubicBezTo>
                  <a:lnTo>
                    <a:pt x="408" y="463"/>
                  </a:lnTo>
                  <a:cubicBezTo>
                    <a:pt x="388" y="484"/>
                    <a:pt x="384" y="493"/>
                    <a:pt x="366" y="514"/>
                  </a:cubicBezTo>
                  <a:cubicBezTo>
                    <a:pt x="152" y="755"/>
                    <a:pt x="0" y="1086"/>
                    <a:pt x="0" y="14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1" name="Freeform 14"/>
            <p:cNvSpPr>
              <a:spLocks noEditPoints="1"/>
            </p:cNvSpPr>
            <p:nvPr/>
          </p:nvSpPr>
          <p:spPr bwMode="auto">
            <a:xfrm>
              <a:off x="4065588" y="1646238"/>
              <a:ext cx="969963" cy="958850"/>
            </a:xfrm>
            <a:custGeom>
              <a:avLst/>
              <a:gdLst>
                <a:gd name="T0" fmla="*/ 2152 w 4182"/>
                <a:gd name="T1" fmla="*/ 4022 h 4106"/>
                <a:gd name="T2" fmla="*/ 1282 w 4182"/>
                <a:gd name="T3" fmla="*/ 3867 h 4106"/>
                <a:gd name="T4" fmla="*/ 834 w 4182"/>
                <a:gd name="T5" fmla="*/ 3603 h 4106"/>
                <a:gd name="T6" fmla="*/ 773 w 4182"/>
                <a:gd name="T7" fmla="*/ 3546 h 4106"/>
                <a:gd name="T8" fmla="*/ 646 w 4182"/>
                <a:gd name="T9" fmla="*/ 3427 h 4106"/>
                <a:gd name="T10" fmla="*/ 382 w 4182"/>
                <a:gd name="T11" fmla="*/ 3098 h 4106"/>
                <a:gd name="T12" fmla="*/ 94 w 4182"/>
                <a:gd name="T13" fmla="*/ 2184 h 4106"/>
                <a:gd name="T14" fmla="*/ 280 w 4182"/>
                <a:gd name="T15" fmla="*/ 1211 h 4106"/>
                <a:gd name="T16" fmla="*/ 567 w 4182"/>
                <a:gd name="T17" fmla="*/ 769 h 4106"/>
                <a:gd name="T18" fmla="*/ 630 w 4182"/>
                <a:gd name="T19" fmla="*/ 713 h 4106"/>
                <a:gd name="T20" fmla="*/ 953 w 4182"/>
                <a:gd name="T21" fmla="*/ 427 h 4106"/>
                <a:gd name="T22" fmla="*/ 2075 w 4182"/>
                <a:gd name="T23" fmla="*/ 85 h 4106"/>
                <a:gd name="T24" fmla="*/ 2939 w 4182"/>
                <a:gd name="T25" fmla="*/ 288 h 4106"/>
                <a:gd name="T26" fmla="*/ 3360 w 4182"/>
                <a:gd name="T27" fmla="*/ 578 h 4106"/>
                <a:gd name="T28" fmla="*/ 3483 w 4182"/>
                <a:gd name="T29" fmla="*/ 700 h 4106"/>
                <a:gd name="T30" fmla="*/ 3647 w 4182"/>
                <a:gd name="T31" fmla="*/ 893 h 4106"/>
                <a:gd name="T32" fmla="*/ 4023 w 4182"/>
                <a:gd name="T33" fmla="*/ 1947 h 4106"/>
                <a:gd name="T34" fmla="*/ 3777 w 4182"/>
                <a:gd name="T35" fmla="*/ 3014 h 4106"/>
                <a:gd name="T36" fmla="*/ 3473 w 4182"/>
                <a:gd name="T37" fmla="*/ 3429 h 4106"/>
                <a:gd name="T38" fmla="*/ 3077 w 4182"/>
                <a:gd name="T39" fmla="*/ 3745 h 4106"/>
                <a:gd name="T40" fmla="*/ 2914 w 4182"/>
                <a:gd name="T41" fmla="*/ 3827 h 4106"/>
                <a:gd name="T42" fmla="*/ 2567 w 4182"/>
                <a:gd name="T43" fmla="*/ 3955 h 4106"/>
                <a:gd name="T44" fmla="*/ 2152 w 4182"/>
                <a:gd name="T45" fmla="*/ 4022 h 4106"/>
                <a:gd name="T46" fmla="*/ 9 w 4182"/>
                <a:gd name="T47" fmla="*/ 1880 h 4106"/>
                <a:gd name="T48" fmla="*/ 62 w 4182"/>
                <a:gd name="T49" fmla="*/ 2563 h 4106"/>
                <a:gd name="T50" fmla="*/ 122 w 4182"/>
                <a:gd name="T51" fmla="*/ 2749 h 4106"/>
                <a:gd name="T52" fmla="*/ 480 w 4182"/>
                <a:gd name="T53" fmla="*/ 3373 h 4106"/>
                <a:gd name="T54" fmla="*/ 730 w 4182"/>
                <a:gd name="T55" fmla="*/ 3623 h 4106"/>
                <a:gd name="T56" fmla="*/ 868 w 4182"/>
                <a:gd name="T57" fmla="*/ 3730 h 4106"/>
                <a:gd name="T58" fmla="*/ 939 w 4182"/>
                <a:gd name="T59" fmla="*/ 3778 h 4106"/>
                <a:gd name="T60" fmla="*/ 1017 w 4182"/>
                <a:gd name="T61" fmla="*/ 3827 h 4106"/>
                <a:gd name="T62" fmla="*/ 1982 w 4182"/>
                <a:gd name="T63" fmla="*/ 4106 h 4106"/>
                <a:gd name="T64" fmla="*/ 2935 w 4182"/>
                <a:gd name="T65" fmla="*/ 3917 h 4106"/>
                <a:gd name="T66" fmla="*/ 3094 w 4182"/>
                <a:gd name="T67" fmla="*/ 3830 h 4106"/>
                <a:gd name="T68" fmla="*/ 3243 w 4182"/>
                <a:gd name="T69" fmla="*/ 3733 h 4106"/>
                <a:gd name="T70" fmla="*/ 3379 w 4182"/>
                <a:gd name="T71" fmla="*/ 3624 h 4106"/>
                <a:gd name="T72" fmla="*/ 3445 w 4182"/>
                <a:gd name="T73" fmla="*/ 3571 h 4106"/>
                <a:gd name="T74" fmla="*/ 3624 w 4182"/>
                <a:gd name="T75" fmla="*/ 3377 h 4106"/>
                <a:gd name="T76" fmla="*/ 3915 w 4182"/>
                <a:gd name="T77" fmla="*/ 2932 h 4106"/>
                <a:gd name="T78" fmla="*/ 3944 w 4182"/>
                <a:gd name="T79" fmla="*/ 1247 h 4106"/>
                <a:gd name="T80" fmla="*/ 3813 w 4182"/>
                <a:gd name="T81" fmla="*/ 1006 h 4106"/>
                <a:gd name="T82" fmla="*/ 3718 w 4182"/>
                <a:gd name="T83" fmla="*/ 847 h 4106"/>
                <a:gd name="T84" fmla="*/ 3470 w 4182"/>
                <a:gd name="T85" fmla="*/ 595 h 4106"/>
                <a:gd name="T86" fmla="*/ 3139 w 4182"/>
                <a:gd name="T87" fmla="*/ 308 h 4106"/>
                <a:gd name="T88" fmla="*/ 2067 w 4182"/>
                <a:gd name="T89" fmla="*/ 0 h 4106"/>
                <a:gd name="T90" fmla="*/ 787 w 4182"/>
                <a:gd name="T91" fmla="*/ 439 h 4106"/>
                <a:gd name="T92" fmla="*/ 89 w 4182"/>
                <a:gd name="T93" fmla="*/ 1459 h 4106"/>
                <a:gd name="T94" fmla="*/ 9 w 4182"/>
                <a:gd name="T95" fmla="*/ 1880 h 4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82" h="4106">
                  <a:moveTo>
                    <a:pt x="2152" y="4022"/>
                  </a:moveTo>
                  <a:cubicBezTo>
                    <a:pt x="1818" y="4022"/>
                    <a:pt x="1527" y="3989"/>
                    <a:pt x="1282" y="3867"/>
                  </a:cubicBezTo>
                  <a:cubicBezTo>
                    <a:pt x="1123" y="3787"/>
                    <a:pt x="973" y="3712"/>
                    <a:pt x="834" y="3603"/>
                  </a:cubicBezTo>
                  <a:cubicBezTo>
                    <a:pt x="808" y="3583"/>
                    <a:pt x="797" y="3565"/>
                    <a:pt x="773" y="3546"/>
                  </a:cubicBezTo>
                  <a:cubicBezTo>
                    <a:pt x="711" y="3497"/>
                    <a:pt x="693" y="3468"/>
                    <a:pt x="646" y="3427"/>
                  </a:cubicBezTo>
                  <a:cubicBezTo>
                    <a:pt x="560" y="3351"/>
                    <a:pt x="442" y="3197"/>
                    <a:pt x="382" y="3098"/>
                  </a:cubicBezTo>
                  <a:cubicBezTo>
                    <a:pt x="250" y="2879"/>
                    <a:pt x="94" y="2473"/>
                    <a:pt x="94" y="2184"/>
                  </a:cubicBezTo>
                  <a:cubicBezTo>
                    <a:pt x="94" y="1799"/>
                    <a:pt x="106" y="1560"/>
                    <a:pt x="280" y="1211"/>
                  </a:cubicBezTo>
                  <a:cubicBezTo>
                    <a:pt x="334" y="1105"/>
                    <a:pt x="478" y="840"/>
                    <a:pt x="567" y="769"/>
                  </a:cubicBezTo>
                  <a:cubicBezTo>
                    <a:pt x="595" y="747"/>
                    <a:pt x="604" y="739"/>
                    <a:pt x="630" y="713"/>
                  </a:cubicBezTo>
                  <a:lnTo>
                    <a:pt x="953" y="427"/>
                  </a:lnTo>
                  <a:cubicBezTo>
                    <a:pt x="1277" y="213"/>
                    <a:pt x="1674" y="85"/>
                    <a:pt x="2075" y="85"/>
                  </a:cubicBezTo>
                  <a:cubicBezTo>
                    <a:pt x="2385" y="85"/>
                    <a:pt x="2717" y="174"/>
                    <a:pt x="2939" y="288"/>
                  </a:cubicBezTo>
                  <a:lnTo>
                    <a:pt x="3360" y="578"/>
                  </a:lnTo>
                  <a:cubicBezTo>
                    <a:pt x="3430" y="647"/>
                    <a:pt x="3408" y="610"/>
                    <a:pt x="3483" y="700"/>
                  </a:cubicBezTo>
                  <a:cubicBezTo>
                    <a:pt x="3541" y="769"/>
                    <a:pt x="3569" y="789"/>
                    <a:pt x="3647" y="893"/>
                  </a:cubicBezTo>
                  <a:cubicBezTo>
                    <a:pt x="3850" y="1164"/>
                    <a:pt x="4023" y="1591"/>
                    <a:pt x="4023" y="1947"/>
                  </a:cubicBezTo>
                  <a:cubicBezTo>
                    <a:pt x="4023" y="2470"/>
                    <a:pt x="3975" y="2614"/>
                    <a:pt x="3777" y="3014"/>
                  </a:cubicBezTo>
                  <a:cubicBezTo>
                    <a:pt x="3733" y="3103"/>
                    <a:pt x="3548" y="3369"/>
                    <a:pt x="3473" y="3429"/>
                  </a:cubicBezTo>
                  <a:cubicBezTo>
                    <a:pt x="3340" y="3534"/>
                    <a:pt x="3274" y="3636"/>
                    <a:pt x="3077" y="3745"/>
                  </a:cubicBezTo>
                  <a:cubicBezTo>
                    <a:pt x="3019" y="3777"/>
                    <a:pt x="2974" y="3800"/>
                    <a:pt x="2914" y="3827"/>
                  </a:cubicBezTo>
                  <a:cubicBezTo>
                    <a:pt x="2776" y="3889"/>
                    <a:pt x="2714" y="3912"/>
                    <a:pt x="2567" y="3955"/>
                  </a:cubicBezTo>
                  <a:cubicBezTo>
                    <a:pt x="2455" y="3988"/>
                    <a:pt x="2297" y="4022"/>
                    <a:pt x="2152" y="4022"/>
                  </a:cubicBezTo>
                  <a:close/>
                  <a:moveTo>
                    <a:pt x="9" y="1880"/>
                  </a:moveTo>
                  <a:cubicBezTo>
                    <a:pt x="9" y="2149"/>
                    <a:pt x="0" y="2296"/>
                    <a:pt x="62" y="2563"/>
                  </a:cubicBezTo>
                  <a:cubicBezTo>
                    <a:pt x="76" y="2621"/>
                    <a:pt x="99" y="2693"/>
                    <a:pt x="122" y="2749"/>
                  </a:cubicBezTo>
                  <a:cubicBezTo>
                    <a:pt x="207" y="2959"/>
                    <a:pt x="341" y="3194"/>
                    <a:pt x="480" y="3373"/>
                  </a:cubicBezTo>
                  <a:cubicBezTo>
                    <a:pt x="543" y="3455"/>
                    <a:pt x="651" y="3558"/>
                    <a:pt x="730" y="3623"/>
                  </a:cubicBezTo>
                  <a:lnTo>
                    <a:pt x="868" y="3730"/>
                  </a:lnTo>
                  <a:cubicBezTo>
                    <a:pt x="893" y="3748"/>
                    <a:pt x="914" y="3762"/>
                    <a:pt x="939" y="3778"/>
                  </a:cubicBezTo>
                  <a:cubicBezTo>
                    <a:pt x="966" y="3795"/>
                    <a:pt x="993" y="3812"/>
                    <a:pt x="1017" y="3827"/>
                  </a:cubicBezTo>
                  <a:cubicBezTo>
                    <a:pt x="1283" y="3980"/>
                    <a:pt x="1622" y="4106"/>
                    <a:pt x="1982" y="4106"/>
                  </a:cubicBezTo>
                  <a:cubicBezTo>
                    <a:pt x="2426" y="4106"/>
                    <a:pt x="2563" y="4069"/>
                    <a:pt x="2935" y="3917"/>
                  </a:cubicBezTo>
                  <a:lnTo>
                    <a:pt x="3094" y="3830"/>
                  </a:lnTo>
                  <a:cubicBezTo>
                    <a:pt x="3147" y="3801"/>
                    <a:pt x="3197" y="3767"/>
                    <a:pt x="3243" y="3733"/>
                  </a:cubicBezTo>
                  <a:lnTo>
                    <a:pt x="3379" y="3624"/>
                  </a:lnTo>
                  <a:cubicBezTo>
                    <a:pt x="3403" y="3605"/>
                    <a:pt x="3422" y="3594"/>
                    <a:pt x="3445" y="3571"/>
                  </a:cubicBezTo>
                  <a:lnTo>
                    <a:pt x="3624" y="3377"/>
                  </a:lnTo>
                  <a:cubicBezTo>
                    <a:pt x="3763" y="3205"/>
                    <a:pt x="3800" y="3163"/>
                    <a:pt x="3915" y="2932"/>
                  </a:cubicBezTo>
                  <a:cubicBezTo>
                    <a:pt x="4155" y="2453"/>
                    <a:pt x="4182" y="1744"/>
                    <a:pt x="3944" y="1247"/>
                  </a:cubicBezTo>
                  <a:lnTo>
                    <a:pt x="3813" y="1006"/>
                  </a:lnTo>
                  <a:cubicBezTo>
                    <a:pt x="3780" y="952"/>
                    <a:pt x="3753" y="896"/>
                    <a:pt x="3718" y="847"/>
                  </a:cubicBezTo>
                  <a:lnTo>
                    <a:pt x="3470" y="595"/>
                  </a:lnTo>
                  <a:cubicBezTo>
                    <a:pt x="3363" y="487"/>
                    <a:pt x="3265" y="393"/>
                    <a:pt x="3139" y="308"/>
                  </a:cubicBezTo>
                  <a:cubicBezTo>
                    <a:pt x="2870" y="127"/>
                    <a:pt x="2419" y="0"/>
                    <a:pt x="2067" y="0"/>
                  </a:cubicBezTo>
                  <a:cubicBezTo>
                    <a:pt x="1608" y="0"/>
                    <a:pt x="1130" y="165"/>
                    <a:pt x="787" y="439"/>
                  </a:cubicBezTo>
                  <a:cubicBezTo>
                    <a:pt x="457" y="703"/>
                    <a:pt x="223" y="1059"/>
                    <a:pt x="89" y="1459"/>
                  </a:cubicBezTo>
                  <a:cubicBezTo>
                    <a:pt x="52" y="1570"/>
                    <a:pt x="9" y="1739"/>
                    <a:pt x="9" y="18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2" name="Freeform 15"/>
            <p:cNvSpPr>
              <a:spLocks noEditPoints="1"/>
            </p:cNvSpPr>
            <p:nvPr/>
          </p:nvSpPr>
          <p:spPr bwMode="auto">
            <a:xfrm>
              <a:off x="4570413" y="2382838"/>
              <a:ext cx="298450" cy="184150"/>
            </a:xfrm>
            <a:custGeom>
              <a:avLst/>
              <a:gdLst>
                <a:gd name="T0" fmla="*/ 781 w 1287"/>
                <a:gd name="T1" fmla="*/ 444 h 788"/>
                <a:gd name="T2" fmla="*/ 1067 w 1287"/>
                <a:gd name="T3" fmla="*/ 69 h 788"/>
                <a:gd name="T4" fmla="*/ 1118 w 1287"/>
                <a:gd name="T5" fmla="*/ 128 h 788"/>
                <a:gd name="T6" fmla="*/ 1228 w 1287"/>
                <a:gd name="T7" fmla="*/ 204 h 788"/>
                <a:gd name="T8" fmla="*/ 1236 w 1287"/>
                <a:gd name="T9" fmla="*/ 187 h 788"/>
                <a:gd name="T10" fmla="*/ 1278 w 1287"/>
                <a:gd name="T11" fmla="*/ 86 h 788"/>
                <a:gd name="T12" fmla="*/ 1168 w 1287"/>
                <a:gd name="T13" fmla="*/ 103 h 788"/>
                <a:gd name="T14" fmla="*/ 997 w 1287"/>
                <a:gd name="T15" fmla="*/ 101 h 788"/>
                <a:gd name="T16" fmla="*/ 728 w 1287"/>
                <a:gd name="T17" fmla="*/ 306 h 788"/>
                <a:gd name="T18" fmla="*/ 779 w 1287"/>
                <a:gd name="T19" fmla="*/ 433 h 788"/>
                <a:gd name="T20" fmla="*/ 711 w 1287"/>
                <a:gd name="T21" fmla="*/ 314 h 788"/>
                <a:gd name="T22" fmla="*/ 398 w 1287"/>
                <a:gd name="T23" fmla="*/ 450 h 788"/>
                <a:gd name="T24" fmla="*/ 329 w 1287"/>
                <a:gd name="T25" fmla="*/ 484 h 788"/>
                <a:gd name="T26" fmla="*/ 152 w 1287"/>
                <a:gd name="T27" fmla="*/ 534 h 788"/>
                <a:gd name="T28" fmla="*/ 203 w 1287"/>
                <a:gd name="T29" fmla="*/ 721 h 788"/>
                <a:gd name="T30" fmla="*/ 102 w 1287"/>
                <a:gd name="T31" fmla="*/ 543 h 788"/>
                <a:gd name="T32" fmla="*/ 0 w 1287"/>
                <a:gd name="T33" fmla="*/ 534 h 788"/>
                <a:gd name="T34" fmla="*/ 42 w 1287"/>
                <a:gd name="T35" fmla="*/ 560 h 788"/>
                <a:gd name="T36" fmla="*/ 220 w 1287"/>
                <a:gd name="T37" fmla="*/ 534 h 788"/>
                <a:gd name="T38" fmla="*/ 313 w 1287"/>
                <a:gd name="T39" fmla="*/ 729 h 788"/>
                <a:gd name="T40" fmla="*/ 406 w 1287"/>
                <a:gd name="T41" fmla="*/ 678 h 788"/>
                <a:gd name="T42" fmla="*/ 421 w 1287"/>
                <a:gd name="T43" fmla="*/ 630 h 788"/>
                <a:gd name="T44" fmla="*/ 474 w 1287"/>
                <a:gd name="T45" fmla="*/ 458 h 788"/>
                <a:gd name="T46" fmla="*/ 584 w 1287"/>
                <a:gd name="T47" fmla="*/ 628 h 788"/>
                <a:gd name="T48" fmla="*/ 686 w 1287"/>
                <a:gd name="T49" fmla="*/ 619 h 788"/>
                <a:gd name="T50" fmla="*/ 609 w 1287"/>
                <a:gd name="T51" fmla="*/ 501 h 788"/>
                <a:gd name="T52" fmla="*/ 821 w 1287"/>
                <a:gd name="T53" fmla="*/ 534 h 788"/>
                <a:gd name="T54" fmla="*/ 838 w 1287"/>
                <a:gd name="T55" fmla="*/ 271 h 788"/>
                <a:gd name="T56" fmla="*/ 940 w 1287"/>
                <a:gd name="T57" fmla="*/ 450 h 788"/>
                <a:gd name="T58" fmla="*/ 1049 w 1287"/>
                <a:gd name="T59" fmla="*/ 264 h 788"/>
                <a:gd name="T60" fmla="*/ 957 w 1287"/>
                <a:gd name="T61" fmla="*/ 297 h 788"/>
                <a:gd name="T62" fmla="*/ 948 w 1287"/>
                <a:gd name="T63" fmla="*/ 221 h 788"/>
                <a:gd name="T64" fmla="*/ 897 w 1287"/>
                <a:gd name="T65" fmla="*/ 213 h 788"/>
                <a:gd name="T66" fmla="*/ 982 w 1287"/>
                <a:gd name="T67" fmla="*/ 145 h 788"/>
                <a:gd name="T68" fmla="*/ 1228 w 1287"/>
                <a:gd name="T69" fmla="*/ 204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7" h="788">
                  <a:moveTo>
                    <a:pt x="779" y="441"/>
                  </a:moveTo>
                  <a:lnTo>
                    <a:pt x="781" y="444"/>
                  </a:lnTo>
                  <a:cubicBezTo>
                    <a:pt x="781" y="444"/>
                    <a:pt x="778" y="442"/>
                    <a:pt x="779" y="441"/>
                  </a:cubicBezTo>
                  <a:close/>
                  <a:moveTo>
                    <a:pt x="1067" y="69"/>
                  </a:moveTo>
                  <a:cubicBezTo>
                    <a:pt x="1103" y="70"/>
                    <a:pt x="1119" y="73"/>
                    <a:pt x="1134" y="94"/>
                  </a:cubicBezTo>
                  <a:cubicBezTo>
                    <a:pt x="1128" y="119"/>
                    <a:pt x="1131" y="108"/>
                    <a:pt x="1118" y="128"/>
                  </a:cubicBezTo>
                  <a:cubicBezTo>
                    <a:pt x="1087" y="120"/>
                    <a:pt x="1071" y="104"/>
                    <a:pt x="1067" y="69"/>
                  </a:cubicBezTo>
                  <a:close/>
                  <a:moveTo>
                    <a:pt x="1228" y="204"/>
                  </a:moveTo>
                  <a:cubicBezTo>
                    <a:pt x="1197" y="204"/>
                    <a:pt x="1151" y="208"/>
                    <a:pt x="1134" y="145"/>
                  </a:cubicBezTo>
                  <a:lnTo>
                    <a:pt x="1236" y="187"/>
                  </a:lnTo>
                  <a:cubicBezTo>
                    <a:pt x="1285" y="186"/>
                    <a:pt x="1287" y="147"/>
                    <a:pt x="1287" y="94"/>
                  </a:cubicBezTo>
                  <a:lnTo>
                    <a:pt x="1278" y="86"/>
                  </a:lnTo>
                  <a:cubicBezTo>
                    <a:pt x="1254" y="104"/>
                    <a:pt x="1262" y="85"/>
                    <a:pt x="1261" y="128"/>
                  </a:cubicBezTo>
                  <a:cubicBezTo>
                    <a:pt x="1227" y="110"/>
                    <a:pt x="1223" y="103"/>
                    <a:pt x="1168" y="103"/>
                  </a:cubicBezTo>
                  <a:cubicBezTo>
                    <a:pt x="1185" y="67"/>
                    <a:pt x="1186" y="58"/>
                    <a:pt x="1177" y="18"/>
                  </a:cubicBezTo>
                  <a:cubicBezTo>
                    <a:pt x="1101" y="0"/>
                    <a:pt x="1032" y="42"/>
                    <a:pt x="997" y="101"/>
                  </a:cubicBezTo>
                  <a:cubicBezTo>
                    <a:pt x="973" y="143"/>
                    <a:pt x="994" y="128"/>
                    <a:pt x="952" y="149"/>
                  </a:cubicBezTo>
                  <a:cubicBezTo>
                    <a:pt x="891" y="179"/>
                    <a:pt x="764" y="296"/>
                    <a:pt x="728" y="306"/>
                  </a:cubicBezTo>
                  <a:lnTo>
                    <a:pt x="762" y="323"/>
                  </a:lnTo>
                  <a:cubicBezTo>
                    <a:pt x="765" y="356"/>
                    <a:pt x="776" y="400"/>
                    <a:pt x="779" y="433"/>
                  </a:cubicBezTo>
                  <a:cubicBezTo>
                    <a:pt x="741" y="413"/>
                    <a:pt x="721" y="392"/>
                    <a:pt x="686" y="374"/>
                  </a:cubicBezTo>
                  <a:cubicBezTo>
                    <a:pt x="696" y="354"/>
                    <a:pt x="705" y="339"/>
                    <a:pt x="711" y="314"/>
                  </a:cubicBezTo>
                  <a:cubicBezTo>
                    <a:pt x="687" y="327"/>
                    <a:pt x="665" y="337"/>
                    <a:pt x="638" y="351"/>
                  </a:cubicBezTo>
                  <a:cubicBezTo>
                    <a:pt x="545" y="401"/>
                    <a:pt x="522" y="421"/>
                    <a:pt x="398" y="450"/>
                  </a:cubicBezTo>
                  <a:cubicBezTo>
                    <a:pt x="405" y="534"/>
                    <a:pt x="425" y="404"/>
                    <a:pt x="466" y="577"/>
                  </a:cubicBezTo>
                  <a:cubicBezTo>
                    <a:pt x="379" y="531"/>
                    <a:pt x="382" y="491"/>
                    <a:pt x="329" y="484"/>
                  </a:cubicBezTo>
                  <a:cubicBezTo>
                    <a:pt x="287" y="478"/>
                    <a:pt x="268" y="491"/>
                    <a:pt x="233" y="497"/>
                  </a:cubicBezTo>
                  <a:cubicBezTo>
                    <a:pt x="181" y="506"/>
                    <a:pt x="165" y="486"/>
                    <a:pt x="152" y="534"/>
                  </a:cubicBezTo>
                  <a:cubicBezTo>
                    <a:pt x="181" y="537"/>
                    <a:pt x="183" y="541"/>
                    <a:pt x="203" y="551"/>
                  </a:cubicBezTo>
                  <a:cubicBezTo>
                    <a:pt x="203" y="623"/>
                    <a:pt x="216" y="664"/>
                    <a:pt x="203" y="721"/>
                  </a:cubicBezTo>
                  <a:cubicBezTo>
                    <a:pt x="173" y="728"/>
                    <a:pt x="175" y="729"/>
                    <a:pt x="135" y="729"/>
                  </a:cubicBezTo>
                  <a:cubicBezTo>
                    <a:pt x="121" y="700"/>
                    <a:pt x="102" y="589"/>
                    <a:pt x="102" y="543"/>
                  </a:cubicBezTo>
                  <a:cubicBezTo>
                    <a:pt x="142" y="539"/>
                    <a:pt x="116" y="555"/>
                    <a:pt x="135" y="518"/>
                  </a:cubicBezTo>
                  <a:cubicBezTo>
                    <a:pt x="103" y="518"/>
                    <a:pt x="28" y="528"/>
                    <a:pt x="0" y="534"/>
                  </a:cubicBezTo>
                  <a:lnTo>
                    <a:pt x="0" y="560"/>
                  </a:lnTo>
                  <a:lnTo>
                    <a:pt x="42" y="560"/>
                  </a:lnTo>
                  <a:cubicBezTo>
                    <a:pt x="42" y="675"/>
                    <a:pt x="45" y="788"/>
                    <a:pt x="166" y="760"/>
                  </a:cubicBezTo>
                  <a:cubicBezTo>
                    <a:pt x="291" y="731"/>
                    <a:pt x="222" y="614"/>
                    <a:pt x="220" y="534"/>
                  </a:cubicBezTo>
                  <a:cubicBezTo>
                    <a:pt x="250" y="528"/>
                    <a:pt x="248" y="526"/>
                    <a:pt x="288" y="526"/>
                  </a:cubicBezTo>
                  <a:cubicBezTo>
                    <a:pt x="318" y="657"/>
                    <a:pt x="328" y="555"/>
                    <a:pt x="313" y="729"/>
                  </a:cubicBezTo>
                  <a:cubicBezTo>
                    <a:pt x="354" y="720"/>
                    <a:pt x="351" y="712"/>
                    <a:pt x="406" y="712"/>
                  </a:cubicBezTo>
                  <a:lnTo>
                    <a:pt x="406" y="678"/>
                  </a:lnTo>
                  <a:cubicBezTo>
                    <a:pt x="354" y="677"/>
                    <a:pt x="338" y="656"/>
                    <a:pt x="330" y="560"/>
                  </a:cubicBezTo>
                  <a:cubicBezTo>
                    <a:pt x="364" y="578"/>
                    <a:pt x="392" y="604"/>
                    <a:pt x="421" y="630"/>
                  </a:cubicBezTo>
                  <a:cubicBezTo>
                    <a:pt x="494" y="693"/>
                    <a:pt x="484" y="673"/>
                    <a:pt x="525" y="670"/>
                  </a:cubicBezTo>
                  <a:cubicBezTo>
                    <a:pt x="518" y="589"/>
                    <a:pt x="474" y="546"/>
                    <a:pt x="474" y="458"/>
                  </a:cubicBezTo>
                  <a:cubicBezTo>
                    <a:pt x="491" y="450"/>
                    <a:pt x="504" y="446"/>
                    <a:pt x="525" y="441"/>
                  </a:cubicBezTo>
                  <a:cubicBezTo>
                    <a:pt x="531" y="514"/>
                    <a:pt x="584" y="547"/>
                    <a:pt x="584" y="628"/>
                  </a:cubicBezTo>
                  <a:cubicBezTo>
                    <a:pt x="556" y="638"/>
                    <a:pt x="578" y="617"/>
                    <a:pt x="559" y="653"/>
                  </a:cubicBezTo>
                  <a:cubicBezTo>
                    <a:pt x="621" y="648"/>
                    <a:pt x="618" y="619"/>
                    <a:pt x="686" y="619"/>
                  </a:cubicBezTo>
                  <a:lnTo>
                    <a:pt x="686" y="585"/>
                  </a:lnTo>
                  <a:cubicBezTo>
                    <a:pt x="641" y="584"/>
                    <a:pt x="647" y="581"/>
                    <a:pt x="609" y="501"/>
                  </a:cubicBezTo>
                  <a:cubicBezTo>
                    <a:pt x="599" y="478"/>
                    <a:pt x="564" y="384"/>
                    <a:pt x="628" y="403"/>
                  </a:cubicBezTo>
                  <a:cubicBezTo>
                    <a:pt x="686" y="420"/>
                    <a:pt x="739" y="533"/>
                    <a:pt x="821" y="534"/>
                  </a:cubicBezTo>
                  <a:cubicBezTo>
                    <a:pt x="821" y="435"/>
                    <a:pt x="782" y="377"/>
                    <a:pt x="804" y="280"/>
                  </a:cubicBezTo>
                  <a:lnTo>
                    <a:pt x="838" y="271"/>
                  </a:lnTo>
                  <a:lnTo>
                    <a:pt x="938" y="393"/>
                  </a:lnTo>
                  <a:cubicBezTo>
                    <a:pt x="955" y="421"/>
                    <a:pt x="941" y="401"/>
                    <a:pt x="940" y="450"/>
                  </a:cubicBezTo>
                  <a:cubicBezTo>
                    <a:pt x="1024" y="405"/>
                    <a:pt x="1066" y="358"/>
                    <a:pt x="1118" y="323"/>
                  </a:cubicBezTo>
                  <a:cubicBezTo>
                    <a:pt x="1114" y="316"/>
                    <a:pt x="1049" y="209"/>
                    <a:pt x="1049" y="264"/>
                  </a:cubicBezTo>
                  <a:cubicBezTo>
                    <a:pt x="1048" y="315"/>
                    <a:pt x="1063" y="359"/>
                    <a:pt x="991" y="365"/>
                  </a:cubicBezTo>
                  <a:cubicBezTo>
                    <a:pt x="979" y="317"/>
                    <a:pt x="967" y="336"/>
                    <a:pt x="957" y="297"/>
                  </a:cubicBezTo>
                  <a:cubicBezTo>
                    <a:pt x="990" y="297"/>
                    <a:pt x="991" y="300"/>
                    <a:pt x="1016" y="306"/>
                  </a:cubicBezTo>
                  <a:cubicBezTo>
                    <a:pt x="1015" y="253"/>
                    <a:pt x="991" y="231"/>
                    <a:pt x="948" y="221"/>
                  </a:cubicBezTo>
                  <a:lnTo>
                    <a:pt x="948" y="272"/>
                  </a:lnTo>
                  <a:cubicBezTo>
                    <a:pt x="909" y="263"/>
                    <a:pt x="898" y="258"/>
                    <a:pt x="897" y="213"/>
                  </a:cubicBezTo>
                  <a:cubicBezTo>
                    <a:pt x="962" y="198"/>
                    <a:pt x="958" y="208"/>
                    <a:pt x="1016" y="213"/>
                  </a:cubicBezTo>
                  <a:cubicBezTo>
                    <a:pt x="1015" y="161"/>
                    <a:pt x="1005" y="179"/>
                    <a:pt x="982" y="145"/>
                  </a:cubicBezTo>
                  <a:cubicBezTo>
                    <a:pt x="1051" y="112"/>
                    <a:pt x="1133" y="224"/>
                    <a:pt x="1134" y="289"/>
                  </a:cubicBezTo>
                  <a:cubicBezTo>
                    <a:pt x="1164" y="281"/>
                    <a:pt x="1211" y="229"/>
                    <a:pt x="1228" y="2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3" name="Freeform 16"/>
            <p:cNvSpPr>
              <a:spLocks noEditPoints="1"/>
            </p:cNvSpPr>
            <p:nvPr/>
          </p:nvSpPr>
          <p:spPr bwMode="auto">
            <a:xfrm>
              <a:off x="4165600" y="2305051"/>
              <a:ext cx="212725" cy="219075"/>
            </a:xfrm>
            <a:custGeom>
              <a:avLst/>
              <a:gdLst>
                <a:gd name="T0" fmla="*/ 770 w 914"/>
                <a:gd name="T1" fmla="*/ 779 h 937"/>
                <a:gd name="T2" fmla="*/ 796 w 914"/>
                <a:gd name="T3" fmla="*/ 686 h 937"/>
                <a:gd name="T4" fmla="*/ 855 w 914"/>
                <a:gd name="T5" fmla="*/ 720 h 937"/>
                <a:gd name="T6" fmla="*/ 770 w 914"/>
                <a:gd name="T7" fmla="*/ 779 h 937"/>
                <a:gd name="T8" fmla="*/ 677 w 914"/>
                <a:gd name="T9" fmla="*/ 712 h 937"/>
                <a:gd name="T10" fmla="*/ 728 w 914"/>
                <a:gd name="T11" fmla="*/ 618 h 937"/>
                <a:gd name="T12" fmla="*/ 677 w 914"/>
                <a:gd name="T13" fmla="*/ 712 h 937"/>
                <a:gd name="T14" fmla="*/ 421 w 914"/>
                <a:gd name="T15" fmla="*/ 642 h 937"/>
                <a:gd name="T16" fmla="*/ 381 w 914"/>
                <a:gd name="T17" fmla="*/ 618 h 937"/>
                <a:gd name="T18" fmla="*/ 388 w 914"/>
                <a:gd name="T19" fmla="*/ 600 h 937"/>
                <a:gd name="T20" fmla="*/ 415 w 914"/>
                <a:gd name="T21" fmla="*/ 542 h 937"/>
                <a:gd name="T22" fmla="*/ 482 w 914"/>
                <a:gd name="T23" fmla="*/ 576 h 937"/>
                <a:gd name="T24" fmla="*/ 421 w 914"/>
                <a:gd name="T25" fmla="*/ 642 h 937"/>
                <a:gd name="T26" fmla="*/ 447 w 914"/>
                <a:gd name="T27" fmla="*/ 510 h 937"/>
                <a:gd name="T28" fmla="*/ 533 w 914"/>
                <a:gd name="T29" fmla="*/ 500 h 937"/>
                <a:gd name="T30" fmla="*/ 499 w 914"/>
                <a:gd name="T31" fmla="*/ 559 h 937"/>
                <a:gd name="T32" fmla="*/ 447 w 914"/>
                <a:gd name="T33" fmla="*/ 510 h 937"/>
                <a:gd name="T34" fmla="*/ 0 w 914"/>
                <a:gd name="T35" fmla="*/ 136 h 937"/>
                <a:gd name="T36" fmla="*/ 180 w 914"/>
                <a:gd name="T37" fmla="*/ 231 h 937"/>
                <a:gd name="T38" fmla="*/ 279 w 914"/>
                <a:gd name="T39" fmla="*/ 212 h 937"/>
                <a:gd name="T40" fmla="*/ 228 w 914"/>
                <a:gd name="T41" fmla="*/ 280 h 937"/>
                <a:gd name="T42" fmla="*/ 322 w 914"/>
                <a:gd name="T43" fmla="*/ 271 h 937"/>
                <a:gd name="T44" fmla="*/ 247 w 914"/>
                <a:gd name="T45" fmla="*/ 350 h 937"/>
                <a:gd name="T46" fmla="*/ 152 w 914"/>
                <a:gd name="T47" fmla="*/ 390 h 937"/>
                <a:gd name="T48" fmla="*/ 245 w 914"/>
                <a:gd name="T49" fmla="*/ 491 h 937"/>
                <a:gd name="T50" fmla="*/ 290 w 914"/>
                <a:gd name="T51" fmla="*/ 409 h 937"/>
                <a:gd name="T52" fmla="*/ 372 w 914"/>
                <a:gd name="T53" fmla="*/ 339 h 937"/>
                <a:gd name="T54" fmla="*/ 364 w 914"/>
                <a:gd name="T55" fmla="*/ 432 h 937"/>
                <a:gd name="T56" fmla="*/ 440 w 914"/>
                <a:gd name="T57" fmla="*/ 398 h 937"/>
                <a:gd name="T58" fmla="*/ 346 w 914"/>
                <a:gd name="T59" fmla="*/ 532 h 937"/>
                <a:gd name="T60" fmla="*/ 288 w 914"/>
                <a:gd name="T61" fmla="*/ 551 h 937"/>
                <a:gd name="T62" fmla="*/ 491 w 914"/>
                <a:gd name="T63" fmla="*/ 720 h 937"/>
                <a:gd name="T64" fmla="*/ 474 w 914"/>
                <a:gd name="T65" fmla="*/ 678 h 937"/>
                <a:gd name="T66" fmla="*/ 584 w 914"/>
                <a:gd name="T67" fmla="*/ 551 h 937"/>
                <a:gd name="T68" fmla="*/ 643 w 914"/>
                <a:gd name="T69" fmla="*/ 576 h 937"/>
                <a:gd name="T70" fmla="*/ 601 w 914"/>
                <a:gd name="T71" fmla="*/ 813 h 937"/>
                <a:gd name="T72" fmla="*/ 711 w 914"/>
                <a:gd name="T73" fmla="*/ 745 h 937"/>
                <a:gd name="T74" fmla="*/ 688 w 914"/>
                <a:gd name="T75" fmla="*/ 850 h 937"/>
                <a:gd name="T76" fmla="*/ 914 w 914"/>
                <a:gd name="T77" fmla="*/ 737 h 937"/>
                <a:gd name="T78" fmla="*/ 830 w 914"/>
                <a:gd name="T79" fmla="*/ 678 h 937"/>
                <a:gd name="T80" fmla="*/ 747 w 914"/>
                <a:gd name="T81" fmla="*/ 617 h 937"/>
                <a:gd name="T82" fmla="*/ 661 w 914"/>
                <a:gd name="T83" fmla="*/ 559 h 937"/>
                <a:gd name="T84" fmla="*/ 539 w 914"/>
                <a:gd name="T85" fmla="*/ 468 h 937"/>
                <a:gd name="T86" fmla="*/ 505 w 914"/>
                <a:gd name="T87" fmla="*/ 427 h 937"/>
                <a:gd name="T88" fmla="*/ 464 w 914"/>
                <a:gd name="T89" fmla="*/ 400 h 937"/>
                <a:gd name="T90" fmla="*/ 332 w 914"/>
                <a:gd name="T91" fmla="*/ 244 h 937"/>
                <a:gd name="T92" fmla="*/ 291 w 914"/>
                <a:gd name="T93" fmla="*/ 208 h 937"/>
                <a:gd name="T94" fmla="*/ 228 w 914"/>
                <a:gd name="T95" fmla="*/ 119 h 937"/>
                <a:gd name="T96" fmla="*/ 175 w 914"/>
                <a:gd name="T97" fmla="*/ 201 h 937"/>
                <a:gd name="T98" fmla="*/ 76 w 914"/>
                <a:gd name="T99" fmla="*/ 237 h 937"/>
                <a:gd name="T100" fmla="*/ 39 w 914"/>
                <a:gd name="T101" fmla="*/ 191 h 937"/>
                <a:gd name="T102" fmla="*/ 228 w 914"/>
                <a:gd name="T103" fmla="*/ 110 h 937"/>
                <a:gd name="T104" fmla="*/ 169 w 914"/>
                <a:gd name="T105" fmla="*/ 0 h 937"/>
                <a:gd name="T106" fmla="*/ 134 w 914"/>
                <a:gd name="T107" fmla="*/ 41 h 937"/>
                <a:gd name="T108" fmla="*/ 117 w 914"/>
                <a:gd name="T109" fmla="*/ 58 h 937"/>
                <a:gd name="T110" fmla="*/ 0 w 914"/>
                <a:gd name="T111" fmla="*/ 136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4" h="937">
                  <a:moveTo>
                    <a:pt x="770" y="779"/>
                  </a:moveTo>
                  <a:cubicBezTo>
                    <a:pt x="781" y="756"/>
                    <a:pt x="795" y="719"/>
                    <a:pt x="796" y="686"/>
                  </a:cubicBezTo>
                  <a:cubicBezTo>
                    <a:pt x="852" y="686"/>
                    <a:pt x="838" y="687"/>
                    <a:pt x="855" y="720"/>
                  </a:cubicBezTo>
                  <a:lnTo>
                    <a:pt x="770" y="779"/>
                  </a:lnTo>
                  <a:close/>
                  <a:moveTo>
                    <a:pt x="677" y="712"/>
                  </a:moveTo>
                  <a:cubicBezTo>
                    <a:pt x="684" y="634"/>
                    <a:pt x="696" y="626"/>
                    <a:pt x="728" y="618"/>
                  </a:cubicBezTo>
                  <a:cubicBezTo>
                    <a:pt x="734" y="646"/>
                    <a:pt x="758" y="693"/>
                    <a:pt x="677" y="712"/>
                  </a:cubicBezTo>
                  <a:close/>
                  <a:moveTo>
                    <a:pt x="421" y="642"/>
                  </a:moveTo>
                  <a:cubicBezTo>
                    <a:pt x="399" y="627"/>
                    <a:pt x="412" y="627"/>
                    <a:pt x="381" y="618"/>
                  </a:cubicBezTo>
                  <a:cubicBezTo>
                    <a:pt x="383" y="614"/>
                    <a:pt x="387" y="603"/>
                    <a:pt x="388" y="600"/>
                  </a:cubicBezTo>
                  <a:cubicBezTo>
                    <a:pt x="416" y="544"/>
                    <a:pt x="411" y="591"/>
                    <a:pt x="415" y="542"/>
                  </a:cubicBezTo>
                  <a:cubicBezTo>
                    <a:pt x="466" y="543"/>
                    <a:pt x="448" y="553"/>
                    <a:pt x="482" y="576"/>
                  </a:cubicBezTo>
                  <a:lnTo>
                    <a:pt x="421" y="642"/>
                  </a:lnTo>
                  <a:close/>
                  <a:moveTo>
                    <a:pt x="447" y="510"/>
                  </a:moveTo>
                  <a:cubicBezTo>
                    <a:pt x="449" y="508"/>
                    <a:pt x="533" y="433"/>
                    <a:pt x="533" y="500"/>
                  </a:cubicBezTo>
                  <a:cubicBezTo>
                    <a:pt x="533" y="515"/>
                    <a:pt x="508" y="547"/>
                    <a:pt x="499" y="559"/>
                  </a:cubicBezTo>
                  <a:lnTo>
                    <a:pt x="447" y="510"/>
                  </a:lnTo>
                  <a:close/>
                  <a:moveTo>
                    <a:pt x="0" y="136"/>
                  </a:moveTo>
                  <a:cubicBezTo>
                    <a:pt x="0" y="253"/>
                    <a:pt x="70" y="313"/>
                    <a:pt x="180" y="231"/>
                  </a:cubicBezTo>
                  <a:cubicBezTo>
                    <a:pt x="215" y="204"/>
                    <a:pt x="223" y="212"/>
                    <a:pt x="279" y="212"/>
                  </a:cubicBezTo>
                  <a:cubicBezTo>
                    <a:pt x="255" y="246"/>
                    <a:pt x="242" y="223"/>
                    <a:pt x="228" y="280"/>
                  </a:cubicBezTo>
                  <a:cubicBezTo>
                    <a:pt x="265" y="279"/>
                    <a:pt x="275" y="271"/>
                    <a:pt x="322" y="271"/>
                  </a:cubicBezTo>
                  <a:cubicBezTo>
                    <a:pt x="310" y="321"/>
                    <a:pt x="280" y="319"/>
                    <a:pt x="247" y="350"/>
                  </a:cubicBezTo>
                  <a:cubicBezTo>
                    <a:pt x="174" y="419"/>
                    <a:pt x="221" y="391"/>
                    <a:pt x="152" y="390"/>
                  </a:cubicBezTo>
                  <a:cubicBezTo>
                    <a:pt x="156" y="432"/>
                    <a:pt x="224" y="486"/>
                    <a:pt x="245" y="491"/>
                  </a:cubicBezTo>
                  <a:cubicBezTo>
                    <a:pt x="232" y="433"/>
                    <a:pt x="252" y="442"/>
                    <a:pt x="290" y="409"/>
                  </a:cubicBezTo>
                  <a:cubicBezTo>
                    <a:pt x="326" y="378"/>
                    <a:pt x="327" y="363"/>
                    <a:pt x="372" y="339"/>
                  </a:cubicBezTo>
                  <a:cubicBezTo>
                    <a:pt x="372" y="386"/>
                    <a:pt x="367" y="397"/>
                    <a:pt x="364" y="432"/>
                  </a:cubicBezTo>
                  <a:cubicBezTo>
                    <a:pt x="438" y="397"/>
                    <a:pt x="398" y="402"/>
                    <a:pt x="440" y="398"/>
                  </a:cubicBezTo>
                  <a:cubicBezTo>
                    <a:pt x="436" y="449"/>
                    <a:pt x="387" y="495"/>
                    <a:pt x="346" y="532"/>
                  </a:cubicBezTo>
                  <a:cubicBezTo>
                    <a:pt x="322" y="554"/>
                    <a:pt x="330" y="551"/>
                    <a:pt x="288" y="551"/>
                  </a:cubicBezTo>
                  <a:cubicBezTo>
                    <a:pt x="316" y="593"/>
                    <a:pt x="445" y="709"/>
                    <a:pt x="491" y="720"/>
                  </a:cubicBezTo>
                  <a:cubicBezTo>
                    <a:pt x="488" y="684"/>
                    <a:pt x="492" y="705"/>
                    <a:pt x="474" y="678"/>
                  </a:cubicBezTo>
                  <a:cubicBezTo>
                    <a:pt x="513" y="667"/>
                    <a:pt x="565" y="586"/>
                    <a:pt x="584" y="551"/>
                  </a:cubicBezTo>
                  <a:cubicBezTo>
                    <a:pt x="604" y="561"/>
                    <a:pt x="623" y="565"/>
                    <a:pt x="643" y="576"/>
                  </a:cubicBezTo>
                  <a:cubicBezTo>
                    <a:pt x="615" y="696"/>
                    <a:pt x="591" y="697"/>
                    <a:pt x="601" y="813"/>
                  </a:cubicBezTo>
                  <a:cubicBezTo>
                    <a:pt x="655" y="800"/>
                    <a:pt x="658" y="760"/>
                    <a:pt x="711" y="745"/>
                  </a:cubicBezTo>
                  <a:cubicBezTo>
                    <a:pt x="707" y="763"/>
                    <a:pt x="687" y="838"/>
                    <a:pt x="688" y="850"/>
                  </a:cubicBezTo>
                  <a:cubicBezTo>
                    <a:pt x="695" y="937"/>
                    <a:pt x="793" y="765"/>
                    <a:pt x="914" y="737"/>
                  </a:cubicBezTo>
                  <a:cubicBezTo>
                    <a:pt x="910" y="689"/>
                    <a:pt x="877" y="682"/>
                    <a:pt x="830" y="678"/>
                  </a:cubicBezTo>
                  <a:cubicBezTo>
                    <a:pt x="826" y="643"/>
                    <a:pt x="828" y="647"/>
                    <a:pt x="747" y="617"/>
                  </a:cubicBezTo>
                  <a:cubicBezTo>
                    <a:pt x="696" y="598"/>
                    <a:pt x="754" y="617"/>
                    <a:pt x="661" y="559"/>
                  </a:cubicBezTo>
                  <a:lnTo>
                    <a:pt x="539" y="468"/>
                  </a:lnTo>
                  <a:cubicBezTo>
                    <a:pt x="518" y="450"/>
                    <a:pt x="528" y="447"/>
                    <a:pt x="505" y="427"/>
                  </a:cubicBezTo>
                  <a:cubicBezTo>
                    <a:pt x="493" y="418"/>
                    <a:pt x="474" y="409"/>
                    <a:pt x="464" y="400"/>
                  </a:cubicBezTo>
                  <a:cubicBezTo>
                    <a:pt x="442" y="380"/>
                    <a:pt x="389" y="297"/>
                    <a:pt x="332" y="244"/>
                  </a:cubicBezTo>
                  <a:cubicBezTo>
                    <a:pt x="319" y="231"/>
                    <a:pt x="300" y="219"/>
                    <a:pt x="291" y="208"/>
                  </a:cubicBezTo>
                  <a:cubicBezTo>
                    <a:pt x="261" y="168"/>
                    <a:pt x="287" y="158"/>
                    <a:pt x="228" y="119"/>
                  </a:cubicBezTo>
                  <a:cubicBezTo>
                    <a:pt x="228" y="186"/>
                    <a:pt x="225" y="176"/>
                    <a:pt x="175" y="201"/>
                  </a:cubicBezTo>
                  <a:cubicBezTo>
                    <a:pt x="140" y="218"/>
                    <a:pt x="125" y="237"/>
                    <a:pt x="76" y="237"/>
                  </a:cubicBezTo>
                  <a:cubicBezTo>
                    <a:pt x="50" y="237"/>
                    <a:pt x="35" y="210"/>
                    <a:pt x="39" y="191"/>
                  </a:cubicBezTo>
                  <a:cubicBezTo>
                    <a:pt x="48" y="156"/>
                    <a:pt x="162" y="79"/>
                    <a:pt x="228" y="110"/>
                  </a:cubicBezTo>
                  <a:cubicBezTo>
                    <a:pt x="223" y="86"/>
                    <a:pt x="185" y="12"/>
                    <a:pt x="169" y="0"/>
                  </a:cubicBezTo>
                  <a:cubicBezTo>
                    <a:pt x="125" y="12"/>
                    <a:pt x="158" y="6"/>
                    <a:pt x="134" y="41"/>
                  </a:cubicBezTo>
                  <a:cubicBezTo>
                    <a:pt x="126" y="54"/>
                    <a:pt x="133" y="47"/>
                    <a:pt x="117" y="58"/>
                  </a:cubicBezTo>
                  <a:cubicBezTo>
                    <a:pt x="84" y="84"/>
                    <a:pt x="0" y="102"/>
                    <a:pt x="0"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4" name="Freeform 17"/>
            <p:cNvSpPr>
              <a:spLocks noEditPoints="1"/>
            </p:cNvSpPr>
            <p:nvPr/>
          </p:nvSpPr>
          <p:spPr bwMode="auto">
            <a:xfrm>
              <a:off x="4154488" y="1903413"/>
              <a:ext cx="77788" cy="103188"/>
            </a:xfrm>
            <a:custGeom>
              <a:avLst/>
              <a:gdLst>
                <a:gd name="T0" fmla="*/ 169 w 339"/>
                <a:gd name="T1" fmla="*/ 304 h 445"/>
                <a:gd name="T2" fmla="*/ 172 w 339"/>
                <a:gd name="T3" fmla="*/ 307 h 445"/>
                <a:gd name="T4" fmla="*/ 169 w 339"/>
                <a:gd name="T5" fmla="*/ 304 h 445"/>
                <a:gd name="T6" fmla="*/ 195 w 339"/>
                <a:gd name="T7" fmla="*/ 228 h 445"/>
                <a:gd name="T8" fmla="*/ 254 w 339"/>
                <a:gd name="T9" fmla="*/ 245 h 445"/>
                <a:gd name="T10" fmla="*/ 195 w 339"/>
                <a:gd name="T11" fmla="*/ 304 h 445"/>
                <a:gd name="T12" fmla="*/ 222 w 339"/>
                <a:gd name="T13" fmla="*/ 272 h 445"/>
                <a:gd name="T14" fmla="*/ 195 w 339"/>
                <a:gd name="T15" fmla="*/ 228 h 445"/>
                <a:gd name="T16" fmla="*/ 119 w 339"/>
                <a:gd name="T17" fmla="*/ 144 h 445"/>
                <a:gd name="T18" fmla="*/ 152 w 339"/>
                <a:gd name="T19" fmla="*/ 177 h 445"/>
                <a:gd name="T20" fmla="*/ 119 w 339"/>
                <a:gd name="T21" fmla="*/ 144 h 445"/>
                <a:gd name="T22" fmla="*/ 271 w 339"/>
                <a:gd name="T23" fmla="*/ 203 h 445"/>
                <a:gd name="T24" fmla="*/ 246 w 339"/>
                <a:gd name="T25" fmla="*/ 203 h 445"/>
                <a:gd name="T26" fmla="*/ 262 w 339"/>
                <a:gd name="T27" fmla="*/ 59 h 445"/>
                <a:gd name="T28" fmla="*/ 271 w 339"/>
                <a:gd name="T29" fmla="*/ 203 h 445"/>
                <a:gd name="T30" fmla="*/ 0 w 339"/>
                <a:gd name="T31" fmla="*/ 220 h 445"/>
                <a:gd name="T32" fmla="*/ 59 w 339"/>
                <a:gd name="T33" fmla="*/ 211 h 445"/>
                <a:gd name="T34" fmla="*/ 117 w 339"/>
                <a:gd name="T35" fmla="*/ 264 h 445"/>
                <a:gd name="T36" fmla="*/ 93 w 339"/>
                <a:gd name="T37" fmla="*/ 338 h 445"/>
                <a:gd name="T38" fmla="*/ 25 w 339"/>
                <a:gd name="T39" fmla="*/ 313 h 445"/>
                <a:gd name="T40" fmla="*/ 19 w 339"/>
                <a:gd name="T41" fmla="*/ 386 h 445"/>
                <a:gd name="T42" fmla="*/ 263 w 339"/>
                <a:gd name="T43" fmla="*/ 339 h 445"/>
                <a:gd name="T44" fmla="*/ 300 w 339"/>
                <a:gd name="T45" fmla="*/ 266 h 445"/>
                <a:gd name="T46" fmla="*/ 339 w 339"/>
                <a:gd name="T47" fmla="*/ 194 h 445"/>
                <a:gd name="T48" fmla="*/ 296 w 339"/>
                <a:gd name="T49" fmla="*/ 194 h 445"/>
                <a:gd name="T50" fmla="*/ 322 w 339"/>
                <a:gd name="T51" fmla="*/ 67 h 445"/>
                <a:gd name="T52" fmla="*/ 296 w 339"/>
                <a:gd name="T53" fmla="*/ 25 h 445"/>
                <a:gd name="T54" fmla="*/ 161 w 339"/>
                <a:gd name="T55" fmla="*/ 93 h 445"/>
                <a:gd name="T56" fmla="*/ 161 w 339"/>
                <a:gd name="T57" fmla="*/ 0 h 445"/>
                <a:gd name="T58" fmla="*/ 54 w 339"/>
                <a:gd name="T59" fmla="*/ 104 h 445"/>
                <a:gd name="T60" fmla="*/ 0 w 339"/>
                <a:gd name="T61" fmla="*/ 22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9" h="445">
                  <a:moveTo>
                    <a:pt x="169" y="304"/>
                  </a:moveTo>
                  <a:lnTo>
                    <a:pt x="172" y="307"/>
                  </a:lnTo>
                  <a:cubicBezTo>
                    <a:pt x="172" y="307"/>
                    <a:pt x="169" y="305"/>
                    <a:pt x="169" y="304"/>
                  </a:cubicBezTo>
                  <a:close/>
                  <a:moveTo>
                    <a:pt x="195" y="228"/>
                  </a:moveTo>
                  <a:cubicBezTo>
                    <a:pt x="220" y="245"/>
                    <a:pt x="212" y="245"/>
                    <a:pt x="254" y="245"/>
                  </a:cubicBezTo>
                  <a:cubicBezTo>
                    <a:pt x="236" y="279"/>
                    <a:pt x="240" y="301"/>
                    <a:pt x="195" y="304"/>
                  </a:cubicBezTo>
                  <a:lnTo>
                    <a:pt x="222" y="272"/>
                  </a:lnTo>
                  <a:cubicBezTo>
                    <a:pt x="194" y="242"/>
                    <a:pt x="201" y="241"/>
                    <a:pt x="195" y="228"/>
                  </a:cubicBezTo>
                  <a:close/>
                  <a:moveTo>
                    <a:pt x="119" y="144"/>
                  </a:moveTo>
                  <a:cubicBezTo>
                    <a:pt x="148" y="151"/>
                    <a:pt x="145" y="148"/>
                    <a:pt x="152" y="177"/>
                  </a:cubicBezTo>
                  <a:cubicBezTo>
                    <a:pt x="110" y="167"/>
                    <a:pt x="124" y="175"/>
                    <a:pt x="119" y="144"/>
                  </a:cubicBezTo>
                  <a:close/>
                  <a:moveTo>
                    <a:pt x="271" y="203"/>
                  </a:moveTo>
                  <a:lnTo>
                    <a:pt x="246" y="203"/>
                  </a:lnTo>
                  <a:cubicBezTo>
                    <a:pt x="245" y="200"/>
                    <a:pt x="159" y="87"/>
                    <a:pt x="262" y="59"/>
                  </a:cubicBezTo>
                  <a:cubicBezTo>
                    <a:pt x="304" y="90"/>
                    <a:pt x="271" y="129"/>
                    <a:pt x="271" y="203"/>
                  </a:cubicBezTo>
                  <a:close/>
                  <a:moveTo>
                    <a:pt x="0" y="220"/>
                  </a:moveTo>
                  <a:cubicBezTo>
                    <a:pt x="0" y="273"/>
                    <a:pt x="21" y="221"/>
                    <a:pt x="59" y="211"/>
                  </a:cubicBezTo>
                  <a:lnTo>
                    <a:pt x="117" y="264"/>
                  </a:lnTo>
                  <a:cubicBezTo>
                    <a:pt x="113" y="286"/>
                    <a:pt x="103" y="318"/>
                    <a:pt x="93" y="338"/>
                  </a:cubicBezTo>
                  <a:cubicBezTo>
                    <a:pt x="77" y="331"/>
                    <a:pt x="44" y="317"/>
                    <a:pt x="25" y="313"/>
                  </a:cubicBezTo>
                  <a:cubicBezTo>
                    <a:pt x="14" y="338"/>
                    <a:pt x="3" y="359"/>
                    <a:pt x="19" y="386"/>
                  </a:cubicBezTo>
                  <a:cubicBezTo>
                    <a:pt x="55" y="445"/>
                    <a:pt x="210" y="443"/>
                    <a:pt x="263" y="339"/>
                  </a:cubicBezTo>
                  <a:cubicBezTo>
                    <a:pt x="273" y="318"/>
                    <a:pt x="286" y="286"/>
                    <a:pt x="300" y="266"/>
                  </a:cubicBezTo>
                  <a:cubicBezTo>
                    <a:pt x="325" y="229"/>
                    <a:pt x="338" y="248"/>
                    <a:pt x="339" y="194"/>
                  </a:cubicBezTo>
                  <a:lnTo>
                    <a:pt x="296" y="194"/>
                  </a:lnTo>
                  <a:lnTo>
                    <a:pt x="322" y="67"/>
                  </a:lnTo>
                  <a:cubicBezTo>
                    <a:pt x="322" y="47"/>
                    <a:pt x="308" y="43"/>
                    <a:pt x="296" y="25"/>
                  </a:cubicBezTo>
                  <a:cubicBezTo>
                    <a:pt x="194" y="27"/>
                    <a:pt x="219" y="77"/>
                    <a:pt x="161" y="93"/>
                  </a:cubicBezTo>
                  <a:lnTo>
                    <a:pt x="161" y="0"/>
                  </a:lnTo>
                  <a:cubicBezTo>
                    <a:pt x="62" y="0"/>
                    <a:pt x="96" y="14"/>
                    <a:pt x="54" y="104"/>
                  </a:cubicBezTo>
                  <a:cubicBezTo>
                    <a:pt x="38" y="138"/>
                    <a:pt x="0" y="185"/>
                    <a:pt x="0"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5" name="Freeform 18"/>
            <p:cNvSpPr>
              <a:spLocks noEditPoints="1"/>
            </p:cNvSpPr>
            <p:nvPr/>
          </p:nvSpPr>
          <p:spPr bwMode="auto">
            <a:xfrm>
              <a:off x="4343400" y="1709738"/>
              <a:ext cx="93663" cy="111125"/>
            </a:xfrm>
            <a:custGeom>
              <a:avLst/>
              <a:gdLst>
                <a:gd name="T0" fmla="*/ 182 w 401"/>
                <a:gd name="T1" fmla="*/ 347 h 474"/>
                <a:gd name="T2" fmla="*/ 185 w 401"/>
                <a:gd name="T3" fmla="*/ 350 h 474"/>
                <a:gd name="T4" fmla="*/ 182 w 401"/>
                <a:gd name="T5" fmla="*/ 347 h 474"/>
                <a:gd name="T6" fmla="*/ 114 w 401"/>
                <a:gd name="T7" fmla="*/ 305 h 474"/>
                <a:gd name="T8" fmla="*/ 140 w 401"/>
                <a:gd name="T9" fmla="*/ 339 h 474"/>
                <a:gd name="T10" fmla="*/ 114 w 401"/>
                <a:gd name="T11" fmla="*/ 339 h 474"/>
                <a:gd name="T12" fmla="*/ 114 w 401"/>
                <a:gd name="T13" fmla="*/ 305 h 474"/>
                <a:gd name="T14" fmla="*/ 165 w 401"/>
                <a:gd name="T15" fmla="*/ 305 h 474"/>
                <a:gd name="T16" fmla="*/ 173 w 401"/>
                <a:gd name="T17" fmla="*/ 306 h 474"/>
                <a:gd name="T18" fmla="*/ 165 w 401"/>
                <a:gd name="T19" fmla="*/ 305 h 474"/>
                <a:gd name="T20" fmla="*/ 182 w 401"/>
                <a:gd name="T21" fmla="*/ 203 h 474"/>
                <a:gd name="T22" fmla="*/ 148 w 401"/>
                <a:gd name="T23" fmla="*/ 254 h 474"/>
                <a:gd name="T24" fmla="*/ 182 w 401"/>
                <a:gd name="T25" fmla="*/ 203 h 474"/>
                <a:gd name="T26" fmla="*/ 182 w 401"/>
                <a:gd name="T27" fmla="*/ 203 h 474"/>
                <a:gd name="T28" fmla="*/ 228 w 401"/>
                <a:gd name="T29" fmla="*/ 165 h 474"/>
                <a:gd name="T30" fmla="*/ 259 w 401"/>
                <a:gd name="T31" fmla="*/ 152 h 474"/>
                <a:gd name="T32" fmla="*/ 277 w 401"/>
                <a:gd name="T33" fmla="*/ 149 h 474"/>
                <a:gd name="T34" fmla="*/ 323 w 401"/>
                <a:gd name="T35" fmla="*/ 189 h 474"/>
                <a:gd name="T36" fmla="*/ 318 w 401"/>
                <a:gd name="T37" fmla="*/ 313 h 474"/>
                <a:gd name="T38" fmla="*/ 275 w 401"/>
                <a:gd name="T39" fmla="*/ 347 h 474"/>
                <a:gd name="T40" fmla="*/ 241 w 401"/>
                <a:gd name="T41" fmla="*/ 203 h 474"/>
                <a:gd name="T42" fmla="*/ 182 w 401"/>
                <a:gd name="T43" fmla="*/ 203 h 474"/>
                <a:gd name="T44" fmla="*/ 89 w 401"/>
                <a:gd name="T45" fmla="*/ 17 h 474"/>
                <a:gd name="T46" fmla="*/ 80 w 401"/>
                <a:gd name="T47" fmla="*/ 68 h 474"/>
                <a:gd name="T48" fmla="*/ 30 w 401"/>
                <a:gd name="T49" fmla="*/ 118 h 474"/>
                <a:gd name="T50" fmla="*/ 114 w 401"/>
                <a:gd name="T51" fmla="*/ 195 h 474"/>
                <a:gd name="T52" fmla="*/ 97 w 401"/>
                <a:gd name="T53" fmla="*/ 254 h 474"/>
                <a:gd name="T54" fmla="*/ 21 w 401"/>
                <a:gd name="T55" fmla="*/ 254 h 474"/>
                <a:gd name="T56" fmla="*/ 123 w 401"/>
                <a:gd name="T57" fmla="*/ 423 h 474"/>
                <a:gd name="T58" fmla="*/ 123 w 401"/>
                <a:gd name="T59" fmla="*/ 372 h 474"/>
                <a:gd name="T60" fmla="*/ 157 w 401"/>
                <a:gd name="T61" fmla="*/ 372 h 474"/>
                <a:gd name="T62" fmla="*/ 216 w 401"/>
                <a:gd name="T63" fmla="*/ 423 h 474"/>
                <a:gd name="T64" fmla="*/ 224 w 401"/>
                <a:gd name="T65" fmla="*/ 474 h 474"/>
                <a:gd name="T66" fmla="*/ 275 w 401"/>
                <a:gd name="T67" fmla="*/ 389 h 474"/>
                <a:gd name="T68" fmla="*/ 351 w 401"/>
                <a:gd name="T69" fmla="*/ 135 h 474"/>
                <a:gd name="T70" fmla="*/ 213 w 401"/>
                <a:gd name="T71" fmla="*/ 141 h 474"/>
                <a:gd name="T72" fmla="*/ 165 w 401"/>
                <a:gd name="T73" fmla="*/ 161 h 474"/>
                <a:gd name="T74" fmla="*/ 148 w 401"/>
                <a:gd name="T75" fmla="*/ 0 h 474"/>
                <a:gd name="T76" fmla="*/ 140 w 401"/>
                <a:gd name="T77" fmla="*/ 63 h 474"/>
                <a:gd name="T78" fmla="*/ 89 w 401"/>
                <a:gd name="T79" fmla="*/ 17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1" h="474">
                  <a:moveTo>
                    <a:pt x="182" y="347"/>
                  </a:moveTo>
                  <a:lnTo>
                    <a:pt x="185" y="350"/>
                  </a:lnTo>
                  <a:cubicBezTo>
                    <a:pt x="184" y="349"/>
                    <a:pt x="181" y="348"/>
                    <a:pt x="182" y="347"/>
                  </a:cubicBezTo>
                  <a:close/>
                  <a:moveTo>
                    <a:pt x="114" y="305"/>
                  </a:moveTo>
                  <a:cubicBezTo>
                    <a:pt x="139" y="323"/>
                    <a:pt x="125" y="310"/>
                    <a:pt x="140" y="339"/>
                  </a:cubicBezTo>
                  <a:lnTo>
                    <a:pt x="114" y="339"/>
                  </a:lnTo>
                  <a:lnTo>
                    <a:pt x="114" y="305"/>
                  </a:lnTo>
                  <a:close/>
                  <a:moveTo>
                    <a:pt x="165" y="305"/>
                  </a:moveTo>
                  <a:cubicBezTo>
                    <a:pt x="167" y="287"/>
                    <a:pt x="210" y="307"/>
                    <a:pt x="173" y="306"/>
                  </a:cubicBezTo>
                  <a:cubicBezTo>
                    <a:pt x="170" y="305"/>
                    <a:pt x="163" y="324"/>
                    <a:pt x="165" y="305"/>
                  </a:cubicBezTo>
                  <a:close/>
                  <a:moveTo>
                    <a:pt x="182" y="203"/>
                  </a:moveTo>
                  <a:cubicBezTo>
                    <a:pt x="181" y="244"/>
                    <a:pt x="183" y="250"/>
                    <a:pt x="148" y="254"/>
                  </a:cubicBezTo>
                  <a:cubicBezTo>
                    <a:pt x="162" y="228"/>
                    <a:pt x="159" y="220"/>
                    <a:pt x="182" y="203"/>
                  </a:cubicBezTo>
                  <a:close/>
                  <a:moveTo>
                    <a:pt x="182" y="203"/>
                  </a:moveTo>
                  <a:cubicBezTo>
                    <a:pt x="194" y="185"/>
                    <a:pt x="206" y="176"/>
                    <a:pt x="228" y="165"/>
                  </a:cubicBezTo>
                  <a:cubicBezTo>
                    <a:pt x="233" y="163"/>
                    <a:pt x="259" y="152"/>
                    <a:pt x="259" y="152"/>
                  </a:cubicBezTo>
                  <a:cubicBezTo>
                    <a:pt x="262" y="152"/>
                    <a:pt x="277" y="149"/>
                    <a:pt x="277" y="149"/>
                  </a:cubicBezTo>
                  <a:cubicBezTo>
                    <a:pt x="303" y="149"/>
                    <a:pt x="316" y="164"/>
                    <a:pt x="323" y="189"/>
                  </a:cubicBezTo>
                  <a:cubicBezTo>
                    <a:pt x="331" y="219"/>
                    <a:pt x="326" y="285"/>
                    <a:pt x="318" y="313"/>
                  </a:cubicBezTo>
                  <a:cubicBezTo>
                    <a:pt x="309" y="343"/>
                    <a:pt x="309" y="344"/>
                    <a:pt x="275" y="347"/>
                  </a:cubicBezTo>
                  <a:cubicBezTo>
                    <a:pt x="260" y="283"/>
                    <a:pt x="241" y="296"/>
                    <a:pt x="241" y="203"/>
                  </a:cubicBezTo>
                  <a:lnTo>
                    <a:pt x="182" y="203"/>
                  </a:lnTo>
                  <a:close/>
                  <a:moveTo>
                    <a:pt x="89" y="17"/>
                  </a:moveTo>
                  <a:cubicBezTo>
                    <a:pt x="86" y="52"/>
                    <a:pt x="80" y="36"/>
                    <a:pt x="80" y="68"/>
                  </a:cubicBezTo>
                  <a:cubicBezTo>
                    <a:pt x="80" y="112"/>
                    <a:pt x="114" y="118"/>
                    <a:pt x="30" y="118"/>
                  </a:cubicBezTo>
                  <a:cubicBezTo>
                    <a:pt x="31" y="187"/>
                    <a:pt x="62" y="167"/>
                    <a:pt x="114" y="195"/>
                  </a:cubicBezTo>
                  <a:cubicBezTo>
                    <a:pt x="107" y="226"/>
                    <a:pt x="100" y="218"/>
                    <a:pt x="97" y="254"/>
                  </a:cubicBezTo>
                  <a:cubicBezTo>
                    <a:pt x="45" y="253"/>
                    <a:pt x="74" y="242"/>
                    <a:pt x="21" y="254"/>
                  </a:cubicBezTo>
                  <a:cubicBezTo>
                    <a:pt x="0" y="345"/>
                    <a:pt x="9" y="414"/>
                    <a:pt x="123" y="423"/>
                  </a:cubicBezTo>
                  <a:lnTo>
                    <a:pt x="123" y="372"/>
                  </a:lnTo>
                  <a:lnTo>
                    <a:pt x="157" y="372"/>
                  </a:lnTo>
                  <a:cubicBezTo>
                    <a:pt x="157" y="429"/>
                    <a:pt x="157" y="423"/>
                    <a:pt x="216" y="423"/>
                  </a:cubicBezTo>
                  <a:cubicBezTo>
                    <a:pt x="221" y="443"/>
                    <a:pt x="224" y="448"/>
                    <a:pt x="224" y="474"/>
                  </a:cubicBezTo>
                  <a:cubicBezTo>
                    <a:pt x="265" y="453"/>
                    <a:pt x="271" y="445"/>
                    <a:pt x="275" y="389"/>
                  </a:cubicBezTo>
                  <a:cubicBezTo>
                    <a:pt x="401" y="389"/>
                    <a:pt x="351" y="263"/>
                    <a:pt x="351" y="135"/>
                  </a:cubicBezTo>
                  <a:cubicBezTo>
                    <a:pt x="231" y="107"/>
                    <a:pt x="263" y="115"/>
                    <a:pt x="213" y="141"/>
                  </a:cubicBezTo>
                  <a:cubicBezTo>
                    <a:pt x="194" y="152"/>
                    <a:pt x="187" y="156"/>
                    <a:pt x="165" y="161"/>
                  </a:cubicBezTo>
                  <a:cubicBezTo>
                    <a:pt x="191" y="50"/>
                    <a:pt x="280" y="70"/>
                    <a:pt x="148" y="0"/>
                  </a:cubicBezTo>
                  <a:cubicBezTo>
                    <a:pt x="150" y="27"/>
                    <a:pt x="173" y="61"/>
                    <a:pt x="140" y="63"/>
                  </a:cubicBezTo>
                  <a:cubicBezTo>
                    <a:pt x="106" y="65"/>
                    <a:pt x="142" y="53"/>
                    <a:pt x="89"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6" name="Freeform 19"/>
            <p:cNvSpPr>
              <a:spLocks noEditPoints="1"/>
            </p:cNvSpPr>
            <p:nvPr/>
          </p:nvSpPr>
          <p:spPr bwMode="auto">
            <a:xfrm>
              <a:off x="4846638" y="1912938"/>
              <a:ext cx="114300" cy="84138"/>
            </a:xfrm>
            <a:custGeom>
              <a:avLst/>
              <a:gdLst>
                <a:gd name="T0" fmla="*/ 279 w 491"/>
                <a:gd name="T1" fmla="*/ 240 h 360"/>
                <a:gd name="T2" fmla="*/ 313 w 491"/>
                <a:gd name="T3" fmla="*/ 282 h 360"/>
                <a:gd name="T4" fmla="*/ 294 w 491"/>
                <a:gd name="T5" fmla="*/ 268 h 360"/>
                <a:gd name="T6" fmla="*/ 279 w 491"/>
                <a:gd name="T7" fmla="*/ 240 h 360"/>
                <a:gd name="T8" fmla="*/ 279 w 491"/>
                <a:gd name="T9" fmla="*/ 181 h 360"/>
                <a:gd name="T10" fmla="*/ 282 w 491"/>
                <a:gd name="T11" fmla="*/ 183 h 360"/>
                <a:gd name="T12" fmla="*/ 279 w 491"/>
                <a:gd name="T13" fmla="*/ 181 h 360"/>
                <a:gd name="T14" fmla="*/ 237 w 491"/>
                <a:gd name="T15" fmla="*/ 130 h 360"/>
                <a:gd name="T16" fmla="*/ 247 w 491"/>
                <a:gd name="T17" fmla="*/ 138 h 360"/>
                <a:gd name="T18" fmla="*/ 237 w 491"/>
                <a:gd name="T19" fmla="*/ 130 h 360"/>
                <a:gd name="T20" fmla="*/ 321 w 491"/>
                <a:gd name="T21" fmla="*/ 113 h 360"/>
                <a:gd name="T22" fmla="*/ 372 w 491"/>
                <a:gd name="T23" fmla="*/ 113 h 360"/>
                <a:gd name="T24" fmla="*/ 372 w 491"/>
                <a:gd name="T25" fmla="*/ 122 h 360"/>
                <a:gd name="T26" fmla="*/ 321 w 491"/>
                <a:gd name="T27" fmla="*/ 122 h 360"/>
                <a:gd name="T28" fmla="*/ 321 w 491"/>
                <a:gd name="T29" fmla="*/ 113 h 360"/>
                <a:gd name="T30" fmla="*/ 279 w 491"/>
                <a:gd name="T31" fmla="*/ 113 h 360"/>
                <a:gd name="T32" fmla="*/ 293 w 491"/>
                <a:gd name="T33" fmla="*/ 117 h 360"/>
                <a:gd name="T34" fmla="*/ 279 w 491"/>
                <a:gd name="T35" fmla="*/ 113 h 360"/>
                <a:gd name="T36" fmla="*/ 0 w 491"/>
                <a:gd name="T37" fmla="*/ 54 h 360"/>
                <a:gd name="T38" fmla="*/ 243 w 491"/>
                <a:gd name="T39" fmla="*/ 184 h 360"/>
                <a:gd name="T40" fmla="*/ 299 w 491"/>
                <a:gd name="T41" fmla="*/ 339 h 360"/>
                <a:gd name="T42" fmla="*/ 333 w 491"/>
                <a:gd name="T43" fmla="*/ 355 h 360"/>
                <a:gd name="T44" fmla="*/ 330 w 491"/>
                <a:gd name="T45" fmla="*/ 215 h 360"/>
                <a:gd name="T46" fmla="*/ 491 w 491"/>
                <a:gd name="T47" fmla="*/ 147 h 360"/>
                <a:gd name="T48" fmla="*/ 398 w 491"/>
                <a:gd name="T49" fmla="*/ 155 h 360"/>
                <a:gd name="T50" fmla="*/ 398 w 491"/>
                <a:gd name="T51" fmla="*/ 138 h 360"/>
                <a:gd name="T52" fmla="*/ 465 w 491"/>
                <a:gd name="T53" fmla="*/ 96 h 360"/>
                <a:gd name="T54" fmla="*/ 355 w 491"/>
                <a:gd name="T55" fmla="*/ 88 h 360"/>
                <a:gd name="T56" fmla="*/ 389 w 491"/>
                <a:gd name="T57" fmla="*/ 20 h 360"/>
                <a:gd name="T58" fmla="*/ 296 w 491"/>
                <a:gd name="T59" fmla="*/ 62 h 360"/>
                <a:gd name="T60" fmla="*/ 279 w 491"/>
                <a:gd name="T61" fmla="*/ 71 h 360"/>
                <a:gd name="T62" fmla="*/ 262 w 491"/>
                <a:gd name="T63" fmla="*/ 45 h 360"/>
                <a:gd name="T64" fmla="*/ 194 w 491"/>
                <a:gd name="T65" fmla="*/ 79 h 360"/>
                <a:gd name="T66" fmla="*/ 220 w 491"/>
                <a:gd name="T67" fmla="*/ 122 h 360"/>
                <a:gd name="T68" fmla="*/ 101 w 491"/>
                <a:gd name="T69" fmla="*/ 62 h 360"/>
                <a:gd name="T70" fmla="*/ 110 w 491"/>
                <a:gd name="T71" fmla="*/ 3 h 360"/>
                <a:gd name="T72" fmla="*/ 39 w 491"/>
                <a:gd name="T73" fmla="*/ 8 h 360"/>
                <a:gd name="T74" fmla="*/ 0 w 491"/>
                <a:gd name="T75" fmla="*/ 54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1" h="360">
                  <a:moveTo>
                    <a:pt x="279" y="240"/>
                  </a:moveTo>
                  <a:cubicBezTo>
                    <a:pt x="309" y="248"/>
                    <a:pt x="310" y="248"/>
                    <a:pt x="313" y="282"/>
                  </a:cubicBezTo>
                  <a:cubicBezTo>
                    <a:pt x="306" y="278"/>
                    <a:pt x="302" y="277"/>
                    <a:pt x="294" y="268"/>
                  </a:cubicBezTo>
                  <a:cubicBezTo>
                    <a:pt x="272" y="243"/>
                    <a:pt x="287" y="255"/>
                    <a:pt x="279" y="240"/>
                  </a:cubicBezTo>
                  <a:close/>
                  <a:moveTo>
                    <a:pt x="279" y="181"/>
                  </a:moveTo>
                  <a:lnTo>
                    <a:pt x="282" y="183"/>
                  </a:lnTo>
                  <a:cubicBezTo>
                    <a:pt x="282" y="183"/>
                    <a:pt x="278" y="182"/>
                    <a:pt x="279" y="181"/>
                  </a:cubicBezTo>
                  <a:close/>
                  <a:moveTo>
                    <a:pt x="237" y="130"/>
                  </a:moveTo>
                  <a:cubicBezTo>
                    <a:pt x="251" y="116"/>
                    <a:pt x="264" y="151"/>
                    <a:pt x="247" y="138"/>
                  </a:cubicBezTo>
                  <a:cubicBezTo>
                    <a:pt x="241" y="134"/>
                    <a:pt x="225" y="142"/>
                    <a:pt x="237" y="130"/>
                  </a:cubicBezTo>
                  <a:close/>
                  <a:moveTo>
                    <a:pt x="321" y="113"/>
                  </a:moveTo>
                  <a:lnTo>
                    <a:pt x="372" y="113"/>
                  </a:lnTo>
                  <a:lnTo>
                    <a:pt x="372" y="122"/>
                  </a:lnTo>
                  <a:lnTo>
                    <a:pt x="321" y="122"/>
                  </a:lnTo>
                  <a:lnTo>
                    <a:pt x="321" y="113"/>
                  </a:lnTo>
                  <a:close/>
                  <a:moveTo>
                    <a:pt x="279" y="113"/>
                  </a:moveTo>
                  <a:cubicBezTo>
                    <a:pt x="288" y="104"/>
                    <a:pt x="325" y="126"/>
                    <a:pt x="293" y="117"/>
                  </a:cubicBezTo>
                  <a:cubicBezTo>
                    <a:pt x="286" y="116"/>
                    <a:pt x="265" y="127"/>
                    <a:pt x="279" y="113"/>
                  </a:cubicBezTo>
                  <a:close/>
                  <a:moveTo>
                    <a:pt x="0" y="54"/>
                  </a:moveTo>
                  <a:cubicBezTo>
                    <a:pt x="0" y="153"/>
                    <a:pt x="138" y="47"/>
                    <a:pt x="243" y="184"/>
                  </a:cubicBezTo>
                  <a:cubicBezTo>
                    <a:pt x="285" y="239"/>
                    <a:pt x="216" y="280"/>
                    <a:pt x="299" y="339"/>
                  </a:cubicBezTo>
                  <a:cubicBezTo>
                    <a:pt x="303" y="341"/>
                    <a:pt x="331" y="355"/>
                    <a:pt x="333" y="355"/>
                  </a:cubicBezTo>
                  <a:cubicBezTo>
                    <a:pt x="402" y="360"/>
                    <a:pt x="333" y="255"/>
                    <a:pt x="330" y="215"/>
                  </a:cubicBezTo>
                  <a:cubicBezTo>
                    <a:pt x="466" y="183"/>
                    <a:pt x="489" y="225"/>
                    <a:pt x="491" y="147"/>
                  </a:cubicBezTo>
                  <a:cubicBezTo>
                    <a:pt x="446" y="151"/>
                    <a:pt x="438" y="164"/>
                    <a:pt x="398" y="155"/>
                  </a:cubicBezTo>
                  <a:lnTo>
                    <a:pt x="398" y="138"/>
                  </a:lnTo>
                  <a:cubicBezTo>
                    <a:pt x="445" y="140"/>
                    <a:pt x="464" y="159"/>
                    <a:pt x="465" y="96"/>
                  </a:cubicBezTo>
                  <a:cubicBezTo>
                    <a:pt x="398" y="96"/>
                    <a:pt x="412" y="101"/>
                    <a:pt x="355" y="88"/>
                  </a:cubicBezTo>
                  <a:cubicBezTo>
                    <a:pt x="374" y="59"/>
                    <a:pt x="385" y="65"/>
                    <a:pt x="389" y="20"/>
                  </a:cubicBezTo>
                  <a:cubicBezTo>
                    <a:pt x="351" y="23"/>
                    <a:pt x="337" y="40"/>
                    <a:pt x="296" y="62"/>
                  </a:cubicBezTo>
                  <a:lnTo>
                    <a:pt x="279" y="71"/>
                  </a:lnTo>
                  <a:cubicBezTo>
                    <a:pt x="260" y="58"/>
                    <a:pt x="269" y="69"/>
                    <a:pt x="262" y="45"/>
                  </a:cubicBezTo>
                  <a:cubicBezTo>
                    <a:pt x="233" y="48"/>
                    <a:pt x="194" y="49"/>
                    <a:pt x="194" y="79"/>
                  </a:cubicBezTo>
                  <a:cubicBezTo>
                    <a:pt x="194" y="115"/>
                    <a:pt x="203" y="75"/>
                    <a:pt x="220" y="122"/>
                  </a:cubicBezTo>
                  <a:lnTo>
                    <a:pt x="101" y="62"/>
                  </a:lnTo>
                  <a:cubicBezTo>
                    <a:pt x="102" y="25"/>
                    <a:pt x="107" y="36"/>
                    <a:pt x="110" y="3"/>
                  </a:cubicBezTo>
                  <a:cubicBezTo>
                    <a:pt x="83" y="3"/>
                    <a:pt x="62" y="0"/>
                    <a:pt x="39" y="8"/>
                  </a:cubicBezTo>
                  <a:cubicBezTo>
                    <a:pt x="22" y="15"/>
                    <a:pt x="0" y="34"/>
                    <a:pt x="0"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7" name="Freeform 20"/>
            <p:cNvSpPr>
              <a:spLocks noEditPoints="1"/>
            </p:cNvSpPr>
            <p:nvPr/>
          </p:nvSpPr>
          <p:spPr bwMode="auto">
            <a:xfrm>
              <a:off x="4837113" y="2320926"/>
              <a:ext cx="80963" cy="87313"/>
            </a:xfrm>
            <a:custGeom>
              <a:avLst/>
              <a:gdLst>
                <a:gd name="T0" fmla="*/ 153 w 348"/>
                <a:gd name="T1" fmla="*/ 178 h 373"/>
                <a:gd name="T2" fmla="*/ 45 w 348"/>
                <a:gd name="T3" fmla="*/ 212 h 373"/>
                <a:gd name="T4" fmla="*/ 68 w 348"/>
                <a:gd name="T5" fmla="*/ 169 h 373"/>
                <a:gd name="T6" fmla="*/ 153 w 348"/>
                <a:gd name="T7" fmla="*/ 178 h 373"/>
                <a:gd name="T8" fmla="*/ 127 w 348"/>
                <a:gd name="T9" fmla="*/ 356 h 373"/>
                <a:gd name="T10" fmla="*/ 136 w 348"/>
                <a:gd name="T11" fmla="*/ 364 h 373"/>
                <a:gd name="T12" fmla="*/ 195 w 348"/>
                <a:gd name="T13" fmla="*/ 373 h 373"/>
                <a:gd name="T14" fmla="*/ 221 w 348"/>
                <a:gd name="T15" fmla="*/ 186 h 373"/>
                <a:gd name="T16" fmla="*/ 153 w 348"/>
                <a:gd name="T17" fmla="*/ 178 h 373"/>
                <a:gd name="T18" fmla="*/ 153 w 348"/>
                <a:gd name="T19" fmla="*/ 144 h 373"/>
                <a:gd name="T20" fmla="*/ 94 w 348"/>
                <a:gd name="T21" fmla="*/ 126 h 373"/>
                <a:gd name="T22" fmla="*/ 94 w 348"/>
                <a:gd name="T23" fmla="*/ 102 h 373"/>
                <a:gd name="T24" fmla="*/ 204 w 348"/>
                <a:gd name="T25" fmla="*/ 135 h 373"/>
                <a:gd name="T26" fmla="*/ 280 w 348"/>
                <a:gd name="T27" fmla="*/ 212 h 373"/>
                <a:gd name="T28" fmla="*/ 324 w 348"/>
                <a:gd name="T29" fmla="*/ 172 h 373"/>
                <a:gd name="T30" fmla="*/ 348 w 348"/>
                <a:gd name="T31" fmla="*/ 102 h 373"/>
                <a:gd name="T32" fmla="*/ 194 w 348"/>
                <a:gd name="T33" fmla="*/ 52 h 373"/>
                <a:gd name="T34" fmla="*/ 170 w 348"/>
                <a:gd name="T35" fmla="*/ 0 h 373"/>
                <a:gd name="T36" fmla="*/ 127 w 348"/>
                <a:gd name="T37" fmla="*/ 0 h 373"/>
                <a:gd name="T38" fmla="*/ 0 w 348"/>
                <a:gd name="T39" fmla="*/ 229 h 373"/>
                <a:gd name="T40" fmla="*/ 68 w 348"/>
                <a:gd name="T41" fmla="*/ 305 h 373"/>
                <a:gd name="T42" fmla="*/ 212 w 348"/>
                <a:gd name="T43" fmla="*/ 246 h 373"/>
                <a:gd name="T44" fmla="*/ 110 w 348"/>
                <a:gd name="T45" fmla="*/ 305 h 373"/>
                <a:gd name="T46" fmla="*/ 127 w 348"/>
                <a:gd name="T47" fmla="*/ 356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8" h="373">
                  <a:moveTo>
                    <a:pt x="153" y="178"/>
                  </a:moveTo>
                  <a:cubicBezTo>
                    <a:pt x="137" y="192"/>
                    <a:pt x="55" y="260"/>
                    <a:pt x="45" y="212"/>
                  </a:cubicBezTo>
                  <a:cubicBezTo>
                    <a:pt x="41" y="191"/>
                    <a:pt x="56" y="188"/>
                    <a:pt x="68" y="169"/>
                  </a:cubicBezTo>
                  <a:cubicBezTo>
                    <a:pt x="113" y="169"/>
                    <a:pt x="118" y="170"/>
                    <a:pt x="153" y="178"/>
                  </a:cubicBezTo>
                  <a:close/>
                  <a:moveTo>
                    <a:pt x="127" y="356"/>
                  </a:moveTo>
                  <a:lnTo>
                    <a:pt x="136" y="364"/>
                  </a:lnTo>
                  <a:cubicBezTo>
                    <a:pt x="169" y="367"/>
                    <a:pt x="158" y="372"/>
                    <a:pt x="195" y="373"/>
                  </a:cubicBezTo>
                  <a:cubicBezTo>
                    <a:pt x="206" y="325"/>
                    <a:pt x="307" y="240"/>
                    <a:pt x="221" y="186"/>
                  </a:cubicBezTo>
                  <a:cubicBezTo>
                    <a:pt x="190" y="166"/>
                    <a:pt x="191" y="175"/>
                    <a:pt x="153" y="178"/>
                  </a:cubicBezTo>
                  <a:lnTo>
                    <a:pt x="153" y="144"/>
                  </a:lnTo>
                  <a:lnTo>
                    <a:pt x="94" y="126"/>
                  </a:lnTo>
                  <a:lnTo>
                    <a:pt x="94" y="102"/>
                  </a:lnTo>
                  <a:cubicBezTo>
                    <a:pt x="178" y="102"/>
                    <a:pt x="152" y="105"/>
                    <a:pt x="204" y="135"/>
                  </a:cubicBezTo>
                  <a:cubicBezTo>
                    <a:pt x="244" y="159"/>
                    <a:pt x="267" y="158"/>
                    <a:pt x="280" y="212"/>
                  </a:cubicBezTo>
                  <a:cubicBezTo>
                    <a:pt x="308" y="204"/>
                    <a:pt x="310" y="195"/>
                    <a:pt x="324" y="172"/>
                  </a:cubicBezTo>
                  <a:cubicBezTo>
                    <a:pt x="339" y="148"/>
                    <a:pt x="347" y="137"/>
                    <a:pt x="348" y="102"/>
                  </a:cubicBezTo>
                  <a:cubicBezTo>
                    <a:pt x="289" y="115"/>
                    <a:pt x="240" y="87"/>
                    <a:pt x="194" y="52"/>
                  </a:cubicBezTo>
                  <a:cubicBezTo>
                    <a:pt x="171" y="33"/>
                    <a:pt x="171" y="39"/>
                    <a:pt x="170" y="0"/>
                  </a:cubicBezTo>
                  <a:lnTo>
                    <a:pt x="127" y="0"/>
                  </a:lnTo>
                  <a:cubicBezTo>
                    <a:pt x="125" y="87"/>
                    <a:pt x="18" y="154"/>
                    <a:pt x="0" y="229"/>
                  </a:cubicBezTo>
                  <a:cubicBezTo>
                    <a:pt x="14" y="249"/>
                    <a:pt x="48" y="291"/>
                    <a:pt x="68" y="305"/>
                  </a:cubicBezTo>
                  <a:cubicBezTo>
                    <a:pt x="177" y="280"/>
                    <a:pt x="137" y="247"/>
                    <a:pt x="212" y="246"/>
                  </a:cubicBezTo>
                  <a:cubicBezTo>
                    <a:pt x="210" y="327"/>
                    <a:pt x="171" y="334"/>
                    <a:pt x="110" y="305"/>
                  </a:cubicBezTo>
                  <a:cubicBezTo>
                    <a:pt x="113" y="334"/>
                    <a:pt x="117" y="336"/>
                    <a:pt x="127" y="3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8" name="Freeform 21"/>
            <p:cNvSpPr/>
            <p:nvPr/>
          </p:nvSpPr>
          <p:spPr bwMode="auto">
            <a:xfrm>
              <a:off x="4656138" y="1728788"/>
              <a:ext cx="77788" cy="79375"/>
            </a:xfrm>
            <a:custGeom>
              <a:avLst/>
              <a:gdLst>
                <a:gd name="T0" fmla="*/ 161 w 331"/>
                <a:gd name="T1" fmla="*/ 127 h 339"/>
                <a:gd name="T2" fmla="*/ 43 w 331"/>
                <a:gd name="T3" fmla="*/ 144 h 339"/>
                <a:gd name="T4" fmla="*/ 136 w 331"/>
                <a:gd name="T5" fmla="*/ 186 h 339"/>
                <a:gd name="T6" fmla="*/ 0 w 331"/>
                <a:gd name="T7" fmla="*/ 279 h 339"/>
                <a:gd name="T8" fmla="*/ 181 w 331"/>
                <a:gd name="T9" fmla="*/ 231 h 339"/>
                <a:gd name="T10" fmla="*/ 331 w 331"/>
                <a:gd name="T11" fmla="*/ 186 h 339"/>
                <a:gd name="T12" fmla="*/ 263 w 331"/>
                <a:gd name="T13" fmla="*/ 127 h 339"/>
                <a:gd name="T14" fmla="*/ 212 w 331"/>
                <a:gd name="T15" fmla="*/ 0 h 339"/>
                <a:gd name="T16" fmla="*/ 195 w 331"/>
                <a:gd name="T17" fmla="*/ 67 h 339"/>
                <a:gd name="T18" fmla="*/ 161 w 331"/>
                <a:gd name="T19" fmla="*/ 127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339">
                  <a:moveTo>
                    <a:pt x="161" y="127"/>
                  </a:moveTo>
                  <a:cubicBezTo>
                    <a:pt x="68" y="127"/>
                    <a:pt x="43" y="51"/>
                    <a:pt x="43" y="144"/>
                  </a:cubicBezTo>
                  <a:cubicBezTo>
                    <a:pt x="43" y="189"/>
                    <a:pt x="91" y="186"/>
                    <a:pt x="136" y="186"/>
                  </a:cubicBezTo>
                  <a:cubicBezTo>
                    <a:pt x="73" y="280"/>
                    <a:pt x="0" y="206"/>
                    <a:pt x="0" y="279"/>
                  </a:cubicBezTo>
                  <a:cubicBezTo>
                    <a:pt x="0" y="321"/>
                    <a:pt x="93" y="339"/>
                    <a:pt x="181" y="231"/>
                  </a:cubicBezTo>
                  <a:cubicBezTo>
                    <a:pt x="233" y="167"/>
                    <a:pt x="252" y="186"/>
                    <a:pt x="331" y="186"/>
                  </a:cubicBezTo>
                  <a:cubicBezTo>
                    <a:pt x="320" y="140"/>
                    <a:pt x="319" y="128"/>
                    <a:pt x="263" y="127"/>
                  </a:cubicBezTo>
                  <a:cubicBezTo>
                    <a:pt x="264" y="75"/>
                    <a:pt x="301" y="20"/>
                    <a:pt x="212" y="0"/>
                  </a:cubicBezTo>
                  <a:cubicBezTo>
                    <a:pt x="210" y="29"/>
                    <a:pt x="202" y="41"/>
                    <a:pt x="195" y="67"/>
                  </a:cubicBezTo>
                  <a:cubicBezTo>
                    <a:pt x="188" y="96"/>
                    <a:pt x="192" y="127"/>
                    <a:pt x="161"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9" name="Freeform 22"/>
            <p:cNvSpPr/>
            <p:nvPr/>
          </p:nvSpPr>
          <p:spPr bwMode="auto">
            <a:xfrm>
              <a:off x="4362450" y="2473326"/>
              <a:ext cx="66675" cy="68263"/>
            </a:xfrm>
            <a:custGeom>
              <a:avLst/>
              <a:gdLst>
                <a:gd name="T0" fmla="*/ 0 w 293"/>
                <a:gd name="T1" fmla="*/ 203 h 296"/>
                <a:gd name="T2" fmla="*/ 0 w 293"/>
                <a:gd name="T3" fmla="*/ 237 h 296"/>
                <a:gd name="T4" fmla="*/ 212 w 293"/>
                <a:gd name="T5" fmla="*/ 296 h 296"/>
                <a:gd name="T6" fmla="*/ 237 w 293"/>
                <a:gd name="T7" fmla="*/ 237 h 296"/>
                <a:gd name="T8" fmla="*/ 224 w 293"/>
                <a:gd name="T9" fmla="*/ 219 h 296"/>
                <a:gd name="T10" fmla="*/ 208 w 293"/>
                <a:gd name="T11" fmla="*/ 223 h 296"/>
                <a:gd name="T12" fmla="*/ 173 w 293"/>
                <a:gd name="T13" fmla="*/ 242 h 296"/>
                <a:gd name="T14" fmla="*/ 102 w 293"/>
                <a:gd name="T15" fmla="*/ 229 h 296"/>
                <a:gd name="T16" fmla="*/ 119 w 293"/>
                <a:gd name="T17" fmla="*/ 169 h 296"/>
                <a:gd name="T18" fmla="*/ 161 w 293"/>
                <a:gd name="T19" fmla="*/ 220 h 296"/>
                <a:gd name="T20" fmla="*/ 212 w 293"/>
                <a:gd name="T21" fmla="*/ 119 h 296"/>
                <a:gd name="T22" fmla="*/ 144 w 293"/>
                <a:gd name="T23" fmla="*/ 136 h 296"/>
                <a:gd name="T24" fmla="*/ 229 w 293"/>
                <a:gd name="T25" fmla="*/ 161 h 296"/>
                <a:gd name="T26" fmla="*/ 288 w 293"/>
                <a:gd name="T27" fmla="*/ 85 h 296"/>
                <a:gd name="T28" fmla="*/ 85 w 293"/>
                <a:gd name="T29" fmla="*/ 0 h 296"/>
                <a:gd name="T30" fmla="*/ 97 w 293"/>
                <a:gd name="T31" fmla="*/ 58 h 296"/>
                <a:gd name="T32" fmla="*/ 55 w 293"/>
                <a:gd name="T33" fmla="*/ 173 h 296"/>
                <a:gd name="T34" fmla="*/ 0 w 293"/>
                <a:gd name="T35" fmla="*/ 20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3" h="296">
                  <a:moveTo>
                    <a:pt x="0" y="203"/>
                  </a:moveTo>
                  <a:lnTo>
                    <a:pt x="0" y="237"/>
                  </a:lnTo>
                  <a:cubicBezTo>
                    <a:pt x="83" y="244"/>
                    <a:pt x="103" y="296"/>
                    <a:pt x="212" y="296"/>
                  </a:cubicBezTo>
                  <a:cubicBezTo>
                    <a:pt x="220" y="263"/>
                    <a:pt x="231" y="258"/>
                    <a:pt x="237" y="237"/>
                  </a:cubicBezTo>
                  <a:cubicBezTo>
                    <a:pt x="240" y="227"/>
                    <a:pt x="250" y="215"/>
                    <a:pt x="224" y="219"/>
                  </a:cubicBezTo>
                  <a:cubicBezTo>
                    <a:pt x="217" y="220"/>
                    <a:pt x="214" y="220"/>
                    <a:pt x="208" y="223"/>
                  </a:cubicBezTo>
                  <a:cubicBezTo>
                    <a:pt x="192" y="229"/>
                    <a:pt x="188" y="234"/>
                    <a:pt x="173" y="242"/>
                  </a:cubicBezTo>
                  <a:cubicBezTo>
                    <a:pt x="135" y="263"/>
                    <a:pt x="135" y="251"/>
                    <a:pt x="102" y="229"/>
                  </a:cubicBezTo>
                  <a:cubicBezTo>
                    <a:pt x="109" y="197"/>
                    <a:pt x="116" y="205"/>
                    <a:pt x="119" y="169"/>
                  </a:cubicBezTo>
                  <a:cubicBezTo>
                    <a:pt x="167" y="170"/>
                    <a:pt x="161" y="173"/>
                    <a:pt x="161" y="220"/>
                  </a:cubicBezTo>
                  <a:cubicBezTo>
                    <a:pt x="191" y="201"/>
                    <a:pt x="208" y="163"/>
                    <a:pt x="212" y="119"/>
                  </a:cubicBezTo>
                  <a:cubicBezTo>
                    <a:pt x="195" y="127"/>
                    <a:pt x="166" y="131"/>
                    <a:pt x="144" y="136"/>
                  </a:cubicBezTo>
                  <a:cubicBezTo>
                    <a:pt x="152" y="42"/>
                    <a:pt x="229" y="60"/>
                    <a:pt x="229" y="161"/>
                  </a:cubicBezTo>
                  <a:cubicBezTo>
                    <a:pt x="293" y="156"/>
                    <a:pt x="266" y="132"/>
                    <a:pt x="288" y="85"/>
                  </a:cubicBezTo>
                  <a:cubicBezTo>
                    <a:pt x="186" y="31"/>
                    <a:pt x="142" y="28"/>
                    <a:pt x="85" y="0"/>
                  </a:cubicBezTo>
                  <a:cubicBezTo>
                    <a:pt x="88" y="29"/>
                    <a:pt x="98" y="39"/>
                    <a:pt x="97" y="58"/>
                  </a:cubicBezTo>
                  <a:lnTo>
                    <a:pt x="55" y="173"/>
                  </a:lnTo>
                  <a:cubicBezTo>
                    <a:pt x="39" y="206"/>
                    <a:pt x="44" y="203"/>
                    <a:pt x="0" y="2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0" name="Freeform 23"/>
            <p:cNvSpPr>
              <a:spLocks noEditPoints="1"/>
            </p:cNvSpPr>
            <p:nvPr/>
          </p:nvSpPr>
          <p:spPr bwMode="auto">
            <a:xfrm>
              <a:off x="4141788" y="2263776"/>
              <a:ext cx="57150" cy="57150"/>
            </a:xfrm>
            <a:custGeom>
              <a:avLst/>
              <a:gdLst>
                <a:gd name="T0" fmla="*/ 36 w 248"/>
                <a:gd name="T1" fmla="*/ 186 h 245"/>
                <a:gd name="T2" fmla="*/ 28 w 248"/>
                <a:gd name="T3" fmla="*/ 152 h 245"/>
                <a:gd name="T4" fmla="*/ 211 w 248"/>
                <a:gd name="T5" fmla="*/ 106 h 245"/>
                <a:gd name="T6" fmla="*/ 173 w 248"/>
                <a:gd name="T7" fmla="*/ 154 h 245"/>
                <a:gd name="T8" fmla="*/ 36 w 248"/>
                <a:gd name="T9" fmla="*/ 186 h 245"/>
                <a:gd name="T10" fmla="*/ 2 w 248"/>
                <a:gd name="T11" fmla="*/ 101 h 245"/>
                <a:gd name="T12" fmla="*/ 104 w 248"/>
                <a:gd name="T13" fmla="*/ 245 h 245"/>
                <a:gd name="T14" fmla="*/ 248 w 248"/>
                <a:gd name="T15" fmla="*/ 110 h 245"/>
                <a:gd name="T16" fmla="*/ 121 w 248"/>
                <a:gd name="T17" fmla="*/ 0 h 245"/>
                <a:gd name="T18" fmla="*/ 2 w 248"/>
                <a:gd name="T19" fmla="*/ 10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5">
                  <a:moveTo>
                    <a:pt x="36" y="186"/>
                  </a:moveTo>
                  <a:cubicBezTo>
                    <a:pt x="31" y="163"/>
                    <a:pt x="28" y="170"/>
                    <a:pt x="28" y="152"/>
                  </a:cubicBezTo>
                  <a:cubicBezTo>
                    <a:pt x="28" y="83"/>
                    <a:pt x="227" y="25"/>
                    <a:pt x="211" y="106"/>
                  </a:cubicBezTo>
                  <a:cubicBezTo>
                    <a:pt x="208" y="123"/>
                    <a:pt x="185" y="145"/>
                    <a:pt x="173" y="154"/>
                  </a:cubicBezTo>
                  <a:cubicBezTo>
                    <a:pt x="134" y="183"/>
                    <a:pt x="102" y="186"/>
                    <a:pt x="36" y="186"/>
                  </a:cubicBezTo>
                  <a:close/>
                  <a:moveTo>
                    <a:pt x="2" y="101"/>
                  </a:moveTo>
                  <a:cubicBezTo>
                    <a:pt x="2" y="165"/>
                    <a:pt x="0" y="245"/>
                    <a:pt x="104" y="245"/>
                  </a:cubicBezTo>
                  <a:cubicBezTo>
                    <a:pt x="171" y="245"/>
                    <a:pt x="248" y="201"/>
                    <a:pt x="248" y="110"/>
                  </a:cubicBezTo>
                  <a:cubicBezTo>
                    <a:pt x="248" y="57"/>
                    <a:pt x="168" y="0"/>
                    <a:pt x="121" y="0"/>
                  </a:cubicBezTo>
                  <a:cubicBezTo>
                    <a:pt x="68" y="0"/>
                    <a:pt x="2" y="49"/>
                    <a:pt x="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1" name="Freeform 24"/>
            <p:cNvSpPr/>
            <p:nvPr/>
          </p:nvSpPr>
          <p:spPr bwMode="auto">
            <a:xfrm>
              <a:off x="4416425" y="2482851"/>
              <a:ext cx="52388" cy="73025"/>
            </a:xfrm>
            <a:custGeom>
              <a:avLst/>
              <a:gdLst>
                <a:gd name="T0" fmla="*/ 33 w 220"/>
                <a:gd name="T1" fmla="*/ 132 h 310"/>
                <a:gd name="T2" fmla="*/ 128 w 220"/>
                <a:gd name="T3" fmla="*/ 242 h 310"/>
                <a:gd name="T4" fmla="*/ 50 w 220"/>
                <a:gd name="T5" fmla="*/ 183 h 310"/>
                <a:gd name="T6" fmla="*/ 16 w 220"/>
                <a:gd name="T7" fmla="*/ 183 h 310"/>
                <a:gd name="T8" fmla="*/ 0 w 220"/>
                <a:gd name="T9" fmla="*/ 267 h 310"/>
                <a:gd name="T10" fmla="*/ 110 w 220"/>
                <a:gd name="T11" fmla="*/ 310 h 310"/>
                <a:gd name="T12" fmla="*/ 194 w 220"/>
                <a:gd name="T13" fmla="*/ 250 h 310"/>
                <a:gd name="T14" fmla="*/ 127 w 220"/>
                <a:gd name="T15" fmla="*/ 81 h 310"/>
                <a:gd name="T16" fmla="*/ 177 w 220"/>
                <a:gd name="T17" fmla="*/ 174 h 310"/>
                <a:gd name="T18" fmla="*/ 211 w 220"/>
                <a:gd name="T19" fmla="*/ 174 h 310"/>
                <a:gd name="T20" fmla="*/ 220 w 220"/>
                <a:gd name="T21" fmla="*/ 73 h 310"/>
                <a:gd name="T22" fmla="*/ 66 w 220"/>
                <a:gd name="T23" fmla="*/ 72 h 310"/>
                <a:gd name="T24" fmla="*/ 33 w 220"/>
                <a:gd name="T25" fmla="*/ 132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310">
                  <a:moveTo>
                    <a:pt x="33" y="132"/>
                  </a:moveTo>
                  <a:cubicBezTo>
                    <a:pt x="33" y="182"/>
                    <a:pt x="114" y="205"/>
                    <a:pt x="128" y="242"/>
                  </a:cubicBezTo>
                  <a:cubicBezTo>
                    <a:pt x="149" y="292"/>
                    <a:pt x="50" y="309"/>
                    <a:pt x="50" y="183"/>
                  </a:cubicBezTo>
                  <a:lnTo>
                    <a:pt x="16" y="183"/>
                  </a:lnTo>
                  <a:cubicBezTo>
                    <a:pt x="11" y="207"/>
                    <a:pt x="2" y="240"/>
                    <a:pt x="0" y="267"/>
                  </a:cubicBezTo>
                  <a:cubicBezTo>
                    <a:pt x="27" y="274"/>
                    <a:pt x="96" y="310"/>
                    <a:pt x="110" y="310"/>
                  </a:cubicBezTo>
                  <a:cubicBezTo>
                    <a:pt x="130" y="310"/>
                    <a:pt x="194" y="278"/>
                    <a:pt x="194" y="250"/>
                  </a:cubicBezTo>
                  <a:cubicBezTo>
                    <a:pt x="194" y="125"/>
                    <a:pt x="35" y="142"/>
                    <a:pt x="127" y="81"/>
                  </a:cubicBezTo>
                  <a:cubicBezTo>
                    <a:pt x="165" y="91"/>
                    <a:pt x="176" y="128"/>
                    <a:pt x="177" y="174"/>
                  </a:cubicBezTo>
                  <a:lnTo>
                    <a:pt x="211" y="174"/>
                  </a:lnTo>
                  <a:cubicBezTo>
                    <a:pt x="211" y="125"/>
                    <a:pt x="220" y="115"/>
                    <a:pt x="220" y="73"/>
                  </a:cubicBezTo>
                  <a:cubicBezTo>
                    <a:pt x="155" y="104"/>
                    <a:pt x="141" y="0"/>
                    <a:pt x="66" y="72"/>
                  </a:cubicBezTo>
                  <a:cubicBezTo>
                    <a:pt x="57" y="81"/>
                    <a:pt x="33" y="115"/>
                    <a:pt x="33"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2" name="Freeform 25"/>
            <p:cNvSpPr/>
            <p:nvPr/>
          </p:nvSpPr>
          <p:spPr bwMode="auto">
            <a:xfrm>
              <a:off x="4468813" y="2500313"/>
              <a:ext cx="58738" cy="63500"/>
            </a:xfrm>
            <a:custGeom>
              <a:avLst/>
              <a:gdLst>
                <a:gd name="T0" fmla="*/ 6 w 252"/>
                <a:gd name="T1" fmla="*/ 101 h 271"/>
                <a:gd name="T2" fmla="*/ 99 w 252"/>
                <a:gd name="T3" fmla="*/ 50 h 271"/>
                <a:gd name="T4" fmla="*/ 74 w 252"/>
                <a:gd name="T5" fmla="*/ 228 h 271"/>
                <a:gd name="T6" fmla="*/ 40 w 252"/>
                <a:gd name="T7" fmla="*/ 228 h 271"/>
                <a:gd name="T8" fmla="*/ 40 w 252"/>
                <a:gd name="T9" fmla="*/ 262 h 271"/>
                <a:gd name="T10" fmla="*/ 175 w 252"/>
                <a:gd name="T11" fmla="*/ 271 h 271"/>
                <a:gd name="T12" fmla="*/ 160 w 252"/>
                <a:gd name="T13" fmla="*/ 59 h 271"/>
                <a:gd name="T14" fmla="*/ 209 w 252"/>
                <a:gd name="T15" fmla="*/ 127 h 271"/>
                <a:gd name="T16" fmla="*/ 243 w 252"/>
                <a:gd name="T17" fmla="*/ 127 h 271"/>
                <a:gd name="T18" fmla="*/ 252 w 252"/>
                <a:gd name="T19" fmla="*/ 42 h 271"/>
                <a:gd name="T20" fmla="*/ 23 w 252"/>
                <a:gd name="T21" fmla="*/ 0 h 271"/>
                <a:gd name="T22" fmla="*/ 6 w 252"/>
                <a:gd name="T23" fmla="*/ 10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 h="271">
                  <a:moveTo>
                    <a:pt x="6" y="101"/>
                  </a:moveTo>
                  <a:cubicBezTo>
                    <a:pt x="94" y="81"/>
                    <a:pt x="0" y="50"/>
                    <a:pt x="99" y="50"/>
                  </a:cubicBezTo>
                  <a:cubicBezTo>
                    <a:pt x="90" y="92"/>
                    <a:pt x="74" y="181"/>
                    <a:pt x="74" y="228"/>
                  </a:cubicBezTo>
                  <a:lnTo>
                    <a:pt x="40" y="228"/>
                  </a:lnTo>
                  <a:lnTo>
                    <a:pt x="40" y="262"/>
                  </a:lnTo>
                  <a:lnTo>
                    <a:pt x="175" y="271"/>
                  </a:lnTo>
                  <a:cubicBezTo>
                    <a:pt x="136" y="196"/>
                    <a:pt x="149" y="238"/>
                    <a:pt x="160" y="59"/>
                  </a:cubicBezTo>
                  <a:cubicBezTo>
                    <a:pt x="208" y="60"/>
                    <a:pt x="205" y="74"/>
                    <a:pt x="209" y="127"/>
                  </a:cubicBezTo>
                  <a:lnTo>
                    <a:pt x="243" y="127"/>
                  </a:lnTo>
                  <a:lnTo>
                    <a:pt x="252" y="42"/>
                  </a:lnTo>
                  <a:cubicBezTo>
                    <a:pt x="191" y="13"/>
                    <a:pt x="70" y="22"/>
                    <a:pt x="23" y="0"/>
                  </a:cubicBezTo>
                  <a:cubicBezTo>
                    <a:pt x="20" y="41"/>
                    <a:pt x="6" y="53"/>
                    <a:pt x="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3" name="Freeform 26"/>
            <p:cNvSpPr/>
            <p:nvPr/>
          </p:nvSpPr>
          <p:spPr bwMode="auto">
            <a:xfrm>
              <a:off x="4119563" y="2219326"/>
              <a:ext cx="63500" cy="47625"/>
            </a:xfrm>
            <a:custGeom>
              <a:avLst/>
              <a:gdLst>
                <a:gd name="T0" fmla="*/ 93 w 271"/>
                <a:gd name="T1" fmla="*/ 161 h 204"/>
                <a:gd name="T2" fmla="*/ 34 w 271"/>
                <a:gd name="T3" fmla="*/ 136 h 204"/>
                <a:gd name="T4" fmla="*/ 93 w 271"/>
                <a:gd name="T5" fmla="*/ 26 h 204"/>
                <a:gd name="T6" fmla="*/ 0 w 271"/>
                <a:gd name="T7" fmla="*/ 51 h 204"/>
                <a:gd name="T8" fmla="*/ 68 w 271"/>
                <a:gd name="T9" fmla="*/ 204 h 204"/>
                <a:gd name="T10" fmla="*/ 119 w 271"/>
                <a:gd name="T11" fmla="*/ 204 h 204"/>
                <a:gd name="T12" fmla="*/ 169 w 271"/>
                <a:gd name="T13" fmla="*/ 68 h 204"/>
                <a:gd name="T14" fmla="*/ 202 w 271"/>
                <a:gd name="T15" fmla="*/ 41 h 204"/>
                <a:gd name="T16" fmla="*/ 186 w 271"/>
                <a:gd name="T17" fmla="*/ 161 h 204"/>
                <a:gd name="T18" fmla="*/ 271 w 271"/>
                <a:gd name="T19" fmla="*/ 153 h 204"/>
                <a:gd name="T20" fmla="*/ 251 w 271"/>
                <a:gd name="T21" fmla="*/ 71 h 204"/>
                <a:gd name="T22" fmla="*/ 220 w 271"/>
                <a:gd name="T23" fmla="*/ 0 h 204"/>
                <a:gd name="T24" fmla="*/ 127 w 271"/>
                <a:gd name="T25" fmla="*/ 0 h 204"/>
                <a:gd name="T26" fmla="*/ 105 w 271"/>
                <a:gd name="T27" fmla="*/ 71 h 204"/>
                <a:gd name="T28" fmla="*/ 93 w 271"/>
                <a:gd name="T29" fmla="*/ 16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1" h="204">
                  <a:moveTo>
                    <a:pt x="93" y="161"/>
                  </a:moveTo>
                  <a:cubicBezTo>
                    <a:pt x="61" y="159"/>
                    <a:pt x="54" y="149"/>
                    <a:pt x="34" y="136"/>
                  </a:cubicBezTo>
                  <a:cubicBezTo>
                    <a:pt x="47" y="82"/>
                    <a:pt x="67" y="65"/>
                    <a:pt x="93" y="26"/>
                  </a:cubicBezTo>
                  <a:cubicBezTo>
                    <a:pt x="69" y="26"/>
                    <a:pt x="0" y="31"/>
                    <a:pt x="0" y="51"/>
                  </a:cubicBezTo>
                  <a:cubicBezTo>
                    <a:pt x="0" y="94"/>
                    <a:pt x="32" y="204"/>
                    <a:pt x="68" y="204"/>
                  </a:cubicBezTo>
                  <a:lnTo>
                    <a:pt x="119" y="204"/>
                  </a:lnTo>
                  <a:cubicBezTo>
                    <a:pt x="134" y="204"/>
                    <a:pt x="191" y="161"/>
                    <a:pt x="169" y="68"/>
                  </a:cubicBezTo>
                  <a:lnTo>
                    <a:pt x="202" y="41"/>
                  </a:lnTo>
                  <a:cubicBezTo>
                    <a:pt x="248" y="109"/>
                    <a:pt x="219" y="100"/>
                    <a:pt x="186" y="161"/>
                  </a:cubicBezTo>
                  <a:cubicBezTo>
                    <a:pt x="231" y="161"/>
                    <a:pt x="238" y="156"/>
                    <a:pt x="271" y="153"/>
                  </a:cubicBezTo>
                  <a:cubicBezTo>
                    <a:pt x="260" y="130"/>
                    <a:pt x="260" y="100"/>
                    <a:pt x="251" y="71"/>
                  </a:cubicBezTo>
                  <a:cubicBezTo>
                    <a:pt x="239" y="31"/>
                    <a:pt x="229" y="38"/>
                    <a:pt x="220" y="0"/>
                  </a:cubicBezTo>
                  <a:lnTo>
                    <a:pt x="127" y="0"/>
                  </a:lnTo>
                  <a:cubicBezTo>
                    <a:pt x="121" y="28"/>
                    <a:pt x="112" y="36"/>
                    <a:pt x="105" y="71"/>
                  </a:cubicBezTo>
                  <a:cubicBezTo>
                    <a:pt x="99" y="102"/>
                    <a:pt x="93" y="132"/>
                    <a:pt x="9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4" name="Freeform 27"/>
            <p:cNvSpPr/>
            <p:nvPr/>
          </p:nvSpPr>
          <p:spPr bwMode="auto">
            <a:xfrm>
              <a:off x="4875213" y="2268538"/>
              <a:ext cx="66675" cy="61913"/>
            </a:xfrm>
            <a:custGeom>
              <a:avLst/>
              <a:gdLst>
                <a:gd name="T0" fmla="*/ 0 w 288"/>
                <a:gd name="T1" fmla="*/ 212 h 262"/>
                <a:gd name="T2" fmla="*/ 85 w 288"/>
                <a:gd name="T3" fmla="*/ 229 h 262"/>
                <a:gd name="T4" fmla="*/ 60 w 288"/>
                <a:gd name="T5" fmla="*/ 144 h 262"/>
                <a:gd name="T6" fmla="*/ 212 w 288"/>
                <a:gd name="T7" fmla="*/ 262 h 262"/>
                <a:gd name="T8" fmla="*/ 246 w 288"/>
                <a:gd name="T9" fmla="*/ 262 h 262"/>
                <a:gd name="T10" fmla="*/ 288 w 288"/>
                <a:gd name="T11" fmla="*/ 135 h 262"/>
                <a:gd name="T12" fmla="*/ 246 w 288"/>
                <a:gd name="T13" fmla="*/ 144 h 262"/>
                <a:gd name="T14" fmla="*/ 85 w 288"/>
                <a:gd name="T15" fmla="*/ 85 h 262"/>
                <a:gd name="T16" fmla="*/ 178 w 288"/>
                <a:gd name="T17" fmla="*/ 25 h 262"/>
                <a:gd name="T18" fmla="*/ 85 w 288"/>
                <a:gd name="T19" fmla="*/ 0 h 262"/>
                <a:gd name="T20" fmla="*/ 0 w 288"/>
                <a:gd name="T21" fmla="*/ 21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62">
                  <a:moveTo>
                    <a:pt x="0" y="212"/>
                  </a:moveTo>
                  <a:cubicBezTo>
                    <a:pt x="40" y="215"/>
                    <a:pt x="41" y="228"/>
                    <a:pt x="85" y="229"/>
                  </a:cubicBezTo>
                  <a:cubicBezTo>
                    <a:pt x="70" y="200"/>
                    <a:pt x="60" y="189"/>
                    <a:pt x="60" y="144"/>
                  </a:cubicBezTo>
                  <a:cubicBezTo>
                    <a:pt x="215" y="226"/>
                    <a:pt x="232" y="177"/>
                    <a:pt x="212" y="262"/>
                  </a:cubicBezTo>
                  <a:lnTo>
                    <a:pt x="246" y="262"/>
                  </a:lnTo>
                  <a:cubicBezTo>
                    <a:pt x="251" y="203"/>
                    <a:pt x="284" y="187"/>
                    <a:pt x="288" y="135"/>
                  </a:cubicBezTo>
                  <a:cubicBezTo>
                    <a:pt x="255" y="138"/>
                    <a:pt x="268" y="144"/>
                    <a:pt x="246" y="144"/>
                  </a:cubicBezTo>
                  <a:cubicBezTo>
                    <a:pt x="200" y="144"/>
                    <a:pt x="140" y="97"/>
                    <a:pt x="85" y="85"/>
                  </a:cubicBezTo>
                  <a:cubicBezTo>
                    <a:pt x="129" y="19"/>
                    <a:pt x="136" y="104"/>
                    <a:pt x="178" y="25"/>
                  </a:cubicBezTo>
                  <a:cubicBezTo>
                    <a:pt x="142" y="22"/>
                    <a:pt x="119" y="8"/>
                    <a:pt x="85" y="0"/>
                  </a:cubicBezTo>
                  <a:cubicBezTo>
                    <a:pt x="69" y="33"/>
                    <a:pt x="3" y="184"/>
                    <a:pt x="0" y="2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5" name="Freeform 28"/>
            <p:cNvSpPr/>
            <p:nvPr/>
          </p:nvSpPr>
          <p:spPr bwMode="auto">
            <a:xfrm>
              <a:off x="4840288" y="1944688"/>
              <a:ext cx="66675" cy="44450"/>
            </a:xfrm>
            <a:custGeom>
              <a:avLst/>
              <a:gdLst>
                <a:gd name="T0" fmla="*/ 82 w 291"/>
                <a:gd name="T1" fmla="*/ 43 h 187"/>
                <a:gd name="T2" fmla="*/ 115 w 291"/>
                <a:gd name="T3" fmla="*/ 102 h 187"/>
                <a:gd name="T4" fmla="*/ 56 w 291"/>
                <a:gd name="T5" fmla="*/ 102 h 187"/>
                <a:gd name="T6" fmla="*/ 22 w 291"/>
                <a:gd name="T7" fmla="*/ 34 h 187"/>
                <a:gd name="T8" fmla="*/ 90 w 291"/>
                <a:gd name="T9" fmla="*/ 161 h 187"/>
                <a:gd name="T10" fmla="*/ 170 w 291"/>
                <a:gd name="T11" fmla="*/ 157 h 187"/>
                <a:gd name="T12" fmla="*/ 234 w 291"/>
                <a:gd name="T13" fmla="*/ 187 h 187"/>
                <a:gd name="T14" fmla="*/ 251 w 291"/>
                <a:gd name="T15" fmla="*/ 144 h 187"/>
                <a:gd name="T16" fmla="*/ 209 w 291"/>
                <a:gd name="T17" fmla="*/ 102 h 187"/>
                <a:gd name="T18" fmla="*/ 257 w 291"/>
                <a:gd name="T19" fmla="*/ 55 h 187"/>
                <a:gd name="T20" fmla="*/ 166 w 291"/>
                <a:gd name="T21" fmla="*/ 0 h 187"/>
                <a:gd name="T22" fmla="*/ 192 w 291"/>
                <a:gd name="T23" fmla="*/ 60 h 187"/>
                <a:gd name="T24" fmla="*/ 149 w 291"/>
                <a:gd name="T25" fmla="*/ 68 h 187"/>
                <a:gd name="T26" fmla="*/ 90 w 291"/>
                <a:gd name="T27" fmla="*/ 0 h 187"/>
                <a:gd name="T28" fmla="*/ 82 w 291"/>
                <a:gd name="T29" fmla="*/ 4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1" h="187">
                  <a:moveTo>
                    <a:pt x="82" y="43"/>
                  </a:moveTo>
                  <a:cubicBezTo>
                    <a:pt x="82" y="68"/>
                    <a:pt x="104" y="85"/>
                    <a:pt x="115" y="102"/>
                  </a:cubicBezTo>
                  <a:lnTo>
                    <a:pt x="56" y="102"/>
                  </a:lnTo>
                  <a:cubicBezTo>
                    <a:pt x="56" y="59"/>
                    <a:pt x="56" y="43"/>
                    <a:pt x="22" y="34"/>
                  </a:cubicBezTo>
                  <a:cubicBezTo>
                    <a:pt x="0" y="80"/>
                    <a:pt x="40" y="161"/>
                    <a:pt x="90" y="161"/>
                  </a:cubicBezTo>
                  <a:cubicBezTo>
                    <a:pt x="128" y="161"/>
                    <a:pt x="144" y="148"/>
                    <a:pt x="170" y="157"/>
                  </a:cubicBezTo>
                  <a:cubicBezTo>
                    <a:pt x="198" y="168"/>
                    <a:pt x="183" y="182"/>
                    <a:pt x="234" y="187"/>
                  </a:cubicBezTo>
                  <a:cubicBezTo>
                    <a:pt x="243" y="169"/>
                    <a:pt x="246" y="167"/>
                    <a:pt x="251" y="144"/>
                  </a:cubicBezTo>
                  <a:cubicBezTo>
                    <a:pt x="220" y="103"/>
                    <a:pt x="223" y="155"/>
                    <a:pt x="209" y="102"/>
                  </a:cubicBezTo>
                  <a:cubicBezTo>
                    <a:pt x="268" y="102"/>
                    <a:pt x="291" y="103"/>
                    <a:pt x="257" y="55"/>
                  </a:cubicBezTo>
                  <a:cubicBezTo>
                    <a:pt x="232" y="20"/>
                    <a:pt x="211" y="11"/>
                    <a:pt x="166" y="0"/>
                  </a:cubicBezTo>
                  <a:cubicBezTo>
                    <a:pt x="175" y="38"/>
                    <a:pt x="183" y="28"/>
                    <a:pt x="192" y="60"/>
                  </a:cubicBezTo>
                  <a:cubicBezTo>
                    <a:pt x="158" y="60"/>
                    <a:pt x="172" y="57"/>
                    <a:pt x="149" y="68"/>
                  </a:cubicBezTo>
                  <a:cubicBezTo>
                    <a:pt x="141" y="32"/>
                    <a:pt x="131" y="4"/>
                    <a:pt x="90" y="0"/>
                  </a:cubicBezTo>
                  <a:cubicBezTo>
                    <a:pt x="87" y="34"/>
                    <a:pt x="82" y="21"/>
                    <a:pt x="8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6" name="Freeform 29"/>
            <p:cNvSpPr/>
            <p:nvPr/>
          </p:nvSpPr>
          <p:spPr bwMode="auto">
            <a:xfrm>
              <a:off x="4900613" y="2216151"/>
              <a:ext cx="61913" cy="57150"/>
            </a:xfrm>
            <a:custGeom>
              <a:avLst/>
              <a:gdLst>
                <a:gd name="T0" fmla="*/ 34 w 271"/>
                <a:gd name="T1" fmla="*/ 102 h 246"/>
                <a:gd name="T2" fmla="*/ 93 w 271"/>
                <a:gd name="T3" fmla="*/ 85 h 246"/>
                <a:gd name="T4" fmla="*/ 110 w 271"/>
                <a:gd name="T5" fmla="*/ 127 h 246"/>
                <a:gd name="T6" fmla="*/ 26 w 271"/>
                <a:gd name="T7" fmla="*/ 110 h 246"/>
                <a:gd name="T8" fmla="*/ 0 w 271"/>
                <a:gd name="T9" fmla="*/ 221 h 246"/>
                <a:gd name="T10" fmla="*/ 212 w 271"/>
                <a:gd name="T11" fmla="*/ 246 h 246"/>
                <a:gd name="T12" fmla="*/ 246 w 271"/>
                <a:gd name="T13" fmla="*/ 246 h 246"/>
                <a:gd name="T14" fmla="*/ 271 w 271"/>
                <a:gd name="T15" fmla="*/ 110 h 246"/>
                <a:gd name="T16" fmla="*/ 121 w 271"/>
                <a:gd name="T17" fmla="*/ 83 h 246"/>
                <a:gd name="T18" fmla="*/ 51 w 271"/>
                <a:gd name="T19" fmla="*/ 0 h 246"/>
                <a:gd name="T20" fmla="*/ 34 w 271"/>
                <a:gd name="T21" fmla="*/ 10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46">
                  <a:moveTo>
                    <a:pt x="34" y="102"/>
                  </a:moveTo>
                  <a:cubicBezTo>
                    <a:pt x="57" y="90"/>
                    <a:pt x="59" y="86"/>
                    <a:pt x="93" y="85"/>
                  </a:cubicBezTo>
                  <a:cubicBezTo>
                    <a:pt x="102" y="116"/>
                    <a:pt x="102" y="96"/>
                    <a:pt x="110" y="127"/>
                  </a:cubicBezTo>
                  <a:cubicBezTo>
                    <a:pt x="37" y="134"/>
                    <a:pt x="92" y="155"/>
                    <a:pt x="26" y="110"/>
                  </a:cubicBezTo>
                  <a:cubicBezTo>
                    <a:pt x="8" y="144"/>
                    <a:pt x="0" y="169"/>
                    <a:pt x="0" y="221"/>
                  </a:cubicBezTo>
                  <a:cubicBezTo>
                    <a:pt x="95" y="213"/>
                    <a:pt x="185" y="129"/>
                    <a:pt x="212" y="246"/>
                  </a:cubicBezTo>
                  <a:lnTo>
                    <a:pt x="246" y="246"/>
                  </a:lnTo>
                  <a:cubicBezTo>
                    <a:pt x="246" y="188"/>
                    <a:pt x="270" y="167"/>
                    <a:pt x="271" y="110"/>
                  </a:cubicBezTo>
                  <a:cubicBezTo>
                    <a:pt x="215" y="140"/>
                    <a:pt x="204" y="160"/>
                    <a:pt x="121" y="83"/>
                  </a:cubicBezTo>
                  <a:cubicBezTo>
                    <a:pt x="56" y="24"/>
                    <a:pt x="114" y="6"/>
                    <a:pt x="51" y="0"/>
                  </a:cubicBezTo>
                  <a:cubicBezTo>
                    <a:pt x="48" y="37"/>
                    <a:pt x="35" y="63"/>
                    <a:pt x="34"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7" name="Freeform 30"/>
            <p:cNvSpPr/>
            <p:nvPr/>
          </p:nvSpPr>
          <p:spPr bwMode="auto">
            <a:xfrm>
              <a:off x="4700588" y="1784351"/>
              <a:ext cx="17463" cy="30163"/>
            </a:xfrm>
            <a:custGeom>
              <a:avLst/>
              <a:gdLst>
                <a:gd name="T0" fmla="*/ 0 w 76"/>
                <a:gd name="T1" fmla="*/ 52 h 129"/>
                <a:gd name="T2" fmla="*/ 59 w 76"/>
                <a:gd name="T3" fmla="*/ 129 h 129"/>
                <a:gd name="T4" fmla="*/ 76 w 76"/>
                <a:gd name="T5" fmla="*/ 95 h 129"/>
                <a:gd name="T6" fmla="*/ 0 w 76"/>
                <a:gd name="T7" fmla="*/ 52 h 129"/>
              </a:gdLst>
              <a:ahLst/>
              <a:cxnLst>
                <a:cxn ang="0">
                  <a:pos x="T0" y="T1"/>
                </a:cxn>
                <a:cxn ang="0">
                  <a:pos x="T2" y="T3"/>
                </a:cxn>
                <a:cxn ang="0">
                  <a:pos x="T4" y="T5"/>
                </a:cxn>
                <a:cxn ang="0">
                  <a:pos x="T6" y="T7"/>
                </a:cxn>
              </a:cxnLst>
              <a:rect l="0" t="0" r="r" b="b"/>
              <a:pathLst>
                <a:path w="76" h="129">
                  <a:moveTo>
                    <a:pt x="0" y="52"/>
                  </a:moveTo>
                  <a:cubicBezTo>
                    <a:pt x="0" y="115"/>
                    <a:pt x="19" y="109"/>
                    <a:pt x="59" y="129"/>
                  </a:cubicBezTo>
                  <a:cubicBezTo>
                    <a:pt x="61" y="125"/>
                    <a:pt x="76" y="96"/>
                    <a:pt x="76" y="95"/>
                  </a:cubicBezTo>
                  <a:cubicBezTo>
                    <a:pt x="76" y="57"/>
                    <a:pt x="0" y="0"/>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8" name="Freeform 31"/>
            <p:cNvSpPr/>
            <p:nvPr/>
          </p:nvSpPr>
          <p:spPr bwMode="auto">
            <a:xfrm>
              <a:off x="4854575" y="2428876"/>
              <a:ext cx="3175" cy="1588"/>
            </a:xfrm>
            <a:custGeom>
              <a:avLst/>
              <a:gdLst>
                <a:gd name="T0" fmla="*/ 0 w 8"/>
                <a:gd name="T1" fmla="*/ 10 h 10"/>
                <a:gd name="T2" fmla="*/ 8 w 8"/>
                <a:gd name="T3" fmla="*/ 10 h 10"/>
                <a:gd name="T4" fmla="*/ 1 w 8"/>
                <a:gd name="T5" fmla="*/ 0 h 10"/>
                <a:gd name="T6" fmla="*/ 0 w 8"/>
                <a:gd name="T7" fmla="*/ 10 h 10"/>
              </a:gdLst>
              <a:ahLst/>
              <a:cxnLst>
                <a:cxn ang="0">
                  <a:pos x="T0" y="T1"/>
                </a:cxn>
                <a:cxn ang="0">
                  <a:pos x="T2" y="T3"/>
                </a:cxn>
                <a:cxn ang="0">
                  <a:pos x="T4" y="T5"/>
                </a:cxn>
                <a:cxn ang="0">
                  <a:pos x="T6" y="T7"/>
                </a:cxn>
              </a:cxnLst>
              <a:rect l="0" t="0" r="r" b="b"/>
              <a:pathLst>
                <a:path w="8" h="10">
                  <a:moveTo>
                    <a:pt x="0" y="10"/>
                  </a:moveTo>
                  <a:lnTo>
                    <a:pt x="8" y="10"/>
                  </a:lnTo>
                  <a:lnTo>
                    <a:pt x="1"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9" name="Freeform 38"/>
            <p:cNvSpPr/>
            <p:nvPr/>
          </p:nvSpPr>
          <p:spPr bwMode="auto">
            <a:xfrm>
              <a:off x="4529138" y="2244726"/>
              <a:ext cx="14288" cy="31750"/>
            </a:xfrm>
            <a:custGeom>
              <a:avLst/>
              <a:gdLst>
                <a:gd name="T0" fmla="*/ 6 w 58"/>
                <a:gd name="T1" fmla="*/ 7 h 134"/>
                <a:gd name="T2" fmla="*/ 57 w 58"/>
                <a:gd name="T3" fmla="*/ 134 h 134"/>
                <a:gd name="T4" fmla="*/ 43 w 58"/>
                <a:gd name="T5" fmla="*/ 0 h 134"/>
                <a:gd name="T6" fmla="*/ 6 w 58"/>
                <a:gd name="T7" fmla="*/ 7 h 134"/>
              </a:gdLst>
              <a:ahLst/>
              <a:cxnLst>
                <a:cxn ang="0">
                  <a:pos x="T0" y="T1"/>
                </a:cxn>
                <a:cxn ang="0">
                  <a:pos x="T2" y="T3"/>
                </a:cxn>
                <a:cxn ang="0">
                  <a:pos x="T4" y="T5"/>
                </a:cxn>
                <a:cxn ang="0">
                  <a:pos x="T6" y="T7"/>
                </a:cxn>
              </a:cxnLst>
              <a:rect l="0" t="0" r="r" b="b"/>
              <a:pathLst>
                <a:path w="58" h="134">
                  <a:moveTo>
                    <a:pt x="6" y="7"/>
                  </a:moveTo>
                  <a:cubicBezTo>
                    <a:pt x="2" y="72"/>
                    <a:pt x="0" y="116"/>
                    <a:pt x="57" y="134"/>
                  </a:cubicBezTo>
                  <a:cubicBezTo>
                    <a:pt x="58" y="85"/>
                    <a:pt x="57" y="40"/>
                    <a:pt x="43" y="0"/>
                  </a:cubicBezTo>
                  <a:lnTo>
                    <a:pt x="6"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grpSp>
      <p:sp>
        <p:nvSpPr>
          <p:cNvPr id="61" name="Freeform 6"/>
          <p:cNvSpPr/>
          <p:nvPr/>
        </p:nvSpPr>
        <p:spPr bwMode="auto">
          <a:xfrm>
            <a:off x="-544049" y="3971559"/>
            <a:ext cx="3680740" cy="2166210"/>
          </a:xfrm>
          <a:custGeom>
            <a:avLst/>
            <a:gdLst>
              <a:gd name="T0" fmla="*/ 3510 w 4495"/>
              <a:gd name="T1" fmla="*/ 741 h 2642"/>
              <a:gd name="T2" fmla="*/ 3185 w 4495"/>
              <a:gd name="T3" fmla="*/ 1023 h 2642"/>
              <a:gd name="T4" fmla="*/ 3732 w 4495"/>
              <a:gd name="T5" fmla="*/ 1571 h 2642"/>
              <a:gd name="T6" fmla="*/ 4453 w 4495"/>
              <a:gd name="T7" fmla="*/ 1757 h 2642"/>
              <a:gd name="T8" fmla="*/ 725 w 4495"/>
              <a:gd name="T9" fmla="*/ 1957 h 2642"/>
              <a:gd name="T10" fmla="*/ 2100 w 4495"/>
              <a:gd name="T11" fmla="*/ 2171 h 2642"/>
              <a:gd name="T12" fmla="*/ 3175 w 4495"/>
              <a:gd name="T13" fmla="*/ 2386 h 2642"/>
              <a:gd name="T14" fmla="*/ 2639 w 4495"/>
              <a:gd name="T15" fmla="*/ 2600 h 2642"/>
              <a:gd name="T16" fmla="*/ 2714 w 4495"/>
              <a:gd name="T17" fmla="*/ 2484 h 2642"/>
              <a:gd name="T18" fmla="*/ 1960 w 4495"/>
              <a:gd name="T19" fmla="*/ 2363 h 2642"/>
              <a:gd name="T20" fmla="*/ 3653 w 4495"/>
              <a:gd name="T21" fmla="*/ 2111 h 2642"/>
              <a:gd name="T22" fmla="*/ 483 w 4495"/>
              <a:gd name="T23" fmla="*/ 1826 h 2642"/>
              <a:gd name="T24" fmla="*/ 4246 w 4495"/>
              <a:gd name="T25" fmla="*/ 1608 h 2642"/>
              <a:gd name="T26" fmla="*/ 3226 w 4495"/>
              <a:gd name="T27" fmla="*/ 1362 h 2642"/>
              <a:gd name="T28" fmla="*/ 2917 w 4495"/>
              <a:gd name="T29" fmla="*/ 965 h 2642"/>
              <a:gd name="T30" fmla="*/ 2651 w 4495"/>
              <a:gd name="T31" fmla="*/ 569 h 2642"/>
              <a:gd name="T32" fmla="*/ 2698 w 4495"/>
              <a:gd name="T33" fmla="*/ 339 h 2642"/>
              <a:gd name="T34" fmla="*/ 2417 w 4495"/>
              <a:gd name="T35" fmla="*/ 760 h 2642"/>
              <a:gd name="T36" fmla="*/ 2957 w 4495"/>
              <a:gd name="T37" fmla="*/ 1168 h 2642"/>
              <a:gd name="T38" fmla="*/ 2536 w 4495"/>
              <a:gd name="T39" fmla="*/ 1677 h 2642"/>
              <a:gd name="T40" fmla="*/ 2788 w 4495"/>
              <a:gd name="T41" fmla="*/ 1371 h 2642"/>
              <a:gd name="T42" fmla="*/ 2696 w 4495"/>
              <a:gd name="T43" fmla="*/ 1468 h 2642"/>
              <a:gd name="T44" fmla="*/ 2758 w 4495"/>
              <a:gd name="T45" fmla="*/ 1583 h 2642"/>
              <a:gd name="T46" fmla="*/ 2430 w 4495"/>
              <a:gd name="T47" fmla="*/ 1081 h 2642"/>
              <a:gd name="T48" fmla="*/ 2128 w 4495"/>
              <a:gd name="T49" fmla="*/ 612 h 2642"/>
              <a:gd name="T50" fmla="*/ 1747 w 4495"/>
              <a:gd name="T51" fmla="*/ 1209 h 2642"/>
              <a:gd name="T52" fmla="*/ 1956 w 4495"/>
              <a:gd name="T53" fmla="*/ 1028 h 2642"/>
              <a:gd name="T54" fmla="*/ 2026 w 4495"/>
              <a:gd name="T55" fmla="*/ 1148 h 2642"/>
              <a:gd name="T56" fmla="*/ 2025 w 4495"/>
              <a:gd name="T57" fmla="*/ 900 h 2642"/>
              <a:gd name="T58" fmla="*/ 2014 w 4495"/>
              <a:gd name="T59" fmla="*/ 1417 h 2642"/>
              <a:gd name="T60" fmla="*/ 1370 w 4495"/>
              <a:gd name="T61" fmla="*/ 1129 h 2642"/>
              <a:gd name="T62" fmla="*/ 1441 w 4495"/>
              <a:gd name="T63" fmla="*/ 1512 h 2642"/>
              <a:gd name="T64" fmla="*/ 1377 w 4495"/>
              <a:gd name="T65" fmla="*/ 1512 h 2642"/>
              <a:gd name="T66" fmla="*/ 1565 w 4495"/>
              <a:gd name="T67" fmla="*/ 1514 h 2642"/>
              <a:gd name="T68" fmla="*/ 310 w 4495"/>
              <a:gd name="T69" fmla="*/ 1616 h 2642"/>
              <a:gd name="T70" fmla="*/ 700 w 4495"/>
              <a:gd name="T71" fmla="*/ 1359 h 2642"/>
              <a:gd name="T72" fmla="*/ 146 w 4495"/>
              <a:gd name="T73" fmla="*/ 1543 h 2642"/>
              <a:gd name="T74" fmla="*/ 1036 w 4495"/>
              <a:gd name="T75" fmla="*/ 1300 h 2642"/>
              <a:gd name="T76" fmla="*/ 1555 w 4495"/>
              <a:gd name="T77" fmla="*/ 974 h 2642"/>
              <a:gd name="T78" fmla="*/ 2229 w 4495"/>
              <a:gd name="T79" fmla="*/ 428 h 2642"/>
              <a:gd name="T80" fmla="*/ 2497 w 4495"/>
              <a:gd name="T81" fmla="*/ 62 h 2642"/>
              <a:gd name="T82" fmla="*/ 2941 w 4495"/>
              <a:gd name="T83" fmla="*/ 384 h 2642"/>
              <a:gd name="T84" fmla="*/ 3423 w 4495"/>
              <a:gd name="T85" fmla="*/ 610 h 2642"/>
              <a:gd name="T86" fmla="*/ 3857 w 4495"/>
              <a:gd name="T87" fmla="*/ 656 h 2642"/>
              <a:gd name="T88" fmla="*/ 3839 w 4495"/>
              <a:gd name="T89" fmla="*/ 686 h 2642"/>
              <a:gd name="T90" fmla="*/ 3376 w 4495"/>
              <a:gd name="T91" fmla="*/ 585 h 2642"/>
              <a:gd name="T92" fmla="*/ 3112 w 4495"/>
              <a:gd name="T93" fmla="*/ 787 h 2642"/>
              <a:gd name="T94" fmla="*/ 2761 w 4495"/>
              <a:gd name="T95" fmla="*/ 654 h 2642"/>
              <a:gd name="T96" fmla="*/ 2882 w 4495"/>
              <a:gd name="T97" fmla="*/ 706 h 2642"/>
              <a:gd name="T98" fmla="*/ 2992 w 4495"/>
              <a:gd name="T99" fmla="*/ 676 h 2642"/>
              <a:gd name="T100" fmla="*/ 2960 w 4495"/>
              <a:gd name="T101" fmla="*/ 817 h 2642"/>
              <a:gd name="T102" fmla="*/ 3010 w 4495"/>
              <a:gd name="T103" fmla="*/ 599 h 2642"/>
              <a:gd name="T104" fmla="*/ 2580 w 4495"/>
              <a:gd name="T105" fmla="*/ 736 h 2642"/>
              <a:gd name="T106" fmla="*/ 3008 w 4495"/>
              <a:gd name="T107" fmla="*/ 913 h 2642"/>
              <a:gd name="T108" fmla="*/ 3489 w 4495"/>
              <a:gd name="T109" fmla="*/ 733 h 2642"/>
              <a:gd name="T110" fmla="*/ 3887 w 4495"/>
              <a:gd name="T111" fmla="*/ 672 h 2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95" h="2642">
                <a:moveTo>
                  <a:pt x="3887" y="672"/>
                </a:moveTo>
                <a:cubicBezTo>
                  <a:pt x="3873" y="700"/>
                  <a:pt x="3861" y="729"/>
                  <a:pt x="3842" y="754"/>
                </a:cubicBezTo>
                <a:cubicBezTo>
                  <a:pt x="3824" y="778"/>
                  <a:pt x="3795" y="780"/>
                  <a:pt x="3767" y="770"/>
                </a:cubicBezTo>
                <a:cubicBezTo>
                  <a:pt x="3743" y="762"/>
                  <a:pt x="3721" y="749"/>
                  <a:pt x="3697" y="739"/>
                </a:cubicBezTo>
                <a:cubicBezTo>
                  <a:pt x="3667" y="727"/>
                  <a:pt x="3637" y="715"/>
                  <a:pt x="3607" y="706"/>
                </a:cubicBezTo>
                <a:cubicBezTo>
                  <a:pt x="3579" y="699"/>
                  <a:pt x="3551" y="704"/>
                  <a:pt x="3524" y="713"/>
                </a:cubicBezTo>
                <a:cubicBezTo>
                  <a:pt x="3510" y="718"/>
                  <a:pt x="3506" y="726"/>
                  <a:pt x="3510" y="741"/>
                </a:cubicBezTo>
                <a:cubicBezTo>
                  <a:pt x="3514" y="764"/>
                  <a:pt x="3517" y="787"/>
                  <a:pt x="3505" y="808"/>
                </a:cubicBezTo>
                <a:cubicBezTo>
                  <a:pt x="3500" y="816"/>
                  <a:pt x="3493" y="824"/>
                  <a:pt x="3484" y="829"/>
                </a:cubicBezTo>
                <a:cubicBezTo>
                  <a:pt x="3452" y="847"/>
                  <a:pt x="3418" y="853"/>
                  <a:pt x="3382" y="840"/>
                </a:cubicBezTo>
                <a:cubicBezTo>
                  <a:pt x="3367" y="835"/>
                  <a:pt x="3351" y="832"/>
                  <a:pt x="3334" y="828"/>
                </a:cubicBezTo>
                <a:cubicBezTo>
                  <a:pt x="3329" y="869"/>
                  <a:pt x="3323" y="912"/>
                  <a:pt x="3281" y="935"/>
                </a:cubicBezTo>
                <a:cubicBezTo>
                  <a:pt x="3240" y="958"/>
                  <a:pt x="3200" y="943"/>
                  <a:pt x="3160" y="924"/>
                </a:cubicBezTo>
                <a:cubicBezTo>
                  <a:pt x="3169" y="959"/>
                  <a:pt x="3176" y="991"/>
                  <a:pt x="3185" y="1023"/>
                </a:cubicBezTo>
                <a:cubicBezTo>
                  <a:pt x="3197" y="1068"/>
                  <a:pt x="3211" y="1112"/>
                  <a:pt x="3223" y="1156"/>
                </a:cubicBezTo>
                <a:cubicBezTo>
                  <a:pt x="3228" y="1171"/>
                  <a:pt x="3231" y="1188"/>
                  <a:pt x="3237" y="1203"/>
                </a:cubicBezTo>
                <a:cubicBezTo>
                  <a:pt x="3250" y="1238"/>
                  <a:pt x="3262" y="1274"/>
                  <a:pt x="3278" y="1308"/>
                </a:cubicBezTo>
                <a:cubicBezTo>
                  <a:pt x="3291" y="1334"/>
                  <a:pt x="3307" y="1358"/>
                  <a:pt x="3326" y="1381"/>
                </a:cubicBezTo>
                <a:cubicBezTo>
                  <a:pt x="3345" y="1405"/>
                  <a:pt x="3367" y="1427"/>
                  <a:pt x="3389" y="1448"/>
                </a:cubicBezTo>
                <a:cubicBezTo>
                  <a:pt x="3421" y="1477"/>
                  <a:pt x="3458" y="1497"/>
                  <a:pt x="3497" y="1514"/>
                </a:cubicBezTo>
                <a:cubicBezTo>
                  <a:pt x="3572" y="1548"/>
                  <a:pt x="3651" y="1563"/>
                  <a:pt x="3732" y="1571"/>
                </a:cubicBezTo>
                <a:cubicBezTo>
                  <a:pt x="3761" y="1573"/>
                  <a:pt x="3790" y="1574"/>
                  <a:pt x="3819" y="1577"/>
                </a:cubicBezTo>
                <a:cubicBezTo>
                  <a:pt x="3938" y="1590"/>
                  <a:pt x="4056" y="1582"/>
                  <a:pt x="4175" y="1581"/>
                </a:cubicBezTo>
                <a:cubicBezTo>
                  <a:pt x="4204" y="1581"/>
                  <a:pt x="4233" y="1578"/>
                  <a:pt x="4262" y="1577"/>
                </a:cubicBezTo>
                <a:cubicBezTo>
                  <a:pt x="4314" y="1576"/>
                  <a:pt x="4366" y="1583"/>
                  <a:pt x="4415" y="1601"/>
                </a:cubicBezTo>
                <a:cubicBezTo>
                  <a:pt x="4438" y="1610"/>
                  <a:pt x="4459" y="1623"/>
                  <a:pt x="4474" y="1644"/>
                </a:cubicBezTo>
                <a:cubicBezTo>
                  <a:pt x="4484" y="1657"/>
                  <a:pt x="4491" y="1669"/>
                  <a:pt x="4493" y="1685"/>
                </a:cubicBezTo>
                <a:cubicBezTo>
                  <a:pt x="4495" y="1718"/>
                  <a:pt x="4477" y="1738"/>
                  <a:pt x="4453" y="1757"/>
                </a:cubicBezTo>
                <a:cubicBezTo>
                  <a:pt x="4426" y="1778"/>
                  <a:pt x="4394" y="1785"/>
                  <a:pt x="4362" y="1790"/>
                </a:cubicBezTo>
                <a:cubicBezTo>
                  <a:pt x="4334" y="1794"/>
                  <a:pt x="4306" y="1798"/>
                  <a:pt x="4278" y="1798"/>
                </a:cubicBezTo>
                <a:cubicBezTo>
                  <a:pt x="3089" y="1799"/>
                  <a:pt x="1900" y="1799"/>
                  <a:pt x="711" y="1798"/>
                </a:cubicBezTo>
                <a:cubicBezTo>
                  <a:pt x="685" y="1798"/>
                  <a:pt x="662" y="1802"/>
                  <a:pt x="643" y="1822"/>
                </a:cubicBezTo>
                <a:cubicBezTo>
                  <a:pt x="615" y="1850"/>
                  <a:pt x="617" y="1910"/>
                  <a:pt x="647" y="1936"/>
                </a:cubicBezTo>
                <a:cubicBezTo>
                  <a:pt x="664" y="1952"/>
                  <a:pt x="683" y="1956"/>
                  <a:pt x="705" y="1957"/>
                </a:cubicBezTo>
                <a:cubicBezTo>
                  <a:pt x="712" y="1957"/>
                  <a:pt x="718" y="1957"/>
                  <a:pt x="725" y="1957"/>
                </a:cubicBezTo>
                <a:cubicBezTo>
                  <a:pt x="1686" y="1957"/>
                  <a:pt x="2647" y="1957"/>
                  <a:pt x="3609" y="1957"/>
                </a:cubicBezTo>
                <a:cubicBezTo>
                  <a:pt x="3654" y="1957"/>
                  <a:pt x="3700" y="1957"/>
                  <a:pt x="3742" y="1974"/>
                </a:cubicBezTo>
                <a:cubicBezTo>
                  <a:pt x="3780" y="1989"/>
                  <a:pt x="3820" y="2007"/>
                  <a:pt x="3827" y="2055"/>
                </a:cubicBezTo>
                <a:cubicBezTo>
                  <a:pt x="3831" y="2081"/>
                  <a:pt x="3823" y="2102"/>
                  <a:pt x="3803" y="2120"/>
                </a:cubicBezTo>
                <a:cubicBezTo>
                  <a:pt x="3758" y="2159"/>
                  <a:pt x="3704" y="2169"/>
                  <a:pt x="3648" y="2170"/>
                </a:cubicBezTo>
                <a:cubicBezTo>
                  <a:pt x="3553" y="2172"/>
                  <a:pt x="3459" y="2171"/>
                  <a:pt x="3364" y="2171"/>
                </a:cubicBezTo>
                <a:cubicBezTo>
                  <a:pt x="2943" y="2171"/>
                  <a:pt x="2521" y="2171"/>
                  <a:pt x="2100" y="2171"/>
                </a:cubicBezTo>
                <a:cubicBezTo>
                  <a:pt x="2045" y="2171"/>
                  <a:pt x="1991" y="2172"/>
                  <a:pt x="1936" y="2171"/>
                </a:cubicBezTo>
                <a:cubicBezTo>
                  <a:pt x="1867" y="2169"/>
                  <a:pt x="1836" y="2241"/>
                  <a:pt x="1862" y="2295"/>
                </a:cubicBezTo>
                <a:cubicBezTo>
                  <a:pt x="1874" y="2318"/>
                  <a:pt x="1896" y="2332"/>
                  <a:pt x="1924" y="2333"/>
                </a:cubicBezTo>
                <a:cubicBezTo>
                  <a:pt x="1931" y="2333"/>
                  <a:pt x="1939" y="2333"/>
                  <a:pt x="1946" y="2333"/>
                </a:cubicBezTo>
                <a:cubicBezTo>
                  <a:pt x="2291" y="2333"/>
                  <a:pt x="2636" y="2332"/>
                  <a:pt x="2981" y="2333"/>
                </a:cubicBezTo>
                <a:cubicBezTo>
                  <a:pt x="3020" y="2333"/>
                  <a:pt x="3059" y="2337"/>
                  <a:pt x="3097" y="2345"/>
                </a:cubicBezTo>
                <a:cubicBezTo>
                  <a:pt x="3125" y="2352"/>
                  <a:pt x="3155" y="2361"/>
                  <a:pt x="3175" y="2386"/>
                </a:cubicBezTo>
                <a:cubicBezTo>
                  <a:pt x="3200" y="2419"/>
                  <a:pt x="3200" y="2433"/>
                  <a:pt x="3175" y="2462"/>
                </a:cubicBezTo>
                <a:cubicBezTo>
                  <a:pt x="3162" y="2477"/>
                  <a:pt x="3145" y="2484"/>
                  <a:pt x="3127" y="2492"/>
                </a:cubicBezTo>
                <a:cubicBezTo>
                  <a:pt x="3080" y="2512"/>
                  <a:pt x="3031" y="2513"/>
                  <a:pt x="2982" y="2513"/>
                </a:cubicBezTo>
                <a:cubicBezTo>
                  <a:pt x="2882" y="2514"/>
                  <a:pt x="2783" y="2515"/>
                  <a:pt x="2684" y="2516"/>
                </a:cubicBezTo>
                <a:cubicBezTo>
                  <a:pt x="2671" y="2516"/>
                  <a:pt x="2658" y="2519"/>
                  <a:pt x="2645" y="2522"/>
                </a:cubicBezTo>
                <a:cubicBezTo>
                  <a:pt x="2627" y="2526"/>
                  <a:pt x="2616" y="2539"/>
                  <a:pt x="2615" y="2556"/>
                </a:cubicBezTo>
                <a:cubicBezTo>
                  <a:pt x="2614" y="2573"/>
                  <a:pt x="2624" y="2594"/>
                  <a:pt x="2639" y="2600"/>
                </a:cubicBezTo>
                <a:cubicBezTo>
                  <a:pt x="2672" y="2617"/>
                  <a:pt x="2707" y="2629"/>
                  <a:pt x="2744" y="2635"/>
                </a:cubicBezTo>
                <a:cubicBezTo>
                  <a:pt x="2751" y="2636"/>
                  <a:pt x="2758" y="2638"/>
                  <a:pt x="2764" y="2642"/>
                </a:cubicBezTo>
                <a:cubicBezTo>
                  <a:pt x="2731" y="2639"/>
                  <a:pt x="2698" y="2638"/>
                  <a:pt x="2665" y="2631"/>
                </a:cubicBezTo>
                <a:cubicBezTo>
                  <a:pt x="2643" y="2626"/>
                  <a:pt x="2620" y="2616"/>
                  <a:pt x="2602" y="2603"/>
                </a:cubicBezTo>
                <a:cubicBezTo>
                  <a:pt x="2580" y="2589"/>
                  <a:pt x="2579" y="2564"/>
                  <a:pt x="2582" y="2539"/>
                </a:cubicBezTo>
                <a:cubicBezTo>
                  <a:pt x="2586" y="2511"/>
                  <a:pt x="2607" y="2497"/>
                  <a:pt x="2631" y="2492"/>
                </a:cubicBezTo>
                <a:cubicBezTo>
                  <a:pt x="2658" y="2487"/>
                  <a:pt x="2686" y="2484"/>
                  <a:pt x="2714" y="2484"/>
                </a:cubicBezTo>
                <a:cubicBezTo>
                  <a:pt x="2817" y="2483"/>
                  <a:pt x="2919" y="2483"/>
                  <a:pt x="3022" y="2483"/>
                </a:cubicBezTo>
                <a:cubicBezTo>
                  <a:pt x="3037" y="2483"/>
                  <a:pt x="3052" y="2483"/>
                  <a:pt x="3066" y="2478"/>
                </a:cubicBezTo>
                <a:cubicBezTo>
                  <a:pt x="3089" y="2471"/>
                  <a:pt x="3114" y="2449"/>
                  <a:pt x="3113" y="2420"/>
                </a:cubicBezTo>
                <a:cubicBezTo>
                  <a:pt x="3111" y="2395"/>
                  <a:pt x="3094" y="2373"/>
                  <a:pt x="3068" y="2368"/>
                </a:cubicBezTo>
                <a:cubicBezTo>
                  <a:pt x="3054" y="2365"/>
                  <a:pt x="3041" y="2363"/>
                  <a:pt x="3027" y="2363"/>
                </a:cubicBezTo>
                <a:cubicBezTo>
                  <a:pt x="2853" y="2363"/>
                  <a:pt x="2679" y="2363"/>
                  <a:pt x="2506" y="2363"/>
                </a:cubicBezTo>
                <a:cubicBezTo>
                  <a:pt x="2324" y="2363"/>
                  <a:pt x="2142" y="2364"/>
                  <a:pt x="1960" y="2363"/>
                </a:cubicBezTo>
                <a:cubicBezTo>
                  <a:pt x="1929" y="2362"/>
                  <a:pt x="1897" y="2360"/>
                  <a:pt x="1868" y="2353"/>
                </a:cubicBezTo>
                <a:cubicBezTo>
                  <a:pt x="1832" y="2343"/>
                  <a:pt x="1797" y="2328"/>
                  <a:pt x="1773" y="2298"/>
                </a:cubicBezTo>
                <a:cubicBezTo>
                  <a:pt x="1748" y="2268"/>
                  <a:pt x="1754" y="2220"/>
                  <a:pt x="1777" y="2197"/>
                </a:cubicBezTo>
                <a:cubicBezTo>
                  <a:pt x="1824" y="2151"/>
                  <a:pt x="1883" y="2143"/>
                  <a:pt x="1943" y="2141"/>
                </a:cubicBezTo>
                <a:cubicBezTo>
                  <a:pt x="1995" y="2140"/>
                  <a:pt x="2046" y="2141"/>
                  <a:pt x="2098" y="2141"/>
                </a:cubicBezTo>
                <a:cubicBezTo>
                  <a:pt x="2591" y="2141"/>
                  <a:pt x="3084" y="2141"/>
                  <a:pt x="3577" y="2141"/>
                </a:cubicBezTo>
                <a:cubicBezTo>
                  <a:pt x="3608" y="2141"/>
                  <a:pt x="3633" y="2134"/>
                  <a:pt x="3653" y="2111"/>
                </a:cubicBezTo>
                <a:cubicBezTo>
                  <a:pt x="3668" y="2094"/>
                  <a:pt x="3670" y="2073"/>
                  <a:pt x="3667" y="2051"/>
                </a:cubicBezTo>
                <a:cubicBezTo>
                  <a:pt x="3663" y="2024"/>
                  <a:pt x="3642" y="2002"/>
                  <a:pt x="3615" y="1998"/>
                </a:cubicBezTo>
                <a:cubicBezTo>
                  <a:pt x="3602" y="1995"/>
                  <a:pt x="3588" y="1994"/>
                  <a:pt x="3575" y="1994"/>
                </a:cubicBezTo>
                <a:cubicBezTo>
                  <a:pt x="2614" y="1994"/>
                  <a:pt x="1653" y="1994"/>
                  <a:pt x="692" y="1994"/>
                </a:cubicBezTo>
                <a:cubicBezTo>
                  <a:pt x="658" y="1994"/>
                  <a:pt x="623" y="1991"/>
                  <a:pt x="589" y="1984"/>
                </a:cubicBezTo>
                <a:cubicBezTo>
                  <a:pt x="563" y="1978"/>
                  <a:pt x="537" y="1966"/>
                  <a:pt x="514" y="1951"/>
                </a:cubicBezTo>
                <a:cubicBezTo>
                  <a:pt x="469" y="1923"/>
                  <a:pt x="456" y="1870"/>
                  <a:pt x="483" y="1826"/>
                </a:cubicBezTo>
                <a:cubicBezTo>
                  <a:pt x="498" y="1802"/>
                  <a:pt x="522" y="1785"/>
                  <a:pt x="549" y="1775"/>
                </a:cubicBezTo>
                <a:cubicBezTo>
                  <a:pt x="595" y="1758"/>
                  <a:pt x="642" y="1753"/>
                  <a:pt x="691" y="1753"/>
                </a:cubicBezTo>
                <a:cubicBezTo>
                  <a:pt x="1148" y="1754"/>
                  <a:pt x="1605" y="1754"/>
                  <a:pt x="2062" y="1754"/>
                </a:cubicBezTo>
                <a:cubicBezTo>
                  <a:pt x="2788" y="1754"/>
                  <a:pt x="3515" y="1754"/>
                  <a:pt x="4241" y="1753"/>
                </a:cubicBezTo>
                <a:cubicBezTo>
                  <a:pt x="4259" y="1753"/>
                  <a:pt x="4278" y="1749"/>
                  <a:pt x="4295" y="1743"/>
                </a:cubicBezTo>
                <a:cubicBezTo>
                  <a:pt x="4328" y="1729"/>
                  <a:pt x="4340" y="1682"/>
                  <a:pt x="4325" y="1650"/>
                </a:cubicBezTo>
                <a:cubicBezTo>
                  <a:pt x="4308" y="1616"/>
                  <a:pt x="4278" y="1607"/>
                  <a:pt x="4246" y="1608"/>
                </a:cubicBezTo>
                <a:cubicBezTo>
                  <a:pt x="4163" y="1609"/>
                  <a:pt x="4080" y="1616"/>
                  <a:pt x="3998" y="1617"/>
                </a:cubicBezTo>
                <a:cubicBezTo>
                  <a:pt x="3903" y="1617"/>
                  <a:pt x="3809" y="1617"/>
                  <a:pt x="3714" y="1611"/>
                </a:cubicBezTo>
                <a:cubicBezTo>
                  <a:pt x="3660" y="1608"/>
                  <a:pt x="3605" y="1595"/>
                  <a:pt x="3551" y="1583"/>
                </a:cubicBezTo>
                <a:cubicBezTo>
                  <a:pt x="3520" y="1576"/>
                  <a:pt x="3489" y="1565"/>
                  <a:pt x="3460" y="1552"/>
                </a:cubicBezTo>
                <a:cubicBezTo>
                  <a:pt x="3434" y="1541"/>
                  <a:pt x="3411" y="1525"/>
                  <a:pt x="3387" y="1512"/>
                </a:cubicBezTo>
                <a:cubicBezTo>
                  <a:pt x="3346" y="1491"/>
                  <a:pt x="3315" y="1457"/>
                  <a:pt x="3282" y="1427"/>
                </a:cubicBezTo>
                <a:cubicBezTo>
                  <a:pt x="3261" y="1408"/>
                  <a:pt x="3245" y="1383"/>
                  <a:pt x="3226" y="1362"/>
                </a:cubicBezTo>
                <a:cubicBezTo>
                  <a:pt x="3213" y="1346"/>
                  <a:pt x="3198" y="1331"/>
                  <a:pt x="3186" y="1315"/>
                </a:cubicBezTo>
                <a:cubicBezTo>
                  <a:pt x="3169" y="1292"/>
                  <a:pt x="3154" y="1267"/>
                  <a:pt x="3139" y="1243"/>
                </a:cubicBezTo>
                <a:cubicBezTo>
                  <a:pt x="3123" y="1218"/>
                  <a:pt x="3109" y="1191"/>
                  <a:pt x="3094" y="1165"/>
                </a:cubicBezTo>
                <a:cubicBezTo>
                  <a:pt x="3090" y="1157"/>
                  <a:pt x="3087" y="1148"/>
                  <a:pt x="3083" y="1139"/>
                </a:cubicBezTo>
                <a:cubicBezTo>
                  <a:pt x="3069" y="1102"/>
                  <a:pt x="3055" y="1066"/>
                  <a:pt x="3041" y="1029"/>
                </a:cubicBezTo>
                <a:cubicBezTo>
                  <a:pt x="3033" y="1006"/>
                  <a:pt x="3024" y="982"/>
                  <a:pt x="3014" y="957"/>
                </a:cubicBezTo>
                <a:cubicBezTo>
                  <a:pt x="2983" y="968"/>
                  <a:pt x="2952" y="977"/>
                  <a:pt x="2917" y="965"/>
                </a:cubicBezTo>
                <a:cubicBezTo>
                  <a:pt x="2884" y="953"/>
                  <a:pt x="2858" y="936"/>
                  <a:pt x="2847" y="899"/>
                </a:cubicBezTo>
                <a:cubicBezTo>
                  <a:pt x="2837" y="901"/>
                  <a:pt x="2827" y="904"/>
                  <a:pt x="2817" y="904"/>
                </a:cubicBezTo>
                <a:cubicBezTo>
                  <a:pt x="2756" y="904"/>
                  <a:pt x="2694" y="898"/>
                  <a:pt x="2638" y="875"/>
                </a:cubicBezTo>
                <a:cubicBezTo>
                  <a:pt x="2589" y="856"/>
                  <a:pt x="2545" y="826"/>
                  <a:pt x="2518" y="777"/>
                </a:cubicBezTo>
                <a:cubicBezTo>
                  <a:pt x="2495" y="736"/>
                  <a:pt x="2493" y="696"/>
                  <a:pt x="2511" y="655"/>
                </a:cubicBezTo>
                <a:cubicBezTo>
                  <a:pt x="2518" y="638"/>
                  <a:pt x="2535" y="624"/>
                  <a:pt x="2549" y="610"/>
                </a:cubicBezTo>
                <a:cubicBezTo>
                  <a:pt x="2577" y="583"/>
                  <a:pt x="2613" y="573"/>
                  <a:pt x="2651" y="569"/>
                </a:cubicBezTo>
                <a:cubicBezTo>
                  <a:pt x="2678" y="566"/>
                  <a:pt x="2706" y="562"/>
                  <a:pt x="2734" y="563"/>
                </a:cubicBezTo>
                <a:cubicBezTo>
                  <a:pt x="2751" y="563"/>
                  <a:pt x="2763" y="559"/>
                  <a:pt x="2770" y="545"/>
                </a:cubicBezTo>
                <a:cubicBezTo>
                  <a:pt x="2780" y="525"/>
                  <a:pt x="2799" y="516"/>
                  <a:pt x="2816" y="506"/>
                </a:cubicBezTo>
                <a:cubicBezTo>
                  <a:pt x="2819" y="505"/>
                  <a:pt x="2822" y="503"/>
                  <a:pt x="2825" y="501"/>
                </a:cubicBezTo>
                <a:cubicBezTo>
                  <a:pt x="2807" y="471"/>
                  <a:pt x="2790" y="441"/>
                  <a:pt x="2770" y="414"/>
                </a:cubicBezTo>
                <a:cubicBezTo>
                  <a:pt x="2757" y="396"/>
                  <a:pt x="2741" y="379"/>
                  <a:pt x="2726" y="363"/>
                </a:cubicBezTo>
                <a:cubicBezTo>
                  <a:pt x="2717" y="354"/>
                  <a:pt x="2708" y="346"/>
                  <a:pt x="2698" y="339"/>
                </a:cubicBezTo>
                <a:cubicBezTo>
                  <a:pt x="2663" y="317"/>
                  <a:pt x="2626" y="323"/>
                  <a:pt x="2589" y="330"/>
                </a:cubicBezTo>
                <a:cubicBezTo>
                  <a:pt x="2558" y="335"/>
                  <a:pt x="2531" y="350"/>
                  <a:pt x="2507" y="369"/>
                </a:cubicBezTo>
                <a:cubicBezTo>
                  <a:pt x="2489" y="383"/>
                  <a:pt x="2475" y="401"/>
                  <a:pt x="2460" y="418"/>
                </a:cubicBezTo>
                <a:cubicBezTo>
                  <a:pt x="2426" y="455"/>
                  <a:pt x="2409" y="501"/>
                  <a:pt x="2389" y="546"/>
                </a:cubicBezTo>
                <a:cubicBezTo>
                  <a:pt x="2378" y="569"/>
                  <a:pt x="2372" y="594"/>
                  <a:pt x="2364" y="619"/>
                </a:cubicBezTo>
                <a:cubicBezTo>
                  <a:pt x="2363" y="622"/>
                  <a:pt x="2364" y="626"/>
                  <a:pt x="2366" y="630"/>
                </a:cubicBezTo>
                <a:cubicBezTo>
                  <a:pt x="2383" y="673"/>
                  <a:pt x="2401" y="716"/>
                  <a:pt x="2417" y="760"/>
                </a:cubicBezTo>
                <a:cubicBezTo>
                  <a:pt x="2429" y="789"/>
                  <a:pt x="2439" y="818"/>
                  <a:pt x="2448" y="848"/>
                </a:cubicBezTo>
                <a:cubicBezTo>
                  <a:pt x="2460" y="888"/>
                  <a:pt x="2471" y="929"/>
                  <a:pt x="2483" y="969"/>
                </a:cubicBezTo>
                <a:cubicBezTo>
                  <a:pt x="2488" y="990"/>
                  <a:pt x="2495" y="1010"/>
                  <a:pt x="2501" y="1031"/>
                </a:cubicBezTo>
                <a:cubicBezTo>
                  <a:pt x="2519" y="1025"/>
                  <a:pt x="2537" y="1017"/>
                  <a:pt x="2556" y="1013"/>
                </a:cubicBezTo>
                <a:cubicBezTo>
                  <a:pt x="2626" y="995"/>
                  <a:pt x="2696" y="998"/>
                  <a:pt x="2764" y="1022"/>
                </a:cubicBezTo>
                <a:cubicBezTo>
                  <a:pt x="2802" y="1035"/>
                  <a:pt x="2839" y="1053"/>
                  <a:pt x="2870" y="1080"/>
                </a:cubicBezTo>
                <a:cubicBezTo>
                  <a:pt x="2901" y="1107"/>
                  <a:pt x="2930" y="1137"/>
                  <a:pt x="2957" y="1168"/>
                </a:cubicBezTo>
                <a:cubicBezTo>
                  <a:pt x="2977" y="1192"/>
                  <a:pt x="2990" y="1222"/>
                  <a:pt x="3002" y="1252"/>
                </a:cubicBezTo>
                <a:cubicBezTo>
                  <a:pt x="3033" y="1327"/>
                  <a:pt x="3031" y="1403"/>
                  <a:pt x="3011" y="1479"/>
                </a:cubicBezTo>
                <a:cubicBezTo>
                  <a:pt x="3004" y="1506"/>
                  <a:pt x="2993" y="1533"/>
                  <a:pt x="2979" y="1556"/>
                </a:cubicBezTo>
                <a:cubicBezTo>
                  <a:pt x="2960" y="1585"/>
                  <a:pt x="2938" y="1612"/>
                  <a:pt x="2911" y="1637"/>
                </a:cubicBezTo>
                <a:cubicBezTo>
                  <a:pt x="2872" y="1674"/>
                  <a:pt x="2826" y="1694"/>
                  <a:pt x="2776" y="1707"/>
                </a:cubicBezTo>
                <a:cubicBezTo>
                  <a:pt x="2725" y="1721"/>
                  <a:pt x="2672" y="1721"/>
                  <a:pt x="2620" y="1709"/>
                </a:cubicBezTo>
                <a:cubicBezTo>
                  <a:pt x="2591" y="1703"/>
                  <a:pt x="2562" y="1692"/>
                  <a:pt x="2536" y="1677"/>
                </a:cubicBezTo>
                <a:cubicBezTo>
                  <a:pt x="2506" y="1659"/>
                  <a:pt x="2481" y="1635"/>
                  <a:pt x="2462" y="1604"/>
                </a:cubicBezTo>
                <a:cubicBezTo>
                  <a:pt x="2419" y="1534"/>
                  <a:pt x="2418" y="1462"/>
                  <a:pt x="2447" y="1390"/>
                </a:cubicBezTo>
                <a:cubicBezTo>
                  <a:pt x="2460" y="1358"/>
                  <a:pt x="2484" y="1331"/>
                  <a:pt x="2511" y="1308"/>
                </a:cubicBezTo>
                <a:cubicBezTo>
                  <a:pt x="2532" y="1290"/>
                  <a:pt x="2557" y="1281"/>
                  <a:pt x="2583" y="1276"/>
                </a:cubicBezTo>
                <a:cubicBezTo>
                  <a:pt x="2602" y="1273"/>
                  <a:pt x="2621" y="1267"/>
                  <a:pt x="2639" y="1269"/>
                </a:cubicBezTo>
                <a:cubicBezTo>
                  <a:pt x="2672" y="1272"/>
                  <a:pt x="2706" y="1280"/>
                  <a:pt x="2733" y="1301"/>
                </a:cubicBezTo>
                <a:cubicBezTo>
                  <a:pt x="2757" y="1319"/>
                  <a:pt x="2777" y="1341"/>
                  <a:pt x="2788" y="1371"/>
                </a:cubicBezTo>
                <a:cubicBezTo>
                  <a:pt x="2795" y="1391"/>
                  <a:pt x="2801" y="1412"/>
                  <a:pt x="2794" y="1431"/>
                </a:cubicBezTo>
                <a:cubicBezTo>
                  <a:pt x="2780" y="1468"/>
                  <a:pt x="2763" y="1501"/>
                  <a:pt x="2720" y="1516"/>
                </a:cubicBezTo>
                <a:cubicBezTo>
                  <a:pt x="2691" y="1527"/>
                  <a:pt x="2639" y="1507"/>
                  <a:pt x="2630" y="1478"/>
                </a:cubicBezTo>
                <a:cubicBezTo>
                  <a:pt x="2624" y="1459"/>
                  <a:pt x="2627" y="1446"/>
                  <a:pt x="2642" y="1433"/>
                </a:cubicBezTo>
                <a:cubicBezTo>
                  <a:pt x="2651" y="1425"/>
                  <a:pt x="2660" y="1417"/>
                  <a:pt x="2669" y="1410"/>
                </a:cubicBezTo>
                <a:cubicBezTo>
                  <a:pt x="2672" y="1427"/>
                  <a:pt x="2674" y="1442"/>
                  <a:pt x="2679" y="1455"/>
                </a:cubicBezTo>
                <a:cubicBezTo>
                  <a:pt x="2681" y="1461"/>
                  <a:pt x="2690" y="1468"/>
                  <a:pt x="2696" y="1468"/>
                </a:cubicBezTo>
                <a:cubicBezTo>
                  <a:pt x="2702" y="1468"/>
                  <a:pt x="2709" y="1460"/>
                  <a:pt x="2712" y="1454"/>
                </a:cubicBezTo>
                <a:cubicBezTo>
                  <a:pt x="2716" y="1448"/>
                  <a:pt x="2719" y="1439"/>
                  <a:pt x="2719" y="1432"/>
                </a:cubicBezTo>
                <a:cubicBezTo>
                  <a:pt x="2721" y="1412"/>
                  <a:pt x="2719" y="1391"/>
                  <a:pt x="2701" y="1379"/>
                </a:cubicBezTo>
                <a:cubicBezTo>
                  <a:pt x="2675" y="1362"/>
                  <a:pt x="2646" y="1361"/>
                  <a:pt x="2618" y="1375"/>
                </a:cubicBezTo>
                <a:cubicBezTo>
                  <a:pt x="2567" y="1402"/>
                  <a:pt x="2544" y="1475"/>
                  <a:pt x="2584" y="1530"/>
                </a:cubicBezTo>
                <a:cubicBezTo>
                  <a:pt x="2599" y="1551"/>
                  <a:pt x="2618" y="1565"/>
                  <a:pt x="2640" y="1576"/>
                </a:cubicBezTo>
                <a:cubicBezTo>
                  <a:pt x="2679" y="1596"/>
                  <a:pt x="2719" y="1596"/>
                  <a:pt x="2758" y="1583"/>
                </a:cubicBezTo>
                <a:cubicBezTo>
                  <a:pt x="2794" y="1571"/>
                  <a:pt x="2824" y="1549"/>
                  <a:pt x="2845" y="1515"/>
                </a:cubicBezTo>
                <a:cubicBezTo>
                  <a:pt x="2890" y="1444"/>
                  <a:pt x="2884" y="1370"/>
                  <a:pt x="2860" y="1296"/>
                </a:cubicBezTo>
                <a:cubicBezTo>
                  <a:pt x="2852" y="1269"/>
                  <a:pt x="2832" y="1245"/>
                  <a:pt x="2816" y="1220"/>
                </a:cubicBezTo>
                <a:cubicBezTo>
                  <a:pt x="2794" y="1187"/>
                  <a:pt x="2760" y="1168"/>
                  <a:pt x="2724" y="1151"/>
                </a:cubicBezTo>
                <a:cubicBezTo>
                  <a:pt x="2663" y="1123"/>
                  <a:pt x="2601" y="1124"/>
                  <a:pt x="2539" y="1143"/>
                </a:cubicBezTo>
                <a:cubicBezTo>
                  <a:pt x="2512" y="1152"/>
                  <a:pt x="2488" y="1169"/>
                  <a:pt x="2461" y="1183"/>
                </a:cubicBezTo>
                <a:cubicBezTo>
                  <a:pt x="2451" y="1151"/>
                  <a:pt x="2442" y="1116"/>
                  <a:pt x="2430" y="1081"/>
                </a:cubicBezTo>
                <a:cubicBezTo>
                  <a:pt x="2417" y="1047"/>
                  <a:pt x="2402" y="1014"/>
                  <a:pt x="2389" y="980"/>
                </a:cubicBezTo>
                <a:cubicBezTo>
                  <a:pt x="2386" y="972"/>
                  <a:pt x="2383" y="964"/>
                  <a:pt x="2380" y="956"/>
                </a:cubicBezTo>
                <a:cubicBezTo>
                  <a:pt x="2366" y="926"/>
                  <a:pt x="2352" y="895"/>
                  <a:pt x="2337" y="865"/>
                </a:cubicBezTo>
                <a:cubicBezTo>
                  <a:pt x="2324" y="841"/>
                  <a:pt x="2309" y="819"/>
                  <a:pt x="2295" y="796"/>
                </a:cubicBezTo>
                <a:cubicBezTo>
                  <a:pt x="2282" y="777"/>
                  <a:pt x="2271" y="757"/>
                  <a:pt x="2257" y="739"/>
                </a:cubicBezTo>
                <a:cubicBezTo>
                  <a:pt x="2237" y="714"/>
                  <a:pt x="2217" y="689"/>
                  <a:pt x="2194" y="667"/>
                </a:cubicBezTo>
                <a:cubicBezTo>
                  <a:pt x="2174" y="647"/>
                  <a:pt x="2152" y="628"/>
                  <a:pt x="2128" y="612"/>
                </a:cubicBezTo>
                <a:cubicBezTo>
                  <a:pt x="2078" y="579"/>
                  <a:pt x="2023" y="567"/>
                  <a:pt x="1963" y="582"/>
                </a:cubicBezTo>
                <a:cubicBezTo>
                  <a:pt x="1930" y="590"/>
                  <a:pt x="1902" y="606"/>
                  <a:pt x="1877" y="629"/>
                </a:cubicBezTo>
                <a:cubicBezTo>
                  <a:pt x="1861" y="644"/>
                  <a:pt x="1843" y="657"/>
                  <a:pt x="1829" y="674"/>
                </a:cubicBezTo>
                <a:cubicBezTo>
                  <a:pt x="1802" y="709"/>
                  <a:pt x="1775" y="745"/>
                  <a:pt x="1757" y="786"/>
                </a:cubicBezTo>
                <a:cubicBezTo>
                  <a:pt x="1741" y="819"/>
                  <a:pt x="1723" y="852"/>
                  <a:pt x="1711" y="886"/>
                </a:cubicBezTo>
                <a:cubicBezTo>
                  <a:pt x="1686" y="963"/>
                  <a:pt x="1678" y="1042"/>
                  <a:pt x="1700" y="1121"/>
                </a:cubicBezTo>
                <a:cubicBezTo>
                  <a:pt x="1709" y="1154"/>
                  <a:pt x="1727" y="1182"/>
                  <a:pt x="1747" y="1209"/>
                </a:cubicBezTo>
                <a:cubicBezTo>
                  <a:pt x="1768" y="1236"/>
                  <a:pt x="1793" y="1257"/>
                  <a:pt x="1822" y="1273"/>
                </a:cubicBezTo>
                <a:cubicBezTo>
                  <a:pt x="1846" y="1286"/>
                  <a:pt x="1874" y="1294"/>
                  <a:pt x="1901" y="1300"/>
                </a:cubicBezTo>
                <a:cubicBezTo>
                  <a:pt x="1943" y="1308"/>
                  <a:pt x="1985" y="1301"/>
                  <a:pt x="2021" y="1276"/>
                </a:cubicBezTo>
                <a:cubicBezTo>
                  <a:pt x="2039" y="1264"/>
                  <a:pt x="2055" y="1247"/>
                  <a:pt x="2067" y="1229"/>
                </a:cubicBezTo>
                <a:cubicBezTo>
                  <a:pt x="2090" y="1197"/>
                  <a:pt x="2102" y="1160"/>
                  <a:pt x="2093" y="1119"/>
                </a:cubicBezTo>
                <a:cubicBezTo>
                  <a:pt x="2081" y="1067"/>
                  <a:pt x="2054" y="1037"/>
                  <a:pt x="2001" y="1027"/>
                </a:cubicBezTo>
                <a:cubicBezTo>
                  <a:pt x="1986" y="1025"/>
                  <a:pt x="1971" y="1026"/>
                  <a:pt x="1956" y="1028"/>
                </a:cubicBezTo>
                <a:cubicBezTo>
                  <a:pt x="1928" y="1033"/>
                  <a:pt x="1907" y="1049"/>
                  <a:pt x="1898" y="1075"/>
                </a:cubicBezTo>
                <a:cubicBezTo>
                  <a:pt x="1889" y="1100"/>
                  <a:pt x="1884" y="1127"/>
                  <a:pt x="1904" y="1150"/>
                </a:cubicBezTo>
                <a:cubicBezTo>
                  <a:pt x="1917" y="1165"/>
                  <a:pt x="1952" y="1169"/>
                  <a:pt x="1967" y="1156"/>
                </a:cubicBezTo>
                <a:cubicBezTo>
                  <a:pt x="1979" y="1147"/>
                  <a:pt x="1975" y="1124"/>
                  <a:pt x="1960" y="1114"/>
                </a:cubicBezTo>
                <a:cubicBezTo>
                  <a:pt x="1953" y="1109"/>
                  <a:pt x="1946" y="1106"/>
                  <a:pt x="1938" y="1101"/>
                </a:cubicBezTo>
                <a:cubicBezTo>
                  <a:pt x="1958" y="1089"/>
                  <a:pt x="1978" y="1080"/>
                  <a:pt x="2000" y="1094"/>
                </a:cubicBezTo>
                <a:cubicBezTo>
                  <a:pt x="2020" y="1106"/>
                  <a:pt x="2031" y="1126"/>
                  <a:pt x="2026" y="1148"/>
                </a:cubicBezTo>
                <a:cubicBezTo>
                  <a:pt x="2022" y="1169"/>
                  <a:pt x="2012" y="1189"/>
                  <a:pt x="1992" y="1203"/>
                </a:cubicBezTo>
                <a:cubicBezTo>
                  <a:pt x="1963" y="1224"/>
                  <a:pt x="1934" y="1226"/>
                  <a:pt x="1901" y="1218"/>
                </a:cubicBezTo>
                <a:cubicBezTo>
                  <a:pt x="1864" y="1209"/>
                  <a:pt x="1837" y="1185"/>
                  <a:pt x="1824" y="1149"/>
                </a:cubicBezTo>
                <a:cubicBezTo>
                  <a:pt x="1804" y="1096"/>
                  <a:pt x="1810" y="1043"/>
                  <a:pt x="1836" y="993"/>
                </a:cubicBezTo>
                <a:cubicBezTo>
                  <a:pt x="1845" y="976"/>
                  <a:pt x="1862" y="964"/>
                  <a:pt x="1875" y="949"/>
                </a:cubicBezTo>
                <a:cubicBezTo>
                  <a:pt x="1901" y="921"/>
                  <a:pt x="1935" y="909"/>
                  <a:pt x="1971" y="905"/>
                </a:cubicBezTo>
                <a:cubicBezTo>
                  <a:pt x="1989" y="902"/>
                  <a:pt x="2008" y="897"/>
                  <a:pt x="2025" y="900"/>
                </a:cubicBezTo>
                <a:cubicBezTo>
                  <a:pt x="2065" y="906"/>
                  <a:pt x="2103" y="915"/>
                  <a:pt x="2137" y="939"/>
                </a:cubicBezTo>
                <a:cubicBezTo>
                  <a:pt x="2169" y="961"/>
                  <a:pt x="2191" y="989"/>
                  <a:pt x="2209" y="1020"/>
                </a:cubicBezTo>
                <a:cubicBezTo>
                  <a:pt x="2221" y="1041"/>
                  <a:pt x="2225" y="1066"/>
                  <a:pt x="2230" y="1090"/>
                </a:cubicBezTo>
                <a:cubicBezTo>
                  <a:pt x="2237" y="1133"/>
                  <a:pt x="2233" y="1176"/>
                  <a:pt x="2217" y="1217"/>
                </a:cubicBezTo>
                <a:cubicBezTo>
                  <a:pt x="2206" y="1244"/>
                  <a:pt x="2189" y="1270"/>
                  <a:pt x="2172" y="1295"/>
                </a:cubicBezTo>
                <a:cubicBezTo>
                  <a:pt x="2159" y="1314"/>
                  <a:pt x="2145" y="1332"/>
                  <a:pt x="2128" y="1348"/>
                </a:cubicBezTo>
                <a:cubicBezTo>
                  <a:pt x="2095" y="1379"/>
                  <a:pt x="2057" y="1401"/>
                  <a:pt x="2014" y="1417"/>
                </a:cubicBezTo>
                <a:cubicBezTo>
                  <a:pt x="1955" y="1439"/>
                  <a:pt x="1894" y="1442"/>
                  <a:pt x="1834" y="1429"/>
                </a:cubicBezTo>
                <a:cubicBezTo>
                  <a:pt x="1798" y="1421"/>
                  <a:pt x="1763" y="1408"/>
                  <a:pt x="1730" y="1389"/>
                </a:cubicBezTo>
                <a:cubicBezTo>
                  <a:pt x="1696" y="1368"/>
                  <a:pt x="1666" y="1344"/>
                  <a:pt x="1640" y="1315"/>
                </a:cubicBezTo>
                <a:cubicBezTo>
                  <a:pt x="1616" y="1289"/>
                  <a:pt x="1594" y="1261"/>
                  <a:pt x="1570" y="1235"/>
                </a:cubicBezTo>
                <a:cubicBezTo>
                  <a:pt x="1557" y="1220"/>
                  <a:pt x="1542" y="1206"/>
                  <a:pt x="1527" y="1193"/>
                </a:cubicBezTo>
                <a:cubicBezTo>
                  <a:pt x="1507" y="1176"/>
                  <a:pt x="1486" y="1159"/>
                  <a:pt x="1464" y="1145"/>
                </a:cubicBezTo>
                <a:cubicBezTo>
                  <a:pt x="1435" y="1128"/>
                  <a:pt x="1403" y="1125"/>
                  <a:pt x="1370" y="1129"/>
                </a:cubicBezTo>
                <a:cubicBezTo>
                  <a:pt x="1318" y="1136"/>
                  <a:pt x="1275" y="1160"/>
                  <a:pt x="1239" y="1196"/>
                </a:cubicBezTo>
                <a:cubicBezTo>
                  <a:pt x="1207" y="1229"/>
                  <a:pt x="1185" y="1267"/>
                  <a:pt x="1167" y="1309"/>
                </a:cubicBezTo>
                <a:cubicBezTo>
                  <a:pt x="1143" y="1367"/>
                  <a:pt x="1138" y="1425"/>
                  <a:pt x="1155" y="1484"/>
                </a:cubicBezTo>
                <a:cubicBezTo>
                  <a:pt x="1164" y="1517"/>
                  <a:pt x="1183" y="1544"/>
                  <a:pt x="1208" y="1567"/>
                </a:cubicBezTo>
                <a:cubicBezTo>
                  <a:pt x="1258" y="1613"/>
                  <a:pt x="1331" y="1616"/>
                  <a:pt x="1384" y="1588"/>
                </a:cubicBezTo>
                <a:cubicBezTo>
                  <a:pt x="1402" y="1578"/>
                  <a:pt x="1421" y="1564"/>
                  <a:pt x="1428" y="1542"/>
                </a:cubicBezTo>
                <a:cubicBezTo>
                  <a:pt x="1431" y="1531"/>
                  <a:pt x="1438" y="1522"/>
                  <a:pt x="1441" y="1512"/>
                </a:cubicBezTo>
                <a:cubicBezTo>
                  <a:pt x="1453" y="1464"/>
                  <a:pt x="1409" y="1390"/>
                  <a:pt x="1345" y="1402"/>
                </a:cubicBezTo>
                <a:cubicBezTo>
                  <a:pt x="1326" y="1406"/>
                  <a:pt x="1309" y="1412"/>
                  <a:pt x="1301" y="1433"/>
                </a:cubicBezTo>
                <a:cubicBezTo>
                  <a:pt x="1294" y="1454"/>
                  <a:pt x="1299" y="1473"/>
                  <a:pt x="1310" y="1490"/>
                </a:cubicBezTo>
                <a:cubicBezTo>
                  <a:pt x="1318" y="1503"/>
                  <a:pt x="1334" y="1501"/>
                  <a:pt x="1338" y="1486"/>
                </a:cubicBezTo>
                <a:cubicBezTo>
                  <a:pt x="1342" y="1473"/>
                  <a:pt x="1341" y="1460"/>
                  <a:pt x="1342" y="1445"/>
                </a:cubicBezTo>
                <a:cubicBezTo>
                  <a:pt x="1361" y="1444"/>
                  <a:pt x="1372" y="1460"/>
                  <a:pt x="1382" y="1474"/>
                </a:cubicBezTo>
                <a:cubicBezTo>
                  <a:pt x="1390" y="1485"/>
                  <a:pt x="1386" y="1499"/>
                  <a:pt x="1377" y="1512"/>
                </a:cubicBezTo>
                <a:cubicBezTo>
                  <a:pt x="1348" y="1550"/>
                  <a:pt x="1294" y="1550"/>
                  <a:pt x="1261" y="1514"/>
                </a:cubicBezTo>
                <a:cubicBezTo>
                  <a:pt x="1225" y="1477"/>
                  <a:pt x="1224" y="1437"/>
                  <a:pt x="1243" y="1394"/>
                </a:cubicBezTo>
                <a:cubicBezTo>
                  <a:pt x="1253" y="1372"/>
                  <a:pt x="1270" y="1356"/>
                  <a:pt x="1290" y="1341"/>
                </a:cubicBezTo>
                <a:cubicBezTo>
                  <a:pt x="1335" y="1309"/>
                  <a:pt x="1384" y="1307"/>
                  <a:pt x="1435" y="1320"/>
                </a:cubicBezTo>
                <a:cubicBezTo>
                  <a:pt x="1451" y="1324"/>
                  <a:pt x="1466" y="1334"/>
                  <a:pt x="1480" y="1343"/>
                </a:cubicBezTo>
                <a:cubicBezTo>
                  <a:pt x="1521" y="1372"/>
                  <a:pt x="1549" y="1410"/>
                  <a:pt x="1559" y="1460"/>
                </a:cubicBezTo>
                <a:cubicBezTo>
                  <a:pt x="1562" y="1477"/>
                  <a:pt x="1567" y="1496"/>
                  <a:pt x="1565" y="1514"/>
                </a:cubicBezTo>
                <a:cubicBezTo>
                  <a:pt x="1561" y="1552"/>
                  <a:pt x="1551" y="1589"/>
                  <a:pt x="1526" y="1621"/>
                </a:cubicBezTo>
                <a:cubicBezTo>
                  <a:pt x="1496" y="1661"/>
                  <a:pt x="1456" y="1685"/>
                  <a:pt x="1408" y="1701"/>
                </a:cubicBezTo>
                <a:cubicBezTo>
                  <a:pt x="1356" y="1718"/>
                  <a:pt x="1304" y="1720"/>
                  <a:pt x="1252" y="1708"/>
                </a:cubicBezTo>
                <a:cubicBezTo>
                  <a:pt x="1218" y="1700"/>
                  <a:pt x="1184" y="1689"/>
                  <a:pt x="1155" y="1665"/>
                </a:cubicBezTo>
                <a:cubicBezTo>
                  <a:pt x="1139" y="1652"/>
                  <a:pt x="1124" y="1638"/>
                  <a:pt x="1107" y="1626"/>
                </a:cubicBezTo>
                <a:cubicBezTo>
                  <a:pt x="1100" y="1621"/>
                  <a:pt x="1089" y="1616"/>
                  <a:pt x="1080" y="1616"/>
                </a:cubicBezTo>
                <a:cubicBezTo>
                  <a:pt x="823" y="1616"/>
                  <a:pt x="567" y="1616"/>
                  <a:pt x="310" y="1616"/>
                </a:cubicBezTo>
                <a:cubicBezTo>
                  <a:pt x="283" y="1616"/>
                  <a:pt x="255" y="1617"/>
                  <a:pt x="228" y="1612"/>
                </a:cubicBezTo>
                <a:cubicBezTo>
                  <a:pt x="187" y="1606"/>
                  <a:pt x="145" y="1598"/>
                  <a:pt x="106" y="1585"/>
                </a:cubicBezTo>
                <a:cubicBezTo>
                  <a:pt x="74" y="1575"/>
                  <a:pt x="44" y="1558"/>
                  <a:pt x="22" y="1531"/>
                </a:cubicBezTo>
                <a:cubicBezTo>
                  <a:pt x="0" y="1505"/>
                  <a:pt x="2" y="1457"/>
                  <a:pt x="27" y="1432"/>
                </a:cubicBezTo>
                <a:cubicBezTo>
                  <a:pt x="68" y="1390"/>
                  <a:pt x="120" y="1378"/>
                  <a:pt x="173" y="1366"/>
                </a:cubicBezTo>
                <a:cubicBezTo>
                  <a:pt x="238" y="1351"/>
                  <a:pt x="303" y="1355"/>
                  <a:pt x="368" y="1356"/>
                </a:cubicBezTo>
                <a:cubicBezTo>
                  <a:pt x="479" y="1356"/>
                  <a:pt x="589" y="1355"/>
                  <a:pt x="700" y="1359"/>
                </a:cubicBezTo>
                <a:cubicBezTo>
                  <a:pt x="785" y="1362"/>
                  <a:pt x="870" y="1372"/>
                  <a:pt x="955" y="1378"/>
                </a:cubicBezTo>
                <a:cubicBezTo>
                  <a:pt x="957" y="1379"/>
                  <a:pt x="959" y="1379"/>
                  <a:pt x="962" y="1383"/>
                </a:cubicBezTo>
                <a:cubicBezTo>
                  <a:pt x="952" y="1384"/>
                  <a:pt x="942" y="1385"/>
                  <a:pt x="931" y="1385"/>
                </a:cubicBezTo>
                <a:cubicBezTo>
                  <a:pt x="786" y="1387"/>
                  <a:pt x="640" y="1389"/>
                  <a:pt x="495" y="1392"/>
                </a:cubicBezTo>
                <a:cubicBezTo>
                  <a:pt x="406" y="1394"/>
                  <a:pt x="316" y="1397"/>
                  <a:pt x="227" y="1400"/>
                </a:cubicBezTo>
                <a:cubicBezTo>
                  <a:pt x="196" y="1401"/>
                  <a:pt x="168" y="1410"/>
                  <a:pt x="144" y="1432"/>
                </a:cubicBezTo>
                <a:cubicBezTo>
                  <a:pt x="115" y="1458"/>
                  <a:pt x="116" y="1518"/>
                  <a:pt x="146" y="1543"/>
                </a:cubicBezTo>
                <a:cubicBezTo>
                  <a:pt x="173" y="1566"/>
                  <a:pt x="204" y="1570"/>
                  <a:pt x="237" y="1570"/>
                </a:cubicBezTo>
                <a:cubicBezTo>
                  <a:pt x="329" y="1571"/>
                  <a:pt x="421" y="1570"/>
                  <a:pt x="513" y="1570"/>
                </a:cubicBezTo>
                <a:cubicBezTo>
                  <a:pt x="689" y="1570"/>
                  <a:pt x="866" y="1570"/>
                  <a:pt x="1042" y="1570"/>
                </a:cubicBezTo>
                <a:cubicBezTo>
                  <a:pt x="1048" y="1570"/>
                  <a:pt x="1054" y="1570"/>
                  <a:pt x="1061" y="1570"/>
                </a:cubicBezTo>
                <a:cubicBezTo>
                  <a:pt x="1055" y="1552"/>
                  <a:pt x="1047" y="1535"/>
                  <a:pt x="1043" y="1518"/>
                </a:cubicBezTo>
                <a:cubicBezTo>
                  <a:pt x="1036" y="1491"/>
                  <a:pt x="1028" y="1464"/>
                  <a:pt x="1025" y="1437"/>
                </a:cubicBezTo>
                <a:cubicBezTo>
                  <a:pt x="1021" y="1391"/>
                  <a:pt x="1025" y="1345"/>
                  <a:pt x="1036" y="1300"/>
                </a:cubicBezTo>
                <a:cubicBezTo>
                  <a:pt x="1044" y="1266"/>
                  <a:pt x="1055" y="1233"/>
                  <a:pt x="1069" y="1202"/>
                </a:cubicBezTo>
                <a:cubicBezTo>
                  <a:pt x="1083" y="1170"/>
                  <a:pt x="1101" y="1139"/>
                  <a:pt x="1121" y="1111"/>
                </a:cubicBezTo>
                <a:cubicBezTo>
                  <a:pt x="1143" y="1080"/>
                  <a:pt x="1170" y="1053"/>
                  <a:pt x="1203" y="1031"/>
                </a:cubicBezTo>
                <a:cubicBezTo>
                  <a:pt x="1264" y="990"/>
                  <a:pt x="1330" y="976"/>
                  <a:pt x="1401" y="989"/>
                </a:cubicBezTo>
                <a:cubicBezTo>
                  <a:pt x="1441" y="997"/>
                  <a:pt x="1479" y="1011"/>
                  <a:pt x="1514" y="1034"/>
                </a:cubicBezTo>
                <a:cubicBezTo>
                  <a:pt x="1524" y="1041"/>
                  <a:pt x="1536" y="1047"/>
                  <a:pt x="1548" y="1054"/>
                </a:cubicBezTo>
                <a:cubicBezTo>
                  <a:pt x="1551" y="1027"/>
                  <a:pt x="1551" y="1000"/>
                  <a:pt x="1555" y="974"/>
                </a:cubicBezTo>
                <a:cubicBezTo>
                  <a:pt x="1564" y="925"/>
                  <a:pt x="1573" y="876"/>
                  <a:pt x="1586" y="827"/>
                </a:cubicBezTo>
                <a:cubicBezTo>
                  <a:pt x="1595" y="790"/>
                  <a:pt x="1607" y="753"/>
                  <a:pt x="1622" y="718"/>
                </a:cubicBezTo>
                <a:cubicBezTo>
                  <a:pt x="1644" y="668"/>
                  <a:pt x="1668" y="619"/>
                  <a:pt x="1698" y="573"/>
                </a:cubicBezTo>
                <a:cubicBezTo>
                  <a:pt x="1733" y="520"/>
                  <a:pt x="1772" y="472"/>
                  <a:pt x="1822" y="433"/>
                </a:cubicBezTo>
                <a:cubicBezTo>
                  <a:pt x="1847" y="414"/>
                  <a:pt x="1875" y="398"/>
                  <a:pt x="1903" y="384"/>
                </a:cubicBezTo>
                <a:cubicBezTo>
                  <a:pt x="1982" y="344"/>
                  <a:pt x="2064" y="345"/>
                  <a:pt x="2147" y="372"/>
                </a:cubicBezTo>
                <a:cubicBezTo>
                  <a:pt x="2178" y="382"/>
                  <a:pt x="2206" y="403"/>
                  <a:pt x="2229" y="428"/>
                </a:cubicBezTo>
                <a:cubicBezTo>
                  <a:pt x="2237" y="436"/>
                  <a:pt x="2245" y="443"/>
                  <a:pt x="2253" y="451"/>
                </a:cubicBezTo>
                <a:cubicBezTo>
                  <a:pt x="2266" y="420"/>
                  <a:pt x="2277" y="389"/>
                  <a:pt x="2290" y="358"/>
                </a:cubicBezTo>
                <a:cubicBezTo>
                  <a:pt x="2306" y="320"/>
                  <a:pt x="2322" y="281"/>
                  <a:pt x="2341" y="244"/>
                </a:cubicBezTo>
                <a:cubicBezTo>
                  <a:pt x="2354" y="216"/>
                  <a:pt x="2369" y="189"/>
                  <a:pt x="2386" y="164"/>
                </a:cubicBezTo>
                <a:cubicBezTo>
                  <a:pt x="2397" y="147"/>
                  <a:pt x="2412" y="133"/>
                  <a:pt x="2427" y="119"/>
                </a:cubicBezTo>
                <a:cubicBezTo>
                  <a:pt x="2444" y="103"/>
                  <a:pt x="2462" y="88"/>
                  <a:pt x="2480" y="72"/>
                </a:cubicBezTo>
                <a:cubicBezTo>
                  <a:pt x="2485" y="68"/>
                  <a:pt x="2491" y="66"/>
                  <a:pt x="2497" y="62"/>
                </a:cubicBezTo>
                <a:cubicBezTo>
                  <a:pt x="2526" y="44"/>
                  <a:pt x="2555" y="30"/>
                  <a:pt x="2587" y="19"/>
                </a:cubicBezTo>
                <a:cubicBezTo>
                  <a:pt x="2624" y="5"/>
                  <a:pt x="2662" y="0"/>
                  <a:pt x="2699" y="9"/>
                </a:cubicBezTo>
                <a:cubicBezTo>
                  <a:pt x="2730" y="15"/>
                  <a:pt x="2760" y="25"/>
                  <a:pt x="2786" y="46"/>
                </a:cubicBezTo>
                <a:cubicBezTo>
                  <a:pt x="2815" y="70"/>
                  <a:pt x="2833" y="99"/>
                  <a:pt x="2848" y="132"/>
                </a:cubicBezTo>
                <a:cubicBezTo>
                  <a:pt x="2859" y="156"/>
                  <a:pt x="2869" y="180"/>
                  <a:pt x="2878" y="204"/>
                </a:cubicBezTo>
                <a:cubicBezTo>
                  <a:pt x="2889" y="235"/>
                  <a:pt x="2899" y="266"/>
                  <a:pt x="2910" y="297"/>
                </a:cubicBezTo>
                <a:cubicBezTo>
                  <a:pt x="2920" y="326"/>
                  <a:pt x="2930" y="355"/>
                  <a:pt x="2941" y="384"/>
                </a:cubicBezTo>
                <a:cubicBezTo>
                  <a:pt x="2962" y="435"/>
                  <a:pt x="2983" y="485"/>
                  <a:pt x="3005" y="536"/>
                </a:cubicBezTo>
                <a:cubicBezTo>
                  <a:pt x="3010" y="548"/>
                  <a:pt x="3018" y="559"/>
                  <a:pt x="3024" y="569"/>
                </a:cubicBezTo>
                <a:cubicBezTo>
                  <a:pt x="3050" y="571"/>
                  <a:pt x="3077" y="574"/>
                  <a:pt x="3104" y="577"/>
                </a:cubicBezTo>
                <a:cubicBezTo>
                  <a:pt x="3107" y="577"/>
                  <a:pt x="3111" y="575"/>
                  <a:pt x="3114" y="572"/>
                </a:cubicBezTo>
                <a:cubicBezTo>
                  <a:pt x="3140" y="543"/>
                  <a:pt x="3172" y="523"/>
                  <a:pt x="3207" y="507"/>
                </a:cubicBezTo>
                <a:cubicBezTo>
                  <a:pt x="3248" y="487"/>
                  <a:pt x="3290" y="482"/>
                  <a:pt x="3334" y="490"/>
                </a:cubicBezTo>
                <a:cubicBezTo>
                  <a:pt x="3393" y="501"/>
                  <a:pt x="3428" y="550"/>
                  <a:pt x="3423" y="610"/>
                </a:cubicBezTo>
                <a:cubicBezTo>
                  <a:pt x="3423" y="616"/>
                  <a:pt x="3422" y="623"/>
                  <a:pt x="3422" y="630"/>
                </a:cubicBezTo>
                <a:cubicBezTo>
                  <a:pt x="3444" y="638"/>
                  <a:pt x="3461" y="626"/>
                  <a:pt x="3477" y="616"/>
                </a:cubicBezTo>
                <a:cubicBezTo>
                  <a:pt x="3489" y="609"/>
                  <a:pt x="3499" y="599"/>
                  <a:pt x="3509" y="590"/>
                </a:cubicBezTo>
                <a:cubicBezTo>
                  <a:pt x="3533" y="568"/>
                  <a:pt x="3573" y="560"/>
                  <a:pt x="3606" y="577"/>
                </a:cubicBezTo>
                <a:cubicBezTo>
                  <a:pt x="3631" y="591"/>
                  <a:pt x="3655" y="608"/>
                  <a:pt x="3679" y="624"/>
                </a:cubicBezTo>
                <a:cubicBezTo>
                  <a:pt x="3716" y="650"/>
                  <a:pt x="3751" y="680"/>
                  <a:pt x="3800" y="677"/>
                </a:cubicBezTo>
                <a:cubicBezTo>
                  <a:pt x="3821" y="675"/>
                  <a:pt x="3841" y="671"/>
                  <a:pt x="3857" y="656"/>
                </a:cubicBezTo>
                <a:cubicBezTo>
                  <a:pt x="3873" y="641"/>
                  <a:pt x="3890" y="628"/>
                  <a:pt x="3906" y="615"/>
                </a:cubicBezTo>
                <a:cubicBezTo>
                  <a:pt x="3930" y="597"/>
                  <a:pt x="3960" y="595"/>
                  <a:pt x="3980" y="607"/>
                </a:cubicBezTo>
                <a:cubicBezTo>
                  <a:pt x="3966" y="611"/>
                  <a:pt x="3948" y="614"/>
                  <a:pt x="3933" y="621"/>
                </a:cubicBezTo>
                <a:cubicBezTo>
                  <a:pt x="3925" y="624"/>
                  <a:pt x="3919" y="633"/>
                  <a:pt x="3913" y="639"/>
                </a:cubicBezTo>
                <a:cubicBezTo>
                  <a:pt x="3909" y="643"/>
                  <a:pt x="3905" y="645"/>
                  <a:pt x="3901" y="648"/>
                </a:cubicBezTo>
                <a:cubicBezTo>
                  <a:pt x="3897" y="650"/>
                  <a:pt x="3893" y="651"/>
                  <a:pt x="3890" y="653"/>
                </a:cubicBezTo>
                <a:cubicBezTo>
                  <a:pt x="3873" y="664"/>
                  <a:pt x="3857" y="676"/>
                  <a:pt x="3839" y="686"/>
                </a:cubicBezTo>
                <a:cubicBezTo>
                  <a:pt x="3801" y="708"/>
                  <a:pt x="3761" y="707"/>
                  <a:pt x="3722" y="692"/>
                </a:cubicBezTo>
                <a:cubicBezTo>
                  <a:pt x="3690" y="679"/>
                  <a:pt x="3661" y="658"/>
                  <a:pt x="3631" y="641"/>
                </a:cubicBezTo>
                <a:cubicBezTo>
                  <a:pt x="3623" y="636"/>
                  <a:pt x="3615" y="629"/>
                  <a:pt x="3607" y="624"/>
                </a:cubicBezTo>
                <a:cubicBezTo>
                  <a:pt x="3564" y="599"/>
                  <a:pt x="3530" y="583"/>
                  <a:pt x="3492" y="627"/>
                </a:cubicBezTo>
                <a:cubicBezTo>
                  <a:pt x="3475" y="646"/>
                  <a:pt x="3438" y="653"/>
                  <a:pt x="3414" y="641"/>
                </a:cubicBezTo>
                <a:cubicBezTo>
                  <a:pt x="3409" y="638"/>
                  <a:pt x="3406" y="631"/>
                  <a:pt x="3402" y="626"/>
                </a:cubicBezTo>
                <a:cubicBezTo>
                  <a:pt x="3393" y="612"/>
                  <a:pt x="3388" y="595"/>
                  <a:pt x="3376" y="585"/>
                </a:cubicBezTo>
                <a:cubicBezTo>
                  <a:pt x="3351" y="564"/>
                  <a:pt x="3320" y="552"/>
                  <a:pt x="3286" y="550"/>
                </a:cubicBezTo>
                <a:cubicBezTo>
                  <a:pt x="3230" y="545"/>
                  <a:pt x="3176" y="550"/>
                  <a:pt x="3130" y="586"/>
                </a:cubicBezTo>
                <a:cubicBezTo>
                  <a:pt x="3139" y="591"/>
                  <a:pt x="3148" y="597"/>
                  <a:pt x="3157" y="600"/>
                </a:cubicBezTo>
                <a:cubicBezTo>
                  <a:pt x="3191" y="611"/>
                  <a:pt x="3211" y="636"/>
                  <a:pt x="3222" y="666"/>
                </a:cubicBezTo>
                <a:cubicBezTo>
                  <a:pt x="3228" y="680"/>
                  <a:pt x="3227" y="699"/>
                  <a:pt x="3221" y="713"/>
                </a:cubicBezTo>
                <a:cubicBezTo>
                  <a:pt x="3209" y="742"/>
                  <a:pt x="3184" y="759"/>
                  <a:pt x="3152" y="765"/>
                </a:cubicBezTo>
                <a:cubicBezTo>
                  <a:pt x="3136" y="768"/>
                  <a:pt x="3124" y="775"/>
                  <a:pt x="3112" y="787"/>
                </a:cubicBezTo>
                <a:cubicBezTo>
                  <a:pt x="3096" y="806"/>
                  <a:pt x="3075" y="821"/>
                  <a:pt x="3057" y="838"/>
                </a:cubicBezTo>
                <a:cubicBezTo>
                  <a:pt x="3029" y="864"/>
                  <a:pt x="2988" y="871"/>
                  <a:pt x="2955" y="855"/>
                </a:cubicBezTo>
                <a:cubicBezTo>
                  <a:pt x="2932" y="844"/>
                  <a:pt x="2914" y="828"/>
                  <a:pt x="2899" y="808"/>
                </a:cubicBezTo>
                <a:cubicBezTo>
                  <a:pt x="2893" y="798"/>
                  <a:pt x="2886" y="794"/>
                  <a:pt x="2873" y="796"/>
                </a:cubicBezTo>
                <a:cubicBezTo>
                  <a:pt x="2835" y="803"/>
                  <a:pt x="2796" y="797"/>
                  <a:pt x="2761" y="782"/>
                </a:cubicBezTo>
                <a:cubicBezTo>
                  <a:pt x="2745" y="775"/>
                  <a:pt x="2728" y="763"/>
                  <a:pt x="2720" y="749"/>
                </a:cubicBezTo>
                <a:cubicBezTo>
                  <a:pt x="2698" y="711"/>
                  <a:pt x="2717" y="670"/>
                  <a:pt x="2761" y="654"/>
                </a:cubicBezTo>
                <a:cubicBezTo>
                  <a:pt x="2803" y="638"/>
                  <a:pt x="2847" y="632"/>
                  <a:pt x="2892" y="634"/>
                </a:cubicBezTo>
                <a:cubicBezTo>
                  <a:pt x="2902" y="635"/>
                  <a:pt x="2913" y="634"/>
                  <a:pt x="2923" y="633"/>
                </a:cubicBezTo>
                <a:cubicBezTo>
                  <a:pt x="2963" y="628"/>
                  <a:pt x="3001" y="631"/>
                  <a:pt x="3035" y="654"/>
                </a:cubicBezTo>
                <a:cubicBezTo>
                  <a:pt x="3059" y="670"/>
                  <a:pt x="3062" y="709"/>
                  <a:pt x="3040" y="725"/>
                </a:cubicBezTo>
                <a:cubicBezTo>
                  <a:pt x="3008" y="749"/>
                  <a:pt x="2972" y="762"/>
                  <a:pt x="2932" y="754"/>
                </a:cubicBezTo>
                <a:cubicBezTo>
                  <a:pt x="2918" y="751"/>
                  <a:pt x="2904" y="741"/>
                  <a:pt x="2891" y="732"/>
                </a:cubicBezTo>
                <a:cubicBezTo>
                  <a:pt x="2882" y="727"/>
                  <a:pt x="2877" y="716"/>
                  <a:pt x="2882" y="706"/>
                </a:cubicBezTo>
                <a:cubicBezTo>
                  <a:pt x="2889" y="696"/>
                  <a:pt x="2896" y="682"/>
                  <a:pt x="2911" y="681"/>
                </a:cubicBezTo>
                <a:cubicBezTo>
                  <a:pt x="2914" y="680"/>
                  <a:pt x="2918" y="683"/>
                  <a:pt x="2922" y="685"/>
                </a:cubicBezTo>
                <a:cubicBezTo>
                  <a:pt x="2920" y="688"/>
                  <a:pt x="2918" y="692"/>
                  <a:pt x="2916" y="695"/>
                </a:cubicBezTo>
                <a:cubicBezTo>
                  <a:pt x="2912" y="700"/>
                  <a:pt x="2903" y="706"/>
                  <a:pt x="2904" y="709"/>
                </a:cubicBezTo>
                <a:cubicBezTo>
                  <a:pt x="2906" y="717"/>
                  <a:pt x="2911" y="726"/>
                  <a:pt x="2918" y="730"/>
                </a:cubicBezTo>
                <a:cubicBezTo>
                  <a:pt x="2935" y="740"/>
                  <a:pt x="2953" y="735"/>
                  <a:pt x="2971" y="727"/>
                </a:cubicBezTo>
                <a:cubicBezTo>
                  <a:pt x="2992" y="718"/>
                  <a:pt x="2999" y="694"/>
                  <a:pt x="2992" y="676"/>
                </a:cubicBezTo>
                <a:cubicBezTo>
                  <a:pt x="2980" y="647"/>
                  <a:pt x="2951" y="637"/>
                  <a:pt x="2926" y="642"/>
                </a:cubicBezTo>
                <a:cubicBezTo>
                  <a:pt x="2917" y="644"/>
                  <a:pt x="2908" y="647"/>
                  <a:pt x="2900" y="647"/>
                </a:cubicBezTo>
                <a:cubicBezTo>
                  <a:pt x="2863" y="644"/>
                  <a:pt x="2830" y="655"/>
                  <a:pt x="2798" y="674"/>
                </a:cubicBezTo>
                <a:cubicBezTo>
                  <a:pt x="2760" y="696"/>
                  <a:pt x="2767" y="734"/>
                  <a:pt x="2797" y="754"/>
                </a:cubicBezTo>
                <a:cubicBezTo>
                  <a:pt x="2826" y="773"/>
                  <a:pt x="2858" y="782"/>
                  <a:pt x="2893" y="778"/>
                </a:cubicBezTo>
                <a:cubicBezTo>
                  <a:pt x="2896" y="778"/>
                  <a:pt x="2898" y="780"/>
                  <a:pt x="2900" y="782"/>
                </a:cubicBezTo>
                <a:cubicBezTo>
                  <a:pt x="2920" y="794"/>
                  <a:pt x="2939" y="808"/>
                  <a:pt x="2960" y="817"/>
                </a:cubicBezTo>
                <a:cubicBezTo>
                  <a:pt x="3003" y="837"/>
                  <a:pt x="3049" y="823"/>
                  <a:pt x="3082" y="781"/>
                </a:cubicBezTo>
                <a:cubicBezTo>
                  <a:pt x="3095" y="765"/>
                  <a:pt x="3112" y="757"/>
                  <a:pt x="3131" y="751"/>
                </a:cubicBezTo>
                <a:cubicBezTo>
                  <a:pt x="3148" y="747"/>
                  <a:pt x="3163" y="736"/>
                  <a:pt x="3167" y="718"/>
                </a:cubicBezTo>
                <a:cubicBezTo>
                  <a:pt x="3173" y="688"/>
                  <a:pt x="3174" y="660"/>
                  <a:pt x="3154" y="633"/>
                </a:cubicBezTo>
                <a:cubicBezTo>
                  <a:pt x="3137" y="609"/>
                  <a:pt x="3116" y="593"/>
                  <a:pt x="3089" y="589"/>
                </a:cubicBezTo>
                <a:cubicBezTo>
                  <a:pt x="3065" y="585"/>
                  <a:pt x="3040" y="581"/>
                  <a:pt x="3018" y="598"/>
                </a:cubicBezTo>
                <a:cubicBezTo>
                  <a:pt x="3016" y="599"/>
                  <a:pt x="3012" y="600"/>
                  <a:pt x="3010" y="599"/>
                </a:cubicBezTo>
                <a:cubicBezTo>
                  <a:pt x="3001" y="596"/>
                  <a:pt x="2991" y="593"/>
                  <a:pt x="2984" y="588"/>
                </a:cubicBezTo>
                <a:cubicBezTo>
                  <a:pt x="2968" y="577"/>
                  <a:pt x="2954" y="563"/>
                  <a:pt x="2937" y="553"/>
                </a:cubicBezTo>
                <a:cubicBezTo>
                  <a:pt x="2925" y="546"/>
                  <a:pt x="2911" y="542"/>
                  <a:pt x="2897" y="541"/>
                </a:cubicBezTo>
                <a:cubicBezTo>
                  <a:pt x="2849" y="535"/>
                  <a:pt x="2804" y="539"/>
                  <a:pt x="2767" y="577"/>
                </a:cubicBezTo>
                <a:cubicBezTo>
                  <a:pt x="2764" y="581"/>
                  <a:pt x="2756" y="582"/>
                  <a:pt x="2750" y="581"/>
                </a:cubicBezTo>
                <a:cubicBezTo>
                  <a:pt x="2709" y="578"/>
                  <a:pt x="2669" y="580"/>
                  <a:pt x="2633" y="604"/>
                </a:cubicBezTo>
                <a:cubicBezTo>
                  <a:pt x="2597" y="627"/>
                  <a:pt x="2565" y="676"/>
                  <a:pt x="2580" y="736"/>
                </a:cubicBezTo>
                <a:cubicBezTo>
                  <a:pt x="2585" y="756"/>
                  <a:pt x="2591" y="776"/>
                  <a:pt x="2603" y="792"/>
                </a:cubicBezTo>
                <a:cubicBezTo>
                  <a:pt x="2615" y="810"/>
                  <a:pt x="2633" y="825"/>
                  <a:pt x="2651" y="837"/>
                </a:cubicBezTo>
                <a:cubicBezTo>
                  <a:pt x="2675" y="853"/>
                  <a:pt x="2700" y="867"/>
                  <a:pt x="2727" y="878"/>
                </a:cubicBezTo>
                <a:cubicBezTo>
                  <a:pt x="2762" y="892"/>
                  <a:pt x="2800" y="888"/>
                  <a:pt x="2837" y="886"/>
                </a:cubicBezTo>
                <a:cubicBezTo>
                  <a:pt x="2845" y="886"/>
                  <a:pt x="2854" y="888"/>
                  <a:pt x="2862" y="890"/>
                </a:cubicBezTo>
                <a:cubicBezTo>
                  <a:pt x="2881" y="896"/>
                  <a:pt x="2900" y="906"/>
                  <a:pt x="2921" y="909"/>
                </a:cubicBezTo>
                <a:cubicBezTo>
                  <a:pt x="2950" y="913"/>
                  <a:pt x="2979" y="913"/>
                  <a:pt x="3008" y="913"/>
                </a:cubicBezTo>
                <a:cubicBezTo>
                  <a:pt x="3022" y="913"/>
                  <a:pt x="3035" y="909"/>
                  <a:pt x="3047" y="903"/>
                </a:cubicBezTo>
                <a:cubicBezTo>
                  <a:pt x="3067" y="894"/>
                  <a:pt x="3085" y="881"/>
                  <a:pt x="3102" y="871"/>
                </a:cubicBezTo>
                <a:cubicBezTo>
                  <a:pt x="3143" y="891"/>
                  <a:pt x="3186" y="899"/>
                  <a:pt x="3231" y="892"/>
                </a:cubicBezTo>
                <a:cubicBezTo>
                  <a:pt x="3279" y="883"/>
                  <a:pt x="3307" y="850"/>
                  <a:pt x="3329" y="808"/>
                </a:cubicBezTo>
                <a:cubicBezTo>
                  <a:pt x="3346" y="808"/>
                  <a:pt x="3364" y="810"/>
                  <a:pt x="3382" y="808"/>
                </a:cubicBezTo>
                <a:cubicBezTo>
                  <a:pt x="3400" y="806"/>
                  <a:pt x="3419" y="802"/>
                  <a:pt x="3436" y="796"/>
                </a:cubicBezTo>
                <a:cubicBezTo>
                  <a:pt x="3462" y="788"/>
                  <a:pt x="3491" y="759"/>
                  <a:pt x="3489" y="733"/>
                </a:cubicBezTo>
                <a:cubicBezTo>
                  <a:pt x="3488" y="718"/>
                  <a:pt x="3494" y="709"/>
                  <a:pt x="3502" y="697"/>
                </a:cubicBezTo>
                <a:cubicBezTo>
                  <a:pt x="3521" y="669"/>
                  <a:pt x="3547" y="663"/>
                  <a:pt x="3576" y="671"/>
                </a:cubicBezTo>
                <a:cubicBezTo>
                  <a:pt x="3606" y="678"/>
                  <a:pt x="3634" y="690"/>
                  <a:pt x="3663" y="700"/>
                </a:cubicBezTo>
                <a:cubicBezTo>
                  <a:pt x="3677" y="705"/>
                  <a:pt x="3692" y="709"/>
                  <a:pt x="3705" y="716"/>
                </a:cubicBezTo>
                <a:cubicBezTo>
                  <a:pt x="3736" y="731"/>
                  <a:pt x="3769" y="735"/>
                  <a:pt x="3802" y="730"/>
                </a:cubicBezTo>
                <a:cubicBezTo>
                  <a:pt x="3813" y="728"/>
                  <a:pt x="3823" y="723"/>
                  <a:pt x="3832" y="719"/>
                </a:cubicBezTo>
                <a:cubicBezTo>
                  <a:pt x="3855" y="709"/>
                  <a:pt x="3872" y="691"/>
                  <a:pt x="3887" y="672"/>
                </a:cubicBezTo>
                <a:close/>
              </a:path>
            </a:pathLst>
          </a:custGeom>
          <a:solidFill>
            <a:schemeClr val="bg1">
              <a:alpha val="2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等线" panose="02010600030101010101" charset="-122"/>
              <a:ea typeface="等线" panose="02010600030101010101" charset="-122"/>
              <a:cs typeface="+mn-cs"/>
            </a:endParaRPr>
          </a:p>
        </p:txBody>
      </p:sp>
      <p:grpSp>
        <p:nvGrpSpPr>
          <p:cNvPr id="60" name="组合 59"/>
          <p:cNvGrpSpPr/>
          <p:nvPr/>
        </p:nvGrpSpPr>
        <p:grpSpPr>
          <a:xfrm>
            <a:off x="5632052" y="5424768"/>
            <a:ext cx="4441870" cy="1015663"/>
            <a:chOff x="1258900" y="2017885"/>
            <a:chExt cx="4441870" cy="1015663"/>
          </a:xfrm>
        </p:grpSpPr>
        <p:sp>
          <p:nvSpPr>
            <p:cNvPr id="62" name="文本框 19"/>
            <p:cNvSpPr txBox="1"/>
            <p:nvPr/>
          </p:nvSpPr>
          <p:spPr>
            <a:xfrm>
              <a:off x="1258900" y="2017885"/>
              <a:ext cx="1484975" cy="1015663"/>
            </a:xfrm>
            <a:prstGeom prst="rect">
              <a:avLst/>
            </a:prstGeom>
            <a:noFill/>
          </p:spPr>
          <p:txBody>
            <a:bodyPr wrap="square" rtlCol="0">
              <a:spAutoFit/>
            </a:bodyPr>
            <a:lstStyle/>
            <a:p>
              <a:pPr algn="ctr"/>
              <a:r>
                <a:rPr lang="en-US" altLang="zh-CN" sz="6000" dirty="0">
                  <a:solidFill>
                    <a:schemeClr val="accent1"/>
                  </a:solidFill>
                  <a:latin typeface="+mj-ea"/>
                  <a:ea typeface="+mj-ea"/>
                </a:rPr>
                <a:t>05</a:t>
              </a:r>
              <a:endParaRPr lang="zh-CN" altLang="en-US" sz="6000" dirty="0">
                <a:solidFill>
                  <a:schemeClr val="accent1"/>
                </a:solidFill>
                <a:latin typeface="+mj-ea"/>
                <a:ea typeface="+mj-ea"/>
              </a:endParaRPr>
            </a:p>
          </p:txBody>
        </p:sp>
        <p:sp>
          <p:nvSpPr>
            <p:cNvPr id="63" name="文本框 20"/>
            <p:cNvSpPr txBox="1"/>
            <p:nvPr/>
          </p:nvSpPr>
          <p:spPr>
            <a:xfrm>
              <a:off x="2207097" y="2233329"/>
              <a:ext cx="3493673" cy="584775"/>
            </a:xfrm>
            <a:prstGeom prst="rect">
              <a:avLst/>
            </a:prstGeom>
            <a:noFill/>
          </p:spPr>
          <p:txBody>
            <a:bodyPr wrap="square" rtlCol="0">
              <a:spAutoFit/>
            </a:bodyPr>
            <a:lstStyle/>
            <a:p>
              <a:pPr algn="ctr"/>
              <a:r>
                <a:rPr lang="zh-CN" altLang="en-US" sz="3200" dirty="0">
                  <a:solidFill>
                    <a:schemeClr val="accent1"/>
                  </a:solidFill>
                  <a:latin typeface="+mj-ea"/>
                </a:rPr>
                <a:t>研究结论与启示</a:t>
              </a:r>
              <a:endParaRPr lang="zh-CN" altLang="en-US" sz="3200" dirty="0">
                <a:solidFill>
                  <a:schemeClr val="accent1"/>
                </a:solidFill>
                <a:latin typeface="+mj-ea"/>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45482" y="1473170"/>
            <a:ext cx="3214288" cy="2116578"/>
          </a:xfrm>
          <a:prstGeom prst="rect">
            <a:avLst/>
          </a:prstGeom>
          <a:effectLst>
            <a:reflection blurRad="6350" stA="52000" endA="300" endPos="35000" dir="5400000" sy="-100000" algn="bl" rotWithShape="0"/>
          </a:effectLst>
        </p:spPr>
      </p:pic>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l="286" r="220"/>
          <a:stretch>
            <a:fillRect/>
          </a:stretch>
        </p:blipFill>
        <p:spPr>
          <a:xfrm>
            <a:off x="4443185" y="1473170"/>
            <a:ext cx="3234853" cy="2109376"/>
          </a:xfrm>
          <a:prstGeom prst="rect">
            <a:avLst/>
          </a:prstGeom>
          <a:effectLst>
            <a:reflection blurRad="6350" stA="52000" endA="300" endPos="35000" dir="5400000" sy="-100000" algn="bl" rotWithShape="0"/>
          </a:effectLst>
        </p:spPr>
      </p:pic>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201" y="1473394"/>
            <a:ext cx="3214288" cy="2109376"/>
          </a:xfrm>
          <a:prstGeom prst="rect">
            <a:avLst/>
          </a:prstGeom>
          <a:effectLst>
            <a:reflection blurRad="6350" stA="52000" endA="300" endPos="35000" dir="5400000" sy="-100000" algn="bl" rotWithShape="0"/>
          </a:effectLst>
        </p:spPr>
      </p:pic>
      <p:sp>
        <p:nvSpPr>
          <p:cNvPr id="4" name="标题 3"/>
          <p:cNvSpPr>
            <a:spLocks noGrp="1"/>
          </p:cNvSpPr>
          <p:nvPr>
            <p:ph type="title"/>
          </p:nvPr>
        </p:nvSpPr>
        <p:spPr>
          <a:xfrm>
            <a:off x="1057275" y="323240"/>
            <a:ext cx="4598090" cy="480131"/>
          </a:xfrm>
        </p:spPr>
        <p:txBody>
          <a:bodyPr/>
          <a:lstStyle/>
          <a:p>
            <a:r>
              <a:rPr lang="zh-CN" altLang="en-US" dirty="0"/>
              <a:t>研究背景</a:t>
            </a:r>
            <a:endParaRPr lang="zh-CN" altLang="en-US" dirty="0"/>
          </a:p>
        </p:txBody>
      </p:sp>
      <p:sp>
        <p:nvSpPr>
          <p:cNvPr id="13" name="矩形 12"/>
          <p:cNvSpPr/>
          <p:nvPr/>
        </p:nvSpPr>
        <p:spPr>
          <a:xfrm>
            <a:off x="0" y="6390861"/>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矩形 1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3" name="矩形 2"/>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7" name="矩形 6"/>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8" name="等腰三角形 17"/>
          <p:cNvSpPr/>
          <p:nvPr/>
        </p:nvSpPr>
        <p:spPr>
          <a:xfrm>
            <a:off x="1141654" y="6261651"/>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5" name="îŝḷíďe"/>
          <p:cNvSpPr txBox="1"/>
          <p:nvPr/>
        </p:nvSpPr>
        <p:spPr>
          <a:xfrm>
            <a:off x="8245482" y="4084142"/>
            <a:ext cx="3457764" cy="1477328"/>
          </a:xfrm>
          <a:prstGeom prst="rect">
            <a:avLst/>
          </a:prstGeom>
          <a:noFill/>
        </p:spPr>
        <p:txBody>
          <a:bodyPr wrap="square" rtlCol="0">
            <a:spAutoFit/>
          </a:bodyPr>
          <a:lstStyle>
            <a:defPPr>
              <a:defRPr lang="zh-CN"/>
            </a:defPPr>
            <a:lvl1pPr>
              <a:defRPr kumimoji="0" sz="1200" b="1" i="0" u="none" strike="noStrike" cap="none" spc="0" normalizeH="0" baseline="0">
                <a:ln>
                  <a:noFill/>
                </a:ln>
                <a:solidFill>
                  <a:schemeClr val="tx1">
                    <a:alpha val="60000"/>
                  </a:schemeClr>
                </a:solidFill>
                <a:effectLst/>
                <a:uLnTx/>
                <a:uFillTx/>
              </a:defRPr>
            </a:lvl1pPr>
          </a:lstStyle>
          <a:p>
            <a:r>
              <a:rPr lang="zh-CN" altLang="en-US" sz="2400" dirty="0">
                <a:solidFill>
                  <a:schemeClr val="tx1"/>
                </a:solidFill>
                <a:effectLst>
                  <a:outerShdw blurRad="50800" dist="38100" dir="2700000" algn="tl" rotWithShape="0">
                    <a:prstClr val="black">
                      <a:alpha val="40000"/>
                    </a:prstClr>
                  </a:outerShdw>
                </a:effectLst>
              </a:rPr>
              <a:t>城乡差异凸显</a:t>
            </a:r>
            <a:endParaRPr lang="en-US" altLang="zh-CN" sz="2400" dirty="0">
              <a:solidFill>
                <a:schemeClr val="tx1"/>
              </a:solidFill>
              <a:effectLst>
                <a:outerShdw blurRad="50800" dist="38100" dir="2700000" algn="tl" rotWithShape="0">
                  <a:prstClr val="black">
                    <a:alpha val="40000"/>
                  </a:prstClr>
                </a:outerShdw>
              </a:effectLst>
            </a:endParaRPr>
          </a:p>
          <a:p>
            <a:pPr marL="285750" indent="-285750">
              <a:buFont typeface="Wingdings" panose="05000000000000000000" pitchFamily="2" charset="2"/>
              <a:buChar char="l"/>
            </a:pPr>
            <a:endParaRPr lang="en-US" altLang="zh-CN" sz="1600" b="0" dirty="0">
              <a:solidFill>
                <a:schemeClr val="tx1"/>
              </a:solidFill>
            </a:endParaRPr>
          </a:p>
          <a:p>
            <a:pPr marL="285750" indent="-285750">
              <a:buFont typeface="Wingdings" panose="05000000000000000000" pitchFamily="2" charset="2"/>
              <a:buChar char="l"/>
            </a:pPr>
            <a:r>
              <a:rPr lang="zh-CN" altLang="en-US" sz="1600" b="0" dirty="0">
                <a:solidFill>
                  <a:schemeClr val="tx1"/>
                </a:solidFill>
              </a:rPr>
              <a:t>金融市场参与，资产组合多样性</a:t>
            </a:r>
            <a:endParaRPr lang="zh-CN" altLang="en-US" sz="1600" b="0" dirty="0">
              <a:solidFill>
                <a:schemeClr val="tx1"/>
              </a:solidFill>
            </a:endParaRPr>
          </a:p>
          <a:p>
            <a:pPr marL="285750" indent="-285750">
              <a:buFont typeface="Wingdings" panose="05000000000000000000" pitchFamily="2" charset="2"/>
              <a:buChar char="l"/>
            </a:pPr>
            <a:r>
              <a:rPr lang="zh-CN" altLang="en-US" sz="1600" dirty="0">
                <a:solidFill>
                  <a:schemeClr val="tx1"/>
                </a:solidFill>
              </a:rPr>
              <a:t>一级</a:t>
            </a:r>
            <a:r>
              <a:rPr lang="zh-CN" altLang="en-US" sz="1600" b="0" dirty="0">
                <a:solidFill>
                  <a:schemeClr val="tx1"/>
                </a:solidFill>
              </a:rPr>
              <a:t>数字鸿沟，</a:t>
            </a:r>
            <a:r>
              <a:rPr lang="zh-CN" altLang="en-US" sz="1600" dirty="0">
                <a:solidFill>
                  <a:schemeClr val="tx1"/>
                </a:solidFill>
              </a:rPr>
              <a:t>二级</a:t>
            </a:r>
            <a:r>
              <a:rPr lang="zh-CN" altLang="en-US" sz="1600" b="0" dirty="0">
                <a:solidFill>
                  <a:schemeClr val="tx1"/>
                </a:solidFill>
              </a:rPr>
              <a:t>数字鸿沟</a:t>
            </a:r>
            <a:endParaRPr lang="en-US" altLang="zh-CN" sz="1600" b="0" dirty="0">
              <a:solidFill>
                <a:schemeClr val="tx1"/>
              </a:solidFill>
            </a:endParaRPr>
          </a:p>
          <a:p>
            <a:pPr marL="285750" indent="-285750">
              <a:buFont typeface="Wingdings" panose="05000000000000000000" pitchFamily="2" charset="2"/>
              <a:buChar char="l"/>
            </a:pPr>
            <a:r>
              <a:rPr lang="zh-CN" altLang="en-US" sz="1600" b="0" dirty="0">
                <a:solidFill>
                  <a:schemeClr val="tx1"/>
                </a:solidFill>
              </a:rPr>
              <a:t>数字金融</a:t>
            </a:r>
            <a:r>
              <a:rPr lang="zh-CN" altLang="en-US" sz="1600" dirty="0">
                <a:solidFill>
                  <a:schemeClr val="tx1"/>
                </a:solidFill>
              </a:rPr>
              <a:t>角色复杂化</a:t>
            </a:r>
            <a:endParaRPr lang="en-US" altLang="zh-CN" sz="1600" dirty="0">
              <a:solidFill>
                <a:schemeClr val="tx1"/>
              </a:solidFill>
            </a:endParaRPr>
          </a:p>
        </p:txBody>
      </p:sp>
      <p:sp>
        <p:nvSpPr>
          <p:cNvPr id="33" name="îṥļîde"/>
          <p:cNvSpPr txBox="1"/>
          <p:nvPr/>
        </p:nvSpPr>
        <p:spPr>
          <a:xfrm>
            <a:off x="4443185" y="4084142"/>
            <a:ext cx="3217018" cy="1446550"/>
          </a:xfrm>
          <a:prstGeom prst="rect">
            <a:avLst/>
          </a:prstGeom>
          <a:noFill/>
        </p:spPr>
        <p:txBody>
          <a:bodyPr wrap="square" rtlCol="0">
            <a:spAutoFit/>
          </a:bodyPr>
          <a:lstStyle>
            <a:defPPr>
              <a:defRPr lang="zh-CN"/>
            </a:defPPr>
            <a:lvl1pPr>
              <a:defRPr kumimoji="0" sz="1400" b="1" i="0" u="none" strike="noStrike" cap="none" spc="0" normalizeH="0" baseline="0">
                <a:ln>
                  <a:noFill/>
                </a:ln>
                <a:solidFill>
                  <a:schemeClr val="accent1"/>
                </a:solidFill>
                <a:effectLst/>
                <a:uLnTx/>
                <a:uFillTx/>
              </a:defRPr>
            </a:lvl1pPr>
          </a:lstStyle>
          <a:p>
            <a:r>
              <a:rPr lang="zh-CN" altLang="en-US" sz="2400" dirty="0">
                <a:solidFill>
                  <a:schemeClr val="tx1"/>
                </a:solidFill>
                <a:effectLst>
                  <a:outerShdw blurRad="50800" dist="38100" dir="2700000" algn="tl" rotWithShape="0">
                    <a:prstClr val="black">
                      <a:alpha val="40000"/>
                    </a:prstClr>
                  </a:outerShdw>
                </a:effectLst>
              </a:rPr>
              <a:t>数字金融发展</a:t>
            </a:r>
            <a:endParaRPr lang="en-US" altLang="zh-CN" sz="2400" dirty="0">
              <a:solidFill>
                <a:schemeClr val="tx1"/>
              </a:solidFill>
              <a:effectLst>
                <a:outerShdw blurRad="50800" dist="38100" dir="2700000" algn="tl" rotWithShape="0">
                  <a:prstClr val="black">
                    <a:alpha val="40000"/>
                  </a:prstClr>
                </a:outerShdw>
              </a:effectLst>
            </a:endParaRPr>
          </a:p>
          <a:p>
            <a:pPr marL="285750" indent="-285750">
              <a:buFont typeface="Wingdings" panose="05000000000000000000" pitchFamily="2" charset="2"/>
              <a:buChar char="l"/>
            </a:pPr>
            <a:endParaRPr lang="en-US" altLang="zh-CN" sz="1600" b="0" dirty="0">
              <a:solidFill>
                <a:schemeClr val="tx1"/>
              </a:solidFill>
            </a:endParaRPr>
          </a:p>
          <a:p>
            <a:pPr marL="285750" indent="-285750">
              <a:buFont typeface="Wingdings" panose="05000000000000000000" pitchFamily="2" charset="2"/>
              <a:buChar char="l"/>
            </a:pPr>
            <a:r>
              <a:rPr lang="zh-CN" altLang="en-US" sz="1600" b="0" dirty="0">
                <a:solidFill>
                  <a:schemeClr val="tx1"/>
                </a:solidFill>
              </a:rPr>
              <a:t>忽视时空限制优化农村家庭</a:t>
            </a:r>
            <a:r>
              <a:rPr lang="zh-CN" altLang="zh-CN" sz="1600" dirty="0">
                <a:solidFill>
                  <a:schemeClr val="tx1"/>
                </a:solidFill>
              </a:rPr>
              <a:t>金融资产</a:t>
            </a:r>
            <a:r>
              <a:rPr lang="zh-CN" altLang="en-US" sz="1600" dirty="0">
                <a:solidFill>
                  <a:schemeClr val="tx1"/>
                </a:solidFill>
              </a:rPr>
              <a:t>组合</a:t>
            </a:r>
            <a:endParaRPr lang="en-US" altLang="zh-CN" sz="1600" dirty="0">
              <a:solidFill>
                <a:schemeClr val="tx1"/>
              </a:solidFill>
            </a:endParaRPr>
          </a:p>
          <a:p>
            <a:pPr marL="285750" indent="-285750">
              <a:buFont typeface="Wingdings" panose="05000000000000000000" pitchFamily="2" charset="2"/>
              <a:buChar char="l"/>
            </a:pPr>
            <a:r>
              <a:rPr lang="zh-CN" altLang="en-US" sz="1600" b="0" dirty="0">
                <a:solidFill>
                  <a:schemeClr val="tx1"/>
                </a:solidFill>
              </a:rPr>
              <a:t>家庭</a:t>
            </a:r>
            <a:r>
              <a:rPr lang="zh-CN" altLang="zh-CN" sz="1600" b="0" dirty="0">
                <a:solidFill>
                  <a:schemeClr val="tx1"/>
                </a:solidFill>
              </a:rPr>
              <a:t>财产性收入</a:t>
            </a:r>
            <a:r>
              <a:rPr lang="zh-CN" altLang="en-US" sz="1600" b="0" dirty="0">
                <a:solidFill>
                  <a:schemeClr val="tx1"/>
                </a:solidFill>
              </a:rPr>
              <a:t>、</a:t>
            </a:r>
            <a:r>
              <a:rPr lang="zh-CN" altLang="zh-CN" sz="1600" b="0" dirty="0">
                <a:solidFill>
                  <a:schemeClr val="tx1"/>
                </a:solidFill>
              </a:rPr>
              <a:t>家庭财富</a:t>
            </a:r>
            <a:r>
              <a:rPr lang="zh-CN" altLang="en-US" sz="1600" b="0" dirty="0">
                <a:solidFill>
                  <a:schemeClr val="tx1"/>
                </a:solidFill>
              </a:rPr>
              <a:t>↑</a:t>
            </a:r>
            <a:endParaRPr lang="en-US" altLang="zh-CN" sz="1600" b="0" dirty="0">
              <a:solidFill>
                <a:schemeClr val="tx1"/>
              </a:solidFill>
            </a:endParaRPr>
          </a:p>
        </p:txBody>
      </p:sp>
      <p:sp>
        <p:nvSpPr>
          <p:cNvPr id="39" name="文本框 38"/>
          <p:cNvSpPr txBox="1"/>
          <p:nvPr/>
        </p:nvSpPr>
        <p:spPr>
          <a:xfrm>
            <a:off x="657802" y="4084142"/>
            <a:ext cx="3361927" cy="1477328"/>
          </a:xfrm>
          <a:prstGeom prst="rect">
            <a:avLst/>
          </a:prstGeom>
          <a:noFill/>
        </p:spPr>
        <p:txBody>
          <a:bodyPr wrap="square">
            <a:spAutoFit/>
          </a:bodyPr>
          <a:lstStyle/>
          <a:p>
            <a:r>
              <a:rPr lang="zh-CN" altLang="en-US" sz="2400" b="1" dirty="0">
                <a:effectLst>
                  <a:outerShdw blurRad="50800" dist="38100" dir="2700000" algn="tl" rotWithShape="0">
                    <a:prstClr val="black">
                      <a:alpha val="40000"/>
                    </a:prstClr>
                  </a:outerShdw>
                </a:effectLst>
              </a:rPr>
              <a:t>推进共同富裕</a:t>
            </a:r>
            <a:endParaRPr lang="en-US" altLang="zh-CN" sz="2400" b="1" dirty="0">
              <a:effectLst>
                <a:outerShdw blurRad="50800" dist="38100" dir="2700000" algn="tl" rotWithShape="0">
                  <a:prstClr val="black">
                    <a:alpha val="40000"/>
                  </a:prstClr>
                </a:outerShdw>
              </a:effectLst>
            </a:endParaRPr>
          </a:p>
          <a:p>
            <a:endParaRPr lang="en-US" altLang="zh-CN" sz="1600" dirty="0"/>
          </a:p>
          <a:p>
            <a:pPr marL="285750" indent="-285750">
              <a:buFont typeface="Wingdings" panose="05000000000000000000" pitchFamily="2" charset="2"/>
              <a:buChar char="l"/>
            </a:pPr>
            <a:r>
              <a:rPr lang="zh-CN" altLang="en-US" sz="1600" dirty="0"/>
              <a:t>“十四五”时期发展目标</a:t>
            </a:r>
            <a:endParaRPr lang="en-US" altLang="zh-CN" sz="1600" dirty="0"/>
          </a:p>
          <a:p>
            <a:pPr marL="285750" indent="-285750">
              <a:buFont typeface="Wingdings" panose="05000000000000000000" pitchFamily="2" charset="2"/>
              <a:buChar char="l"/>
            </a:pPr>
            <a:r>
              <a:rPr lang="zh-CN" altLang="en-US" sz="1600" dirty="0"/>
              <a:t>最艰巨最繁重的任务仍在</a:t>
            </a:r>
            <a:r>
              <a:rPr lang="zh-CN" altLang="en-US" sz="1600" b="1" dirty="0"/>
              <a:t>农村</a:t>
            </a:r>
            <a:endParaRPr lang="en-US" altLang="zh-CN" sz="1600" b="1" dirty="0"/>
          </a:p>
          <a:p>
            <a:pPr marL="285750" indent="-285750">
              <a:buFont typeface="Wingdings" panose="05000000000000000000" pitchFamily="2" charset="2"/>
              <a:buChar char="l"/>
            </a:pPr>
            <a:r>
              <a:rPr lang="zh-CN" altLang="en-US" sz="1600" dirty="0"/>
              <a:t>乡村振兴和</a:t>
            </a:r>
            <a:r>
              <a:rPr lang="zh-CN" altLang="en-US" sz="1600" b="1" dirty="0"/>
              <a:t>数字乡村建设</a:t>
            </a:r>
            <a:endParaRPr lang="en-US" altLang="zh-CN" sz="16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问题提出</a:t>
            </a:r>
            <a:endParaRPr lang="zh-CN" altLang="en-US" dirty="0"/>
          </a:p>
        </p:txBody>
      </p:sp>
      <p:sp>
        <p:nvSpPr>
          <p:cNvPr id="4" name="矩形 3"/>
          <p:cNvSpPr/>
          <p:nvPr/>
        </p:nvSpPr>
        <p:spPr>
          <a:xfrm>
            <a:off x="0" y="6390861"/>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 name="矩形 4"/>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10" name="矩形 9"/>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4" name="等腰三角形 13"/>
          <p:cNvSpPr/>
          <p:nvPr/>
        </p:nvSpPr>
        <p:spPr>
          <a:xfrm>
            <a:off x="1141654" y="6261651"/>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9" name="矩形 18"/>
          <p:cNvSpPr/>
          <p:nvPr/>
        </p:nvSpPr>
        <p:spPr>
          <a:xfrm>
            <a:off x="-5547" y="0"/>
            <a:ext cx="3893667" cy="6858000"/>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grpSp>
        <p:nvGrpSpPr>
          <p:cNvPr id="20" name="组合 19"/>
          <p:cNvGrpSpPr/>
          <p:nvPr/>
        </p:nvGrpSpPr>
        <p:grpSpPr>
          <a:xfrm>
            <a:off x="213771" y="1684785"/>
            <a:ext cx="3566774" cy="1432699"/>
            <a:chOff x="213773" y="1641411"/>
            <a:chExt cx="3566774" cy="1432699"/>
          </a:xfrm>
        </p:grpSpPr>
        <p:sp>
          <p:nvSpPr>
            <p:cNvPr id="43" name="矩形 42"/>
            <p:cNvSpPr/>
            <p:nvPr/>
          </p:nvSpPr>
          <p:spPr>
            <a:xfrm>
              <a:off x="232416" y="1641411"/>
              <a:ext cx="1258067" cy="284026"/>
            </a:xfrm>
            <a:prstGeom prst="rect">
              <a:avLst/>
            </a:prstGeom>
            <a:solidFill>
              <a:schemeClr val="accent3"/>
            </a:solidFill>
            <a:ln w="12700" cap="rnd">
              <a:noFill/>
              <a:prstDash val="solid"/>
              <a:rou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4" name="文本框 4"/>
            <p:cNvSpPr txBox="1"/>
            <p:nvPr/>
          </p:nvSpPr>
          <p:spPr>
            <a:xfrm>
              <a:off x="213773" y="1750671"/>
              <a:ext cx="3566774" cy="1323439"/>
            </a:xfrm>
            <a:prstGeom prst="rect">
              <a:avLst/>
            </a:prstGeom>
            <a:noFill/>
            <a:ln>
              <a:noFill/>
            </a:ln>
          </p:spPr>
          <p:txBody>
            <a:bodyPr wrap="square" lIns="91440" tIns="45720" rIns="91440" bIns="45720" anchor="ctr" anchorCtr="0">
              <a:spAutoFit/>
            </a:bodyPr>
            <a:lstStyle/>
            <a:p>
              <a:pPr>
                <a:buSzPct val="25000"/>
              </a:pPr>
              <a:r>
                <a:rPr lang="zh-CN" altLang="zh-CN" sz="2000" dirty="0"/>
                <a:t>相比于城镇家庭，数字金融发展</a:t>
              </a:r>
              <a:r>
                <a:rPr lang="zh-CN" altLang="zh-CN" sz="2000" b="1" dirty="0"/>
                <a:t>能否更多地提升农村家庭金融资产配置有效性</a:t>
              </a:r>
              <a:r>
                <a:rPr lang="zh-CN" altLang="zh-CN" sz="2000" dirty="0"/>
                <a:t>，真正做到数字金融赋能？</a:t>
              </a:r>
              <a:endParaRPr lang="en-US" altLang="zh-CN" sz="2000" b="1" dirty="0"/>
            </a:p>
          </p:txBody>
        </p:sp>
      </p:grpSp>
      <p:grpSp>
        <p:nvGrpSpPr>
          <p:cNvPr id="21" name="组合 20"/>
          <p:cNvGrpSpPr/>
          <p:nvPr/>
        </p:nvGrpSpPr>
        <p:grpSpPr>
          <a:xfrm>
            <a:off x="213770" y="3870263"/>
            <a:ext cx="3674349" cy="2024559"/>
            <a:chOff x="232415" y="3838451"/>
            <a:chExt cx="3674349" cy="2024559"/>
          </a:xfrm>
        </p:grpSpPr>
        <p:sp>
          <p:nvSpPr>
            <p:cNvPr id="41" name="矩形 40"/>
            <p:cNvSpPr/>
            <p:nvPr/>
          </p:nvSpPr>
          <p:spPr>
            <a:xfrm>
              <a:off x="232416" y="3838451"/>
              <a:ext cx="1258067" cy="284026"/>
            </a:xfrm>
            <a:prstGeom prst="rect">
              <a:avLst/>
            </a:prstGeom>
            <a:solidFill>
              <a:schemeClr val="accent2">
                <a:lumMod val="20000"/>
                <a:lumOff val="80000"/>
              </a:schemeClr>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2" name="文本框 8"/>
            <p:cNvSpPr txBox="1"/>
            <p:nvPr/>
          </p:nvSpPr>
          <p:spPr>
            <a:xfrm>
              <a:off x="232415" y="3924018"/>
              <a:ext cx="3674349" cy="1938992"/>
            </a:xfrm>
            <a:prstGeom prst="rect">
              <a:avLst/>
            </a:prstGeom>
            <a:noFill/>
            <a:ln>
              <a:noFill/>
            </a:ln>
          </p:spPr>
          <p:txBody>
            <a:bodyPr wrap="square" lIns="91440" tIns="45720" rIns="91440" bIns="45720" anchor="ctr" anchorCtr="0">
              <a:spAutoFit/>
            </a:bodyPr>
            <a:lstStyle/>
            <a:p>
              <a:pPr>
                <a:buSzPct val="25000"/>
              </a:pPr>
              <a:r>
                <a:rPr lang="zh-CN" altLang="en-US" sz="2000" dirty="0"/>
                <a:t>在城乡居民家庭存在</a:t>
              </a:r>
              <a:r>
                <a:rPr lang="zh-CN" altLang="en-US" sz="2000" b="1" dirty="0"/>
                <a:t>一级数字鸿沟和二级数字鸿沟</a:t>
              </a:r>
              <a:r>
                <a:rPr lang="zh-CN" altLang="en-US" sz="2000" dirty="0"/>
                <a:t>的情况下，数字金融发展是否能抑制数字鸿沟带来的负面影响，担起缩小城乡金融资产配置有效性差距的重任？</a:t>
              </a:r>
              <a:endParaRPr lang="zh-CN" altLang="en-US" sz="2000" dirty="0"/>
            </a:p>
          </p:txBody>
        </p:sp>
      </p:grpSp>
      <p:grpSp>
        <p:nvGrpSpPr>
          <p:cNvPr id="22" name="组合 21"/>
          <p:cNvGrpSpPr/>
          <p:nvPr/>
        </p:nvGrpSpPr>
        <p:grpSpPr>
          <a:xfrm>
            <a:off x="3324180" y="1817814"/>
            <a:ext cx="8384108" cy="1134413"/>
            <a:chOff x="3324182" y="1560763"/>
            <a:chExt cx="8384108" cy="1134413"/>
          </a:xfrm>
        </p:grpSpPr>
        <p:grpSp>
          <p:nvGrpSpPr>
            <p:cNvPr id="34" name="组合 33"/>
            <p:cNvGrpSpPr/>
            <p:nvPr/>
          </p:nvGrpSpPr>
          <p:grpSpPr>
            <a:xfrm>
              <a:off x="4401357" y="1560763"/>
              <a:ext cx="7306933" cy="1134413"/>
              <a:chOff x="4401357" y="2122738"/>
              <a:chExt cx="7306933" cy="1134413"/>
            </a:xfrm>
          </p:grpSpPr>
          <p:sp>
            <p:nvSpPr>
              <p:cNvPr id="37" name="矩形 36"/>
              <p:cNvSpPr/>
              <p:nvPr/>
            </p:nvSpPr>
            <p:spPr>
              <a:xfrm>
                <a:off x="4401357" y="2621994"/>
                <a:ext cx="184067" cy="184065"/>
              </a:xfrm>
              <a:prstGeom prst="rect">
                <a:avLst/>
              </a:prstGeom>
              <a:solidFill>
                <a:schemeClr val="accent3"/>
              </a:solidFill>
              <a:ln w="12700" cap="rnd">
                <a:noFill/>
                <a:prstDash val="solid"/>
                <a:rou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8" name="矩形 37"/>
              <p:cNvSpPr/>
              <p:nvPr/>
            </p:nvSpPr>
            <p:spPr>
              <a:xfrm flipH="1">
                <a:off x="4680569" y="2122738"/>
                <a:ext cx="7027721" cy="1134413"/>
              </a:xfrm>
              <a:prstGeom prst="rect">
                <a:avLst/>
              </a:prstGeom>
              <a:ln>
                <a:noFill/>
              </a:ln>
            </p:spPr>
            <p:txBody>
              <a:bodyPr wrap="square" lIns="91440" tIns="45720" rIns="91440" bIns="45720" anchor="t">
                <a:spAutoFit/>
              </a:bodyPr>
              <a:lstStyle/>
              <a:p>
                <a:pPr lvl="0" algn="just" defTabSz="913765">
                  <a:lnSpc>
                    <a:spcPct val="150000"/>
                  </a:lnSpc>
                  <a:buSzPct val="25000"/>
                  <a:defRPr/>
                </a:pPr>
                <a:r>
                  <a:rPr lang="zh-CN" altLang="zh-CN" sz="2400" dirty="0"/>
                  <a:t>重点讨论数字金融发展对家庭金融资产</a:t>
                </a:r>
                <a:r>
                  <a:rPr lang="zh-CN" altLang="en-US" sz="2400" dirty="0"/>
                  <a:t>组合</a:t>
                </a:r>
                <a:r>
                  <a:rPr lang="zh-CN" altLang="zh-CN" sz="2400" dirty="0"/>
                  <a:t>有效性影响的</a:t>
                </a:r>
                <a:r>
                  <a:rPr lang="zh-CN" altLang="zh-CN" sz="2400" b="1" dirty="0"/>
                  <a:t>城乡差异</a:t>
                </a:r>
                <a:endParaRPr kumimoji="0" lang="en-US" altLang="zh-CN" sz="2400" b="1" i="0" u="none" strike="noStrike" kern="1200" cap="none" spc="0" normalizeH="0" baseline="0" noProof="0" dirty="0">
                  <a:ln>
                    <a:noFill/>
                  </a:ln>
                  <a:effectLst/>
                  <a:uLnTx/>
                  <a:uFillTx/>
                </a:endParaRPr>
              </a:p>
            </p:txBody>
          </p:sp>
        </p:grpSp>
        <p:cxnSp>
          <p:nvCxnSpPr>
            <p:cNvPr id="36" name="直接连接符 35"/>
            <p:cNvCxnSpPr/>
            <p:nvPr/>
          </p:nvCxnSpPr>
          <p:spPr>
            <a:xfrm>
              <a:off x="3324182" y="2167646"/>
              <a:ext cx="920142" cy="0"/>
            </a:xfrm>
            <a:prstGeom prst="line">
              <a:avLst/>
            </a:pr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3" name="组合 22"/>
          <p:cNvGrpSpPr/>
          <p:nvPr/>
        </p:nvGrpSpPr>
        <p:grpSpPr>
          <a:xfrm>
            <a:off x="3324180" y="3870263"/>
            <a:ext cx="8553404" cy="2146417"/>
            <a:chOff x="3324182" y="4012018"/>
            <a:chExt cx="8553404" cy="2146417"/>
          </a:xfrm>
        </p:grpSpPr>
        <p:grpSp>
          <p:nvGrpSpPr>
            <p:cNvPr id="25" name="组合 24"/>
            <p:cNvGrpSpPr/>
            <p:nvPr/>
          </p:nvGrpSpPr>
          <p:grpSpPr>
            <a:xfrm>
              <a:off x="4411021" y="4012018"/>
              <a:ext cx="7466565" cy="461665"/>
              <a:chOff x="4411021" y="3764368"/>
              <a:chExt cx="7466565" cy="461665"/>
            </a:xfrm>
          </p:grpSpPr>
          <p:sp>
            <p:nvSpPr>
              <p:cNvPr id="31" name="矩形 30"/>
              <p:cNvSpPr/>
              <p:nvPr/>
            </p:nvSpPr>
            <p:spPr>
              <a:xfrm>
                <a:off x="4411021" y="3952045"/>
                <a:ext cx="184067" cy="184065"/>
              </a:xfrm>
              <a:prstGeom prst="rect">
                <a:avLst/>
              </a:prstGeom>
              <a:solidFill>
                <a:schemeClr val="accent2">
                  <a:lumMod val="20000"/>
                  <a:lumOff val="80000"/>
                </a:schemeClr>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2" name="矩形 31"/>
              <p:cNvSpPr/>
              <p:nvPr/>
            </p:nvSpPr>
            <p:spPr>
              <a:xfrm flipH="1">
                <a:off x="4680996" y="3764368"/>
                <a:ext cx="7196590" cy="461665"/>
              </a:xfrm>
              <a:prstGeom prst="rect">
                <a:avLst/>
              </a:prstGeom>
              <a:ln>
                <a:noFill/>
              </a:ln>
            </p:spPr>
            <p:txBody>
              <a:bodyPr wrap="square" lIns="91440" tIns="45720" rIns="91440" bIns="45720" anchor="t">
                <a:spAutoFit/>
              </a:bodyPr>
              <a:lstStyle/>
              <a:p>
                <a:r>
                  <a:rPr lang="zh-CN" altLang="en-US" sz="2400" dirty="0"/>
                  <a:t>基于</a:t>
                </a:r>
                <a:r>
                  <a:rPr lang="zh-CN" altLang="en-US" sz="2400" b="1" dirty="0"/>
                  <a:t>不同等级的数字鸿沟</a:t>
                </a:r>
                <a:r>
                  <a:rPr lang="zh-CN" altLang="en-US" sz="2400" dirty="0"/>
                  <a:t>展开异质性讨论</a:t>
                </a:r>
                <a:endParaRPr lang="zh-CN" altLang="zh-CN" sz="2400" dirty="0"/>
              </a:p>
            </p:txBody>
          </p:sp>
        </p:grpSp>
        <p:grpSp>
          <p:nvGrpSpPr>
            <p:cNvPr id="26" name="组合 25"/>
            <p:cNvGrpSpPr/>
            <p:nvPr/>
          </p:nvGrpSpPr>
          <p:grpSpPr>
            <a:xfrm>
              <a:off x="4411021" y="4958106"/>
              <a:ext cx="7297271" cy="1200329"/>
              <a:chOff x="4411021" y="5520081"/>
              <a:chExt cx="7297271" cy="1200329"/>
            </a:xfrm>
          </p:grpSpPr>
          <p:sp>
            <p:nvSpPr>
              <p:cNvPr id="29" name="矩形 28"/>
              <p:cNvSpPr/>
              <p:nvPr/>
            </p:nvSpPr>
            <p:spPr>
              <a:xfrm>
                <a:off x="4411021" y="5748774"/>
                <a:ext cx="184067" cy="184065"/>
              </a:xfrm>
              <a:prstGeom prst="rect">
                <a:avLst/>
              </a:prstGeom>
              <a:solidFill>
                <a:schemeClr val="accent2">
                  <a:lumMod val="20000"/>
                  <a:lumOff val="80000"/>
                </a:schemeClr>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0" name="矩形 29"/>
              <p:cNvSpPr/>
              <p:nvPr/>
            </p:nvSpPr>
            <p:spPr>
              <a:xfrm flipH="1">
                <a:off x="4680569" y="5520081"/>
                <a:ext cx="7027723" cy="1200329"/>
              </a:xfrm>
              <a:prstGeom prst="rect">
                <a:avLst/>
              </a:prstGeom>
              <a:ln>
                <a:noFill/>
              </a:ln>
            </p:spPr>
            <p:txBody>
              <a:bodyPr wrap="square" lIns="91440" tIns="45720" rIns="91440" bIns="45720" anchor="t">
                <a:spAutoFit/>
              </a:bodyPr>
              <a:lstStyle/>
              <a:p>
                <a:pPr algn="just"/>
                <a:r>
                  <a:rPr lang="zh-CN" altLang="zh-CN" sz="2400" b="1" dirty="0"/>
                  <a:t>首次在数字金融使用层面</a:t>
                </a:r>
                <a:r>
                  <a:rPr lang="zh-CN" altLang="zh-CN" sz="2400" dirty="0"/>
                  <a:t>精确</a:t>
                </a:r>
                <a:r>
                  <a:rPr lang="zh-CN" altLang="zh-CN" sz="2400" b="1" dirty="0"/>
                  <a:t>量化二级数字鸿沟</a:t>
                </a:r>
                <a:r>
                  <a:rPr lang="zh-CN" altLang="zh-CN" sz="2400" dirty="0"/>
                  <a:t>，并进一步将二级数字金融区分为</a:t>
                </a:r>
                <a:r>
                  <a:rPr lang="zh-CN" altLang="zh-CN" sz="2400" b="1" dirty="0"/>
                  <a:t>数字理财鸿沟</a:t>
                </a:r>
                <a:r>
                  <a:rPr lang="zh-CN" altLang="zh-CN" sz="2400" dirty="0"/>
                  <a:t>和数字信贷鸿沟</a:t>
                </a:r>
                <a:endParaRPr lang="zh-CN" altLang="zh-CN" sz="2400" dirty="0"/>
              </a:p>
            </p:txBody>
          </p:sp>
        </p:grpSp>
        <p:sp>
          <p:nvSpPr>
            <p:cNvPr id="27" name="任意多边形 26"/>
            <p:cNvSpPr/>
            <p:nvPr/>
          </p:nvSpPr>
          <p:spPr>
            <a:xfrm>
              <a:off x="3888122" y="4434398"/>
              <a:ext cx="356202" cy="997184"/>
            </a:xfrm>
            <a:custGeom>
              <a:avLst/>
              <a:gdLst>
                <a:gd name="connsiteX0" fmla="*/ 0 w 1504950"/>
                <a:gd name="connsiteY0" fmla="*/ 0 h 828675"/>
                <a:gd name="connsiteX1" fmla="*/ 1504950 w 1504950"/>
                <a:gd name="connsiteY1" fmla="*/ 0 h 828675"/>
                <a:gd name="connsiteX2" fmla="*/ 1504950 w 1504950"/>
                <a:gd name="connsiteY2" fmla="*/ 828675 h 828675"/>
                <a:gd name="connsiteX3" fmla="*/ 0 w 1504950"/>
                <a:gd name="connsiteY3" fmla="*/ 828675 h 828675"/>
                <a:gd name="connsiteX4" fmla="*/ 0 w 1504950"/>
                <a:gd name="connsiteY4" fmla="*/ 0 h 828675"/>
                <a:gd name="connsiteX0-1" fmla="*/ 0 w 1504950"/>
                <a:gd name="connsiteY0-2" fmla="*/ 0 h 828675"/>
                <a:gd name="connsiteX1-3" fmla="*/ 326231 w 1504950"/>
                <a:gd name="connsiteY1-4" fmla="*/ 0 h 828675"/>
                <a:gd name="connsiteX2-5" fmla="*/ 1504950 w 1504950"/>
                <a:gd name="connsiteY2-6" fmla="*/ 0 h 828675"/>
                <a:gd name="connsiteX3-7" fmla="*/ 1504950 w 1504950"/>
                <a:gd name="connsiteY3-8" fmla="*/ 828675 h 828675"/>
                <a:gd name="connsiteX4-9" fmla="*/ 0 w 1504950"/>
                <a:gd name="connsiteY4-10" fmla="*/ 828675 h 828675"/>
                <a:gd name="connsiteX5" fmla="*/ 0 w 1504950"/>
                <a:gd name="connsiteY5" fmla="*/ 0 h 828675"/>
                <a:gd name="connsiteX0-11" fmla="*/ 0 w 1504950"/>
                <a:gd name="connsiteY0-12" fmla="*/ 0 h 828675"/>
                <a:gd name="connsiteX1-13" fmla="*/ 326231 w 1504950"/>
                <a:gd name="connsiteY1-14" fmla="*/ 0 h 828675"/>
                <a:gd name="connsiteX2-15" fmla="*/ 1504950 w 1504950"/>
                <a:gd name="connsiteY2-16" fmla="*/ 0 h 828675"/>
                <a:gd name="connsiteX3-17" fmla="*/ 1504950 w 1504950"/>
                <a:gd name="connsiteY3-18" fmla="*/ 828675 h 828675"/>
                <a:gd name="connsiteX4-19" fmla="*/ 323850 w 1504950"/>
                <a:gd name="connsiteY4-20" fmla="*/ 828675 h 828675"/>
                <a:gd name="connsiteX5-21" fmla="*/ 0 w 1504950"/>
                <a:gd name="connsiteY5-22" fmla="*/ 828675 h 828675"/>
                <a:gd name="connsiteX6" fmla="*/ 0 w 1504950"/>
                <a:gd name="connsiteY6" fmla="*/ 0 h 828675"/>
                <a:gd name="connsiteX0-23" fmla="*/ 0 w 1504950"/>
                <a:gd name="connsiteY0-24" fmla="*/ 0 h 828675"/>
                <a:gd name="connsiteX1-25" fmla="*/ 326231 w 1504950"/>
                <a:gd name="connsiteY1-26" fmla="*/ 0 h 828675"/>
                <a:gd name="connsiteX2-27" fmla="*/ 1504950 w 1504950"/>
                <a:gd name="connsiteY2-28" fmla="*/ 0 h 828675"/>
                <a:gd name="connsiteX3-29" fmla="*/ 323850 w 1504950"/>
                <a:gd name="connsiteY3-30" fmla="*/ 828675 h 828675"/>
                <a:gd name="connsiteX4-31" fmla="*/ 0 w 1504950"/>
                <a:gd name="connsiteY4-32" fmla="*/ 828675 h 828675"/>
                <a:gd name="connsiteX5-33" fmla="*/ 0 w 1504950"/>
                <a:gd name="connsiteY5-34" fmla="*/ 0 h 828675"/>
                <a:gd name="connsiteX0-35" fmla="*/ 1504950 w 1596390"/>
                <a:gd name="connsiteY0-36" fmla="*/ 0 h 828675"/>
                <a:gd name="connsiteX1-37" fmla="*/ 323850 w 1596390"/>
                <a:gd name="connsiteY1-38" fmla="*/ 828675 h 828675"/>
                <a:gd name="connsiteX2-39" fmla="*/ 0 w 1596390"/>
                <a:gd name="connsiteY2-40" fmla="*/ 828675 h 828675"/>
                <a:gd name="connsiteX3-41" fmla="*/ 0 w 1596390"/>
                <a:gd name="connsiteY3-42" fmla="*/ 0 h 828675"/>
                <a:gd name="connsiteX4-43" fmla="*/ 326231 w 1596390"/>
                <a:gd name="connsiteY4-44" fmla="*/ 0 h 828675"/>
                <a:gd name="connsiteX5-45" fmla="*/ 1596390 w 1596390"/>
                <a:gd name="connsiteY5-46" fmla="*/ 91440 h 828675"/>
                <a:gd name="connsiteX0-47" fmla="*/ 1504950 w 1504950"/>
                <a:gd name="connsiteY0-48" fmla="*/ 0 h 828675"/>
                <a:gd name="connsiteX1-49" fmla="*/ 323850 w 1504950"/>
                <a:gd name="connsiteY1-50" fmla="*/ 828675 h 828675"/>
                <a:gd name="connsiteX2-51" fmla="*/ 0 w 1504950"/>
                <a:gd name="connsiteY2-52" fmla="*/ 828675 h 828675"/>
                <a:gd name="connsiteX3-53" fmla="*/ 0 w 1504950"/>
                <a:gd name="connsiteY3-54" fmla="*/ 0 h 828675"/>
                <a:gd name="connsiteX4-55" fmla="*/ 326231 w 1504950"/>
                <a:gd name="connsiteY4-56" fmla="*/ 0 h 828675"/>
                <a:gd name="connsiteX0-57" fmla="*/ 323850 w 326231"/>
                <a:gd name="connsiteY0-58" fmla="*/ 828675 h 828675"/>
                <a:gd name="connsiteX1-59" fmla="*/ 0 w 326231"/>
                <a:gd name="connsiteY1-60" fmla="*/ 828675 h 828675"/>
                <a:gd name="connsiteX2-61" fmla="*/ 0 w 326231"/>
                <a:gd name="connsiteY2-62" fmla="*/ 0 h 828675"/>
                <a:gd name="connsiteX3-63" fmla="*/ 326231 w 326231"/>
                <a:gd name="connsiteY3-64" fmla="*/ 0 h 828675"/>
              </a:gdLst>
              <a:ahLst/>
              <a:cxnLst>
                <a:cxn ang="0">
                  <a:pos x="connsiteX0-1" y="connsiteY0-2"/>
                </a:cxn>
                <a:cxn ang="0">
                  <a:pos x="connsiteX1-3" y="connsiteY1-4"/>
                </a:cxn>
                <a:cxn ang="0">
                  <a:pos x="connsiteX2-5" y="connsiteY2-6"/>
                </a:cxn>
                <a:cxn ang="0">
                  <a:pos x="connsiteX3-7" y="connsiteY3-8"/>
                </a:cxn>
              </a:cxnLst>
              <a:rect l="l" t="t" r="r" b="b"/>
              <a:pathLst>
                <a:path w="326231" h="828675">
                  <a:moveTo>
                    <a:pt x="323850" y="828675"/>
                  </a:moveTo>
                  <a:lnTo>
                    <a:pt x="0" y="828675"/>
                  </a:lnTo>
                  <a:lnTo>
                    <a:pt x="0" y="0"/>
                  </a:lnTo>
                  <a:lnTo>
                    <a:pt x="326231" y="0"/>
                  </a:lnTo>
                </a:path>
              </a:pathLst>
            </a:cu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8" name="直接连接符 27"/>
            <p:cNvCxnSpPr/>
            <p:nvPr/>
          </p:nvCxnSpPr>
          <p:spPr>
            <a:xfrm>
              <a:off x="3324182" y="4926904"/>
              <a:ext cx="563940" cy="0"/>
            </a:xfrm>
            <a:prstGeom prst="line">
              <a:avLst/>
            </a:pr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45" name="ïṩ1ídê"/>
          <p:cNvSpPr txBox="1"/>
          <p:nvPr/>
        </p:nvSpPr>
        <p:spPr>
          <a:xfrm>
            <a:off x="163841" y="914053"/>
            <a:ext cx="2263403" cy="92333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800" b="1" i="0" u="none" strike="noStrike" cap="none" spc="0" normalizeH="0" baseline="0">
                <a:ln>
                  <a:noFill/>
                </a:ln>
                <a:solidFill>
                  <a:schemeClr val="accent1"/>
                </a:solidFill>
                <a:effectLst/>
                <a:uLnTx/>
                <a:uFillTx/>
              </a:defRPr>
            </a:lvl1pPr>
          </a:lstStyle>
          <a:p>
            <a:r>
              <a:rPr lang="en-GB" sz="5400" dirty="0">
                <a:solidFill>
                  <a:schemeClr val="accent1">
                    <a:alpha val="13000"/>
                  </a:schemeClr>
                </a:solidFill>
                <a:latin typeface="+mj-lt"/>
              </a:rPr>
              <a:t>01</a:t>
            </a:r>
            <a:endParaRPr lang="en-GB" sz="5400" dirty="0">
              <a:solidFill>
                <a:schemeClr val="accent1">
                  <a:alpha val="13000"/>
                </a:schemeClr>
              </a:solidFill>
              <a:latin typeface="+mj-lt"/>
            </a:endParaRPr>
          </a:p>
        </p:txBody>
      </p:sp>
      <p:sp>
        <p:nvSpPr>
          <p:cNvPr id="48" name="ïṩ1ídê"/>
          <p:cNvSpPr txBox="1"/>
          <p:nvPr/>
        </p:nvSpPr>
        <p:spPr>
          <a:xfrm>
            <a:off x="163840" y="3054346"/>
            <a:ext cx="2263403" cy="92333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800" b="1" i="0" u="none" strike="noStrike" cap="none" spc="0" normalizeH="0" baseline="0">
                <a:ln>
                  <a:noFill/>
                </a:ln>
                <a:solidFill>
                  <a:schemeClr val="accent1"/>
                </a:solidFill>
                <a:effectLst/>
                <a:uLnTx/>
                <a:uFillTx/>
              </a:defRPr>
            </a:lvl1pPr>
          </a:lstStyle>
          <a:p>
            <a:r>
              <a:rPr lang="en-GB" sz="5400" dirty="0">
                <a:solidFill>
                  <a:schemeClr val="accent1">
                    <a:alpha val="13000"/>
                  </a:schemeClr>
                </a:solidFill>
                <a:latin typeface="+mj-lt"/>
              </a:rPr>
              <a:t>02</a:t>
            </a:r>
            <a:endParaRPr lang="en-GB" sz="5400" dirty="0">
              <a:solidFill>
                <a:schemeClr val="accent1">
                  <a:alpha val="13000"/>
                </a:schemeClr>
              </a:solidFill>
              <a:latin typeface="+mj-lt"/>
            </a:endParaRPr>
          </a:p>
        </p:txBody>
      </p:sp>
      <p:sp>
        <p:nvSpPr>
          <p:cNvPr id="49" name="ïṩ1ídê"/>
          <p:cNvSpPr txBox="1"/>
          <p:nvPr/>
        </p:nvSpPr>
        <p:spPr>
          <a:xfrm>
            <a:off x="3888119" y="936261"/>
            <a:ext cx="2263403" cy="92333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800" b="1" i="0" u="none" strike="noStrike" cap="none" spc="0" normalizeH="0" baseline="0">
                <a:ln>
                  <a:noFill/>
                </a:ln>
                <a:solidFill>
                  <a:schemeClr val="accent1"/>
                </a:solidFill>
                <a:effectLst/>
                <a:uLnTx/>
                <a:uFillTx/>
              </a:defRPr>
            </a:lvl1pPr>
          </a:lstStyle>
          <a:p>
            <a:r>
              <a:rPr lang="zh-CN" altLang="en-US" sz="5400" dirty="0">
                <a:solidFill>
                  <a:schemeClr val="accent1">
                    <a:alpha val="13000"/>
                  </a:schemeClr>
                </a:solidFill>
                <a:latin typeface="+mj-lt"/>
              </a:rPr>
              <a:t>创新点</a:t>
            </a:r>
            <a:endParaRPr lang="en-GB" sz="5400" dirty="0">
              <a:solidFill>
                <a:schemeClr val="accent1">
                  <a:alpha val="13000"/>
                </a:schemeClr>
              </a:solidFill>
              <a:latin typeface="+mj-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463255" y="1789620"/>
            <a:ext cx="11355457" cy="4320510"/>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3" name="标题 2"/>
          <p:cNvSpPr>
            <a:spLocks noGrp="1"/>
          </p:cNvSpPr>
          <p:nvPr>
            <p:ph type="title"/>
          </p:nvPr>
        </p:nvSpPr>
        <p:spPr/>
        <p:txBody>
          <a:bodyPr/>
          <a:lstStyle/>
          <a:p>
            <a:r>
              <a:rPr lang="zh-CN" altLang="en-US" dirty="0"/>
              <a:t>文献回顾与述评</a:t>
            </a:r>
            <a:endParaRPr lang="zh-CN" altLang="en-US" dirty="0"/>
          </a:p>
        </p:txBody>
      </p:sp>
      <p:sp>
        <p:nvSpPr>
          <p:cNvPr id="4" name="矩形 3"/>
          <p:cNvSpPr/>
          <p:nvPr/>
        </p:nvSpPr>
        <p:spPr>
          <a:xfrm>
            <a:off x="0" y="6390861"/>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 name="矩形 4"/>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10" name="矩形 9"/>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8" name="矩形 37"/>
          <p:cNvSpPr/>
          <p:nvPr/>
        </p:nvSpPr>
        <p:spPr>
          <a:xfrm flipH="1">
            <a:off x="452070" y="1850182"/>
            <a:ext cx="11366643" cy="4221284"/>
          </a:xfrm>
          <a:prstGeom prst="rect">
            <a:avLst/>
          </a:prstGeom>
          <a:ln>
            <a:noFill/>
          </a:ln>
        </p:spPr>
        <p:txBody>
          <a:bodyPr wrap="square" lIns="91440" tIns="45720" rIns="91440" bIns="45720" anchor="t">
            <a:spAutoFit/>
          </a:bodyPr>
          <a:lstStyle/>
          <a:p>
            <a:pPr lvl="0" algn="just" defTabSz="913765">
              <a:lnSpc>
                <a:spcPts val="2700"/>
              </a:lnSpc>
              <a:buSzPct val="25000"/>
              <a:defRPr/>
            </a:pPr>
            <a:r>
              <a:rPr lang="zh-CN" altLang="en-US" sz="2000" b="1" dirty="0"/>
              <a:t>首先</a:t>
            </a:r>
            <a:r>
              <a:rPr lang="zh-CN" altLang="en-US" sz="2000" dirty="0"/>
              <a:t>，目前鲜有研究关注数字金融发展对家庭金融资产组合的优化作用；</a:t>
            </a:r>
            <a:endParaRPr lang="en-US" altLang="zh-CN" sz="2000" dirty="0"/>
          </a:p>
          <a:p>
            <a:pPr lvl="0" algn="just" defTabSz="913765">
              <a:lnSpc>
                <a:spcPts val="2700"/>
              </a:lnSpc>
              <a:buSzPct val="25000"/>
              <a:defRPr/>
            </a:pPr>
            <a:endParaRPr lang="en-US" altLang="zh-CN" sz="2000" dirty="0"/>
          </a:p>
          <a:p>
            <a:pPr lvl="0" algn="just" defTabSz="913765">
              <a:lnSpc>
                <a:spcPts val="2700"/>
              </a:lnSpc>
              <a:buSzPct val="25000"/>
              <a:defRPr/>
            </a:pPr>
            <a:r>
              <a:rPr lang="zh-CN" altLang="en-US" sz="2000" b="1" dirty="0"/>
              <a:t>其次</a:t>
            </a:r>
            <a:r>
              <a:rPr lang="zh-CN" altLang="en-US" sz="2000" dirty="0"/>
              <a:t>，吴雨等（</a:t>
            </a:r>
            <a:r>
              <a:rPr lang="en-US" altLang="zh-CN" sz="2000" dirty="0"/>
              <a:t>2021</a:t>
            </a:r>
            <a:r>
              <a:rPr lang="zh-CN" altLang="en-US" sz="2000" dirty="0"/>
              <a:t>）探讨了数字金融发展对家庭金融资产组合有效性的影响，与本研究最为相似，但是在数字金融发展方面，其未针对数字金融发展的不同子维度展开讨论；虽然进行了基于城乡差异的异质性分析，但并未在城乡分样本讨论的基础上进一步展开挖掘；在异质性分析中将数字金融发展影响的差异性归咎于数字鸿沟的存在，可</a:t>
            </a:r>
            <a:r>
              <a:rPr lang="zh-CN" altLang="en-US" sz="2000" b="1" dirty="0"/>
              <a:t>并未量化数字鸿沟</a:t>
            </a:r>
            <a:r>
              <a:rPr lang="zh-CN" altLang="en-US" sz="2000" dirty="0"/>
              <a:t>进而实证检验该解释。</a:t>
            </a:r>
            <a:endParaRPr lang="en-US" altLang="zh-CN" sz="2000" dirty="0"/>
          </a:p>
          <a:p>
            <a:pPr lvl="0" algn="just" defTabSz="913765">
              <a:lnSpc>
                <a:spcPts val="2700"/>
              </a:lnSpc>
              <a:buSzPct val="25000"/>
              <a:defRPr/>
            </a:pPr>
            <a:endParaRPr lang="en-US" altLang="zh-CN" sz="2000" dirty="0"/>
          </a:p>
          <a:p>
            <a:pPr lvl="0" algn="just" defTabSz="913765">
              <a:lnSpc>
                <a:spcPts val="2700"/>
              </a:lnSpc>
              <a:buSzPct val="25000"/>
              <a:defRPr/>
            </a:pPr>
            <a:r>
              <a:rPr lang="zh-CN" altLang="en-US" sz="2000" b="1" dirty="0"/>
              <a:t>需要指出的是</a:t>
            </a:r>
            <a:r>
              <a:rPr lang="zh-CN" altLang="en-US" sz="2000" dirty="0"/>
              <a:t>，现有多数研究已就一级数字鸿沟的量化给出答案（何宗樾等，</a:t>
            </a:r>
            <a:r>
              <a:rPr lang="en-US" altLang="zh-CN" sz="2000" dirty="0"/>
              <a:t>2020</a:t>
            </a:r>
            <a:r>
              <a:rPr lang="zh-CN" altLang="en-US" sz="2000" dirty="0"/>
              <a:t>；张勋等，</a:t>
            </a:r>
            <a:r>
              <a:rPr lang="en-US" altLang="zh-CN" sz="2000" dirty="0"/>
              <a:t>2021</a:t>
            </a:r>
            <a:r>
              <a:rPr lang="zh-CN" altLang="en-US" sz="2000" dirty="0"/>
              <a:t>；王修华等，</a:t>
            </a:r>
            <a:r>
              <a:rPr lang="en-US" altLang="zh-CN" sz="2000" dirty="0"/>
              <a:t>2022</a:t>
            </a:r>
            <a:r>
              <a:rPr lang="zh-CN" altLang="en-US" sz="2000" dirty="0"/>
              <a:t>），但有关</a:t>
            </a:r>
            <a:r>
              <a:rPr lang="zh-CN" altLang="en-US" sz="2000" b="1" dirty="0"/>
              <a:t>二级数字鸿沟的量化</a:t>
            </a:r>
            <a:r>
              <a:rPr lang="zh-CN" altLang="en-US" sz="2000" dirty="0"/>
              <a:t>讨论仍在继续。个体使用互联网的能力可以从多维度描述，但就数字金融使用而言，针对数字金融使用的二级鸿沟应该是“缺乏使用数字金融相关程序的能力”。张勋等（</a:t>
            </a:r>
            <a:r>
              <a:rPr lang="en-US" altLang="zh-CN" sz="2000" dirty="0"/>
              <a:t>2021</a:t>
            </a:r>
            <a:r>
              <a:rPr lang="zh-CN" altLang="en-US" sz="2000" dirty="0"/>
              <a:t>）曾以中国家庭追踪调查（</a:t>
            </a:r>
            <a:r>
              <a:rPr lang="en-US" altLang="zh-CN" sz="2000" dirty="0"/>
              <a:t>CFPS</a:t>
            </a:r>
            <a:r>
              <a:rPr lang="zh-CN" altLang="en-US" sz="2000" dirty="0"/>
              <a:t>）问卷中关于互联网作为信息获取渠道的“重要性”调查量化二级数字鸿沟，</a:t>
            </a:r>
            <a:r>
              <a:rPr lang="zh-CN" altLang="en-US" sz="2000" b="1" dirty="0"/>
              <a:t>但未聚焦到数字金融使用上</a:t>
            </a:r>
            <a:r>
              <a:rPr lang="zh-CN" altLang="en-US" sz="2000" dirty="0"/>
              <a:t>。 </a:t>
            </a:r>
            <a:endParaRPr kumimoji="0" lang="en-US" altLang="zh-CN" sz="2000" i="0" u="none" strike="noStrike" kern="1200" cap="none" spc="0" normalizeH="0" baseline="0" noProof="0" dirty="0">
              <a:ln>
                <a:noFill/>
              </a:ln>
              <a:effectLst/>
              <a:uLnTx/>
              <a:uFillTx/>
            </a:endParaRPr>
          </a:p>
        </p:txBody>
      </p:sp>
      <p:sp>
        <p:nvSpPr>
          <p:cNvPr id="39" name="文本框 38"/>
          <p:cNvSpPr txBox="1"/>
          <p:nvPr/>
        </p:nvSpPr>
        <p:spPr>
          <a:xfrm>
            <a:off x="463255" y="852274"/>
            <a:ext cx="11539001" cy="707886"/>
          </a:xfrm>
          <a:prstGeom prst="rect">
            <a:avLst/>
          </a:prstGeom>
          <a:noFill/>
        </p:spPr>
        <p:txBody>
          <a:bodyPr wrap="square">
            <a:spAutoFit/>
          </a:bodyPr>
          <a:lstStyle/>
          <a:p>
            <a:r>
              <a:rPr lang="zh-CN" altLang="en-US" sz="2000" dirty="0"/>
              <a:t>从现有文献看，国内外关于家庭金融资产配置研究领域已经产生较为丰硕的研究成果，其中也包括部分有关数字金融发展对家庭金融资产组合影响的研究，但仍存可待深入考证的问题。</a:t>
            </a:r>
            <a:endParaRPr lang="zh-CN" altLang="en-US" sz="2000" dirty="0"/>
          </a:p>
        </p:txBody>
      </p:sp>
      <p:sp>
        <p:nvSpPr>
          <p:cNvPr id="40" name="矩形 39"/>
          <p:cNvSpPr/>
          <p:nvPr/>
        </p:nvSpPr>
        <p:spPr>
          <a:xfrm>
            <a:off x="463255" y="852275"/>
            <a:ext cx="11355457" cy="707885"/>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研究假说</a:t>
            </a:r>
            <a:endParaRPr lang="zh-CN" altLang="en-US" dirty="0"/>
          </a:p>
        </p:txBody>
      </p:sp>
      <p:sp>
        <p:nvSpPr>
          <p:cNvPr id="3" name="矩形 2"/>
          <p:cNvSpPr/>
          <p:nvPr/>
        </p:nvSpPr>
        <p:spPr>
          <a:xfrm>
            <a:off x="2437200" y="6390859"/>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6027"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3578855" y="6266618"/>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矩形 13"/>
          <p:cNvSpPr/>
          <p:nvPr/>
        </p:nvSpPr>
        <p:spPr>
          <a:xfrm>
            <a:off x="4874400" y="2196551"/>
            <a:ext cx="2437200" cy="333954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5" name="矩形: 圆角 3"/>
          <p:cNvSpPr/>
          <p:nvPr/>
        </p:nvSpPr>
        <p:spPr>
          <a:xfrm>
            <a:off x="1123123" y="2412794"/>
            <a:ext cx="1969200" cy="10925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t>数字金融</a:t>
            </a:r>
            <a:endParaRPr lang="zh-CN" altLang="en-US" sz="2000" b="1" dirty="0"/>
          </a:p>
        </p:txBody>
      </p:sp>
      <p:sp>
        <p:nvSpPr>
          <p:cNvPr id="16" name="矩形: 圆角 16"/>
          <p:cNvSpPr/>
          <p:nvPr/>
        </p:nvSpPr>
        <p:spPr>
          <a:xfrm>
            <a:off x="9260662" y="2412794"/>
            <a:ext cx="1970555" cy="109255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solidFill>
                  <a:prstClr val="black"/>
                </a:solidFill>
                <a:latin typeface="+mn-ea"/>
              </a:rPr>
              <a:t>家庭金融资产配置有效性</a:t>
            </a:r>
            <a:endParaRPr lang="zh-CN" altLang="en-US" sz="2000" dirty="0">
              <a:latin typeface="+mn-ea"/>
            </a:endParaRPr>
          </a:p>
        </p:txBody>
      </p:sp>
      <p:sp>
        <p:nvSpPr>
          <p:cNvPr id="17" name="矩形: 圆角 9"/>
          <p:cNvSpPr/>
          <p:nvPr/>
        </p:nvSpPr>
        <p:spPr>
          <a:xfrm>
            <a:off x="4961919" y="2412794"/>
            <a:ext cx="2262158" cy="5171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t>增加投资便利性</a:t>
            </a:r>
            <a:endParaRPr lang="zh-CN" altLang="en-US" dirty="0"/>
          </a:p>
        </p:txBody>
      </p:sp>
      <p:sp>
        <p:nvSpPr>
          <p:cNvPr id="18" name="矩形: 圆角 18"/>
          <p:cNvSpPr/>
          <p:nvPr/>
        </p:nvSpPr>
        <p:spPr>
          <a:xfrm>
            <a:off x="4961919" y="3459598"/>
            <a:ext cx="2262158" cy="5171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t>促进金融信息获取</a:t>
            </a:r>
            <a:endParaRPr lang="zh-CN" altLang="en-US" dirty="0"/>
          </a:p>
        </p:txBody>
      </p:sp>
      <p:sp>
        <p:nvSpPr>
          <p:cNvPr id="19" name="矩形: 圆角 19"/>
          <p:cNvSpPr/>
          <p:nvPr/>
        </p:nvSpPr>
        <p:spPr>
          <a:xfrm>
            <a:off x="4961921" y="4506402"/>
            <a:ext cx="2262158" cy="5171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t>提升风险承担水平</a:t>
            </a:r>
            <a:endParaRPr lang="zh-CN" altLang="en-US" dirty="0"/>
          </a:p>
        </p:txBody>
      </p:sp>
      <p:sp>
        <p:nvSpPr>
          <p:cNvPr id="20" name="矩形: 圆角 23"/>
          <p:cNvSpPr/>
          <p:nvPr/>
        </p:nvSpPr>
        <p:spPr>
          <a:xfrm>
            <a:off x="4874400" y="1367194"/>
            <a:ext cx="2437200" cy="51710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t>直接影响</a:t>
            </a:r>
            <a:endParaRPr lang="zh-CN" altLang="en-US" sz="2000" dirty="0"/>
          </a:p>
        </p:txBody>
      </p:sp>
      <p:cxnSp>
        <p:nvCxnSpPr>
          <p:cNvPr id="21" name="连接符: 肘形 22"/>
          <p:cNvCxnSpPr>
            <a:stCxn id="15" idx="3"/>
          </p:cNvCxnSpPr>
          <p:nvPr/>
        </p:nvCxnSpPr>
        <p:spPr>
          <a:xfrm flipV="1">
            <a:off x="3092323" y="1625749"/>
            <a:ext cx="1782077" cy="133332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2" name="连接符: 肘形 25"/>
          <p:cNvCxnSpPr>
            <a:endCxn id="16" idx="1"/>
          </p:cNvCxnSpPr>
          <p:nvPr/>
        </p:nvCxnSpPr>
        <p:spPr>
          <a:xfrm>
            <a:off x="7311600" y="1625749"/>
            <a:ext cx="1949062" cy="13333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连接符: 肘形 27"/>
          <p:cNvCxnSpPr>
            <a:stCxn id="15" idx="3"/>
          </p:cNvCxnSpPr>
          <p:nvPr/>
        </p:nvCxnSpPr>
        <p:spPr>
          <a:xfrm>
            <a:off x="3092323" y="2959069"/>
            <a:ext cx="1782077" cy="84660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4" name="连接符: 肘形 30"/>
          <p:cNvCxnSpPr>
            <a:endCxn id="16" idx="1"/>
          </p:cNvCxnSpPr>
          <p:nvPr/>
        </p:nvCxnSpPr>
        <p:spPr>
          <a:xfrm flipV="1">
            <a:off x="7311600" y="2959069"/>
            <a:ext cx="1949062" cy="8466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 name="文本框 34"/>
          <p:cNvSpPr txBox="1"/>
          <p:nvPr/>
        </p:nvSpPr>
        <p:spPr>
          <a:xfrm>
            <a:off x="5516153" y="5085304"/>
            <a:ext cx="1332227" cy="400110"/>
          </a:xfrm>
          <a:prstGeom prst="rect">
            <a:avLst/>
          </a:prstGeom>
          <a:noFill/>
        </p:spPr>
        <p:txBody>
          <a:bodyPr wrap="square" rtlCol="0">
            <a:spAutoFit/>
          </a:bodyPr>
          <a:lstStyle/>
          <a:p>
            <a:r>
              <a:rPr lang="zh-CN" altLang="en-US" sz="2000" dirty="0"/>
              <a:t>间接影响</a:t>
            </a:r>
            <a:endParaRPr lang="zh-CN" altLang="en-US" sz="2000" dirty="0"/>
          </a:p>
        </p:txBody>
      </p:sp>
      <p:sp>
        <p:nvSpPr>
          <p:cNvPr id="26" name="矩形 25"/>
          <p:cNvSpPr/>
          <p:nvPr/>
        </p:nvSpPr>
        <p:spPr>
          <a:xfrm>
            <a:off x="3443877" y="858942"/>
            <a:ext cx="5298246" cy="369332"/>
          </a:xfrm>
          <a:prstGeom prst="rect">
            <a:avLst/>
          </a:prstGeom>
        </p:spPr>
        <p:txBody>
          <a:bodyPr wrap="none">
            <a:spAutoFit/>
          </a:bodyPr>
          <a:lstStyle/>
          <a:p>
            <a:pPr lvl="0" algn="ctr">
              <a:defRPr/>
            </a:pPr>
            <a:r>
              <a:rPr lang="zh-CN" altLang="en-US" dirty="0">
                <a:solidFill>
                  <a:prstClr val="black"/>
                </a:solidFill>
                <a:latin typeface="+mn-ea"/>
              </a:rPr>
              <a:t>数字金融影响家庭金融资产配置有效性的理论框架</a:t>
            </a:r>
            <a:endParaRPr lang="zh-CN" altLang="en-US" dirty="0">
              <a:solidFill>
                <a:prstClr val="black"/>
              </a:solidFill>
              <a:latin typeface="+mn-ea"/>
            </a:endParaRPr>
          </a:p>
        </p:txBody>
      </p:sp>
      <p:sp>
        <p:nvSpPr>
          <p:cNvPr id="54" name="矩形 53"/>
          <p:cNvSpPr/>
          <p:nvPr/>
        </p:nvSpPr>
        <p:spPr>
          <a:xfrm>
            <a:off x="1449739" y="5673289"/>
            <a:ext cx="9286517" cy="461665"/>
          </a:xfrm>
          <a:prstGeom prst="rect">
            <a:avLst/>
          </a:prstGeom>
        </p:spPr>
        <p:txBody>
          <a:bodyPr wrap="none">
            <a:spAutoFit/>
          </a:bodyPr>
          <a:lstStyle/>
          <a:p>
            <a:r>
              <a:rPr lang="zh-CN" altLang="en-US" sz="2400" dirty="0"/>
              <a:t>假说</a:t>
            </a:r>
            <a:r>
              <a:rPr lang="en-US" altLang="zh-CN" sz="2400" dirty="0"/>
              <a:t>1</a:t>
            </a:r>
            <a:r>
              <a:rPr lang="zh-CN" altLang="en-US" sz="2400" dirty="0"/>
              <a:t>：</a:t>
            </a:r>
            <a:r>
              <a:rPr lang="zh-CN" altLang="zh-CN" sz="2400" b="1" dirty="0"/>
              <a:t>数字金融发展有助于提升</a:t>
            </a:r>
            <a:r>
              <a:rPr lang="zh-CN" altLang="en-US" sz="2400" b="1" dirty="0"/>
              <a:t>城乡居民</a:t>
            </a:r>
            <a:r>
              <a:rPr lang="zh-CN" altLang="zh-CN" sz="2400" b="1" dirty="0"/>
              <a:t>家庭金融资产组合有效性</a:t>
            </a:r>
            <a:endParaRPr lang="zh-CN" altLang="en-US" sz="2400" b="1" dirty="0"/>
          </a:p>
        </p:txBody>
      </p:sp>
      <p:grpSp>
        <p:nvGrpSpPr>
          <p:cNvPr id="29" name="组合 28"/>
          <p:cNvGrpSpPr/>
          <p:nvPr/>
        </p:nvGrpSpPr>
        <p:grpSpPr>
          <a:xfrm>
            <a:off x="7403511" y="336658"/>
            <a:ext cx="6256350" cy="6184684"/>
            <a:chOff x="4065588" y="1646238"/>
            <a:chExt cx="969963" cy="958850"/>
          </a:xfrm>
          <a:solidFill>
            <a:schemeClr val="accent1">
              <a:alpha val="5000"/>
            </a:schemeClr>
          </a:solidFill>
        </p:grpSpPr>
        <p:sp>
          <p:nvSpPr>
            <p:cNvPr id="30" name="Freeform 5"/>
            <p:cNvSpPr/>
            <p:nvPr/>
          </p:nvSpPr>
          <p:spPr bwMode="auto">
            <a:xfrm>
              <a:off x="4478338" y="1900238"/>
              <a:ext cx="134938" cy="63500"/>
            </a:xfrm>
            <a:custGeom>
              <a:avLst/>
              <a:gdLst>
                <a:gd name="T0" fmla="*/ 0 w 584"/>
                <a:gd name="T1" fmla="*/ 272 h 272"/>
                <a:gd name="T2" fmla="*/ 122 w 584"/>
                <a:gd name="T3" fmla="*/ 233 h 272"/>
                <a:gd name="T4" fmla="*/ 584 w 584"/>
                <a:gd name="T5" fmla="*/ 272 h 272"/>
                <a:gd name="T6" fmla="*/ 471 w 584"/>
                <a:gd name="T7" fmla="*/ 123 h 272"/>
                <a:gd name="T8" fmla="*/ 116 w 584"/>
                <a:gd name="T9" fmla="*/ 134 h 272"/>
                <a:gd name="T10" fmla="*/ 0 w 584"/>
                <a:gd name="T11" fmla="*/ 272 h 272"/>
              </a:gdLst>
              <a:ahLst/>
              <a:cxnLst>
                <a:cxn ang="0">
                  <a:pos x="T0" y="T1"/>
                </a:cxn>
                <a:cxn ang="0">
                  <a:pos x="T2" y="T3"/>
                </a:cxn>
                <a:cxn ang="0">
                  <a:pos x="T4" y="T5"/>
                </a:cxn>
                <a:cxn ang="0">
                  <a:pos x="T6" y="T7"/>
                </a:cxn>
                <a:cxn ang="0">
                  <a:pos x="T8" y="T9"/>
                </a:cxn>
                <a:cxn ang="0">
                  <a:pos x="T10" y="T11"/>
                </a:cxn>
              </a:cxnLst>
              <a:rect l="0" t="0" r="r" b="b"/>
              <a:pathLst>
                <a:path w="584" h="272">
                  <a:moveTo>
                    <a:pt x="0" y="272"/>
                  </a:moveTo>
                  <a:lnTo>
                    <a:pt x="122" y="233"/>
                  </a:lnTo>
                  <a:cubicBezTo>
                    <a:pt x="349" y="156"/>
                    <a:pt x="436" y="269"/>
                    <a:pt x="584" y="272"/>
                  </a:cubicBezTo>
                  <a:cubicBezTo>
                    <a:pt x="584" y="179"/>
                    <a:pt x="535" y="154"/>
                    <a:pt x="471" y="123"/>
                  </a:cubicBezTo>
                  <a:cubicBezTo>
                    <a:pt x="224" y="0"/>
                    <a:pt x="315" y="35"/>
                    <a:pt x="116" y="134"/>
                  </a:cubicBezTo>
                  <a:cubicBezTo>
                    <a:pt x="51" y="166"/>
                    <a:pt x="7" y="183"/>
                    <a:pt x="0" y="2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1" name="Freeform 6"/>
            <p:cNvSpPr/>
            <p:nvPr/>
          </p:nvSpPr>
          <p:spPr bwMode="auto">
            <a:xfrm>
              <a:off x="4413250" y="2001838"/>
              <a:ext cx="39688" cy="90488"/>
            </a:xfrm>
            <a:custGeom>
              <a:avLst/>
              <a:gdLst>
                <a:gd name="T0" fmla="*/ 0 w 169"/>
                <a:gd name="T1" fmla="*/ 389 h 389"/>
                <a:gd name="T2" fmla="*/ 76 w 169"/>
                <a:gd name="T3" fmla="*/ 330 h 389"/>
                <a:gd name="T4" fmla="*/ 169 w 169"/>
                <a:gd name="T5" fmla="*/ 279 h 389"/>
                <a:gd name="T6" fmla="*/ 169 w 169"/>
                <a:gd name="T7" fmla="*/ 0 h 389"/>
                <a:gd name="T8" fmla="*/ 34 w 169"/>
                <a:gd name="T9" fmla="*/ 145 h 389"/>
                <a:gd name="T10" fmla="*/ 0 w 169"/>
                <a:gd name="T11" fmla="*/ 389 h 389"/>
              </a:gdLst>
              <a:ahLst/>
              <a:cxnLst>
                <a:cxn ang="0">
                  <a:pos x="T0" y="T1"/>
                </a:cxn>
                <a:cxn ang="0">
                  <a:pos x="T2" y="T3"/>
                </a:cxn>
                <a:cxn ang="0">
                  <a:pos x="T4" y="T5"/>
                </a:cxn>
                <a:cxn ang="0">
                  <a:pos x="T6" y="T7"/>
                </a:cxn>
                <a:cxn ang="0">
                  <a:pos x="T8" y="T9"/>
                </a:cxn>
                <a:cxn ang="0">
                  <a:pos x="T10" y="T11"/>
                </a:cxn>
              </a:cxnLst>
              <a:rect l="0" t="0" r="r" b="b"/>
              <a:pathLst>
                <a:path w="169" h="389">
                  <a:moveTo>
                    <a:pt x="0" y="389"/>
                  </a:moveTo>
                  <a:cubicBezTo>
                    <a:pt x="36" y="380"/>
                    <a:pt x="47" y="348"/>
                    <a:pt x="76" y="330"/>
                  </a:cubicBezTo>
                  <a:cubicBezTo>
                    <a:pt x="107" y="311"/>
                    <a:pt x="137" y="301"/>
                    <a:pt x="169" y="279"/>
                  </a:cubicBezTo>
                  <a:lnTo>
                    <a:pt x="169" y="0"/>
                  </a:lnTo>
                  <a:cubicBezTo>
                    <a:pt x="103" y="5"/>
                    <a:pt x="54" y="92"/>
                    <a:pt x="34" y="145"/>
                  </a:cubicBezTo>
                  <a:cubicBezTo>
                    <a:pt x="9" y="216"/>
                    <a:pt x="0" y="294"/>
                    <a:pt x="0" y="3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2" name="Freeform 7"/>
            <p:cNvSpPr/>
            <p:nvPr/>
          </p:nvSpPr>
          <p:spPr bwMode="auto">
            <a:xfrm>
              <a:off x="4637088" y="2001838"/>
              <a:ext cx="41275" cy="88900"/>
            </a:xfrm>
            <a:custGeom>
              <a:avLst/>
              <a:gdLst>
                <a:gd name="T0" fmla="*/ 0 w 178"/>
                <a:gd name="T1" fmla="*/ 279 h 381"/>
                <a:gd name="T2" fmla="*/ 178 w 178"/>
                <a:gd name="T3" fmla="*/ 381 h 381"/>
                <a:gd name="T4" fmla="*/ 17 w 178"/>
                <a:gd name="T5" fmla="*/ 0 h 381"/>
                <a:gd name="T6" fmla="*/ 0 w 178"/>
                <a:gd name="T7" fmla="*/ 279 h 381"/>
              </a:gdLst>
              <a:ahLst/>
              <a:cxnLst>
                <a:cxn ang="0">
                  <a:pos x="T0" y="T1"/>
                </a:cxn>
                <a:cxn ang="0">
                  <a:pos x="T2" y="T3"/>
                </a:cxn>
                <a:cxn ang="0">
                  <a:pos x="T4" y="T5"/>
                </a:cxn>
                <a:cxn ang="0">
                  <a:pos x="T6" y="T7"/>
                </a:cxn>
              </a:cxnLst>
              <a:rect l="0" t="0" r="r" b="b"/>
              <a:pathLst>
                <a:path w="178" h="381">
                  <a:moveTo>
                    <a:pt x="0" y="279"/>
                  </a:moveTo>
                  <a:cubicBezTo>
                    <a:pt x="51" y="306"/>
                    <a:pt x="127" y="369"/>
                    <a:pt x="178" y="381"/>
                  </a:cubicBezTo>
                  <a:cubicBezTo>
                    <a:pt x="178" y="237"/>
                    <a:pt x="125" y="25"/>
                    <a:pt x="17" y="0"/>
                  </a:cubicBezTo>
                  <a:lnTo>
                    <a:pt x="0"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3" name="Freeform 8"/>
            <p:cNvSpPr/>
            <p:nvPr/>
          </p:nvSpPr>
          <p:spPr bwMode="auto">
            <a:xfrm>
              <a:off x="4557713" y="2289176"/>
              <a:ext cx="12700" cy="46038"/>
            </a:xfrm>
            <a:custGeom>
              <a:avLst/>
              <a:gdLst>
                <a:gd name="T0" fmla="*/ 0 w 54"/>
                <a:gd name="T1" fmla="*/ 192 h 192"/>
                <a:gd name="T2" fmla="*/ 47 w 54"/>
                <a:gd name="T3" fmla="*/ 116 h 192"/>
                <a:gd name="T4" fmla="*/ 53 w 54"/>
                <a:gd name="T5" fmla="*/ 0 h 192"/>
                <a:gd name="T6" fmla="*/ 2 w 54"/>
                <a:gd name="T7" fmla="*/ 22 h 192"/>
                <a:gd name="T8" fmla="*/ 0 w 54"/>
                <a:gd name="T9" fmla="*/ 192 h 192"/>
              </a:gdLst>
              <a:ahLst/>
              <a:cxnLst>
                <a:cxn ang="0">
                  <a:pos x="T0" y="T1"/>
                </a:cxn>
                <a:cxn ang="0">
                  <a:pos x="T2" y="T3"/>
                </a:cxn>
                <a:cxn ang="0">
                  <a:pos x="T4" y="T5"/>
                </a:cxn>
                <a:cxn ang="0">
                  <a:pos x="T6" y="T7"/>
                </a:cxn>
                <a:cxn ang="0">
                  <a:pos x="T8" y="T9"/>
                </a:cxn>
              </a:cxnLst>
              <a:rect l="0" t="0" r="r" b="b"/>
              <a:pathLst>
                <a:path w="54" h="192">
                  <a:moveTo>
                    <a:pt x="0" y="192"/>
                  </a:moveTo>
                  <a:cubicBezTo>
                    <a:pt x="37" y="174"/>
                    <a:pt x="40" y="164"/>
                    <a:pt x="47" y="116"/>
                  </a:cubicBezTo>
                  <a:cubicBezTo>
                    <a:pt x="53" y="75"/>
                    <a:pt x="54" y="46"/>
                    <a:pt x="53" y="0"/>
                  </a:cubicBezTo>
                  <a:lnTo>
                    <a:pt x="2" y="22"/>
                  </a:lnTo>
                  <a:lnTo>
                    <a:pt x="0"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4" name="Freeform 9"/>
            <p:cNvSpPr/>
            <p:nvPr/>
          </p:nvSpPr>
          <p:spPr bwMode="auto">
            <a:xfrm>
              <a:off x="4551363" y="2193926"/>
              <a:ext cx="20638" cy="17463"/>
            </a:xfrm>
            <a:custGeom>
              <a:avLst/>
              <a:gdLst>
                <a:gd name="T0" fmla="*/ 0 w 84"/>
                <a:gd name="T1" fmla="*/ 75 h 75"/>
                <a:gd name="T2" fmla="*/ 84 w 84"/>
                <a:gd name="T3" fmla="*/ 69 h 75"/>
                <a:gd name="T4" fmla="*/ 0 w 84"/>
                <a:gd name="T5" fmla="*/ 75 h 75"/>
              </a:gdLst>
              <a:ahLst/>
              <a:cxnLst>
                <a:cxn ang="0">
                  <a:pos x="T0" y="T1"/>
                </a:cxn>
                <a:cxn ang="0">
                  <a:pos x="T2" y="T3"/>
                </a:cxn>
                <a:cxn ang="0">
                  <a:pos x="T4" y="T5"/>
                </a:cxn>
              </a:cxnLst>
              <a:rect l="0" t="0" r="r" b="b"/>
              <a:pathLst>
                <a:path w="84" h="75">
                  <a:moveTo>
                    <a:pt x="0" y="75"/>
                  </a:moveTo>
                  <a:lnTo>
                    <a:pt x="84" y="69"/>
                  </a:lnTo>
                  <a:cubicBezTo>
                    <a:pt x="56" y="13"/>
                    <a:pt x="15" y="0"/>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5" name="Freeform 10"/>
            <p:cNvSpPr/>
            <p:nvPr/>
          </p:nvSpPr>
          <p:spPr bwMode="auto">
            <a:xfrm>
              <a:off x="4476750" y="1973263"/>
              <a:ext cx="146050" cy="93663"/>
            </a:xfrm>
            <a:custGeom>
              <a:avLst/>
              <a:gdLst>
                <a:gd name="T0" fmla="*/ 0 w 631"/>
                <a:gd name="T1" fmla="*/ 75 h 403"/>
                <a:gd name="T2" fmla="*/ 0 w 631"/>
                <a:gd name="T3" fmla="*/ 372 h 403"/>
                <a:gd name="T4" fmla="*/ 330 w 631"/>
                <a:gd name="T5" fmla="*/ 329 h 403"/>
                <a:gd name="T6" fmla="*/ 592 w 631"/>
                <a:gd name="T7" fmla="*/ 338 h 403"/>
                <a:gd name="T8" fmla="*/ 469 w 631"/>
                <a:gd name="T9" fmla="*/ 29 h 403"/>
                <a:gd name="T10" fmla="*/ 65 w 631"/>
                <a:gd name="T11" fmla="*/ 47 h 403"/>
                <a:gd name="T12" fmla="*/ 0 w 631"/>
                <a:gd name="T13" fmla="*/ 75 h 403"/>
              </a:gdLst>
              <a:ahLst/>
              <a:cxnLst>
                <a:cxn ang="0">
                  <a:pos x="T0" y="T1"/>
                </a:cxn>
                <a:cxn ang="0">
                  <a:pos x="T2" y="T3"/>
                </a:cxn>
                <a:cxn ang="0">
                  <a:pos x="T4" y="T5"/>
                </a:cxn>
                <a:cxn ang="0">
                  <a:pos x="T6" y="T7"/>
                </a:cxn>
                <a:cxn ang="0">
                  <a:pos x="T8" y="T9"/>
                </a:cxn>
                <a:cxn ang="0">
                  <a:pos x="T10" y="T11"/>
                </a:cxn>
                <a:cxn ang="0">
                  <a:pos x="T12" y="T13"/>
                </a:cxn>
              </a:cxnLst>
              <a:rect l="0" t="0" r="r" b="b"/>
              <a:pathLst>
                <a:path w="631" h="403">
                  <a:moveTo>
                    <a:pt x="0" y="75"/>
                  </a:moveTo>
                  <a:lnTo>
                    <a:pt x="0" y="372"/>
                  </a:lnTo>
                  <a:cubicBezTo>
                    <a:pt x="68" y="372"/>
                    <a:pt x="180" y="329"/>
                    <a:pt x="330" y="329"/>
                  </a:cubicBezTo>
                  <a:cubicBezTo>
                    <a:pt x="435" y="329"/>
                    <a:pt x="592" y="403"/>
                    <a:pt x="592" y="338"/>
                  </a:cubicBezTo>
                  <a:cubicBezTo>
                    <a:pt x="592" y="31"/>
                    <a:pt x="631" y="64"/>
                    <a:pt x="469" y="29"/>
                  </a:cubicBezTo>
                  <a:cubicBezTo>
                    <a:pt x="360" y="6"/>
                    <a:pt x="174" y="0"/>
                    <a:pt x="65" y="47"/>
                  </a:cubicBezTo>
                  <a:cubicBezTo>
                    <a:pt x="37" y="59"/>
                    <a:pt x="29" y="68"/>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6" name="Freeform 11"/>
            <p:cNvSpPr/>
            <p:nvPr/>
          </p:nvSpPr>
          <p:spPr bwMode="auto">
            <a:xfrm>
              <a:off x="4486275" y="2066926"/>
              <a:ext cx="120650" cy="60325"/>
            </a:xfrm>
            <a:custGeom>
              <a:avLst/>
              <a:gdLst>
                <a:gd name="T0" fmla="*/ 0 w 525"/>
                <a:gd name="T1" fmla="*/ 80 h 257"/>
                <a:gd name="T2" fmla="*/ 262 w 525"/>
                <a:gd name="T3" fmla="*/ 257 h 257"/>
                <a:gd name="T4" fmla="*/ 525 w 525"/>
                <a:gd name="T5" fmla="*/ 54 h 257"/>
                <a:gd name="T6" fmla="*/ 120 w 525"/>
                <a:gd name="T7" fmla="*/ 30 h 257"/>
                <a:gd name="T8" fmla="*/ 0 w 525"/>
                <a:gd name="T9" fmla="*/ 80 h 257"/>
              </a:gdLst>
              <a:ahLst/>
              <a:cxnLst>
                <a:cxn ang="0">
                  <a:pos x="T0" y="T1"/>
                </a:cxn>
                <a:cxn ang="0">
                  <a:pos x="T2" y="T3"/>
                </a:cxn>
                <a:cxn ang="0">
                  <a:pos x="T4" y="T5"/>
                </a:cxn>
                <a:cxn ang="0">
                  <a:pos x="T6" y="T7"/>
                </a:cxn>
                <a:cxn ang="0">
                  <a:pos x="T8" y="T9"/>
                </a:cxn>
              </a:cxnLst>
              <a:rect l="0" t="0" r="r" b="b"/>
              <a:pathLst>
                <a:path w="525" h="257">
                  <a:moveTo>
                    <a:pt x="0" y="80"/>
                  </a:moveTo>
                  <a:cubicBezTo>
                    <a:pt x="12" y="126"/>
                    <a:pt x="165" y="257"/>
                    <a:pt x="262" y="257"/>
                  </a:cubicBezTo>
                  <a:cubicBezTo>
                    <a:pt x="350" y="257"/>
                    <a:pt x="482" y="136"/>
                    <a:pt x="525" y="54"/>
                  </a:cubicBezTo>
                  <a:cubicBezTo>
                    <a:pt x="440" y="13"/>
                    <a:pt x="241" y="0"/>
                    <a:pt x="120" y="30"/>
                  </a:cubicBezTo>
                  <a:cubicBezTo>
                    <a:pt x="69" y="43"/>
                    <a:pt x="42" y="57"/>
                    <a:pt x="0"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7" name="Freeform 12"/>
            <p:cNvSpPr/>
            <p:nvPr/>
          </p:nvSpPr>
          <p:spPr bwMode="auto">
            <a:xfrm>
              <a:off x="4229100" y="1758951"/>
              <a:ext cx="622300" cy="609600"/>
            </a:xfrm>
            <a:custGeom>
              <a:avLst/>
              <a:gdLst>
                <a:gd name="T0" fmla="*/ 532 w 2683"/>
                <a:gd name="T1" fmla="*/ 2604 h 2604"/>
                <a:gd name="T2" fmla="*/ 693 w 2683"/>
                <a:gd name="T3" fmla="*/ 2071 h 2604"/>
                <a:gd name="T4" fmla="*/ 775 w 2683"/>
                <a:gd name="T5" fmla="*/ 1111 h 2604"/>
                <a:gd name="T6" fmla="*/ 945 w 2683"/>
                <a:gd name="T7" fmla="*/ 935 h 2604"/>
                <a:gd name="T8" fmla="*/ 1062 w 2683"/>
                <a:gd name="T9" fmla="*/ 704 h 2604"/>
                <a:gd name="T10" fmla="*/ 1320 w 2683"/>
                <a:gd name="T11" fmla="*/ 606 h 2604"/>
                <a:gd name="T12" fmla="*/ 1320 w 2683"/>
                <a:gd name="T13" fmla="*/ 589 h 2604"/>
                <a:gd name="T14" fmla="*/ 1131 w 2683"/>
                <a:gd name="T15" fmla="*/ 523 h 2604"/>
                <a:gd name="T16" fmla="*/ 1015 w 2683"/>
                <a:gd name="T17" fmla="*/ 344 h 2604"/>
                <a:gd name="T18" fmla="*/ 1286 w 2683"/>
                <a:gd name="T19" fmla="*/ 513 h 2604"/>
                <a:gd name="T20" fmla="*/ 1316 w 2683"/>
                <a:gd name="T21" fmla="*/ 408 h 2604"/>
                <a:gd name="T22" fmla="*/ 1320 w 2683"/>
                <a:gd name="T23" fmla="*/ 268 h 2604"/>
                <a:gd name="T24" fmla="*/ 1362 w 2683"/>
                <a:gd name="T25" fmla="*/ 259 h 2604"/>
                <a:gd name="T26" fmla="*/ 1413 w 2683"/>
                <a:gd name="T27" fmla="*/ 276 h 2604"/>
                <a:gd name="T28" fmla="*/ 1420 w 2683"/>
                <a:gd name="T29" fmla="*/ 430 h 2604"/>
                <a:gd name="T30" fmla="*/ 1490 w 2683"/>
                <a:gd name="T31" fmla="*/ 498 h 2604"/>
                <a:gd name="T32" fmla="*/ 1675 w 2683"/>
                <a:gd name="T33" fmla="*/ 344 h 2604"/>
                <a:gd name="T34" fmla="*/ 1717 w 2683"/>
                <a:gd name="T35" fmla="*/ 352 h 2604"/>
                <a:gd name="T36" fmla="*/ 1631 w 2683"/>
                <a:gd name="T37" fmla="*/ 503 h 2604"/>
                <a:gd name="T38" fmla="*/ 1500 w 2683"/>
                <a:gd name="T39" fmla="*/ 558 h 2604"/>
                <a:gd name="T40" fmla="*/ 1447 w 2683"/>
                <a:gd name="T41" fmla="*/ 572 h 2604"/>
                <a:gd name="T42" fmla="*/ 1734 w 2683"/>
                <a:gd name="T43" fmla="*/ 793 h 2604"/>
                <a:gd name="T44" fmla="*/ 1788 w 2683"/>
                <a:gd name="T45" fmla="*/ 916 h 2604"/>
                <a:gd name="T46" fmla="*/ 1958 w 2683"/>
                <a:gd name="T47" fmla="*/ 1094 h 2604"/>
                <a:gd name="T48" fmla="*/ 2022 w 2683"/>
                <a:gd name="T49" fmla="*/ 1377 h 2604"/>
                <a:gd name="T50" fmla="*/ 2031 w 2683"/>
                <a:gd name="T51" fmla="*/ 1538 h 2604"/>
                <a:gd name="T52" fmla="*/ 2031 w 2683"/>
                <a:gd name="T53" fmla="*/ 1969 h 2604"/>
                <a:gd name="T54" fmla="*/ 2200 w 2683"/>
                <a:gd name="T55" fmla="*/ 2587 h 2604"/>
                <a:gd name="T56" fmla="*/ 2683 w 2683"/>
                <a:gd name="T57" fmla="*/ 1597 h 2604"/>
                <a:gd name="T58" fmla="*/ 2559 w 2683"/>
                <a:gd name="T59" fmla="*/ 1018 h 2604"/>
                <a:gd name="T60" fmla="*/ 2439 w 2683"/>
                <a:gd name="T61" fmla="*/ 816 h 2604"/>
                <a:gd name="T62" fmla="*/ 2329 w 2683"/>
                <a:gd name="T63" fmla="*/ 680 h 2604"/>
                <a:gd name="T64" fmla="*/ 2291 w 2683"/>
                <a:gd name="T65" fmla="*/ 634 h 2604"/>
                <a:gd name="T66" fmla="*/ 1909 w 2683"/>
                <a:gd name="T67" fmla="*/ 363 h 2604"/>
                <a:gd name="T68" fmla="*/ 51 w 2683"/>
                <a:gd name="T69" fmla="*/ 1318 h 2604"/>
                <a:gd name="T70" fmla="*/ 34 w 2683"/>
                <a:gd name="T71" fmla="*/ 1429 h 2604"/>
                <a:gd name="T72" fmla="*/ 273 w 2683"/>
                <a:gd name="T73" fmla="*/ 2339 h 2604"/>
                <a:gd name="T74" fmla="*/ 359 w 2683"/>
                <a:gd name="T75" fmla="*/ 2447 h 2604"/>
                <a:gd name="T76" fmla="*/ 532 w 2683"/>
                <a:gd name="T77" fmla="*/ 2604 h 2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83" h="2604">
                  <a:moveTo>
                    <a:pt x="532" y="2604"/>
                  </a:moveTo>
                  <a:cubicBezTo>
                    <a:pt x="596" y="2558"/>
                    <a:pt x="692" y="2200"/>
                    <a:pt x="693" y="2071"/>
                  </a:cubicBezTo>
                  <a:cubicBezTo>
                    <a:pt x="696" y="1808"/>
                    <a:pt x="665" y="1336"/>
                    <a:pt x="775" y="1111"/>
                  </a:cubicBezTo>
                  <a:cubicBezTo>
                    <a:pt x="824" y="1010"/>
                    <a:pt x="891" y="987"/>
                    <a:pt x="945" y="935"/>
                  </a:cubicBezTo>
                  <a:cubicBezTo>
                    <a:pt x="1017" y="866"/>
                    <a:pt x="924" y="808"/>
                    <a:pt x="1062" y="704"/>
                  </a:cubicBezTo>
                  <a:cubicBezTo>
                    <a:pt x="1131" y="652"/>
                    <a:pt x="1203" y="606"/>
                    <a:pt x="1320" y="606"/>
                  </a:cubicBezTo>
                  <a:lnTo>
                    <a:pt x="1320" y="589"/>
                  </a:lnTo>
                  <a:cubicBezTo>
                    <a:pt x="1241" y="571"/>
                    <a:pt x="1192" y="564"/>
                    <a:pt x="1131" y="523"/>
                  </a:cubicBezTo>
                  <a:cubicBezTo>
                    <a:pt x="1049" y="468"/>
                    <a:pt x="1015" y="428"/>
                    <a:pt x="1015" y="344"/>
                  </a:cubicBezTo>
                  <a:cubicBezTo>
                    <a:pt x="1144" y="344"/>
                    <a:pt x="1115" y="513"/>
                    <a:pt x="1286" y="513"/>
                  </a:cubicBezTo>
                  <a:cubicBezTo>
                    <a:pt x="1324" y="513"/>
                    <a:pt x="1310" y="452"/>
                    <a:pt x="1316" y="408"/>
                  </a:cubicBezTo>
                  <a:cubicBezTo>
                    <a:pt x="1323" y="363"/>
                    <a:pt x="1320" y="314"/>
                    <a:pt x="1320" y="268"/>
                  </a:cubicBezTo>
                  <a:cubicBezTo>
                    <a:pt x="1353" y="265"/>
                    <a:pt x="1340" y="259"/>
                    <a:pt x="1362" y="259"/>
                  </a:cubicBezTo>
                  <a:cubicBezTo>
                    <a:pt x="1378" y="259"/>
                    <a:pt x="1389" y="271"/>
                    <a:pt x="1413" y="276"/>
                  </a:cubicBezTo>
                  <a:cubicBezTo>
                    <a:pt x="1413" y="336"/>
                    <a:pt x="1415" y="382"/>
                    <a:pt x="1420" y="430"/>
                  </a:cubicBezTo>
                  <a:cubicBezTo>
                    <a:pt x="1428" y="513"/>
                    <a:pt x="1410" y="526"/>
                    <a:pt x="1490" y="498"/>
                  </a:cubicBezTo>
                  <a:cubicBezTo>
                    <a:pt x="1608" y="456"/>
                    <a:pt x="1641" y="344"/>
                    <a:pt x="1675" y="344"/>
                  </a:cubicBezTo>
                  <a:cubicBezTo>
                    <a:pt x="1698" y="344"/>
                    <a:pt x="1699" y="348"/>
                    <a:pt x="1717" y="352"/>
                  </a:cubicBezTo>
                  <a:cubicBezTo>
                    <a:pt x="1733" y="417"/>
                    <a:pt x="1694" y="444"/>
                    <a:pt x="1631" y="503"/>
                  </a:cubicBezTo>
                  <a:cubicBezTo>
                    <a:pt x="1568" y="562"/>
                    <a:pt x="1544" y="551"/>
                    <a:pt x="1500" y="558"/>
                  </a:cubicBezTo>
                  <a:cubicBezTo>
                    <a:pt x="1483" y="560"/>
                    <a:pt x="1467" y="568"/>
                    <a:pt x="1447" y="572"/>
                  </a:cubicBezTo>
                  <a:cubicBezTo>
                    <a:pt x="1482" y="621"/>
                    <a:pt x="1689" y="653"/>
                    <a:pt x="1734" y="793"/>
                  </a:cubicBezTo>
                  <a:cubicBezTo>
                    <a:pt x="1750" y="846"/>
                    <a:pt x="1747" y="883"/>
                    <a:pt x="1788" y="916"/>
                  </a:cubicBezTo>
                  <a:cubicBezTo>
                    <a:pt x="1855" y="969"/>
                    <a:pt x="1897" y="974"/>
                    <a:pt x="1958" y="1094"/>
                  </a:cubicBezTo>
                  <a:cubicBezTo>
                    <a:pt x="1999" y="1177"/>
                    <a:pt x="2023" y="1255"/>
                    <a:pt x="2022" y="1377"/>
                  </a:cubicBezTo>
                  <a:cubicBezTo>
                    <a:pt x="2022" y="1434"/>
                    <a:pt x="2031" y="1471"/>
                    <a:pt x="2031" y="1538"/>
                  </a:cubicBezTo>
                  <a:lnTo>
                    <a:pt x="2031" y="1969"/>
                  </a:lnTo>
                  <a:cubicBezTo>
                    <a:pt x="2040" y="2142"/>
                    <a:pt x="2064" y="2496"/>
                    <a:pt x="2200" y="2587"/>
                  </a:cubicBezTo>
                  <a:cubicBezTo>
                    <a:pt x="2428" y="2435"/>
                    <a:pt x="2683" y="1983"/>
                    <a:pt x="2683" y="1597"/>
                  </a:cubicBezTo>
                  <a:cubicBezTo>
                    <a:pt x="2683" y="1366"/>
                    <a:pt x="2642" y="1192"/>
                    <a:pt x="2559" y="1018"/>
                  </a:cubicBezTo>
                  <a:cubicBezTo>
                    <a:pt x="2523" y="943"/>
                    <a:pt x="2483" y="882"/>
                    <a:pt x="2439" y="816"/>
                  </a:cubicBezTo>
                  <a:lnTo>
                    <a:pt x="2329" y="680"/>
                  </a:lnTo>
                  <a:cubicBezTo>
                    <a:pt x="2311" y="661"/>
                    <a:pt x="2309" y="653"/>
                    <a:pt x="2291" y="634"/>
                  </a:cubicBezTo>
                  <a:cubicBezTo>
                    <a:pt x="2202" y="536"/>
                    <a:pt x="2028" y="419"/>
                    <a:pt x="1909" y="363"/>
                  </a:cubicBezTo>
                  <a:cubicBezTo>
                    <a:pt x="1129" y="0"/>
                    <a:pt x="199" y="480"/>
                    <a:pt x="51" y="1318"/>
                  </a:cubicBezTo>
                  <a:cubicBezTo>
                    <a:pt x="44" y="1353"/>
                    <a:pt x="37" y="1398"/>
                    <a:pt x="34" y="1429"/>
                  </a:cubicBezTo>
                  <a:cubicBezTo>
                    <a:pt x="0" y="1758"/>
                    <a:pt x="90" y="2062"/>
                    <a:pt x="273" y="2339"/>
                  </a:cubicBezTo>
                  <a:cubicBezTo>
                    <a:pt x="309" y="2393"/>
                    <a:pt x="328" y="2407"/>
                    <a:pt x="359" y="2447"/>
                  </a:cubicBezTo>
                  <a:cubicBezTo>
                    <a:pt x="401" y="2501"/>
                    <a:pt x="474" y="2574"/>
                    <a:pt x="532" y="26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8" name="Freeform 13"/>
            <p:cNvSpPr>
              <a:spLocks noEditPoints="1"/>
            </p:cNvSpPr>
            <p:nvPr/>
          </p:nvSpPr>
          <p:spPr bwMode="auto">
            <a:xfrm>
              <a:off x="4208463" y="1784351"/>
              <a:ext cx="668338" cy="698500"/>
            </a:xfrm>
            <a:custGeom>
              <a:avLst/>
              <a:gdLst>
                <a:gd name="T0" fmla="*/ 1575 w 2879"/>
                <a:gd name="T1" fmla="*/ 2823 h 2992"/>
                <a:gd name="T2" fmla="*/ 1761 w 2879"/>
                <a:gd name="T3" fmla="*/ 2882 h 2992"/>
                <a:gd name="T4" fmla="*/ 1321 w 2879"/>
                <a:gd name="T5" fmla="*/ 2857 h 2992"/>
                <a:gd name="T6" fmla="*/ 1355 w 2879"/>
                <a:gd name="T7" fmla="*/ 2848 h 2992"/>
                <a:gd name="T8" fmla="*/ 1524 w 2879"/>
                <a:gd name="T9" fmla="*/ 2798 h 2992"/>
                <a:gd name="T10" fmla="*/ 1363 w 2879"/>
                <a:gd name="T11" fmla="*/ 2798 h 2992"/>
                <a:gd name="T12" fmla="*/ 1316 w 2879"/>
                <a:gd name="T13" fmla="*/ 2911 h 2992"/>
                <a:gd name="T14" fmla="*/ 1160 w 2879"/>
                <a:gd name="T15" fmla="*/ 2772 h 2992"/>
                <a:gd name="T16" fmla="*/ 1084 w 2879"/>
                <a:gd name="T17" fmla="*/ 2874 h 2992"/>
                <a:gd name="T18" fmla="*/ 1143 w 2879"/>
                <a:gd name="T19" fmla="*/ 2755 h 2992"/>
                <a:gd name="T20" fmla="*/ 1084 w 2879"/>
                <a:gd name="T21" fmla="*/ 2874 h 2992"/>
                <a:gd name="T22" fmla="*/ 1599 w 2879"/>
                <a:gd name="T23" fmla="*/ 2806 h 2992"/>
                <a:gd name="T24" fmla="*/ 1837 w 2879"/>
                <a:gd name="T25" fmla="*/ 2730 h 2992"/>
                <a:gd name="T26" fmla="*/ 1803 w 2879"/>
                <a:gd name="T27" fmla="*/ 2815 h 2992"/>
                <a:gd name="T28" fmla="*/ 1710 w 2879"/>
                <a:gd name="T29" fmla="*/ 2815 h 2992"/>
                <a:gd name="T30" fmla="*/ 1427 w 2879"/>
                <a:gd name="T31" fmla="*/ 2339 h 2992"/>
                <a:gd name="T32" fmla="*/ 1311 w 2879"/>
                <a:gd name="T33" fmla="*/ 1892 h 2992"/>
                <a:gd name="T34" fmla="*/ 1346 w 2879"/>
                <a:gd name="T35" fmla="*/ 1665 h 2992"/>
                <a:gd name="T36" fmla="*/ 1457 w 2879"/>
                <a:gd name="T37" fmla="*/ 1886 h 2992"/>
                <a:gd name="T38" fmla="*/ 1511 w 2879"/>
                <a:gd name="T39" fmla="*/ 2100 h 2992"/>
                <a:gd name="T40" fmla="*/ 1627 w 2879"/>
                <a:gd name="T41" fmla="*/ 2196 h 2992"/>
                <a:gd name="T42" fmla="*/ 1479 w 2879"/>
                <a:gd name="T43" fmla="*/ 2701 h 2992"/>
                <a:gd name="T44" fmla="*/ 1353 w 2879"/>
                <a:gd name="T45" fmla="*/ 2165 h 2992"/>
                <a:gd name="T46" fmla="*/ 965 w 2879"/>
                <a:gd name="T47" fmla="*/ 2696 h 2992"/>
                <a:gd name="T48" fmla="*/ 329 w 2879"/>
                <a:gd name="T49" fmla="*/ 2283 h 2992"/>
                <a:gd name="T50" fmla="*/ 442 w 2879"/>
                <a:gd name="T51" fmla="*/ 514 h 2992"/>
                <a:gd name="T52" fmla="*/ 2390 w 2879"/>
                <a:gd name="T53" fmla="*/ 467 h 2992"/>
                <a:gd name="T54" fmla="*/ 2537 w 2879"/>
                <a:gd name="T55" fmla="*/ 2304 h 2992"/>
                <a:gd name="T56" fmla="*/ 1914 w 2879"/>
                <a:gd name="T57" fmla="*/ 2696 h 2992"/>
                <a:gd name="T58" fmla="*/ 2068 w 2879"/>
                <a:gd name="T59" fmla="*/ 2270 h 2992"/>
                <a:gd name="T60" fmla="*/ 1812 w 2879"/>
                <a:gd name="T61" fmla="*/ 1308 h 2992"/>
                <a:gd name="T62" fmla="*/ 1679 w 2879"/>
                <a:gd name="T63" fmla="*/ 1601 h 2992"/>
                <a:gd name="T64" fmla="*/ 1770 w 2879"/>
                <a:gd name="T65" fmla="*/ 2095 h 2992"/>
                <a:gd name="T66" fmla="*/ 1685 w 2879"/>
                <a:gd name="T67" fmla="*/ 2493 h 2992"/>
                <a:gd name="T68" fmla="*/ 1383 w 2879"/>
                <a:gd name="T69" fmla="*/ 1607 h 2992"/>
                <a:gd name="T70" fmla="*/ 1228 w 2879"/>
                <a:gd name="T71" fmla="*/ 2442 h 2992"/>
                <a:gd name="T72" fmla="*/ 1135 w 2879"/>
                <a:gd name="T73" fmla="*/ 1849 h 2992"/>
                <a:gd name="T74" fmla="*/ 958 w 2879"/>
                <a:gd name="T75" fmla="*/ 1385 h 2992"/>
                <a:gd name="T76" fmla="*/ 677 w 2879"/>
                <a:gd name="T77" fmla="*/ 2535 h 2992"/>
                <a:gd name="T78" fmla="*/ 914 w 2879"/>
                <a:gd name="T79" fmla="*/ 2806 h 2992"/>
                <a:gd name="T80" fmla="*/ 1934 w 2879"/>
                <a:gd name="T81" fmla="*/ 2911 h 2992"/>
                <a:gd name="T82" fmla="*/ 2320 w 2879"/>
                <a:gd name="T83" fmla="*/ 2603 h 2992"/>
                <a:gd name="T84" fmla="*/ 2523 w 2879"/>
                <a:gd name="T85" fmla="*/ 520 h 2992"/>
                <a:gd name="T86" fmla="*/ 1516 w 2879"/>
                <a:gd name="T87" fmla="*/ 29 h 2992"/>
                <a:gd name="T88" fmla="*/ 408 w 2879"/>
                <a:gd name="T89" fmla="*/ 463 h 2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9" h="2992">
                  <a:moveTo>
                    <a:pt x="1549" y="2908"/>
                  </a:moveTo>
                  <a:lnTo>
                    <a:pt x="1549" y="2823"/>
                  </a:lnTo>
                  <a:lnTo>
                    <a:pt x="1575" y="2823"/>
                  </a:lnTo>
                  <a:cubicBezTo>
                    <a:pt x="1577" y="2850"/>
                    <a:pt x="1583" y="2853"/>
                    <a:pt x="1583" y="2882"/>
                  </a:cubicBezTo>
                  <a:cubicBezTo>
                    <a:pt x="1583" y="2908"/>
                    <a:pt x="1573" y="2905"/>
                    <a:pt x="1549" y="2908"/>
                  </a:cubicBezTo>
                  <a:close/>
                  <a:moveTo>
                    <a:pt x="1761" y="2882"/>
                  </a:moveTo>
                  <a:cubicBezTo>
                    <a:pt x="1750" y="2860"/>
                    <a:pt x="1753" y="2873"/>
                    <a:pt x="1753" y="2840"/>
                  </a:cubicBezTo>
                  <a:cubicBezTo>
                    <a:pt x="1813" y="2845"/>
                    <a:pt x="1781" y="2880"/>
                    <a:pt x="1761" y="2882"/>
                  </a:cubicBezTo>
                  <a:close/>
                  <a:moveTo>
                    <a:pt x="1321" y="2857"/>
                  </a:moveTo>
                  <a:lnTo>
                    <a:pt x="1321" y="2806"/>
                  </a:lnTo>
                  <a:lnTo>
                    <a:pt x="1346" y="2806"/>
                  </a:lnTo>
                  <a:cubicBezTo>
                    <a:pt x="1348" y="2829"/>
                    <a:pt x="1350" y="2829"/>
                    <a:pt x="1355" y="2848"/>
                  </a:cubicBezTo>
                  <a:cubicBezTo>
                    <a:pt x="1341" y="2850"/>
                    <a:pt x="1328" y="2848"/>
                    <a:pt x="1321" y="2857"/>
                  </a:cubicBezTo>
                  <a:close/>
                  <a:moveTo>
                    <a:pt x="1363" y="2798"/>
                  </a:moveTo>
                  <a:lnTo>
                    <a:pt x="1524" y="2798"/>
                  </a:lnTo>
                  <a:cubicBezTo>
                    <a:pt x="1504" y="2840"/>
                    <a:pt x="1521" y="2884"/>
                    <a:pt x="1524" y="2925"/>
                  </a:cubicBezTo>
                  <a:lnTo>
                    <a:pt x="1338" y="2925"/>
                  </a:lnTo>
                  <a:cubicBezTo>
                    <a:pt x="1376" y="2868"/>
                    <a:pt x="1399" y="2865"/>
                    <a:pt x="1363" y="2798"/>
                  </a:cubicBezTo>
                  <a:close/>
                  <a:moveTo>
                    <a:pt x="1287" y="2874"/>
                  </a:moveTo>
                  <a:cubicBezTo>
                    <a:pt x="1307" y="2879"/>
                    <a:pt x="1312" y="2882"/>
                    <a:pt x="1338" y="2882"/>
                  </a:cubicBezTo>
                  <a:cubicBezTo>
                    <a:pt x="1331" y="2906"/>
                    <a:pt x="1340" y="2897"/>
                    <a:pt x="1316" y="2911"/>
                  </a:cubicBezTo>
                  <a:cubicBezTo>
                    <a:pt x="1275" y="2934"/>
                    <a:pt x="1165" y="2927"/>
                    <a:pt x="1143" y="2882"/>
                  </a:cubicBezTo>
                  <a:cubicBezTo>
                    <a:pt x="1135" y="2866"/>
                    <a:pt x="1139" y="2855"/>
                    <a:pt x="1145" y="2835"/>
                  </a:cubicBezTo>
                  <a:cubicBezTo>
                    <a:pt x="1153" y="2811"/>
                    <a:pt x="1158" y="2797"/>
                    <a:pt x="1160" y="2772"/>
                  </a:cubicBezTo>
                  <a:lnTo>
                    <a:pt x="1312" y="2783"/>
                  </a:lnTo>
                  <a:cubicBezTo>
                    <a:pt x="1289" y="2816"/>
                    <a:pt x="1287" y="2814"/>
                    <a:pt x="1287" y="2874"/>
                  </a:cubicBezTo>
                  <a:close/>
                  <a:moveTo>
                    <a:pt x="1084" y="2874"/>
                  </a:moveTo>
                  <a:cubicBezTo>
                    <a:pt x="1021" y="2874"/>
                    <a:pt x="1025" y="2869"/>
                    <a:pt x="974" y="2857"/>
                  </a:cubicBezTo>
                  <a:lnTo>
                    <a:pt x="1036" y="2731"/>
                  </a:lnTo>
                  <a:cubicBezTo>
                    <a:pt x="1070" y="2739"/>
                    <a:pt x="1099" y="2754"/>
                    <a:pt x="1143" y="2755"/>
                  </a:cubicBezTo>
                  <a:cubicBezTo>
                    <a:pt x="1125" y="2800"/>
                    <a:pt x="1149" y="2744"/>
                    <a:pt x="1122" y="2776"/>
                  </a:cubicBezTo>
                  <a:cubicBezTo>
                    <a:pt x="1104" y="2798"/>
                    <a:pt x="1114" y="2769"/>
                    <a:pt x="1116" y="2807"/>
                  </a:cubicBezTo>
                  <a:cubicBezTo>
                    <a:pt x="1118" y="2844"/>
                    <a:pt x="1120" y="2874"/>
                    <a:pt x="1084" y="2874"/>
                  </a:cubicBezTo>
                  <a:close/>
                  <a:moveTo>
                    <a:pt x="1736" y="2899"/>
                  </a:moveTo>
                  <a:cubicBezTo>
                    <a:pt x="1699" y="2908"/>
                    <a:pt x="1632" y="2924"/>
                    <a:pt x="1592" y="2925"/>
                  </a:cubicBezTo>
                  <a:cubicBezTo>
                    <a:pt x="1607" y="2859"/>
                    <a:pt x="1616" y="2924"/>
                    <a:pt x="1599" y="2806"/>
                  </a:cubicBezTo>
                  <a:cubicBezTo>
                    <a:pt x="1592" y="2802"/>
                    <a:pt x="1584" y="2800"/>
                    <a:pt x="1581" y="2800"/>
                  </a:cubicBezTo>
                  <a:lnTo>
                    <a:pt x="1558" y="2789"/>
                  </a:lnTo>
                  <a:cubicBezTo>
                    <a:pt x="1664" y="2765"/>
                    <a:pt x="1744" y="2775"/>
                    <a:pt x="1837" y="2730"/>
                  </a:cubicBezTo>
                  <a:lnTo>
                    <a:pt x="1888" y="2857"/>
                  </a:lnTo>
                  <a:cubicBezTo>
                    <a:pt x="1864" y="2869"/>
                    <a:pt x="1833" y="2876"/>
                    <a:pt x="1803" y="2882"/>
                  </a:cubicBezTo>
                  <a:lnTo>
                    <a:pt x="1803" y="2815"/>
                  </a:lnTo>
                  <a:cubicBezTo>
                    <a:pt x="1759" y="2811"/>
                    <a:pt x="1788" y="2804"/>
                    <a:pt x="1744" y="2815"/>
                  </a:cubicBezTo>
                  <a:cubicBezTo>
                    <a:pt x="1756" y="2797"/>
                    <a:pt x="1767" y="2781"/>
                    <a:pt x="1778" y="2764"/>
                  </a:cubicBezTo>
                  <a:cubicBezTo>
                    <a:pt x="1738" y="2773"/>
                    <a:pt x="1722" y="2778"/>
                    <a:pt x="1710" y="2815"/>
                  </a:cubicBezTo>
                  <a:cubicBezTo>
                    <a:pt x="1701" y="2846"/>
                    <a:pt x="1719" y="2868"/>
                    <a:pt x="1736" y="2899"/>
                  </a:cubicBezTo>
                  <a:close/>
                  <a:moveTo>
                    <a:pt x="1353" y="2165"/>
                  </a:moveTo>
                  <a:cubicBezTo>
                    <a:pt x="1390" y="2221"/>
                    <a:pt x="1360" y="2325"/>
                    <a:pt x="1427" y="2339"/>
                  </a:cubicBezTo>
                  <a:cubicBezTo>
                    <a:pt x="1434" y="2077"/>
                    <a:pt x="1373" y="2191"/>
                    <a:pt x="1342" y="2121"/>
                  </a:cubicBezTo>
                  <a:cubicBezTo>
                    <a:pt x="1327" y="2045"/>
                    <a:pt x="1349" y="2044"/>
                    <a:pt x="1358" y="1989"/>
                  </a:cubicBezTo>
                  <a:cubicBezTo>
                    <a:pt x="1365" y="1942"/>
                    <a:pt x="1321" y="1950"/>
                    <a:pt x="1311" y="1892"/>
                  </a:cubicBezTo>
                  <a:cubicBezTo>
                    <a:pt x="1357" y="1820"/>
                    <a:pt x="1435" y="1869"/>
                    <a:pt x="1428" y="1793"/>
                  </a:cubicBezTo>
                  <a:cubicBezTo>
                    <a:pt x="1395" y="1772"/>
                    <a:pt x="1337" y="1792"/>
                    <a:pt x="1316" y="1759"/>
                  </a:cubicBezTo>
                  <a:cubicBezTo>
                    <a:pt x="1296" y="1727"/>
                    <a:pt x="1329" y="1682"/>
                    <a:pt x="1346" y="1665"/>
                  </a:cubicBezTo>
                  <a:cubicBezTo>
                    <a:pt x="1395" y="1679"/>
                    <a:pt x="1376" y="1680"/>
                    <a:pt x="1400" y="1719"/>
                  </a:cubicBezTo>
                  <a:cubicBezTo>
                    <a:pt x="1515" y="1731"/>
                    <a:pt x="1523" y="1715"/>
                    <a:pt x="1625" y="1757"/>
                  </a:cubicBezTo>
                  <a:cubicBezTo>
                    <a:pt x="1634" y="1916"/>
                    <a:pt x="1547" y="1882"/>
                    <a:pt x="1457" y="1886"/>
                  </a:cubicBezTo>
                  <a:cubicBezTo>
                    <a:pt x="1427" y="1888"/>
                    <a:pt x="1405" y="1892"/>
                    <a:pt x="1385" y="1909"/>
                  </a:cubicBezTo>
                  <a:cubicBezTo>
                    <a:pt x="1409" y="1929"/>
                    <a:pt x="1409" y="1927"/>
                    <a:pt x="1448" y="1935"/>
                  </a:cubicBezTo>
                  <a:cubicBezTo>
                    <a:pt x="1533" y="1952"/>
                    <a:pt x="1492" y="2005"/>
                    <a:pt x="1511" y="2100"/>
                  </a:cubicBezTo>
                  <a:cubicBezTo>
                    <a:pt x="1550" y="2041"/>
                    <a:pt x="1523" y="1991"/>
                    <a:pt x="1577" y="1967"/>
                  </a:cubicBezTo>
                  <a:cubicBezTo>
                    <a:pt x="1610" y="2042"/>
                    <a:pt x="1601" y="2076"/>
                    <a:pt x="1577" y="2149"/>
                  </a:cubicBezTo>
                  <a:cubicBezTo>
                    <a:pt x="1617" y="2174"/>
                    <a:pt x="1618" y="2137"/>
                    <a:pt x="1627" y="2196"/>
                  </a:cubicBezTo>
                  <a:cubicBezTo>
                    <a:pt x="1638" y="2274"/>
                    <a:pt x="1612" y="2358"/>
                    <a:pt x="1557" y="2407"/>
                  </a:cubicBezTo>
                  <a:cubicBezTo>
                    <a:pt x="1497" y="2459"/>
                    <a:pt x="1503" y="2425"/>
                    <a:pt x="1502" y="2535"/>
                  </a:cubicBezTo>
                  <a:cubicBezTo>
                    <a:pt x="1502" y="2594"/>
                    <a:pt x="1503" y="2655"/>
                    <a:pt x="1479" y="2701"/>
                  </a:cubicBezTo>
                  <a:cubicBezTo>
                    <a:pt x="1383" y="2681"/>
                    <a:pt x="1423" y="2605"/>
                    <a:pt x="1425" y="2434"/>
                  </a:cubicBezTo>
                  <a:cubicBezTo>
                    <a:pt x="1366" y="2389"/>
                    <a:pt x="1294" y="2369"/>
                    <a:pt x="1302" y="2221"/>
                  </a:cubicBezTo>
                  <a:cubicBezTo>
                    <a:pt x="1305" y="2178"/>
                    <a:pt x="1313" y="2169"/>
                    <a:pt x="1353" y="2165"/>
                  </a:cubicBezTo>
                  <a:close/>
                  <a:moveTo>
                    <a:pt x="677" y="2535"/>
                  </a:moveTo>
                  <a:cubicBezTo>
                    <a:pt x="685" y="2563"/>
                    <a:pt x="678" y="2547"/>
                    <a:pt x="699" y="2565"/>
                  </a:cubicBezTo>
                  <a:cubicBezTo>
                    <a:pt x="752" y="2611"/>
                    <a:pt x="903" y="2695"/>
                    <a:pt x="965" y="2696"/>
                  </a:cubicBezTo>
                  <a:cubicBezTo>
                    <a:pt x="959" y="2722"/>
                    <a:pt x="954" y="2721"/>
                    <a:pt x="948" y="2747"/>
                  </a:cubicBezTo>
                  <a:cubicBezTo>
                    <a:pt x="896" y="2746"/>
                    <a:pt x="791" y="2693"/>
                    <a:pt x="755" y="2669"/>
                  </a:cubicBezTo>
                  <a:cubicBezTo>
                    <a:pt x="589" y="2561"/>
                    <a:pt x="451" y="2449"/>
                    <a:pt x="329" y="2283"/>
                  </a:cubicBezTo>
                  <a:cubicBezTo>
                    <a:pt x="91" y="1958"/>
                    <a:pt x="5" y="1570"/>
                    <a:pt x="97" y="1150"/>
                  </a:cubicBezTo>
                  <a:cubicBezTo>
                    <a:pt x="143" y="940"/>
                    <a:pt x="268" y="687"/>
                    <a:pt x="421" y="535"/>
                  </a:cubicBezTo>
                  <a:cubicBezTo>
                    <a:pt x="430" y="526"/>
                    <a:pt x="434" y="523"/>
                    <a:pt x="442" y="514"/>
                  </a:cubicBezTo>
                  <a:cubicBezTo>
                    <a:pt x="504" y="446"/>
                    <a:pt x="576" y="385"/>
                    <a:pt x="652" y="334"/>
                  </a:cubicBezTo>
                  <a:cubicBezTo>
                    <a:pt x="1121" y="23"/>
                    <a:pt x="1735" y="0"/>
                    <a:pt x="2203" y="315"/>
                  </a:cubicBezTo>
                  <a:lnTo>
                    <a:pt x="2390" y="467"/>
                  </a:lnTo>
                  <a:cubicBezTo>
                    <a:pt x="2613" y="693"/>
                    <a:pt x="2811" y="1034"/>
                    <a:pt x="2811" y="1375"/>
                  </a:cubicBezTo>
                  <a:lnTo>
                    <a:pt x="2811" y="1528"/>
                  </a:lnTo>
                  <a:cubicBezTo>
                    <a:pt x="2811" y="1813"/>
                    <a:pt x="2667" y="2145"/>
                    <a:pt x="2537" y="2304"/>
                  </a:cubicBezTo>
                  <a:cubicBezTo>
                    <a:pt x="2493" y="2358"/>
                    <a:pt x="2460" y="2391"/>
                    <a:pt x="2411" y="2440"/>
                  </a:cubicBezTo>
                  <a:cubicBezTo>
                    <a:pt x="2306" y="2545"/>
                    <a:pt x="2055" y="2744"/>
                    <a:pt x="1922" y="2747"/>
                  </a:cubicBezTo>
                  <a:cubicBezTo>
                    <a:pt x="1917" y="2727"/>
                    <a:pt x="1914" y="2722"/>
                    <a:pt x="1914" y="2696"/>
                  </a:cubicBezTo>
                  <a:cubicBezTo>
                    <a:pt x="1995" y="2694"/>
                    <a:pt x="2114" y="2602"/>
                    <a:pt x="2176" y="2569"/>
                  </a:cubicBezTo>
                  <a:cubicBezTo>
                    <a:pt x="2169" y="2539"/>
                    <a:pt x="2155" y="2526"/>
                    <a:pt x="2142" y="2501"/>
                  </a:cubicBezTo>
                  <a:cubicBezTo>
                    <a:pt x="2102" y="2424"/>
                    <a:pt x="2080" y="2361"/>
                    <a:pt x="2068" y="2270"/>
                  </a:cubicBezTo>
                  <a:cubicBezTo>
                    <a:pt x="2051" y="2134"/>
                    <a:pt x="2024" y="1600"/>
                    <a:pt x="2024" y="1502"/>
                  </a:cubicBezTo>
                  <a:cubicBezTo>
                    <a:pt x="2024" y="1424"/>
                    <a:pt x="1992" y="1413"/>
                    <a:pt x="1945" y="1378"/>
                  </a:cubicBezTo>
                  <a:cubicBezTo>
                    <a:pt x="1914" y="1354"/>
                    <a:pt x="1853" y="1317"/>
                    <a:pt x="1812" y="1308"/>
                  </a:cubicBezTo>
                  <a:cubicBezTo>
                    <a:pt x="1769" y="1389"/>
                    <a:pt x="1656" y="1489"/>
                    <a:pt x="1575" y="1511"/>
                  </a:cubicBezTo>
                  <a:cubicBezTo>
                    <a:pt x="1583" y="1540"/>
                    <a:pt x="1596" y="1544"/>
                    <a:pt x="1621" y="1558"/>
                  </a:cubicBezTo>
                  <a:cubicBezTo>
                    <a:pt x="1654" y="1577"/>
                    <a:pt x="1652" y="1575"/>
                    <a:pt x="1679" y="1601"/>
                  </a:cubicBezTo>
                  <a:cubicBezTo>
                    <a:pt x="1722" y="1645"/>
                    <a:pt x="1728" y="1668"/>
                    <a:pt x="1742" y="1733"/>
                  </a:cubicBezTo>
                  <a:cubicBezTo>
                    <a:pt x="1753" y="1781"/>
                    <a:pt x="1762" y="1854"/>
                    <a:pt x="1761" y="1908"/>
                  </a:cubicBezTo>
                  <a:cubicBezTo>
                    <a:pt x="1761" y="1979"/>
                    <a:pt x="1770" y="2024"/>
                    <a:pt x="1770" y="2095"/>
                  </a:cubicBezTo>
                  <a:cubicBezTo>
                    <a:pt x="1770" y="2175"/>
                    <a:pt x="1761" y="2221"/>
                    <a:pt x="1761" y="2298"/>
                  </a:cubicBezTo>
                  <a:cubicBezTo>
                    <a:pt x="1762" y="2375"/>
                    <a:pt x="1746" y="2429"/>
                    <a:pt x="1744" y="2493"/>
                  </a:cubicBezTo>
                  <a:lnTo>
                    <a:pt x="1685" y="2493"/>
                  </a:lnTo>
                  <a:cubicBezTo>
                    <a:pt x="1681" y="2447"/>
                    <a:pt x="1668" y="2400"/>
                    <a:pt x="1668" y="2349"/>
                  </a:cubicBezTo>
                  <a:cubicBezTo>
                    <a:pt x="1668" y="2091"/>
                    <a:pt x="1708" y="1881"/>
                    <a:pt x="1609" y="1688"/>
                  </a:cubicBezTo>
                  <a:cubicBezTo>
                    <a:pt x="1566" y="1604"/>
                    <a:pt x="1470" y="1541"/>
                    <a:pt x="1383" y="1607"/>
                  </a:cubicBezTo>
                  <a:cubicBezTo>
                    <a:pt x="1200" y="1748"/>
                    <a:pt x="1245" y="1884"/>
                    <a:pt x="1223" y="2031"/>
                  </a:cubicBezTo>
                  <a:cubicBezTo>
                    <a:pt x="1217" y="2072"/>
                    <a:pt x="1218" y="2102"/>
                    <a:pt x="1224" y="2141"/>
                  </a:cubicBezTo>
                  <a:lnTo>
                    <a:pt x="1228" y="2442"/>
                  </a:lnTo>
                  <a:cubicBezTo>
                    <a:pt x="1228" y="2487"/>
                    <a:pt x="1205" y="2500"/>
                    <a:pt x="1160" y="2501"/>
                  </a:cubicBezTo>
                  <a:cubicBezTo>
                    <a:pt x="1159" y="2465"/>
                    <a:pt x="1152" y="2467"/>
                    <a:pt x="1151" y="2425"/>
                  </a:cubicBezTo>
                  <a:lnTo>
                    <a:pt x="1135" y="1849"/>
                  </a:lnTo>
                  <a:cubicBezTo>
                    <a:pt x="1135" y="1673"/>
                    <a:pt x="1215" y="1607"/>
                    <a:pt x="1321" y="1536"/>
                  </a:cubicBezTo>
                  <a:cubicBezTo>
                    <a:pt x="1259" y="1444"/>
                    <a:pt x="1243" y="1545"/>
                    <a:pt x="1084" y="1308"/>
                  </a:cubicBezTo>
                  <a:cubicBezTo>
                    <a:pt x="1032" y="1335"/>
                    <a:pt x="1004" y="1350"/>
                    <a:pt x="958" y="1385"/>
                  </a:cubicBezTo>
                  <a:cubicBezTo>
                    <a:pt x="891" y="1434"/>
                    <a:pt x="881" y="1445"/>
                    <a:pt x="880" y="1511"/>
                  </a:cubicBezTo>
                  <a:cubicBezTo>
                    <a:pt x="878" y="1674"/>
                    <a:pt x="851" y="2123"/>
                    <a:pt x="824" y="2266"/>
                  </a:cubicBezTo>
                  <a:cubicBezTo>
                    <a:pt x="805" y="2361"/>
                    <a:pt x="772" y="2527"/>
                    <a:pt x="677" y="2535"/>
                  </a:cubicBezTo>
                  <a:close/>
                  <a:moveTo>
                    <a:pt x="0" y="1426"/>
                  </a:moveTo>
                  <a:cubicBezTo>
                    <a:pt x="0" y="1915"/>
                    <a:pt x="185" y="2298"/>
                    <a:pt x="549" y="2596"/>
                  </a:cubicBezTo>
                  <a:cubicBezTo>
                    <a:pt x="716" y="2732"/>
                    <a:pt x="761" y="2732"/>
                    <a:pt x="914" y="2806"/>
                  </a:cubicBezTo>
                  <a:cubicBezTo>
                    <a:pt x="902" y="2825"/>
                    <a:pt x="889" y="2842"/>
                    <a:pt x="889" y="2874"/>
                  </a:cubicBezTo>
                  <a:cubicBezTo>
                    <a:pt x="889" y="2941"/>
                    <a:pt x="1344" y="2992"/>
                    <a:pt x="1482" y="2992"/>
                  </a:cubicBezTo>
                  <a:cubicBezTo>
                    <a:pt x="1595" y="2992"/>
                    <a:pt x="1822" y="2950"/>
                    <a:pt x="1934" y="2911"/>
                  </a:cubicBezTo>
                  <a:cubicBezTo>
                    <a:pt x="1961" y="2902"/>
                    <a:pt x="1965" y="2897"/>
                    <a:pt x="1990" y="2891"/>
                  </a:cubicBezTo>
                  <a:cubicBezTo>
                    <a:pt x="1987" y="2857"/>
                    <a:pt x="1972" y="2841"/>
                    <a:pt x="1964" y="2806"/>
                  </a:cubicBezTo>
                  <a:cubicBezTo>
                    <a:pt x="2149" y="2709"/>
                    <a:pt x="2126" y="2751"/>
                    <a:pt x="2320" y="2603"/>
                  </a:cubicBezTo>
                  <a:cubicBezTo>
                    <a:pt x="2642" y="2357"/>
                    <a:pt x="2879" y="1923"/>
                    <a:pt x="2879" y="1477"/>
                  </a:cubicBezTo>
                  <a:cubicBezTo>
                    <a:pt x="2879" y="1164"/>
                    <a:pt x="2759" y="794"/>
                    <a:pt x="2563" y="565"/>
                  </a:cubicBezTo>
                  <a:cubicBezTo>
                    <a:pt x="2547" y="546"/>
                    <a:pt x="2538" y="540"/>
                    <a:pt x="2523" y="520"/>
                  </a:cubicBezTo>
                  <a:cubicBezTo>
                    <a:pt x="2507" y="499"/>
                    <a:pt x="2498" y="491"/>
                    <a:pt x="2479" y="471"/>
                  </a:cubicBezTo>
                  <a:cubicBezTo>
                    <a:pt x="2361" y="355"/>
                    <a:pt x="2228" y="254"/>
                    <a:pt x="2072" y="176"/>
                  </a:cubicBezTo>
                  <a:cubicBezTo>
                    <a:pt x="1922" y="101"/>
                    <a:pt x="1735" y="29"/>
                    <a:pt x="1516" y="29"/>
                  </a:cubicBezTo>
                  <a:cubicBezTo>
                    <a:pt x="1101" y="29"/>
                    <a:pt x="857" y="107"/>
                    <a:pt x="552" y="335"/>
                  </a:cubicBezTo>
                  <a:cubicBezTo>
                    <a:pt x="527" y="353"/>
                    <a:pt x="523" y="359"/>
                    <a:pt x="502" y="378"/>
                  </a:cubicBezTo>
                  <a:lnTo>
                    <a:pt x="408" y="463"/>
                  </a:lnTo>
                  <a:cubicBezTo>
                    <a:pt x="388" y="484"/>
                    <a:pt x="384" y="493"/>
                    <a:pt x="366" y="514"/>
                  </a:cubicBezTo>
                  <a:cubicBezTo>
                    <a:pt x="152" y="755"/>
                    <a:pt x="0" y="1086"/>
                    <a:pt x="0" y="14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39" name="Freeform 14"/>
            <p:cNvSpPr>
              <a:spLocks noEditPoints="1"/>
            </p:cNvSpPr>
            <p:nvPr/>
          </p:nvSpPr>
          <p:spPr bwMode="auto">
            <a:xfrm>
              <a:off x="4065588" y="1646238"/>
              <a:ext cx="969963" cy="958850"/>
            </a:xfrm>
            <a:custGeom>
              <a:avLst/>
              <a:gdLst>
                <a:gd name="T0" fmla="*/ 2152 w 4182"/>
                <a:gd name="T1" fmla="*/ 4022 h 4106"/>
                <a:gd name="T2" fmla="*/ 1282 w 4182"/>
                <a:gd name="T3" fmla="*/ 3867 h 4106"/>
                <a:gd name="T4" fmla="*/ 834 w 4182"/>
                <a:gd name="T5" fmla="*/ 3603 h 4106"/>
                <a:gd name="T6" fmla="*/ 773 w 4182"/>
                <a:gd name="T7" fmla="*/ 3546 h 4106"/>
                <a:gd name="T8" fmla="*/ 646 w 4182"/>
                <a:gd name="T9" fmla="*/ 3427 h 4106"/>
                <a:gd name="T10" fmla="*/ 382 w 4182"/>
                <a:gd name="T11" fmla="*/ 3098 h 4106"/>
                <a:gd name="T12" fmla="*/ 94 w 4182"/>
                <a:gd name="T13" fmla="*/ 2184 h 4106"/>
                <a:gd name="T14" fmla="*/ 280 w 4182"/>
                <a:gd name="T15" fmla="*/ 1211 h 4106"/>
                <a:gd name="T16" fmla="*/ 567 w 4182"/>
                <a:gd name="T17" fmla="*/ 769 h 4106"/>
                <a:gd name="T18" fmla="*/ 630 w 4182"/>
                <a:gd name="T19" fmla="*/ 713 h 4106"/>
                <a:gd name="T20" fmla="*/ 953 w 4182"/>
                <a:gd name="T21" fmla="*/ 427 h 4106"/>
                <a:gd name="T22" fmla="*/ 2075 w 4182"/>
                <a:gd name="T23" fmla="*/ 85 h 4106"/>
                <a:gd name="T24" fmla="*/ 2939 w 4182"/>
                <a:gd name="T25" fmla="*/ 288 h 4106"/>
                <a:gd name="T26" fmla="*/ 3360 w 4182"/>
                <a:gd name="T27" fmla="*/ 578 h 4106"/>
                <a:gd name="T28" fmla="*/ 3483 w 4182"/>
                <a:gd name="T29" fmla="*/ 700 h 4106"/>
                <a:gd name="T30" fmla="*/ 3647 w 4182"/>
                <a:gd name="T31" fmla="*/ 893 h 4106"/>
                <a:gd name="T32" fmla="*/ 4023 w 4182"/>
                <a:gd name="T33" fmla="*/ 1947 h 4106"/>
                <a:gd name="T34" fmla="*/ 3777 w 4182"/>
                <a:gd name="T35" fmla="*/ 3014 h 4106"/>
                <a:gd name="T36" fmla="*/ 3473 w 4182"/>
                <a:gd name="T37" fmla="*/ 3429 h 4106"/>
                <a:gd name="T38" fmla="*/ 3077 w 4182"/>
                <a:gd name="T39" fmla="*/ 3745 h 4106"/>
                <a:gd name="T40" fmla="*/ 2914 w 4182"/>
                <a:gd name="T41" fmla="*/ 3827 h 4106"/>
                <a:gd name="T42" fmla="*/ 2567 w 4182"/>
                <a:gd name="T43" fmla="*/ 3955 h 4106"/>
                <a:gd name="T44" fmla="*/ 2152 w 4182"/>
                <a:gd name="T45" fmla="*/ 4022 h 4106"/>
                <a:gd name="T46" fmla="*/ 9 w 4182"/>
                <a:gd name="T47" fmla="*/ 1880 h 4106"/>
                <a:gd name="T48" fmla="*/ 62 w 4182"/>
                <a:gd name="T49" fmla="*/ 2563 h 4106"/>
                <a:gd name="T50" fmla="*/ 122 w 4182"/>
                <a:gd name="T51" fmla="*/ 2749 h 4106"/>
                <a:gd name="T52" fmla="*/ 480 w 4182"/>
                <a:gd name="T53" fmla="*/ 3373 h 4106"/>
                <a:gd name="T54" fmla="*/ 730 w 4182"/>
                <a:gd name="T55" fmla="*/ 3623 h 4106"/>
                <a:gd name="T56" fmla="*/ 868 w 4182"/>
                <a:gd name="T57" fmla="*/ 3730 h 4106"/>
                <a:gd name="T58" fmla="*/ 939 w 4182"/>
                <a:gd name="T59" fmla="*/ 3778 h 4106"/>
                <a:gd name="T60" fmla="*/ 1017 w 4182"/>
                <a:gd name="T61" fmla="*/ 3827 h 4106"/>
                <a:gd name="T62" fmla="*/ 1982 w 4182"/>
                <a:gd name="T63" fmla="*/ 4106 h 4106"/>
                <a:gd name="T64" fmla="*/ 2935 w 4182"/>
                <a:gd name="T65" fmla="*/ 3917 h 4106"/>
                <a:gd name="T66" fmla="*/ 3094 w 4182"/>
                <a:gd name="T67" fmla="*/ 3830 h 4106"/>
                <a:gd name="T68" fmla="*/ 3243 w 4182"/>
                <a:gd name="T69" fmla="*/ 3733 h 4106"/>
                <a:gd name="T70" fmla="*/ 3379 w 4182"/>
                <a:gd name="T71" fmla="*/ 3624 h 4106"/>
                <a:gd name="T72" fmla="*/ 3445 w 4182"/>
                <a:gd name="T73" fmla="*/ 3571 h 4106"/>
                <a:gd name="T74" fmla="*/ 3624 w 4182"/>
                <a:gd name="T75" fmla="*/ 3377 h 4106"/>
                <a:gd name="T76" fmla="*/ 3915 w 4182"/>
                <a:gd name="T77" fmla="*/ 2932 h 4106"/>
                <a:gd name="T78" fmla="*/ 3944 w 4182"/>
                <a:gd name="T79" fmla="*/ 1247 h 4106"/>
                <a:gd name="T80" fmla="*/ 3813 w 4182"/>
                <a:gd name="T81" fmla="*/ 1006 h 4106"/>
                <a:gd name="T82" fmla="*/ 3718 w 4182"/>
                <a:gd name="T83" fmla="*/ 847 h 4106"/>
                <a:gd name="T84" fmla="*/ 3470 w 4182"/>
                <a:gd name="T85" fmla="*/ 595 h 4106"/>
                <a:gd name="T86" fmla="*/ 3139 w 4182"/>
                <a:gd name="T87" fmla="*/ 308 h 4106"/>
                <a:gd name="T88" fmla="*/ 2067 w 4182"/>
                <a:gd name="T89" fmla="*/ 0 h 4106"/>
                <a:gd name="T90" fmla="*/ 787 w 4182"/>
                <a:gd name="T91" fmla="*/ 439 h 4106"/>
                <a:gd name="T92" fmla="*/ 89 w 4182"/>
                <a:gd name="T93" fmla="*/ 1459 h 4106"/>
                <a:gd name="T94" fmla="*/ 9 w 4182"/>
                <a:gd name="T95" fmla="*/ 1880 h 4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82" h="4106">
                  <a:moveTo>
                    <a:pt x="2152" y="4022"/>
                  </a:moveTo>
                  <a:cubicBezTo>
                    <a:pt x="1818" y="4022"/>
                    <a:pt x="1527" y="3989"/>
                    <a:pt x="1282" y="3867"/>
                  </a:cubicBezTo>
                  <a:cubicBezTo>
                    <a:pt x="1123" y="3787"/>
                    <a:pt x="973" y="3712"/>
                    <a:pt x="834" y="3603"/>
                  </a:cubicBezTo>
                  <a:cubicBezTo>
                    <a:pt x="808" y="3583"/>
                    <a:pt x="797" y="3565"/>
                    <a:pt x="773" y="3546"/>
                  </a:cubicBezTo>
                  <a:cubicBezTo>
                    <a:pt x="711" y="3497"/>
                    <a:pt x="693" y="3468"/>
                    <a:pt x="646" y="3427"/>
                  </a:cubicBezTo>
                  <a:cubicBezTo>
                    <a:pt x="560" y="3351"/>
                    <a:pt x="442" y="3197"/>
                    <a:pt x="382" y="3098"/>
                  </a:cubicBezTo>
                  <a:cubicBezTo>
                    <a:pt x="250" y="2879"/>
                    <a:pt x="94" y="2473"/>
                    <a:pt x="94" y="2184"/>
                  </a:cubicBezTo>
                  <a:cubicBezTo>
                    <a:pt x="94" y="1799"/>
                    <a:pt x="106" y="1560"/>
                    <a:pt x="280" y="1211"/>
                  </a:cubicBezTo>
                  <a:cubicBezTo>
                    <a:pt x="334" y="1105"/>
                    <a:pt x="478" y="840"/>
                    <a:pt x="567" y="769"/>
                  </a:cubicBezTo>
                  <a:cubicBezTo>
                    <a:pt x="595" y="747"/>
                    <a:pt x="604" y="739"/>
                    <a:pt x="630" y="713"/>
                  </a:cubicBezTo>
                  <a:lnTo>
                    <a:pt x="953" y="427"/>
                  </a:lnTo>
                  <a:cubicBezTo>
                    <a:pt x="1277" y="213"/>
                    <a:pt x="1674" y="85"/>
                    <a:pt x="2075" y="85"/>
                  </a:cubicBezTo>
                  <a:cubicBezTo>
                    <a:pt x="2385" y="85"/>
                    <a:pt x="2717" y="174"/>
                    <a:pt x="2939" y="288"/>
                  </a:cubicBezTo>
                  <a:lnTo>
                    <a:pt x="3360" y="578"/>
                  </a:lnTo>
                  <a:cubicBezTo>
                    <a:pt x="3430" y="647"/>
                    <a:pt x="3408" y="610"/>
                    <a:pt x="3483" y="700"/>
                  </a:cubicBezTo>
                  <a:cubicBezTo>
                    <a:pt x="3541" y="769"/>
                    <a:pt x="3569" y="789"/>
                    <a:pt x="3647" y="893"/>
                  </a:cubicBezTo>
                  <a:cubicBezTo>
                    <a:pt x="3850" y="1164"/>
                    <a:pt x="4023" y="1591"/>
                    <a:pt x="4023" y="1947"/>
                  </a:cubicBezTo>
                  <a:cubicBezTo>
                    <a:pt x="4023" y="2470"/>
                    <a:pt x="3975" y="2614"/>
                    <a:pt x="3777" y="3014"/>
                  </a:cubicBezTo>
                  <a:cubicBezTo>
                    <a:pt x="3733" y="3103"/>
                    <a:pt x="3548" y="3369"/>
                    <a:pt x="3473" y="3429"/>
                  </a:cubicBezTo>
                  <a:cubicBezTo>
                    <a:pt x="3340" y="3534"/>
                    <a:pt x="3274" y="3636"/>
                    <a:pt x="3077" y="3745"/>
                  </a:cubicBezTo>
                  <a:cubicBezTo>
                    <a:pt x="3019" y="3777"/>
                    <a:pt x="2974" y="3800"/>
                    <a:pt x="2914" y="3827"/>
                  </a:cubicBezTo>
                  <a:cubicBezTo>
                    <a:pt x="2776" y="3889"/>
                    <a:pt x="2714" y="3912"/>
                    <a:pt x="2567" y="3955"/>
                  </a:cubicBezTo>
                  <a:cubicBezTo>
                    <a:pt x="2455" y="3988"/>
                    <a:pt x="2297" y="4022"/>
                    <a:pt x="2152" y="4022"/>
                  </a:cubicBezTo>
                  <a:close/>
                  <a:moveTo>
                    <a:pt x="9" y="1880"/>
                  </a:moveTo>
                  <a:cubicBezTo>
                    <a:pt x="9" y="2149"/>
                    <a:pt x="0" y="2296"/>
                    <a:pt x="62" y="2563"/>
                  </a:cubicBezTo>
                  <a:cubicBezTo>
                    <a:pt x="76" y="2621"/>
                    <a:pt x="99" y="2693"/>
                    <a:pt x="122" y="2749"/>
                  </a:cubicBezTo>
                  <a:cubicBezTo>
                    <a:pt x="207" y="2959"/>
                    <a:pt x="341" y="3194"/>
                    <a:pt x="480" y="3373"/>
                  </a:cubicBezTo>
                  <a:cubicBezTo>
                    <a:pt x="543" y="3455"/>
                    <a:pt x="651" y="3558"/>
                    <a:pt x="730" y="3623"/>
                  </a:cubicBezTo>
                  <a:lnTo>
                    <a:pt x="868" y="3730"/>
                  </a:lnTo>
                  <a:cubicBezTo>
                    <a:pt x="893" y="3748"/>
                    <a:pt x="914" y="3762"/>
                    <a:pt x="939" y="3778"/>
                  </a:cubicBezTo>
                  <a:cubicBezTo>
                    <a:pt x="966" y="3795"/>
                    <a:pt x="993" y="3812"/>
                    <a:pt x="1017" y="3827"/>
                  </a:cubicBezTo>
                  <a:cubicBezTo>
                    <a:pt x="1283" y="3980"/>
                    <a:pt x="1622" y="4106"/>
                    <a:pt x="1982" y="4106"/>
                  </a:cubicBezTo>
                  <a:cubicBezTo>
                    <a:pt x="2426" y="4106"/>
                    <a:pt x="2563" y="4069"/>
                    <a:pt x="2935" y="3917"/>
                  </a:cubicBezTo>
                  <a:lnTo>
                    <a:pt x="3094" y="3830"/>
                  </a:lnTo>
                  <a:cubicBezTo>
                    <a:pt x="3147" y="3801"/>
                    <a:pt x="3197" y="3767"/>
                    <a:pt x="3243" y="3733"/>
                  </a:cubicBezTo>
                  <a:lnTo>
                    <a:pt x="3379" y="3624"/>
                  </a:lnTo>
                  <a:cubicBezTo>
                    <a:pt x="3403" y="3605"/>
                    <a:pt x="3422" y="3594"/>
                    <a:pt x="3445" y="3571"/>
                  </a:cubicBezTo>
                  <a:lnTo>
                    <a:pt x="3624" y="3377"/>
                  </a:lnTo>
                  <a:cubicBezTo>
                    <a:pt x="3763" y="3205"/>
                    <a:pt x="3800" y="3163"/>
                    <a:pt x="3915" y="2932"/>
                  </a:cubicBezTo>
                  <a:cubicBezTo>
                    <a:pt x="4155" y="2453"/>
                    <a:pt x="4182" y="1744"/>
                    <a:pt x="3944" y="1247"/>
                  </a:cubicBezTo>
                  <a:lnTo>
                    <a:pt x="3813" y="1006"/>
                  </a:lnTo>
                  <a:cubicBezTo>
                    <a:pt x="3780" y="952"/>
                    <a:pt x="3753" y="896"/>
                    <a:pt x="3718" y="847"/>
                  </a:cubicBezTo>
                  <a:lnTo>
                    <a:pt x="3470" y="595"/>
                  </a:lnTo>
                  <a:cubicBezTo>
                    <a:pt x="3363" y="487"/>
                    <a:pt x="3265" y="393"/>
                    <a:pt x="3139" y="308"/>
                  </a:cubicBezTo>
                  <a:cubicBezTo>
                    <a:pt x="2870" y="127"/>
                    <a:pt x="2419" y="0"/>
                    <a:pt x="2067" y="0"/>
                  </a:cubicBezTo>
                  <a:cubicBezTo>
                    <a:pt x="1608" y="0"/>
                    <a:pt x="1130" y="165"/>
                    <a:pt x="787" y="439"/>
                  </a:cubicBezTo>
                  <a:cubicBezTo>
                    <a:pt x="457" y="703"/>
                    <a:pt x="223" y="1059"/>
                    <a:pt x="89" y="1459"/>
                  </a:cubicBezTo>
                  <a:cubicBezTo>
                    <a:pt x="52" y="1570"/>
                    <a:pt x="9" y="1739"/>
                    <a:pt x="9" y="18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0" name="Freeform 15"/>
            <p:cNvSpPr>
              <a:spLocks noEditPoints="1"/>
            </p:cNvSpPr>
            <p:nvPr/>
          </p:nvSpPr>
          <p:spPr bwMode="auto">
            <a:xfrm>
              <a:off x="4570413" y="2382838"/>
              <a:ext cx="298450" cy="184150"/>
            </a:xfrm>
            <a:custGeom>
              <a:avLst/>
              <a:gdLst>
                <a:gd name="T0" fmla="*/ 781 w 1287"/>
                <a:gd name="T1" fmla="*/ 444 h 788"/>
                <a:gd name="T2" fmla="*/ 1067 w 1287"/>
                <a:gd name="T3" fmla="*/ 69 h 788"/>
                <a:gd name="T4" fmla="*/ 1118 w 1287"/>
                <a:gd name="T5" fmla="*/ 128 h 788"/>
                <a:gd name="T6" fmla="*/ 1228 w 1287"/>
                <a:gd name="T7" fmla="*/ 204 h 788"/>
                <a:gd name="T8" fmla="*/ 1236 w 1287"/>
                <a:gd name="T9" fmla="*/ 187 h 788"/>
                <a:gd name="T10" fmla="*/ 1278 w 1287"/>
                <a:gd name="T11" fmla="*/ 86 h 788"/>
                <a:gd name="T12" fmla="*/ 1168 w 1287"/>
                <a:gd name="T13" fmla="*/ 103 h 788"/>
                <a:gd name="T14" fmla="*/ 997 w 1287"/>
                <a:gd name="T15" fmla="*/ 101 h 788"/>
                <a:gd name="T16" fmla="*/ 728 w 1287"/>
                <a:gd name="T17" fmla="*/ 306 h 788"/>
                <a:gd name="T18" fmla="*/ 779 w 1287"/>
                <a:gd name="T19" fmla="*/ 433 h 788"/>
                <a:gd name="T20" fmla="*/ 711 w 1287"/>
                <a:gd name="T21" fmla="*/ 314 h 788"/>
                <a:gd name="T22" fmla="*/ 398 w 1287"/>
                <a:gd name="T23" fmla="*/ 450 h 788"/>
                <a:gd name="T24" fmla="*/ 329 w 1287"/>
                <a:gd name="T25" fmla="*/ 484 h 788"/>
                <a:gd name="T26" fmla="*/ 152 w 1287"/>
                <a:gd name="T27" fmla="*/ 534 h 788"/>
                <a:gd name="T28" fmla="*/ 203 w 1287"/>
                <a:gd name="T29" fmla="*/ 721 h 788"/>
                <a:gd name="T30" fmla="*/ 102 w 1287"/>
                <a:gd name="T31" fmla="*/ 543 h 788"/>
                <a:gd name="T32" fmla="*/ 0 w 1287"/>
                <a:gd name="T33" fmla="*/ 534 h 788"/>
                <a:gd name="T34" fmla="*/ 42 w 1287"/>
                <a:gd name="T35" fmla="*/ 560 h 788"/>
                <a:gd name="T36" fmla="*/ 220 w 1287"/>
                <a:gd name="T37" fmla="*/ 534 h 788"/>
                <a:gd name="T38" fmla="*/ 313 w 1287"/>
                <a:gd name="T39" fmla="*/ 729 h 788"/>
                <a:gd name="T40" fmla="*/ 406 w 1287"/>
                <a:gd name="T41" fmla="*/ 678 h 788"/>
                <a:gd name="T42" fmla="*/ 421 w 1287"/>
                <a:gd name="T43" fmla="*/ 630 h 788"/>
                <a:gd name="T44" fmla="*/ 474 w 1287"/>
                <a:gd name="T45" fmla="*/ 458 h 788"/>
                <a:gd name="T46" fmla="*/ 584 w 1287"/>
                <a:gd name="T47" fmla="*/ 628 h 788"/>
                <a:gd name="T48" fmla="*/ 686 w 1287"/>
                <a:gd name="T49" fmla="*/ 619 h 788"/>
                <a:gd name="T50" fmla="*/ 609 w 1287"/>
                <a:gd name="T51" fmla="*/ 501 h 788"/>
                <a:gd name="T52" fmla="*/ 821 w 1287"/>
                <a:gd name="T53" fmla="*/ 534 h 788"/>
                <a:gd name="T54" fmla="*/ 838 w 1287"/>
                <a:gd name="T55" fmla="*/ 271 h 788"/>
                <a:gd name="T56" fmla="*/ 940 w 1287"/>
                <a:gd name="T57" fmla="*/ 450 h 788"/>
                <a:gd name="T58" fmla="*/ 1049 w 1287"/>
                <a:gd name="T59" fmla="*/ 264 h 788"/>
                <a:gd name="T60" fmla="*/ 957 w 1287"/>
                <a:gd name="T61" fmla="*/ 297 h 788"/>
                <a:gd name="T62" fmla="*/ 948 w 1287"/>
                <a:gd name="T63" fmla="*/ 221 h 788"/>
                <a:gd name="T64" fmla="*/ 897 w 1287"/>
                <a:gd name="T65" fmla="*/ 213 h 788"/>
                <a:gd name="T66" fmla="*/ 982 w 1287"/>
                <a:gd name="T67" fmla="*/ 145 h 788"/>
                <a:gd name="T68" fmla="*/ 1228 w 1287"/>
                <a:gd name="T69" fmla="*/ 204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7" h="788">
                  <a:moveTo>
                    <a:pt x="779" y="441"/>
                  </a:moveTo>
                  <a:lnTo>
                    <a:pt x="781" y="444"/>
                  </a:lnTo>
                  <a:cubicBezTo>
                    <a:pt x="781" y="444"/>
                    <a:pt x="778" y="442"/>
                    <a:pt x="779" y="441"/>
                  </a:cubicBezTo>
                  <a:close/>
                  <a:moveTo>
                    <a:pt x="1067" y="69"/>
                  </a:moveTo>
                  <a:cubicBezTo>
                    <a:pt x="1103" y="70"/>
                    <a:pt x="1119" y="73"/>
                    <a:pt x="1134" y="94"/>
                  </a:cubicBezTo>
                  <a:cubicBezTo>
                    <a:pt x="1128" y="119"/>
                    <a:pt x="1131" y="108"/>
                    <a:pt x="1118" y="128"/>
                  </a:cubicBezTo>
                  <a:cubicBezTo>
                    <a:pt x="1087" y="120"/>
                    <a:pt x="1071" y="104"/>
                    <a:pt x="1067" y="69"/>
                  </a:cubicBezTo>
                  <a:close/>
                  <a:moveTo>
                    <a:pt x="1228" y="204"/>
                  </a:moveTo>
                  <a:cubicBezTo>
                    <a:pt x="1197" y="204"/>
                    <a:pt x="1151" y="208"/>
                    <a:pt x="1134" y="145"/>
                  </a:cubicBezTo>
                  <a:lnTo>
                    <a:pt x="1236" y="187"/>
                  </a:lnTo>
                  <a:cubicBezTo>
                    <a:pt x="1285" y="186"/>
                    <a:pt x="1287" y="147"/>
                    <a:pt x="1287" y="94"/>
                  </a:cubicBezTo>
                  <a:lnTo>
                    <a:pt x="1278" y="86"/>
                  </a:lnTo>
                  <a:cubicBezTo>
                    <a:pt x="1254" y="104"/>
                    <a:pt x="1262" y="85"/>
                    <a:pt x="1261" y="128"/>
                  </a:cubicBezTo>
                  <a:cubicBezTo>
                    <a:pt x="1227" y="110"/>
                    <a:pt x="1223" y="103"/>
                    <a:pt x="1168" y="103"/>
                  </a:cubicBezTo>
                  <a:cubicBezTo>
                    <a:pt x="1185" y="67"/>
                    <a:pt x="1186" y="58"/>
                    <a:pt x="1177" y="18"/>
                  </a:cubicBezTo>
                  <a:cubicBezTo>
                    <a:pt x="1101" y="0"/>
                    <a:pt x="1032" y="42"/>
                    <a:pt x="997" y="101"/>
                  </a:cubicBezTo>
                  <a:cubicBezTo>
                    <a:pt x="973" y="143"/>
                    <a:pt x="994" y="128"/>
                    <a:pt x="952" y="149"/>
                  </a:cubicBezTo>
                  <a:cubicBezTo>
                    <a:pt x="891" y="179"/>
                    <a:pt x="764" y="296"/>
                    <a:pt x="728" y="306"/>
                  </a:cubicBezTo>
                  <a:lnTo>
                    <a:pt x="762" y="323"/>
                  </a:lnTo>
                  <a:cubicBezTo>
                    <a:pt x="765" y="356"/>
                    <a:pt x="776" y="400"/>
                    <a:pt x="779" y="433"/>
                  </a:cubicBezTo>
                  <a:cubicBezTo>
                    <a:pt x="741" y="413"/>
                    <a:pt x="721" y="392"/>
                    <a:pt x="686" y="374"/>
                  </a:cubicBezTo>
                  <a:cubicBezTo>
                    <a:pt x="696" y="354"/>
                    <a:pt x="705" y="339"/>
                    <a:pt x="711" y="314"/>
                  </a:cubicBezTo>
                  <a:cubicBezTo>
                    <a:pt x="687" y="327"/>
                    <a:pt x="665" y="337"/>
                    <a:pt x="638" y="351"/>
                  </a:cubicBezTo>
                  <a:cubicBezTo>
                    <a:pt x="545" y="401"/>
                    <a:pt x="522" y="421"/>
                    <a:pt x="398" y="450"/>
                  </a:cubicBezTo>
                  <a:cubicBezTo>
                    <a:pt x="405" y="534"/>
                    <a:pt x="425" y="404"/>
                    <a:pt x="466" y="577"/>
                  </a:cubicBezTo>
                  <a:cubicBezTo>
                    <a:pt x="379" y="531"/>
                    <a:pt x="382" y="491"/>
                    <a:pt x="329" y="484"/>
                  </a:cubicBezTo>
                  <a:cubicBezTo>
                    <a:pt x="287" y="478"/>
                    <a:pt x="268" y="491"/>
                    <a:pt x="233" y="497"/>
                  </a:cubicBezTo>
                  <a:cubicBezTo>
                    <a:pt x="181" y="506"/>
                    <a:pt x="165" y="486"/>
                    <a:pt x="152" y="534"/>
                  </a:cubicBezTo>
                  <a:cubicBezTo>
                    <a:pt x="181" y="537"/>
                    <a:pt x="183" y="541"/>
                    <a:pt x="203" y="551"/>
                  </a:cubicBezTo>
                  <a:cubicBezTo>
                    <a:pt x="203" y="623"/>
                    <a:pt x="216" y="664"/>
                    <a:pt x="203" y="721"/>
                  </a:cubicBezTo>
                  <a:cubicBezTo>
                    <a:pt x="173" y="728"/>
                    <a:pt x="175" y="729"/>
                    <a:pt x="135" y="729"/>
                  </a:cubicBezTo>
                  <a:cubicBezTo>
                    <a:pt x="121" y="700"/>
                    <a:pt x="102" y="589"/>
                    <a:pt x="102" y="543"/>
                  </a:cubicBezTo>
                  <a:cubicBezTo>
                    <a:pt x="142" y="539"/>
                    <a:pt x="116" y="555"/>
                    <a:pt x="135" y="518"/>
                  </a:cubicBezTo>
                  <a:cubicBezTo>
                    <a:pt x="103" y="518"/>
                    <a:pt x="28" y="528"/>
                    <a:pt x="0" y="534"/>
                  </a:cubicBezTo>
                  <a:lnTo>
                    <a:pt x="0" y="560"/>
                  </a:lnTo>
                  <a:lnTo>
                    <a:pt x="42" y="560"/>
                  </a:lnTo>
                  <a:cubicBezTo>
                    <a:pt x="42" y="675"/>
                    <a:pt x="45" y="788"/>
                    <a:pt x="166" y="760"/>
                  </a:cubicBezTo>
                  <a:cubicBezTo>
                    <a:pt x="291" y="731"/>
                    <a:pt x="222" y="614"/>
                    <a:pt x="220" y="534"/>
                  </a:cubicBezTo>
                  <a:cubicBezTo>
                    <a:pt x="250" y="528"/>
                    <a:pt x="248" y="526"/>
                    <a:pt x="288" y="526"/>
                  </a:cubicBezTo>
                  <a:cubicBezTo>
                    <a:pt x="318" y="657"/>
                    <a:pt x="328" y="555"/>
                    <a:pt x="313" y="729"/>
                  </a:cubicBezTo>
                  <a:cubicBezTo>
                    <a:pt x="354" y="720"/>
                    <a:pt x="351" y="712"/>
                    <a:pt x="406" y="712"/>
                  </a:cubicBezTo>
                  <a:lnTo>
                    <a:pt x="406" y="678"/>
                  </a:lnTo>
                  <a:cubicBezTo>
                    <a:pt x="354" y="677"/>
                    <a:pt x="338" y="656"/>
                    <a:pt x="330" y="560"/>
                  </a:cubicBezTo>
                  <a:cubicBezTo>
                    <a:pt x="364" y="578"/>
                    <a:pt x="392" y="604"/>
                    <a:pt x="421" y="630"/>
                  </a:cubicBezTo>
                  <a:cubicBezTo>
                    <a:pt x="494" y="693"/>
                    <a:pt x="484" y="673"/>
                    <a:pt x="525" y="670"/>
                  </a:cubicBezTo>
                  <a:cubicBezTo>
                    <a:pt x="518" y="589"/>
                    <a:pt x="474" y="546"/>
                    <a:pt x="474" y="458"/>
                  </a:cubicBezTo>
                  <a:cubicBezTo>
                    <a:pt x="491" y="450"/>
                    <a:pt x="504" y="446"/>
                    <a:pt x="525" y="441"/>
                  </a:cubicBezTo>
                  <a:cubicBezTo>
                    <a:pt x="531" y="514"/>
                    <a:pt x="584" y="547"/>
                    <a:pt x="584" y="628"/>
                  </a:cubicBezTo>
                  <a:cubicBezTo>
                    <a:pt x="556" y="638"/>
                    <a:pt x="578" y="617"/>
                    <a:pt x="559" y="653"/>
                  </a:cubicBezTo>
                  <a:cubicBezTo>
                    <a:pt x="621" y="648"/>
                    <a:pt x="618" y="619"/>
                    <a:pt x="686" y="619"/>
                  </a:cubicBezTo>
                  <a:lnTo>
                    <a:pt x="686" y="585"/>
                  </a:lnTo>
                  <a:cubicBezTo>
                    <a:pt x="641" y="584"/>
                    <a:pt x="647" y="581"/>
                    <a:pt x="609" y="501"/>
                  </a:cubicBezTo>
                  <a:cubicBezTo>
                    <a:pt x="599" y="478"/>
                    <a:pt x="564" y="384"/>
                    <a:pt x="628" y="403"/>
                  </a:cubicBezTo>
                  <a:cubicBezTo>
                    <a:pt x="686" y="420"/>
                    <a:pt x="739" y="533"/>
                    <a:pt x="821" y="534"/>
                  </a:cubicBezTo>
                  <a:cubicBezTo>
                    <a:pt x="821" y="435"/>
                    <a:pt x="782" y="377"/>
                    <a:pt x="804" y="280"/>
                  </a:cubicBezTo>
                  <a:lnTo>
                    <a:pt x="838" y="271"/>
                  </a:lnTo>
                  <a:lnTo>
                    <a:pt x="938" y="393"/>
                  </a:lnTo>
                  <a:cubicBezTo>
                    <a:pt x="955" y="421"/>
                    <a:pt x="941" y="401"/>
                    <a:pt x="940" y="450"/>
                  </a:cubicBezTo>
                  <a:cubicBezTo>
                    <a:pt x="1024" y="405"/>
                    <a:pt x="1066" y="358"/>
                    <a:pt x="1118" y="323"/>
                  </a:cubicBezTo>
                  <a:cubicBezTo>
                    <a:pt x="1114" y="316"/>
                    <a:pt x="1049" y="209"/>
                    <a:pt x="1049" y="264"/>
                  </a:cubicBezTo>
                  <a:cubicBezTo>
                    <a:pt x="1048" y="315"/>
                    <a:pt x="1063" y="359"/>
                    <a:pt x="991" y="365"/>
                  </a:cubicBezTo>
                  <a:cubicBezTo>
                    <a:pt x="979" y="317"/>
                    <a:pt x="967" y="336"/>
                    <a:pt x="957" y="297"/>
                  </a:cubicBezTo>
                  <a:cubicBezTo>
                    <a:pt x="990" y="297"/>
                    <a:pt x="991" y="300"/>
                    <a:pt x="1016" y="306"/>
                  </a:cubicBezTo>
                  <a:cubicBezTo>
                    <a:pt x="1015" y="253"/>
                    <a:pt x="991" y="231"/>
                    <a:pt x="948" y="221"/>
                  </a:cubicBezTo>
                  <a:lnTo>
                    <a:pt x="948" y="272"/>
                  </a:lnTo>
                  <a:cubicBezTo>
                    <a:pt x="909" y="263"/>
                    <a:pt x="898" y="258"/>
                    <a:pt x="897" y="213"/>
                  </a:cubicBezTo>
                  <a:cubicBezTo>
                    <a:pt x="962" y="198"/>
                    <a:pt x="958" y="208"/>
                    <a:pt x="1016" y="213"/>
                  </a:cubicBezTo>
                  <a:cubicBezTo>
                    <a:pt x="1015" y="161"/>
                    <a:pt x="1005" y="179"/>
                    <a:pt x="982" y="145"/>
                  </a:cubicBezTo>
                  <a:cubicBezTo>
                    <a:pt x="1051" y="112"/>
                    <a:pt x="1133" y="224"/>
                    <a:pt x="1134" y="289"/>
                  </a:cubicBezTo>
                  <a:cubicBezTo>
                    <a:pt x="1164" y="281"/>
                    <a:pt x="1211" y="229"/>
                    <a:pt x="1228" y="2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1" name="Freeform 16"/>
            <p:cNvSpPr>
              <a:spLocks noEditPoints="1"/>
            </p:cNvSpPr>
            <p:nvPr/>
          </p:nvSpPr>
          <p:spPr bwMode="auto">
            <a:xfrm>
              <a:off x="4165600" y="2305051"/>
              <a:ext cx="212725" cy="219075"/>
            </a:xfrm>
            <a:custGeom>
              <a:avLst/>
              <a:gdLst>
                <a:gd name="T0" fmla="*/ 770 w 914"/>
                <a:gd name="T1" fmla="*/ 779 h 937"/>
                <a:gd name="T2" fmla="*/ 796 w 914"/>
                <a:gd name="T3" fmla="*/ 686 h 937"/>
                <a:gd name="T4" fmla="*/ 855 w 914"/>
                <a:gd name="T5" fmla="*/ 720 h 937"/>
                <a:gd name="T6" fmla="*/ 770 w 914"/>
                <a:gd name="T7" fmla="*/ 779 h 937"/>
                <a:gd name="T8" fmla="*/ 677 w 914"/>
                <a:gd name="T9" fmla="*/ 712 h 937"/>
                <a:gd name="T10" fmla="*/ 728 w 914"/>
                <a:gd name="T11" fmla="*/ 618 h 937"/>
                <a:gd name="T12" fmla="*/ 677 w 914"/>
                <a:gd name="T13" fmla="*/ 712 h 937"/>
                <a:gd name="T14" fmla="*/ 421 w 914"/>
                <a:gd name="T15" fmla="*/ 642 h 937"/>
                <a:gd name="T16" fmla="*/ 381 w 914"/>
                <a:gd name="T17" fmla="*/ 618 h 937"/>
                <a:gd name="T18" fmla="*/ 388 w 914"/>
                <a:gd name="T19" fmla="*/ 600 h 937"/>
                <a:gd name="T20" fmla="*/ 415 w 914"/>
                <a:gd name="T21" fmla="*/ 542 h 937"/>
                <a:gd name="T22" fmla="*/ 482 w 914"/>
                <a:gd name="T23" fmla="*/ 576 h 937"/>
                <a:gd name="T24" fmla="*/ 421 w 914"/>
                <a:gd name="T25" fmla="*/ 642 h 937"/>
                <a:gd name="T26" fmla="*/ 447 w 914"/>
                <a:gd name="T27" fmla="*/ 510 h 937"/>
                <a:gd name="T28" fmla="*/ 533 w 914"/>
                <a:gd name="T29" fmla="*/ 500 h 937"/>
                <a:gd name="T30" fmla="*/ 499 w 914"/>
                <a:gd name="T31" fmla="*/ 559 h 937"/>
                <a:gd name="T32" fmla="*/ 447 w 914"/>
                <a:gd name="T33" fmla="*/ 510 h 937"/>
                <a:gd name="T34" fmla="*/ 0 w 914"/>
                <a:gd name="T35" fmla="*/ 136 h 937"/>
                <a:gd name="T36" fmla="*/ 180 w 914"/>
                <a:gd name="T37" fmla="*/ 231 h 937"/>
                <a:gd name="T38" fmla="*/ 279 w 914"/>
                <a:gd name="T39" fmla="*/ 212 h 937"/>
                <a:gd name="T40" fmla="*/ 228 w 914"/>
                <a:gd name="T41" fmla="*/ 280 h 937"/>
                <a:gd name="T42" fmla="*/ 322 w 914"/>
                <a:gd name="T43" fmla="*/ 271 h 937"/>
                <a:gd name="T44" fmla="*/ 247 w 914"/>
                <a:gd name="T45" fmla="*/ 350 h 937"/>
                <a:gd name="T46" fmla="*/ 152 w 914"/>
                <a:gd name="T47" fmla="*/ 390 h 937"/>
                <a:gd name="T48" fmla="*/ 245 w 914"/>
                <a:gd name="T49" fmla="*/ 491 h 937"/>
                <a:gd name="T50" fmla="*/ 290 w 914"/>
                <a:gd name="T51" fmla="*/ 409 h 937"/>
                <a:gd name="T52" fmla="*/ 372 w 914"/>
                <a:gd name="T53" fmla="*/ 339 h 937"/>
                <a:gd name="T54" fmla="*/ 364 w 914"/>
                <a:gd name="T55" fmla="*/ 432 h 937"/>
                <a:gd name="T56" fmla="*/ 440 w 914"/>
                <a:gd name="T57" fmla="*/ 398 h 937"/>
                <a:gd name="T58" fmla="*/ 346 w 914"/>
                <a:gd name="T59" fmla="*/ 532 h 937"/>
                <a:gd name="T60" fmla="*/ 288 w 914"/>
                <a:gd name="T61" fmla="*/ 551 h 937"/>
                <a:gd name="T62" fmla="*/ 491 w 914"/>
                <a:gd name="T63" fmla="*/ 720 h 937"/>
                <a:gd name="T64" fmla="*/ 474 w 914"/>
                <a:gd name="T65" fmla="*/ 678 h 937"/>
                <a:gd name="T66" fmla="*/ 584 w 914"/>
                <a:gd name="T67" fmla="*/ 551 h 937"/>
                <a:gd name="T68" fmla="*/ 643 w 914"/>
                <a:gd name="T69" fmla="*/ 576 h 937"/>
                <a:gd name="T70" fmla="*/ 601 w 914"/>
                <a:gd name="T71" fmla="*/ 813 h 937"/>
                <a:gd name="T72" fmla="*/ 711 w 914"/>
                <a:gd name="T73" fmla="*/ 745 h 937"/>
                <a:gd name="T74" fmla="*/ 688 w 914"/>
                <a:gd name="T75" fmla="*/ 850 h 937"/>
                <a:gd name="T76" fmla="*/ 914 w 914"/>
                <a:gd name="T77" fmla="*/ 737 h 937"/>
                <a:gd name="T78" fmla="*/ 830 w 914"/>
                <a:gd name="T79" fmla="*/ 678 h 937"/>
                <a:gd name="T80" fmla="*/ 747 w 914"/>
                <a:gd name="T81" fmla="*/ 617 h 937"/>
                <a:gd name="T82" fmla="*/ 661 w 914"/>
                <a:gd name="T83" fmla="*/ 559 h 937"/>
                <a:gd name="T84" fmla="*/ 539 w 914"/>
                <a:gd name="T85" fmla="*/ 468 h 937"/>
                <a:gd name="T86" fmla="*/ 505 w 914"/>
                <a:gd name="T87" fmla="*/ 427 h 937"/>
                <a:gd name="T88" fmla="*/ 464 w 914"/>
                <a:gd name="T89" fmla="*/ 400 h 937"/>
                <a:gd name="T90" fmla="*/ 332 w 914"/>
                <a:gd name="T91" fmla="*/ 244 h 937"/>
                <a:gd name="T92" fmla="*/ 291 w 914"/>
                <a:gd name="T93" fmla="*/ 208 h 937"/>
                <a:gd name="T94" fmla="*/ 228 w 914"/>
                <a:gd name="T95" fmla="*/ 119 h 937"/>
                <a:gd name="T96" fmla="*/ 175 w 914"/>
                <a:gd name="T97" fmla="*/ 201 h 937"/>
                <a:gd name="T98" fmla="*/ 76 w 914"/>
                <a:gd name="T99" fmla="*/ 237 h 937"/>
                <a:gd name="T100" fmla="*/ 39 w 914"/>
                <a:gd name="T101" fmla="*/ 191 h 937"/>
                <a:gd name="T102" fmla="*/ 228 w 914"/>
                <a:gd name="T103" fmla="*/ 110 h 937"/>
                <a:gd name="T104" fmla="*/ 169 w 914"/>
                <a:gd name="T105" fmla="*/ 0 h 937"/>
                <a:gd name="T106" fmla="*/ 134 w 914"/>
                <a:gd name="T107" fmla="*/ 41 h 937"/>
                <a:gd name="T108" fmla="*/ 117 w 914"/>
                <a:gd name="T109" fmla="*/ 58 h 937"/>
                <a:gd name="T110" fmla="*/ 0 w 914"/>
                <a:gd name="T111" fmla="*/ 136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4" h="937">
                  <a:moveTo>
                    <a:pt x="770" y="779"/>
                  </a:moveTo>
                  <a:cubicBezTo>
                    <a:pt x="781" y="756"/>
                    <a:pt x="795" y="719"/>
                    <a:pt x="796" y="686"/>
                  </a:cubicBezTo>
                  <a:cubicBezTo>
                    <a:pt x="852" y="686"/>
                    <a:pt x="838" y="687"/>
                    <a:pt x="855" y="720"/>
                  </a:cubicBezTo>
                  <a:lnTo>
                    <a:pt x="770" y="779"/>
                  </a:lnTo>
                  <a:close/>
                  <a:moveTo>
                    <a:pt x="677" y="712"/>
                  </a:moveTo>
                  <a:cubicBezTo>
                    <a:pt x="684" y="634"/>
                    <a:pt x="696" y="626"/>
                    <a:pt x="728" y="618"/>
                  </a:cubicBezTo>
                  <a:cubicBezTo>
                    <a:pt x="734" y="646"/>
                    <a:pt x="758" y="693"/>
                    <a:pt x="677" y="712"/>
                  </a:cubicBezTo>
                  <a:close/>
                  <a:moveTo>
                    <a:pt x="421" y="642"/>
                  </a:moveTo>
                  <a:cubicBezTo>
                    <a:pt x="399" y="627"/>
                    <a:pt x="412" y="627"/>
                    <a:pt x="381" y="618"/>
                  </a:cubicBezTo>
                  <a:cubicBezTo>
                    <a:pt x="383" y="614"/>
                    <a:pt x="387" y="603"/>
                    <a:pt x="388" y="600"/>
                  </a:cubicBezTo>
                  <a:cubicBezTo>
                    <a:pt x="416" y="544"/>
                    <a:pt x="411" y="591"/>
                    <a:pt x="415" y="542"/>
                  </a:cubicBezTo>
                  <a:cubicBezTo>
                    <a:pt x="466" y="543"/>
                    <a:pt x="448" y="553"/>
                    <a:pt x="482" y="576"/>
                  </a:cubicBezTo>
                  <a:lnTo>
                    <a:pt x="421" y="642"/>
                  </a:lnTo>
                  <a:close/>
                  <a:moveTo>
                    <a:pt x="447" y="510"/>
                  </a:moveTo>
                  <a:cubicBezTo>
                    <a:pt x="449" y="508"/>
                    <a:pt x="533" y="433"/>
                    <a:pt x="533" y="500"/>
                  </a:cubicBezTo>
                  <a:cubicBezTo>
                    <a:pt x="533" y="515"/>
                    <a:pt x="508" y="547"/>
                    <a:pt x="499" y="559"/>
                  </a:cubicBezTo>
                  <a:lnTo>
                    <a:pt x="447" y="510"/>
                  </a:lnTo>
                  <a:close/>
                  <a:moveTo>
                    <a:pt x="0" y="136"/>
                  </a:moveTo>
                  <a:cubicBezTo>
                    <a:pt x="0" y="253"/>
                    <a:pt x="70" y="313"/>
                    <a:pt x="180" y="231"/>
                  </a:cubicBezTo>
                  <a:cubicBezTo>
                    <a:pt x="215" y="204"/>
                    <a:pt x="223" y="212"/>
                    <a:pt x="279" y="212"/>
                  </a:cubicBezTo>
                  <a:cubicBezTo>
                    <a:pt x="255" y="246"/>
                    <a:pt x="242" y="223"/>
                    <a:pt x="228" y="280"/>
                  </a:cubicBezTo>
                  <a:cubicBezTo>
                    <a:pt x="265" y="279"/>
                    <a:pt x="275" y="271"/>
                    <a:pt x="322" y="271"/>
                  </a:cubicBezTo>
                  <a:cubicBezTo>
                    <a:pt x="310" y="321"/>
                    <a:pt x="280" y="319"/>
                    <a:pt x="247" y="350"/>
                  </a:cubicBezTo>
                  <a:cubicBezTo>
                    <a:pt x="174" y="419"/>
                    <a:pt x="221" y="391"/>
                    <a:pt x="152" y="390"/>
                  </a:cubicBezTo>
                  <a:cubicBezTo>
                    <a:pt x="156" y="432"/>
                    <a:pt x="224" y="486"/>
                    <a:pt x="245" y="491"/>
                  </a:cubicBezTo>
                  <a:cubicBezTo>
                    <a:pt x="232" y="433"/>
                    <a:pt x="252" y="442"/>
                    <a:pt x="290" y="409"/>
                  </a:cubicBezTo>
                  <a:cubicBezTo>
                    <a:pt x="326" y="378"/>
                    <a:pt x="327" y="363"/>
                    <a:pt x="372" y="339"/>
                  </a:cubicBezTo>
                  <a:cubicBezTo>
                    <a:pt x="372" y="386"/>
                    <a:pt x="367" y="397"/>
                    <a:pt x="364" y="432"/>
                  </a:cubicBezTo>
                  <a:cubicBezTo>
                    <a:pt x="438" y="397"/>
                    <a:pt x="398" y="402"/>
                    <a:pt x="440" y="398"/>
                  </a:cubicBezTo>
                  <a:cubicBezTo>
                    <a:pt x="436" y="449"/>
                    <a:pt x="387" y="495"/>
                    <a:pt x="346" y="532"/>
                  </a:cubicBezTo>
                  <a:cubicBezTo>
                    <a:pt x="322" y="554"/>
                    <a:pt x="330" y="551"/>
                    <a:pt x="288" y="551"/>
                  </a:cubicBezTo>
                  <a:cubicBezTo>
                    <a:pt x="316" y="593"/>
                    <a:pt x="445" y="709"/>
                    <a:pt x="491" y="720"/>
                  </a:cubicBezTo>
                  <a:cubicBezTo>
                    <a:pt x="488" y="684"/>
                    <a:pt x="492" y="705"/>
                    <a:pt x="474" y="678"/>
                  </a:cubicBezTo>
                  <a:cubicBezTo>
                    <a:pt x="513" y="667"/>
                    <a:pt x="565" y="586"/>
                    <a:pt x="584" y="551"/>
                  </a:cubicBezTo>
                  <a:cubicBezTo>
                    <a:pt x="604" y="561"/>
                    <a:pt x="623" y="565"/>
                    <a:pt x="643" y="576"/>
                  </a:cubicBezTo>
                  <a:cubicBezTo>
                    <a:pt x="615" y="696"/>
                    <a:pt x="591" y="697"/>
                    <a:pt x="601" y="813"/>
                  </a:cubicBezTo>
                  <a:cubicBezTo>
                    <a:pt x="655" y="800"/>
                    <a:pt x="658" y="760"/>
                    <a:pt x="711" y="745"/>
                  </a:cubicBezTo>
                  <a:cubicBezTo>
                    <a:pt x="707" y="763"/>
                    <a:pt x="687" y="838"/>
                    <a:pt x="688" y="850"/>
                  </a:cubicBezTo>
                  <a:cubicBezTo>
                    <a:pt x="695" y="937"/>
                    <a:pt x="793" y="765"/>
                    <a:pt x="914" y="737"/>
                  </a:cubicBezTo>
                  <a:cubicBezTo>
                    <a:pt x="910" y="689"/>
                    <a:pt x="877" y="682"/>
                    <a:pt x="830" y="678"/>
                  </a:cubicBezTo>
                  <a:cubicBezTo>
                    <a:pt x="826" y="643"/>
                    <a:pt x="828" y="647"/>
                    <a:pt x="747" y="617"/>
                  </a:cubicBezTo>
                  <a:cubicBezTo>
                    <a:pt x="696" y="598"/>
                    <a:pt x="754" y="617"/>
                    <a:pt x="661" y="559"/>
                  </a:cubicBezTo>
                  <a:lnTo>
                    <a:pt x="539" y="468"/>
                  </a:lnTo>
                  <a:cubicBezTo>
                    <a:pt x="518" y="450"/>
                    <a:pt x="528" y="447"/>
                    <a:pt x="505" y="427"/>
                  </a:cubicBezTo>
                  <a:cubicBezTo>
                    <a:pt x="493" y="418"/>
                    <a:pt x="474" y="409"/>
                    <a:pt x="464" y="400"/>
                  </a:cubicBezTo>
                  <a:cubicBezTo>
                    <a:pt x="442" y="380"/>
                    <a:pt x="389" y="297"/>
                    <a:pt x="332" y="244"/>
                  </a:cubicBezTo>
                  <a:cubicBezTo>
                    <a:pt x="319" y="231"/>
                    <a:pt x="300" y="219"/>
                    <a:pt x="291" y="208"/>
                  </a:cubicBezTo>
                  <a:cubicBezTo>
                    <a:pt x="261" y="168"/>
                    <a:pt x="287" y="158"/>
                    <a:pt x="228" y="119"/>
                  </a:cubicBezTo>
                  <a:cubicBezTo>
                    <a:pt x="228" y="186"/>
                    <a:pt x="225" y="176"/>
                    <a:pt x="175" y="201"/>
                  </a:cubicBezTo>
                  <a:cubicBezTo>
                    <a:pt x="140" y="218"/>
                    <a:pt x="125" y="237"/>
                    <a:pt x="76" y="237"/>
                  </a:cubicBezTo>
                  <a:cubicBezTo>
                    <a:pt x="50" y="237"/>
                    <a:pt x="35" y="210"/>
                    <a:pt x="39" y="191"/>
                  </a:cubicBezTo>
                  <a:cubicBezTo>
                    <a:pt x="48" y="156"/>
                    <a:pt x="162" y="79"/>
                    <a:pt x="228" y="110"/>
                  </a:cubicBezTo>
                  <a:cubicBezTo>
                    <a:pt x="223" y="86"/>
                    <a:pt x="185" y="12"/>
                    <a:pt x="169" y="0"/>
                  </a:cubicBezTo>
                  <a:cubicBezTo>
                    <a:pt x="125" y="12"/>
                    <a:pt x="158" y="6"/>
                    <a:pt x="134" y="41"/>
                  </a:cubicBezTo>
                  <a:cubicBezTo>
                    <a:pt x="126" y="54"/>
                    <a:pt x="133" y="47"/>
                    <a:pt x="117" y="58"/>
                  </a:cubicBezTo>
                  <a:cubicBezTo>
                    <a:pt x="84" y="84"/>
                    <a:pt x="0" y="102"/>
                    <a:pt x="0"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2" name="Freeform 17"/>
            <p:cNvSpPr>
              <a:spLocks noEditPoints="1"/>
            </p:cNvSpPr>
            <p:nvPr/>
          </p:nvSpPr>
          <p:spPr bwMode="auto">
            <a:xfrm>
              <a:off x="4154488" y="1903413"/>
              <a:ext cx="77788" cy="103188"/>
            </a:xfrm>
            <a:custGeom>
              <a:avLst/>
              <a:gdLst>
                <a:gd name="T0" fmla="*/ 169 w 339"/>
                <a:gd name="T1" fmla="*/ 304 h 445"/>
                <a:gd name="T2" fmla="*/ 172 w 339"/>
                <a:gd name="T3" fmla="*/ 307 h 445"/>
                <a:gd name="T4" fmla="*/ 169 w 339"/>
                <a:gd name="T5" fmla="*/ 304 h 445"/>
                <a:gd name="T6" fmla="*/ 195 w 339"/>
                <a:gd name="T7" fmla="*/ 228 h 445"/>
                <a:gd name="T8" fmla="*/ 254 w 339"/>
                <a:gd name="T9" fmla="*/ 245 h 445"/>
                <a:gd name="T10" fmla="*/ 195 w 339"/>
                <a:gd name="T11" fmla="*/ 304 h 445"/>
                <a:gd name="T12" fmla="*/ 222 w 339"/>
                <a:gd name="T13" fmla="*/ 272 h 445"/>
                <a:gd name="T14" fmla="*/ 195 w 339"/>
                <a:gd name="T15" fmla="*/ 228 h 445"/>
                <a:gd name="T16" fmla="*/ 119 w 339"/>
                <a:gd name="T17" fmla="*/ 144 h 445"/>
                <a:gd name="T18" fmla="*/ 152 w 339"/>
                <a:gd name="T19" fmla="*/ 177 h 445"/>
                <a:gd name="T20" fmla="*/ 119 w 339"/>
                <a:gd name="T21" fmla="*/ 144 h 445"/>
                <a:gd name="T22" fmla="*/ 271 w 339"/>
                <a:gd name="T23" fmla="*/ 203 h 445"/>
                <a:gd name="T24" fmla="*/ 246 w 339"/>
                <a:gd name="T25" fmla="*/ 203 h 445"/>
                <a:gd name="T26" fmla="*/ 262 w 339"/>
                <a:gd name="T27" fmla="*/ 59 h 445"/>
                <a:gd name="T28" fmla="*/ 271 w 339"/>
                <a:gd name="T29" fmla="*/ 203 h 445"/>
                <a:gd name="T30" fmla="*/ 0 w 339"/>
                <a:gd name="T31" fmla="*/ 220 h 445"/>
                <a:gd name="T32" fmla="*/ 59 w 339"/>
                <a:gd name="T33" fmla="*/ 211 h 445"/>
                <a:gd name="T34" fmla="*/ 117 w 339"/>
                <a:gd name="T35" fmla="*/ 264 h 445"/>
                <a:gd name="T36" fmla="*/ 93 w 339"/>
                <a:gd name="T37" fmla="*/ 338 h 445"/>
                <a:gd name="T38" fmla="*/ 25 w 339"/>
                <a:gd name="T39" fmla="*/ 313 h 445"/>
                <a:gd name="T40" fmla="*/ 19 w 339"/>
                <a:gd name="T41" fmla="*/ 386 h 445"/>
                <a:gd name="T42" fmla="*/ 263 w 339"/>
                <a:gd name="T43" fmla="*/ 339 h 445"/>
                <a:gd name="T44" fmla="*/ 300 w 339"/>
                <a:gd name="T45" fmla="*/ 266 h 445"/>
                <a:gd name="T46" fmla="*/ 339 w 339"/>
                <a:gd name="T47" fmla="*/ 194 h 445"/>
                <a:gd name="T48" fmla="*/ 296 w 339"/>
                <a:gd name="T49" fmla="*/ 194 h 445"/>
                <a:gd name="T50" fmla="*/ 322 w 339"/>
                <a:gd name="T51" fmla="*/ 67 h 445"/>
                <a:gd name="T52" fmla="*/ 296 w 339"/>
                <a:gd name="T53" fmla="*/ 25 h 445"/>
                <a:gd name="T54" fmla="*/ 161 w 339"/>
                <a:gd name="T55" fmla="*/ 93 h 445"/>
                <a:gd name="T56" fmla="*/ 161 w 339"/>
                <a:gd name="T57" fmla="*/ 0 h 445"/>
                <a:gd name="T58" fmla="*/ 54 w 339"/>
                <a:gd name="T59" fmla="*/ 104 h 445"/>
                <a:gd name="T60" fmla="*/ 0 w 339"/>
                <a:gd name="T61" fmla="*/ 22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9" h="445">
                  <a:moveTo>
                    <a:pt x="169" y="304"/>
                  </a:moveTo>
                  <a:lnTo>
                    <a:pt x="172" y="307"/>
                  </a:lnTo>
                  <a:cubicBezTo>
                    <a:pt x="172" y="307"/>
                    <a:pt x="169" y="305"/>
                    <a:pt x="169" y="304"/>
                  </a:cubicBezTo>
                  <a:close/>
                  <a:moveTo>
                    <a:pt x="195" y="228"/>
                  </a:moveTo>
                  <a:cubicBezTo>
                    <a:pt x="220" y="245"/>
                    <a:pt x="212" y="245"/>
                    <a:pt x="254" y="245"/>
                  </a:cubicBezTo>
                  <a:cubicBezTo>
                    <a:pt x="236" y="279"/>
                    <a:pt x="240" y="301"/>
                    <a:pt x="195" y="304"/>
                  </a:cubicBezTo>
                  <a:lnTo>
                    <a:pt x="222" y="272"/>
                  </a:lnTo>
                  <a:cubicBezTo>
                    <a:pt x="194" y="242"/>
                    <a:pt x="201" y="241"/>
                    <a:pt x="195" y="228"/>
                  </a:cubicBezTo>
                  <a:close/>
                  <a:moveTo>
                    <a:pt x="119" y="144"/>
                  </a:moveTo>
                  <a:cubicBezTo>
                    <a:pt x="148" y="151"/>
                    <a:pt x="145" y="148"/>
                    <a:pt x="152" y="177"/>
                  </a:cubicBezTo>
                  <a:cubicBezTo>
                    <a:pt x="110" y="167"/>
                    <a:pt x="124" y="175"/>
                    <a:pt x="119" y="144"/>
                  </a:cubicBezTo>
                  <a:close/>
                  <a:moveTo>
                    <a:pt x="271" y="203"/>
                  </a:moveTo>
                  <a:lnTo>
                    <a:pt x="246" y="203"/>
                  </a:lnTo>
                  <a:cubicBezTo>
                    <a:pt x="245" y="200"/>
                    <a:pt x="159" y="87"/>
                    <a:pt x="262" y="59"/>
                  </a:cubicBezTo>
                  <a:cubicBezTo>
                    <a:pt x="304" y="90"/>
                    <a:pt x="271" y="129"/>
                    <a:pt x="271" y="203"/>
                  </a:cubicBezTo>
                  <a:close/>
                  <a:moveTo>
                    <a:pt x="0" y="220"/>
                  </a:moveTo>
                  <a:cubicBezTo>
                    <a:pt x="0" y="273"/>
                    <a:pt x="21" y="221"/>
                    <a:pt x="59" y="211"/>
                  </a:cubicBezTo>
                  <a:lnTo>
                    <a:pt x="117" y="264"/>
                  </a:lnTo>
                  <a:cubicBezTo>
                    <a:pt x="113" y="286"/>
                    <a:pt x="103" y="318"/>
                    <a:pt x="93" y="338"/>
                  </a:cubicBezTo>
                  <a:cubicBezTo>
                    <a:pt x="77" y="331"/>
                    <a:pt x="44" y="317"/>
                    <a:pt x="25" y="313"/>
                  </a:cubicBezTo>
                  <a:cubicBezTo>
                    <a:pt x="14" y="338"/>
                    <a:pt x="3" y="359"/>
                    <a:pt x="19" y="386"/>
                  </a:cubicBezTo>
                  <a:cubicBezTo>
                    <a:pt x="55" y="445"/>
                    <a:pt x="210" y="443"/>
                    <a:pt x="263" y="339"/>
                  </a:cubicBezTo>
                  <a:cubicBezTo>
                    <a:pt x="273" y="318"/>
                    <a:pt x="286" y="286"/>
                    <a:pt x="300" y="266"/>
                  </a:cubicBezTo>
                  <a:cubicBezTo>
                    <a:pt x="325" y="229"/>
                    <a:pt x="338" y="248"/>
                    <a:pt x="339" y="194"/>
                  </a:cubicBezTo>
                  <a:lnTo>
                    <a:pt x="296" y="194"/>
                  </a:lnTo>
                  <a:lnTo>
                    <a:pt x="322" y="67"/>
                  </a:lnTo>
                  <a:cubicBezTo>
                    <a:pt x="322" y="47"/>
                    <a:pt x="308" y="43"/>
                    <a:pt x="296" y="25"/>
                  </a:cubicBezTo>
                  <a:cubicBezTo>
                    <a:pt x="194" y="27"/>
                    <a:pt x="219" y="77"/>
                    <a:pt x="161" y="93"/>
                  </a:cubicBezTo>
                  <a:lnTo>
                    <a:pt x="161" y="0"/>
                  </a:lnTo>
                  <a:cubicBezTo>
                    <a:pt x="62" y="0"/>
                    <a:pt x="96" y="14"/>
                    <a:pt x="54" y="104"/>
                  </a:cubicBezTo>
                  <a:cubicBezTo>
                    <a:pt x="38" y="138"/>
                    <a:pt x="0" y="185"/>
                    <a:pt x="0"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3" name="Freeform 18"/>
            <p:cNvSpPr>
              <a:spLocks noEditPoints="1"/>
            </p:cNvSpPr>
            <p:nvPr/>
          </p:nvSpPr>
          <p:spPr bwMode="auto">
            <a:xfrm>
              <a:off x="4343400" y="1709738"/>
              <a:ext cx="93663" cy="111125"/>
            </a:xfrm>
            <a:custGeom>
              <a:avLst/>
              <a:gdLst>
                <a:gd name="T0" fmla="*/ 182 w 401"/>
                <a:gd name="T1" fmla="*/ 347 h 474"/>
                <a:gd name="T2" fmla="*/ 185 w 401"/>
                <a:gd name="T3" fmla="*/ 350 h 474"/>
                <a:gd name="T4" fmla="*/ 182 w 401"/>
                <a:gd name="T5" fmla="*/ 347 h 474"/>
                <a:gd name="T6" fmla="*/ 114 w 401"/>
                <a:gd name="T7" fmla="*/ 305 h 474"/>
                <a:gd name="T8" fmla="*/ 140 w 401"/>
                <a:gd name="T9" fmla="*/ 339 h 474"/>
                <a:gd name="T10" fmla="*/ 114 w 401"/>
                <a:gd name="T11" fmla="*/ 339 h 474"/>
                <a:gd name="T12" fmla="*/ 114 w 401"/>
                <a:gd name="T13" fmla="*/ 305 h 474"/>
                <a:gd name="T14" fmla="*/ 165 w 401"/>
                <a:gd name="T15" fmla="*/ 305 h 474"/>
                <a:gd name="T16" fmla="*/ 173 w 401"/>
                <a:gd name="T17" fmla="*/ 306 h 474"/>
                <a:gd name="T18" fmla="*/ 165 w 401"/>
                <a:gd name="T19" fmla="*/ 305 h 474"/>
                <a:gd name="T20" fmla="*/ 182 w 401"/>
                <a:gd name="T21" fmla="*/ 203 h 474"/>
                <a:gd name="T22" fmla="*/ 148 w 401"/>
                <a:gd name="T23" fmla="*/ 254 h 474"/>
                <a:gd name="T24" fmla="*/ 182 w 401"/>
                <a:gd name="T25" fmla="*/ 203 h 474"/>
                <a:gd name="T26" fmla="*/ 182 w 401"/>
                <a:gd name="T27" fmla="*/ 203 h 474"/>
                <a:gd name="T28" fmla="*/ 228 w 401"/>
                <a:gd name="T29" fmla="*/ 165 h 474"/>
                <a:gd name="T30" fmla="*/ 259 w 401"/>
                <a:gd name="T31" fmla="*/ 152 h 474"/>
                <a:gd name="T32" fmla="*/ 277 w 401"/>
                <a:gd name="T33" fmla="*/ 149 h 474"/>
                <a:gd name="T34" fmla="*/ 323 w 401"/>
                <a:gd name="T35" fmla="*/ 189 h 474"/>
                <a:gd name="T36" fmla="*/ 318 w 401"/>
                <a:gd name="T37" fmla="*/ 313 h 474"/>
                <a:gd name="T38" fmla="*/ 275 w 401"/>
                <a:gd name="T39" fmla="*/ 347 h 474"/>
                <a:gd name="T40" fmla="*/ 241 w 401"/>
                <a:gd name="T41" fmla="*/ 203 h 474"/>
                <a:gd name="T42" fmla="*/ 182 w 401"/>
                <a:gd name="T43" fmla="*/ 203 h 474"/>
                <a:gd name="T44" fmla="*/ 89 w 401"/>
                <a:gd name="T45" fmla="*/ 17 h 474"/>
                <a:gd name="T46" fmla="*/ 80 w 401"/>
                <a:gd name="T47" fmla="*/ 68 h 474"/>
                <a:gd name="T48" fmla="*/ 30 w 401"/>
                <a:gd name="T49" fmla="*/ 118 h 474"/>
                <a:gd name="T50" fmla="*/ 114 w 401"/>
                <a:gd name="T51" fmla="*/ 195 h 474"/>
                <a:gd name="T52" fmla="*/ 97 w 401"/>
                <a:gd name="T53" fmla="*/ 254 h 474"/>
                <a:gd name="T54" fmla="*/ 21 w 401"/>
                <a:gd name="T55" fmla="*/ 254 h 474"/>
                <a:gd name="T56" fmla="*/ 123 w 401"/>
                <a:gd name="T57" fmla="*/ 423 h 474"/>
                <a:gd name="T58" fmla="*/ 123 w 401"/>
                <a:gd name="T59" fmla="*/ 372 h 474"/>
                <a:gd name="T60" fmla="*/ 157 w 401"/>
                <a:gd name="T61" fmla="*/ 372 h 474"/>
                <a:gd name="T62" fmla="*/ 216 w 401"/>
                <a:gd name="T63" fmla="*/ 423 h 474"/>
                <a:gd name="T64" fmla="*/ 224 w 401"/>
                <a:gd name="T65" fmla="*/ 474 h 474"/>
                <a:gd name="T66" fmla="*/ 275 w 401"/>
                <a:gd name="T67" fmla="*/ 389 h 474"/>
                <a:gd name="T68" fmla="*/ 351 w 401"/>
                <a:gd name="T69" fmla="*/ 135 h 474"/>
                <a:gd name="T70" fmla="*/ 213 w 401"/>
                <a:gd name="T71" fmla="*/ 141 h 474"/>
                <a:gd name="T72" fmla="*/ 165 w 401"/>
                <a:gd name="T73" fmla="*/ 161 h 474"/>
                <a:gd name="T74" fmla="*/ 148 w 401"/>
                <a:gd name="T75" fmla="*/ 0 h 474"/>
                <a:gd name="T76" fmla="*/ 140 w 401"/>
                <a:gd name="T77" fmla="*/ 63 h 474"/>
                <a:gd name="T78" fmla="*/ 89 w 401"/>
                <a:gd name="T79" fmla="*/ 17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1" h="474">
                  <a:moveTo>
                    <a:pt x="182" y="347"/>
                  </a:moveTo>
                  <a:lnTo>
                    <a:pt x="185" y="350"/>
                  </a:lnTo>
                  <a:cubicBezTo>
                    <a:pt x="184" y="349"/>
                    <a:pt x="181" y="348"/>
                    <a:pt x="182" y="347"/>
                  </a:cubicBezTo>
                  <a:close/>
                  <a:moveTo>
                    <a:pt x="114" y="305"/>
                  </a:moveTo>
                  <a:cubicBezTo>
                    <a:pt x="139" y="323"/>
                    <a:pt x="125" y="310"/>
                    <a:pt x="140" y="339"/>
                  </a:cubicBezTo>
                  <a:lnTo>
                    <a:pt x="114" y="339"/>
                  </a:lnTo>
                  <a:lnTo>
                    <a:pt x="114" y="305"/>
                  </a:lnTo>
                  <a:close/>
                  <a:moveTo>
                    <a:pt x="165" y="305"/>
                  </a:moveTo>
                  <a:cubicBezTo>
                    <a:pt x="167" y="287"/>
                    <a:pt x="210" y="307"/>
                    <a:pt x="173" y="306"/>
                  </a:cubicBezTo>
                  <a:cubicBezTo>
                    <a:pt x="170" y="305"/>
                    <a:pt x="163" y="324"/>
                    <a:pt x="165" y="305"/>
                  </a:cubicBezTo>
                  <a:close/>
                  <a:moveTo>
                    <a:pt x="182" y="203"/>
                  </a:moveTo>
                  <a:cubicBezTo>
                    <a:pt x="181" y="244"/>
                    <a:pt x="183" y="250"/>
                    <a:pt x="148" y="254"/>
                  </a:cubicBezTo>
                  <a:cubicBezTo>
                    <a:pt x="162" y="228"/>
                    <a:pt x="159" y="220"/>
                    <a:pt x="182" y="203"/>
                  </a:cubicBezTo>
                  <a:close/>
                  <a:moveTo>
                    <a:pt x="182" y="203"/>
                  </a:moveTo>
                  <a:cubicBezTo>
                    <a:pt x="194" y="185"/>
                    <a:pt x="206" y="176"/>
                    <a:pt x="228" y="165"/>
                  </a:cubicBezTo>
                  <a:cubicBezTo>
                    <a:pt x="233" y="163"/>
                    <a:pt x="259" y="152"/>
                    <a:pt x="259" y="152"/>
                  </a:cubicBezTo>
                  <a:cubicBezTo>
                    <a:pt x="262" y="152"/>
                    <a:pt x="277" y="149"/>
                    <a:pt x="277" y="149"/>
                  </a:cubicBezTo>
                  <a:cubicBezTo>
                    <a:pt x="303" y="149"/>
                    <a:pt x="316" y="164"/>
                    <a:pt x="323" y="189"/>
                  </a:cubicBezTo>
                  <a:cubicBezTo>
                    <a:pt x="331" y="219"/>
                    <a:pt x="326" y="285"/>
                    <a:pt x="318" y="313"/>
                  </a:cubicBezTo>
                  <a:cubicBezTo>
                    <a:pt x="309" y="343"/>
                    <a:pt x="309" y="344"/>
                    <a:pt x="275" y="347"/>
                  </a:cubicBezTo>
                  <a:cubicBezTo>
                    <a:pt x="260" y="283"/>
                    <a:pt x="241" y="296"/>
                    <a:pt x="241" y="203"/>
                  </a:cubicBezTo>
                  <a:lnTo>
                    <a:pt x="182" y="203"/>
                  </a:lnTo>
                  <a:close/>
                  <a:moveTo>
                    <a:pt x="89" y="17"/>
                  </a:moveTo>
                  <a:cubicBezTo>
                    <a:pt x="86" y="52"/>
                    <a:pt x="80" y="36"/>
                    <a:pt x="80" y="68"/>
                  </a:cubicBezTo>
                  <a:cubicBezTo>
                    <a:pt x="80" y="112"/>
                    <a:pt x="114" y="118"/>
                    <a:pt x="30" y="118"/>
                  </a:cubicBezTo>
                  <a:cubicBezTo>
                    <a:pt x="31" y="187"/>
                    <a:pt x="62" y="167"/>
                    <a:pt x="114" y="195"/>
                  </a:cubicBezTo>
                  <a:cubicBezTo>
                    <a:pt x="107" y="226"/>
                    <a:pt x="100" y="218"/>
                    <a:pt x="97" y="254"/>
                  </a:cubicBezTo>
                  <a:cubicBezTo>
                    <a:pt x="45" y="253"/>
                    <a:pt x="74" y="242"/>
                    <a:pt x="21" y="254"/>
                  </a:cubicBezTo>
                  <a:cubicBezTo>
                    <a:pt x="0" y="345"/>
                    <a:pt x="9" y="414"/>
                    <a:pt x="123" y="423"/>
                  </a:cubicBezTo>
                  <a:lnTo>
                    <a:pt x="123" y="372"/>
                  </a:lnTo>
                  <a:lnTo>
                    <a:pt x="157" y="372"/>
                  </a:lnTo>
                  <a:cubicBezTo>
                    <a:pt x="157" y="429"/>
                    <a:pt x="157" y="423"/>
                    <a:pt x="216" y="423"/>
                  </a:cubicBezTo>
                  <a:cubicBezTo>
                    <a:pt x="221" y="443"/>
                    <a:pt x="224" y="448"/>
                    <a:pt x="224" y="474"/>
                  </a:cubicBezTo>
                  <a:cubicBezTo>
                    <a:pt x="265" y="453"/>
                    <a:pt x="271" y="445"/>
                    <a:pt x="275" y="389"/>
                  </a:cubicBezTo>
                  <a:cubicBezTo>
                    <a:pt x="401" y="389"/>
                    <a:pt x="351" y="263"/>
                    <a:pt x="351" y="135"/>
                  </a:cubicBezTo>
                  <a:cubicBezTo>
                    <a:pt x="231" y="107"/>
                    <a:pt x="263" y="115"/>
                    <a:pt x="213" y="141"/>
                  </a:cubicBezTo>
                  <a:cubicBezTo>
                    <a:pt x="194" y="152"/>
                    <a:pt x="187" y="156"/>
                    <a:pt x="165" y="161"/>
                  </a:cubicBezTo>
                  <a:cubicBezTo>
                    <a:pt x="191" y="50"/>
                    <a:pt x="280" y="70"/>
                    <a:pt x="148" y="0"/>
                  </a:cubicBezTo>
                  <a:cubicBezTo>
                    <a:pt x="150" y="27"/>
                    <a:pt x="173" y="61"/>
                    <a:pt x="140" y="63"/>
                  </a:cubicBezTo>
                  <a:cubicBezTo>
                    <a:pt x="106" y="65"/>
                    <a:pt x="142" y="53"/>
                    <a:pt x="89"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4" name="Freeform 19"/>
            <p:cNvSpPr>
              <a:spLocks noEditPoints="1"/>
            </p:cNvSpPr>
            <p:nvPr/>
          </p:nvSpPr>
          <p:spPr bwMode="auto">
            <a:xfrm>
              <a:off x="4846638" y="1912938"/>
              <a:ext cx="114300" cy="84138"/>
            </a:xfrm>
            <a:custGeom>
              <a:avLst/>
              <a:gdLst>
                <a:gd name="T0" fmla="*/ 279 w 491"/>
                <a:gd name="T1" fmla="*/ 240 h 360"/>
                <a:gd name="T2" fmla="*/ 313 w 491"/>
                <a:gd name="T3" fmla="*/ 282 h 360"/>
                <a:gd name="T4" fmla="*/ 294 w 491"/>
                <a:gd name="T5" fmla="*/ 268 h 360"/>
                <a:gd name="T6" fmla="*/ 279 w 491"/>
                <a:gd name="T7" fmla="*/ 240 h 360"/>
                <a:gd name="T8" fmla="*/ 279 w 491"/>
                <a:gd name="T9" fmla="*/ 181 h 360"/>
                <a:gd name="T10" fmla="*/ 282 w 491"/>
                <a:gd name="T11" fmla="*/ 183 h 360"/>
                <a:gd name="T12" fmla="*/ 279 w 491"/>
                <a:gd name="T13" fmla="*/ 181 h 360"/>
                <a:gd name="T14" fmla="*/ 237 w 491"/>
                <a:gd name="T15" fmla="*/ 130 h 360"/>
                <a:gd name="T16" fmla="*/ 247 w 491"/>
                <a:gd name="T17" fmla="*/ 138 h 360"/>
                <a:gd name="T18" fmla="*/ 237 w 491"/>
                <a:gd name="T19" fmla="*/ 130 h 360"/>
                <a:gd name="T20" fmla="*/ 321 w 491"/>
                <a:gd name="T21" fmla="*/ 113 h 360"/>
                <a:gd name="T22" fmla="*/ 372 w 491"/>
                <a:gd name="T23" fmla="*/ 113 h 360"/>
                <a:gd name="T24" fmla="*/ 372 w 491"/>
                <a:gd name="T25" fmla="*/ 122 h 360"/>
                <a:gd name="T26" fmla="*/ 321 w 491"/>
                <a:gd name="T27" fmla="*/ 122 h 360"/>
                <a:gd name="T28" fmla="*/ 321 w 491"/>
                <a:gd name="T29" fmla="*/ 113 h 360"/>
                <a:gd name="T30" fmla="*/ 279 w 491"/>
                <a:gd name="T31" fmla="*/ 113 h 360"/>
                <a:gd name="T32" fmla="*/ 293 w 491"/>
                <a:gd name="T33" fmla="*/ 117 h 360"/>
                <a:gd name="T34" fmla="*/ 279 w 491"/>
                <a:gd name="T35" fmla="*/ 113 h 360"/>
                <a:gd name="T36" fmla="*/ 0 w 491"/>
                <a:gd name="T37" fmla="*/ 54 h 360"/>
                <a:gd name="T38" fmla="*/ 243 w 491"/>
                <a:gd name="T39" fmla="*/ 184 h 360"/>
                <a:gd name="T40" fmla="*/ 299 w 491"/>
                <a:gd name="T41" fmla="*/ 339 h 360"/>
                <a:gd name="T42" fmla="*/ 333 w 491"/>
                <a:gd name="T43" fmla="*/ 355 h 360"/>
                <a:gd name="T44" fmla="*/ 330 w 491"/>
                <a:gd name="T45" fmla="*/ 215 h 360"/>
                <a:gd name="T46" fmla="*/ 491 w 491"/>
                <a:gd name="T47" fmla="*/ 147 h 360"/>
                <a:gd name="T48" fmla="*/ 398 w 491"/>
                <a:gd name="T49" fmla="*/ 155 h 360"/>
                <a:gd name="T50" fmla="*/ 398 w 491"/>
                <a:gd name="T51" fmla="*/ 138 h 360"/>
                <a:gd name="T52" fmla="*/ 465 w 491"/>
                <a:gd name="T53" fmla="*/ 96 h 360"/>
                <a:gd name="T54" fmla="*/ 355 w 491"/>
                <a:gd name="T55" fmla="*/ 88 h 360"/>
                <a:gd name="T56" fmla="*/ 389 w 491"/>
                <a:gd name="T57" fmla="*/ 20 h 360"/>
                <a:gd name="T58" fmla="*/ 296 w 491"/>
                <a:gd name="T59" fmla="*/ 62 h 360"/>
                <a:gd name="T60" fmla="*/ 279 w 491"/>
                <a:gd name="T61" fmla="*/ 71 h 360"/>
                <a:gd name="T62" fmla="*/ 262 w 491"/>
                <a:gd name="T63" fmla="*/ 45 h 360"/>
                <a:gd name="T64" fmla="*/ 194 w 491"/>
                <a:gd name="T65" fmla="*/ 79 h 360"/>
                <a:gd name="T66" fmla="*/ 220 w 491"/>
                <a:gd name="T67" fmla="*/ 122 h 360"/>
                <a:gd name="T68" fmla="*/ 101 w 491"/>
                <a:gd name="T69" fmla="*/ 62 h 360"/>
                <a:gd name="T70" fmla="*/ 110 w 491"/>
                <a:gd name="T71" fmla="*/ 3 h 360"/>
                <a:gd name="T72" fmla="*/ 39 w 491"/>
                <a:gd name="T73" fmla="*/ 8 h 360"/>
                <a:gd name="T74" fmla="*/ 0 w 491"/>
                <a:gd name="T75" fmla="*/ 54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1" h="360">
                  <a:moveTo>
                    <a:pt x="279" y="240"/>
                  </a:moveTo>
                  <a:cubicBezTo>
                    <a:pt x="309" y="248"/>
                    <a:pt x="310" y="248"/>
                    <a:pt x="313" y="282"/>
                  </a:cubicBezTo>
                  <a:cubicBezTo>
                    <a:pt x="306" y="278"/>
                    <a:pt x="302" y="277"/>
                    <a:pt x="294" y="268"/>
                  </a:cubicBezTo>
                  <a:cubicBezTo>
                    <a:pt x="272" y="243"/>
                    <a:pt x="287" y="255"/>
                    <a:pt x="279" y="240"/>
                  </a:cubicBezTo>
                  <a:close/>
                  <a:moveTo>
                    <a:pt x="279" y="181"/>
                  </a:moveTo>
                  <a:lnTo>
                    <a:pt x="282" y="183"/>
                  </a:lnTo>
                  <a:cubicBezTo>
                    <a:pt x="282" y="183"/>
                    <a:pt x="278" y="182"/>
                    <a:pt x="279" y="181"/>
                  </a:cubicBezTo>
                  <a:close/>
                  <a:moveTo>
                    <a:pt x="237" y="130"/>
                  </a:moveTo>
                  <a:cubicBezTo>
                    <a:pt x="251" y="116"/>
                    <a:pt x="264" y="151"/>
                    <a:pt x="247" y="138"/>
                  </a:cubicBezTo>
                  <a:cubicBezTo>
                    <a:pt x="241" y="134"/>
                    <a:pt x="225" y="142"/>
                    <a:pt x="237" y="130"/>
                  </a:cubicBezTo>
                  <a:close/>
                  <a:moveTo>
                    <a:pt x="321" y="113"/>
                  </a:moveTo>
                  <a:lnTo>
                    <a:pt x="372" y="113"/>
                  </a:lnTo>
                  <a:lnTo>
                    <a:pt x="372" y="122"/>
                  </a:lnTo>
                  <a:lnTo>
                    <a:pt x="321" y="122"/>
                  </a:lnTo>
                  <a:lnTo>
                    <a:pt x="321" y="113"/>
                  </a:lnTo>
                  <a:close/>
                  <a:moveTo>
                    <a:pt x="279" y="113"/>
                  </a:moveTo>
                  <a:cubicBezTo>
                    <a:pt x="288" y="104"/>
                    <a:pt x="325" y="126"/>
                    <a:pt x="293" y="117"/>
                  </a:cubicBezTo>
                  <a:cubicBezTo>
                    <a:pt x="286" y="116"/>
                    <a:pt x="265" y="127"/>
                    <a:pt x="279" y="113"/>
                  </a:cubicBezTo>
                  <a:close/>
                  <a:moveTo>
                    <a:pt x="0" y="54"/>
                  </a:moveTo>
                  <a:cubicBezTo>
                    <a:pt x="0" y="153"/>
                    <a:pt x="138" y="47"/>
                    <a:pt x="243" y="184"/>
                  </a:cubicBezTo>
                  <a:cubicBezTo>
                    <a:pt x="285" y="239"/>
                    <a:pt x="216" y="280"/>
                    <a:pt x="299" y="339"/>
                  </a:cubicBezTo>
                  <a:cubicBezTo>
                    <a:pt x="303" y="341"/>
                    <a:pt x="331" y="355"/>
                    <a:pt x="333" y="355"/>
                  </a:cubicBezTo>
                  <a:cubicBezTo>
                    <a:pt x="402" y="360"/>
                    <a:pt x="333" y="255"/>
                    <a:pt x="330" y="215"/>
                  </a:cubicBezTo>
                  <a:cubicBezTo>
                    <a:pt x="466" y="183"/>
                    <a:pt x="489" y="225"/>
                    <a:pt x="491" y="147"/>
                  </a:cubicBezTo>
                  <a:cubicBezTo>
                    <a:pt x="446" y="151"/>
                    <a:pt x="438" y="164"/>
                    <a:pt x="398" y="155"/>
                  </a:cubicBezTo>
                  <a:lnTo>
                    <a:pt x="398" y="138"/>
                  </a:lnTo>
                  <a:cubicBezTo>
                    <a:pt x="445" y="140"/>
                    <a:pt x="464" y="159"/>
                    <a:pt x="465" y="96"/>
                  </a:cubicBezTo>
                  <a:cubicBezTo>
                    <a:pt x="398" y="96"/>
                    <a:pt x="412" y="101"/>
                    <a:pt x="355" y="88"/>
                  </a:cubicBezTo>
                  <a:cubicBezTo>
                    <a:pt x="374" y="59"/>
                    <a:pt x="385" y="65"/>
                    <a:pt x="389" y="20"/>
                  </a:cubicBezTo>
                  <a:cubicBezTo>
                    <a:pt x="351" y="23"/>
                    <a:pt x="337" y="40"/>
                    <a:pt x="296" y="62"/>
                  </a:cubicBezTo>
                  <a:lnTo>
                    <a:pt x="279" y="71"/>
                  </a:lnTo>
                  <a:cubicBezTo>
                    <a:pt x="260" y="58"/>
                    <a:pt x="269" y="69"/>
                    <a:pt x="262" y="45"/>
                  </a:cubicBezTo>
                  <a:cubicBezTo>
                    <a:pt x="233" y="48"/>
                    <a:pt x="194" y="49"/>
                    <a:pt x="194" y="79"/>
                  </a:cubicBezTo>
                  <a:cubicBezTo>
                    <a:pt x="194" y="115"/>
                    <a:pt x="203" y="75"/>
                    <a:pt x="220" y="122"/>
                  </a:cubicBezTo>
                  <a:lnTo>
                    <a:pt x="101" y="62"/>
                  </a:lnTo>
                  <a:cubicBezTo>
                    <a:pt x="102" y="25"/>
                    <a:pt x="107" y="36"/>
                    <a:pt x="110" y="3"/>
                  </a:cubicBezTo>
                  <a:cubicBezTo>
                    <a:pt x="83" y="3"/>
                    <a:pt x="62" y="0"/>
                    <a:pt x="39" y="8"/>
                  </a:cubicBezTo>
                  <a:cubicBezTo>
                    <a:pt x="22" y="15"/>
                    <a:pt x="0" y="34"/>
                    <a:pt x="0"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5" name="Freeform 20"/>
            <p:cNvSpPr>
              <a:spLocks noEditPoints="1"/>
            </p:cNvSpPr>
            <p:nvPr/>
          </p:nvSpPr>
          <p:spPr bwMode="auto">
            <a:xfrm>
              <a:off x="4837113" y="2320926"/>
              <a:ext cx="80963" cy="87313"/>
            </a:xfrm>
            <a:custGeom>
              <a:avLst/>
              <a:gdLst>
                <a:gd name="T0" fmla="*/ 153 w 348"/>
                <a:gd name="T1" fmla="*/ 178 h 373"/>
                <a:gd name="T2" fmla="*/ 45 w 348"/>
                <a:gd name="T3" fmla="*/ 212 h 373"/>
                <a:gd name="T4" fmla="*/ 68 w 348"/>
                <a:gd name="T5" fmla="*/ 169 h 373"/>
                <a:gd name="T6" fmla="*/ 153 w 348"/>
                <a:gd name="T7" fmla="*/ 178 h 373"/>
                <a:gd name="T8" fmla="*/ 127 w 348"/>
                <a:gd name="T9" fmla="*/ 356 h 373"/>
                <a:gd name="T10" fmla="*/ 136 w 348"/>
                <a:gd name="T11" fmla="*/ 364 h 373"/>
                <a:gd name="T12" fmla="*/ 195 w 348"/>
                <a:gd name="T13" fmla="*/ 373 h 373"/>
                <a:gd name="T14" fmla="*/ 221 w 348"/>
                <a:gd name="T15" fmla="*/ 186 h 373"/>
                <a:gd name="T16" fmla="*/ 153 w 348"/>
                <a:gd name="T17" fmla="*/ 178 h 373"/>
                <a:gd name="T18" fmla="*/ 153 w 348"/>
                <a:gd name="T19" fmla="*/ 144 h 373"/>
                <a:gd name="T20" fmla="*/ 94 w 348"/>
                <a:gd name="T21" fmla="*/ 126 h 373"/>
                <a:gd name="T22" fmla="*/ 94 w 348"/>
                <a:gd name="T23" fmla="*/ 102 h 373"/>
                <a:gd name="T24" fmla="*/ 204 w 348"/>
                <a:gd name="T25" fmla="*/ 135 h 373"/>
                <a:gd name="T26" fmla="*/ 280 w 348"/>
                <a:gd name="T27" fmla="*/ 212 h 373"/>
                <a:gd name="T28" fmla="*/ 324 w 348"/>
                <a:gd name="T29" fmla="*/ 172 h 373"/>
                <a:gd name="T30" fmla="*/ 348 w 348"/>
                <a:gd name="T31" fmla="*/ 102 h 373"/>
                <a:gd name="T32" fmla="*/ 194 w 348"/>
                <a:gd name="T33" fmla="*/ 52 h 373"/>
                <a:gd name="T34" fmla="*/ 170 w 348"/>
                <a:gd name="T35" fmla="*/ 0 h 373"/>
                <a:gd name="T36" fmla="*/ 127 w 348"/>
                <a:gd name="T37" fmla="*/ 0 h 373"/>
                <a:gd name="T38" fmla="*/ 0 w 348"/>
                <a:gd name="T39" fmla="*/ 229 h 373"/>
                <a:gd name="T40" fmla="*/ 68 w 348"/>
                <a:gd name="T41" fmla="*/ 305 h 373"/>
                <a:gd name="T42" fmla="*/ 212 w 348"/>
                <a:gd name="T43" fmla="*/ 246 h 373"/>
                <a:gd name="T44" fmla="*/ 110 w 348"/>
                <a:gd name="T45" fmla="*/ 305 h 373"/>
                <a:gd name="T46" fmla="*/ 127 w 348"/>
                <a:gd name="T47" fmla="*/ 356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8" h="373">
                  <a:moveTo>
                    <a:pt x="153" y="178"/>
                  </a:moveTo>
                  <a:cubicBezTo>
                    <a:pt x="137" y="192"/>
                    <a:pt x="55" y="260"/>
                    <a:pt x="45" y="212"/>
                  </a:cubicBezTo>
                  <a:cubicBezTo>
                    <a:pt x="41" y="191"/>
                    <a:pt x="56" y="188"/>
                    <a:pt x="68" y="169"/>
                  </a:cubicBezTo>
                  <a:cubicBezTo>
                    <a:pt x="113" y="169"/>
                    <a:pt x="118" y="170"/>
                    <a:pt x="153" y="178"/>
                  </a:cubicBezTo>
                  <a:close/>
                  <a:moveTo>
                    <a:pt x="127" y="356"/>
                  </a:moveTo>
                  <a:lnTo>
                    <a:pt x="136" y="364"/>
                  </a:lnTo>
                  <a:cubicBezTo>
                    <a:pt x="169" y="367"/>
                    <a:pt x="158" y="372"/>
                    <a:pt x="195" y="373"/>
                  </a:cubicBezTo>
                  <a:cubicBezTo>
                    <a:pt x="206" y="325"/>
                    <a:pt x="307" y="240"/>
                    <a:pt x="221" y="186"/>
                  </a:cubicBezTo>
                  <a:cubicBezTo>
                    <a:pt x="190" y="166"/>
                    <a:pt x="191" y="175"/>
                    <a:pt x="153" y="178"/>
                  </a:cubicBezTo>
                  <a:lnTo>
                    <a:pt x="153" y="144"/>
                  </a:lnTo>
                  <a:lnTo>
                    <a:pt x="94" y="126"/>
                  </a:lnTo>
                  <a:lnTo>
                    <a:pt x="94" y="102"/>
                  </a:lnTo>
                  <a:cubicBezTo>
                    <a:pt x="178" y="102"/>
                    <a:pt x="152" y="105"/>
                    <a:pt x="204" y="135"/>
                  </a:cubicBezTo>
                  <a:cubicBezTo>
                    <a:pt x="244" y="159"/>
                    <a:pt x="267" y="158"/>
                    <a:pt x="280" y="212"/>
                  </a:cubicBezTo>
                  <a:cubicBezTo>
                    <a:pt x="308" y="204"/>
                    <a:pt x="310" y="195"/>
                    <a:pt x="324" y="172"/>
                  </a:cubicBezTo>
                  <a:cubicBezTo>
                    <a:pt x="339" y="148"/>
                    <a:pt x="347" y="137"/>
                    <a:pt x="348" y="102"/>
                  </a:cubicBezTo>
                  <a:cubicBezTo>
                    <a:pt x="289" y="115"/>
                    <a:pt x="240" y="87"/>
                    <a:pt x="194" y="52"/>
                  </a:cubicBezTo>
                  <a:cubicBezTo>
                    <a:pt x="171" y="33"/>
                    <a:pt x="171" y="39"/>
                    <a:pt x="170" y="0"/>
                  </a:cubicBezTo>
                  <a:lnTo>
                    <a:pt x="127" y="0"/>
                  </a:lnTo>
                  <a:cubicBezTo>
                    <a:pt x="125" y="87"/>
                    <a:pt x="18" y="154"/>
                    <a:pt x="0" y="229"/>
                  </a:cubicBezTo>
                  <a:cubicBezTo>
                    <a:pt x="14" y="249"/>
                    <a:pt x="48" y="291"/>
                    <a:pt x="68" y="305"/>
                  </a:cubicBezTo>
                  <a:cubicBezTo>
                    <a:pt x="177" y="280"/>
                    <a:pt x="137" y="247"/>
                    <a:pt x="212" y="246"/>
                  </a:cubicBezTo>
                  <a:cubicBezTo>
                    <a:pt x="210" y="327"/>
                    <a:pt x="171" y="334"/>
                    <a:pt x="110" y="305"/>
                  </a:cubicBezTo>
                  <a:cubicBezTo>
                    <a:pt x="113" y="334"/>
                    <a:pt x="117" y="336"/>
                    <a:pt x="127" y="3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6" name="Freeform 21"/>
            <p:cNvSpPr/>
            <p:nvPr/>
          </p:nvSpPr>
          <p:spPr bwMode="auto">
            <a:xfrm>
              <a:off x="4656138" y="1728788"/>
              <a:ext cx="77788" cy="79375"/>
            </a:xfrm>
            <a:custGeom>
              <a:avLst/>
              <a:gdLst>
                <a:gd name="T0" fmla="*/ 161 w 331"/>
                <a:gd name="T1" fmla="*/ 127 h 339"/>
                <a:gd name="T2" fmla="*/ 43 w 331"/>
                <a:gd name="T3" fmla="*/ 144 h 339"/>
                <a:gd name="T4" fmla="*/ 136 w 331"/>
                <a:gd name="T5" fmla="*/ 186 h 339"/>
                <a:gd name="T6" fmla="*/ 0 w 331"/>
                <a:gd name="T7" fmla="*/ 279 h 339"/>
                <a:gd name="T8" fmla="*/ 181 w 331"/>
                <a:gd name="T9" fmla="*/ 231 h 339"/>
                <a:gd name="T10" fmla="*/ 331 w 331"/>
                <a:gd name="T11" fmla="*/ 186 h 339"/>
                <a:gd name="T12" fmla="*/ 263 w 331"/>
                <a:gd name="T13" fmla="*/ 127 h 339"/>
                <a:gd name="T14" fmla="*/ 212 w 331"/>
                <a:gd name="T15" fmla="*/ 0 h 339"/>
                <a:gd name="T16" fmla="*/ 195 w 331"/>
                <a:gd name="T17" fmla="*/ 67 h 339"/>
                <a:gd name="T18" fmla="*/ 161 w 331"/>
                <a:gd name="T19" fmla="*/ 127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339">
                  <a:moveTo>
                    <a:pt x="161" y="127"/>
                  </a:moveTo>
                  <a:cubicBezTo>
                    <a:pt x="68" y="127"/>
                    <a:pt x="43" y="51"/>
                    <a:pt x="43" y="144"/>
                  </a:cubicBezTo>
                  <a:cubicBezTo>
                    <a:pt x="43" y="189"/>
                    <a:pt x="91" y="186"/>
                    <a:pt x="136" y="186"/>
                  </a:cubicBezTo>
                  <a:cubicBezTo>
                    <a:pt x="73" y="280"/>
                    <a:pt x="0" y="206"/>
                    <a:pt x="0" y="279"/>
                  </a:cubicBezTo>
                  <a:cubicBezTo>
                    <a:pt x="0" y="321"/>
                    <a:pt x="93" y="339"/>
                    <a:pt x="181" y="231"/>
                  </a:cubicBezTo>
                  <a:cubicBezTo>
                    <a:pt x="233" y="167"/>
                    <a:pt x="252" y="186"/>
                    <a:pt x="331" y="186"/>
                  </a:cubicBezTo>
                  <a:cubicBezTo>
                    <a:pt x="320" y="140"/>
                    <a:pt x="319" y="128"/>
                    <a:pt x="263" y="127"/>
                  </a:cubicBezTo>
                  <a:cubicBezTo>
                    <a:pt x="264" y="75"/>
                    <a:pt x="301" y="20"/>
                    <a:pt x="212" y="0"/>
                  </a:cubicBezTo>
                  <a:cubicBezTo>
                    <a:pt x="210" y="29"/>
                    <a:pt x="202" y="41"/>
                    <a:pt x="195" y="67"/>
                  </a:cubicBezTo>
                  <a:cubicBezTo>
                    <a:pt x="188" y="96"/>
                    <a:pt x="192" y="127"/>
                    <a:pt x="161"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7" name="Freeform 22"/>
            <p:cNvSpPr/>
            <p:nvPr/>
          </p:nvSpPr>
          <p:spPr bwMode="auto">
            <a:xfrm>
              <a:off x="4362450" y="2473326"/>
              <a:ext cx="66675" cy="68263"/>
            </a:xfrm>
            <a:custGeom>
              <a:avLst/>
              <a:gdLst>
                <a:gd name="T0" fmla="*/ 0 w 293"/>
                <a:gd name="T1" fmla="*/ 203 h 296"/>
                <a:gd name="T2" fmla="*/ 0 w 293"/>
                <a:gd name="T3" fmla="*/ 237 h 296"/>
                <a:gd name="T4" fmla="*/ 212 w 293"/>
                <a:gd name="T5" fmla="*/ 296 h 296"/>
                <a:gd name="T6" fmla="*/ 237 w 293"/>
                <a:gd name="T7" fmla="*/ 237 h 296"/>
                <a:gd name="T8" fmla="*/ 224 w 293"/>
                <a:gd name="T9" fmla="*/ 219 h 296"/>
                <a:gd name="T10" fmla="*/ 208 w 293"/>
                <a:gd name="T11" fmla="*/ 223 h 296"/>
                <a:gd name="T12" fmla="*/ 173 w 293"/>
                <a:gd name="T13" fmla="*/ 242 h 296"/>
                <a:gd name="T14" fmla="*/ 102 w 293"/>
                <a:gd name="T15" fmla="*/ 229 h 296"/>
                <a:gd name="T16" fmla="*/ 119 w 293"/>
                <a:gd name="T17" fmla="*/ 169 h 296"/>
                <a:gd name="T18" fmla="*/ 161 w 293"/>
                <a:gd name="T19" fmla="*/ 220 h 296"/>
                <a:gd name="T20" fmla="*/ 212 w 293"/>
                <a:gd name="T21" fmla="*/ 119 h 296"/>
                <a:gd name="T22" fmla="*/ 144 w 293"/>
                <a:gd name="T23" fmla="*/ 136 h 296"/>
                <a:gd name="T24" fmla="*/ 229 w 293"/>
                <a:gd name="T25" fmla="*/ 161 h 296"/>
                <a:gd name="T26" fmla="*/ 288 w 293"/>
                <a:gd name="T27" fmla="*/ 85 h 296"/>
                <a:gd name="T28" fmla="*/ 85 w 293"/>
                <a:gd name="T29" fmla="*/ 0 h 296"/>
                <a:gd name="T30" fmla="*/ 97 w 293"/>
                <a:gd name="T31" fmla="*/ 58 h 296"/>
                <a:gd name="T32" fmla="*/ 55 w 293"/>
                <a:gd name="T33" fmla="*/ 173 h 296"/>
                <a:gd name="T34" fmla="*/ 0 w 293"/>
                <a:gd name="T35" fmla="*/ 20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3" h="296">
                  <a:moveTo>
                    <a:pt x="0" y="203"/>
                  </a:moveTo>
                  <a:lnTo>
                    <a:pt x="0" y="237"/>
                  </a:lnTo>
                  <a:cubicBezTo>
                    <a:pt x="83" y="244"/>
                    <a:pt x="103" y="296"/>
                    <a:pt x="212" y="296"/>
                  </a:cubicBezTo>
                  <a:cubicBezTo>
                    <a:pt x="220" y="263"/>
                    <a:pt x="231" y="258"/>
                    <a:pt x="237" y="237"/>
                  </a:cubicBezTo>
                  <a:cubicBezTo>
                    <a:pt x="240" y="227"/>
                    <a:pt x="250" y="215"/>
                    <a:pt x="224" y="219"/>
                  </a:cubicBezTo>
                  <a:cubicBezTo>
                    <a:pt x="217" y="220"/>
                    <a:pt x="214" y="220"/>
                    <a:pt x="208" y="223"/>
                  </a:cubicBezTo>
                  <a:cubicBezTo>
                    <a:pt x="192" y="229"/>
                    <a:pt x="188" y="234"/>
                    <a:pt x="173" y="242"/>
                  </a:cubicBezTo>
                  <a:cubicBezTo>
                    <a:pt x="135" y="263"/>
                    <a:pt x="135" y="251"/>
                    <a:pt x="102" y="229"/>
                  </a:cubicBezTo>
                  <a:cubicBezTo>
                    <a:pt x="109" y="197"/>
                    <a:pt x="116" y="205"/>
                    <a:pt x="119" y="169"/>
                  </a:cubicBezTo>
                  <a:cubicBezTo>
                    <a:pt x="167" y="170"/>
                    <a:pt x="161" y="173"/>
                    <a:pt x="161" y="220"/>
                  </a:cubicBezTo>
                  <a:cubicBezTo>
                    <a:pt x="191" y="201"/>
                    <a:pt x="208" y="163"/>
                    <a:pt x="212" y="119"/>
                  </a:cubicBezTo>
                  <a:cubicBezTo>
                    <a:pt x="195" y="127"/>
                    <a:pt x="166" y="131"/>
                    <a:pt x="144" y="136"/>
                  </a:cubicBezTo>
                  <a:cubicBezTo>
                    <a:pt x="152" y="42"/>
                    <a:pt x="229" y="60"/>
                    <a:pt x="229" y="161"/>
                  </a:cubicBezTo>
                  <a:cubicBezTo>
                    <a:pt x="293" y="156"/>
                    <a:pt x="266" y="132"/>
                    <a:pt x="288" y="85"/>
                  </a:cubicBezTo>
                  <a:cubicBezTo>
                    <a:pt x="186" y="31"/>
                    <a:pt x="142" y="28"/>
                    <a:pt x="85" y="0"/>
                  </a:cubicBezTo>
                  <a:cubicBezTo>
                    <a:pt x="88" y="29"/>
                    <a:pt x="98" y="39"/>
                    <a:pt x="97" y="58"/>
                  </a:cubicBezTo>
                  <a:lnTo>
                    <a:pt x="55" y="173"/>
                  </a:lnTo>
                  <a:cubicBezTo>
                    <a:pt x="39" y="206"/>
                    <a:pt x="44" y="203"/>
                    <a:pt x="0" y="2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8" name="Freeform 23"/>
            <p:cNvSpPr>
              <a:spLocks noEditPoints="1"/>
            </p:cNvSpPr>
            <p:nvPr/>
          </p:nvSpPr>
          <p:spPr bwMode="auto">
            <a:xfrm>
              <a:off x="4141788" y="2263776"/>
              <a:ext cx="57150" cy="57150"/>
            </a:xfrm>
            <a:custGeom>
              <a:avLst/>
              <a:gdLst>
                <a:gd name="T0" fmla="*/ 36 w 248"/>
                <a:gd name="T1" fmla="*/ 186 h 245"/>
                <a:gd name="T2" fmla="*/ 28 w 248"/>
                <a:gd name="T3" fmla="*/ 152 h 245"/>
                <a:gd name="T4" fmla="*/ 211 w 248"/>
                <a:gd name="T5" fmla="*/ 106 h 245"/>
                <a:gd name="T6" fmla="*/ 173 w 248"/>
                <a:gd name="T7" fmla="*/ 154 h 245"/>
                <a:gd name="T8" fmla="*/ 36 w 248"/>
                <a:gd name="T9" fmla="*/ 186 h 245"/>
                <a:gd name="T10" fmla="*/ 2 w 248"/>
                <a:gd name="T11" fmla="*/ 101 h 245"/>
                <a:gd name="T12" fmla="*/ 104 w 248"/>
                <a:gd name="T13" fmla="*/ 245 h 245"/>
                <a:gd name="T14" fmla="*/ 248 w 248"/>
                <a:gd name="T15" fmla="*/ 110 h 245"/>
                <a:gd name="T16" fmla="*/ 121 w 248"/>
                <a:gd name="T17" fmla="*/ 0 h 245"/>
                <a:gd name="T18" fmla="*/ 2 w 248"/>
                <a:gd name="T19" fmla="*/ 10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5">
                  <a:moveTo>
                    <a:pt x="36" y="186"/>
                  </a:moveTo>
                  <a:cubicBezTo>
                    <a:pt x="31" y="163"/>
                    <a:pt x="28" y="170"/>
                    <a:pt x="28" y="152"/>
                  </a:cubicBezTo>
                  <a:cubicBezTo>
                    <a:pt x="28" y="83"/>
                    <a:pt x="227" y="25"/>
                    <a:pt x="211" y="106"/>
                  </a:cubicBezTo>
                  <a:cubicBezTo>
                    <a:pt x="208" y="123"/>
                    <a:pt x="185" y="145"/>
                    <a:pt x="173" y="154"/>
                  </a:cubicBezTo>
                  <a:cubicBezTo>
                    <a:pt x="134" y="183"/>
                    <a:pt x="102" y="186"/>
                    <a:pt x="36" y="186"/>
                  </a:cubicBezTo>
                  <a:close/>
                  <a:moveTo>
                    <a:pt x="2" y="101"/>
                  </a:moveTo>
                  <a:cubicBezTo>
                    <a:pt x="2" y="165"/>
                    <a:pt x="0" y="245"/>
                    <a:pt x="104" y="245"/>
                  </a:cubicBezTo>
                  <a:cubicBezTo>
                    <a:pt x="171" y="245"/>
                    <a:pt x="248" y="201"/>
                    <a:pt x="248" y="110"/>
                  </a:cubicBezTo>
                  <a:cubicBezTo>
                    <a:pt x="248" y="57"/>
                    <a:pt x="168" y="0"/>
                    <a:pt x="121" y="0"/>
                  </a:cubicBezTo>
                  <a:cubicBezTo>
                    <a:pt x="68" y="0"/>
                    <a:pt x="2" y="49"/>
                    <a:pt x="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49" name="Freeform 24"/>
            <p:cNvSpPr/>
            <p:nvPr/>
          </p:nvSpPr>
          <p:spPr bwMode="auto">
            <a:xfrm>
              <a:off x="4416425" y="2482851"/>
              <a:ext cx="52388" cy="73025"/>
            </a:xfrm>
            <a:custGeom>
              <a:avLst/>
              <a:gdLst>
                <a:gd name="T0" fmla="*/ 33 w 220"/>
                <a:gd name="T1" fmla="*/ 132 h 310"/>
                <a:gd name="T2" fmla="*/ 128 w 220"/>
                <a:gd name="T3" fmla="*/ 242 h 310"/>
                <a:gd name="T4" fmla="*/ 50 w 220"/>
                <a:gd name="T5" fmla="*/ 183 h 310"/>
                <a:gd name="T6" fmla="*/ 16 w 220"/>
                <a:gd name="T7" fmla="*/ 183 h 310"/>
                <a:gd name="T8" fmla="*/ 0 w 220"/>
                <a:gd name="T9" fmla="*/ 267 h 310"/>
                <a:gd name="T10" fmla="*/ 110 w 220"/>
                <a:gd name="T11" fmla="*/ 310 h 310"/>
                <a:gd name="T12" fmla="*/ 194 w 220"/>
                <a:gd name="T13" fmla="*/ 250 h 310"/>
                <a:gd name="T14" fmla="*/ 127 w 220"/>
                <a:gd name="T15" fmla="*/ 81 h 310"/>
                <a:gd name="T16" fmla="*/ 177 w 220"/>
                <a:gd name="T17" fmla="*/ 174 h 310"/>
                <a:gd name="T18" fmla="*/ 211 w 220"/>
                <a:gd name="T19" fmla="*/ 174 h 310"/>
                <a:gd name="T20" fmla="*/ 220 w 220"/>
                <a:gd name="T21" fmla="*/ 73 h 310"/>
                <a:gd name="T22" fmla="*/ 66 w 220"/>
                <a:gd name="T23" fmla="*/ 72 h 310"/>
                <a:gd name="T24" fmla="*/ 33 w 220"/>
                <a:gd name="T25" fmla="*/ 132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310">
                  <a:moveTo>
                    <a:pt x="33" y="132"/>
                  </a:moveTo>
                  <a:cubicBezTo>
                    <a:pt x="33" y="182"/>
                    <a:pt x="114" y="205"/>
                    <a:pt x="128" y="242"/>
                  </a:cubicBezTo>
                  <a:cubicBezTo>
                    <a:pt x="149" y="292"/>
                    <a:pt x="50" y="309"/>
                    <a:pt x="50" y="183"/>
                  </a:cubicBezTo>
                  <a:lnTo>
                    <a:pt x="16" y="183"/>
                  </a:lnTo>
                  <a:cubicBezTo>
                    <a:pt x="11" y="207"/>
                    <a:pt x="2" y="240"/>
                    <a:pt x="0" y="267"/>
                  </a:cubicBezTo>
                  <a:cubicBezTo>
                    <a:pt x="27" y="274"/>
                    <a:pt x="96" y="310"/>
                    <a:pt x="110" y="310"/>
                  </a:cubicBezTo>
                  <a:cubicBezTo>
                    <a:pt x="130" y="310"/>
                    <a:pt x="194" y="278"/>
                    <a:pt x="194" y="250"/>
                  </a:cubicBezTo>
                  <a:cubicBezTo>
                    <a:pt x="194" y="125"/>
                    <a:pt x="35" y="142"/>
                    <a:pt x="127" y="81"/>
                  </a:cubicBezTo>
                  <a:cubicBezTo>
                    <a:pt x="165" y="91"/>
                    <a:pt x="176" y="128"/>
                    <a:pt x="177" y="174"/>
                  </a:cubicBezTo>
                  <a:lnTo>
                    <a:pt x="211" y="174"/>
                  </a:lnTo>
                  <a:cubicBezTo>
                    <a:pt x="211" y="125"/>
                    <a:pt x="220" y="115"/>
                    <a:pt x="220" y="73"/>
                  </a:cubicBezTo>
                  <a:cubicBezTo>
                    <a:pt x="155" y="104"/>
                    <a:pt x="141" y="0"/>
                    <a:pt x="66" y="72"/>
                  </a:cubicBezTo>
                  <a:cubicBezTo>
                    <a:pt x="57" y="81"/>
                    <a:pt x="33" y="115"/>
                    <a:pt x="33"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0" name="Freeform 25"/>
            <p:cNvSpPr/>
            <p:nvPr/>
          </p:nvSpPr>
          <p:spPr bwMode="auto">
            <a:xfrm>
              <a:off x="4468813" y="2500313"/>
              <a:ext cx="58738" cy="63500"/>
            </a:xfrm>
            <a:custGeom>
              <a:avLst/>
              <a:gdLst>
                <a:gd name="T0" fmla="*/ 6 w 252"/>
                <a:gd name="T1" fmla="*/ 101 h 271"/>
                <a:gd name="T2" fmla="*/ 99 w 252"/>
                <a:gd name="T3" fmla="*/ 50 h 271"/>
                <a:gd name="T4" fmla="*/ 74 w 252"/>
                <a:gd name="T5" fmla="*/ 228 h 271"/>
                <a:gd name="T6" fmla="*/ 40 w 252"/>
                <a:gd name="T7" fmla="*/ 228 h 271"/>
                <a:gd name="T8" fmla="*/ 40 w 252"/>
                <a:gd name="T9" fmla="*/ 262 h 271"/>
                <a:gd name="T10" fmla="*/ 175 w 252"/>
                <a:gd name="T11" fmla="*/ 271 h 271"/>
                <a:gd name="T12" fmla="*/ 160 w 252"/>
                <a:gd name="T13" fmla="*/ 59 h 271"/>
                <a:gd name="T14" fmla="*/ 209 w 252"/>
                <a:gd name="T15" fmla="*/ 127 h 271"/>
                <a:gd name="T16" fmla="*/ 243 w 252"/>
                <a:gd name="T17" fmla="*/ 127 h 271"/>
                <a:gd name="T18" fmla="*/ 252 w 252"/>
                <a:gd name="T19" fmla="*/ 42 h 271"/>
                <a:gd name="T20" fmla="*/ 23 w 252"/>
                <a:gd name="T21" fmla="*/ 0 h 271"/>
                <a:gd name="T22" fmla="*/ 6 w 252"/>
                <a:gd name="T23" fmla="*/ 10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 h="271">
                  <a:moveTo>
                    <a:pt x="6" y="101"/>
                  </a:moveTo>
                  <a:cubicBezTo>
                    <a:pt x="94" y="81"/>
                    <a:pt x="0" y="50"/>
                    <a:pt x="99" y="50"/>
                  </a:cubicBezTo>
                  <a:cubicBezTo>
                    <a:pt x="90" y="92"/>
                    <a:pt x="74" y="181"/>
                    <a:pt x="74" y="228"/>
                  </a:cubicBezTo>
                  <a:lnTo>
                    <a:pt x="40" y="228"/>
                  </a:lnTo>
                  <a:lnTo>
                    <a:pt x="40" y="262"/>
                  </a:lnTo>
                  <a:lnTo>
                    <a:pt x="175" y="271"/>
                  </a:lnTo>
                  <a:cubicBezTo>
                    <a:pt x="136" y="196"/>
                    <a:pt x="149" y="238"/>
                    <a:pt x="160" y="59"/>
                  </a:cubicBezTo>
                  <a:cubicBezTo>
                    <a:pt x="208" y="60"/>
                    <a:pt x="205" y="74"/>
                    <a:pt x="209" y="127"/>
                  </a:cubicBezTo>
                  <a:lnTo>
                    <a:pt x="243" y="127"/>
                  </a:lnTo>
                  <a:lnTo>
                    <a:pt x="252" y="42"/>
                  </a:lnTo>
                  <a:cubicBezTo>
                    <a:pt x="191" y="13"/>
                    <a:pt x="70" y="22"/>
                    <a:pt x="23" y="0"/>
                  </a:cubicBezTo>
                  <a:cubicBezTo>
                    <a:pt x="20" y="41"/>
                    <a:pt x="6" y="53"/>
                    <a:pt x="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1" name="Freeform 26"/>
            <p:cNvSpPr/>
            <p:nvPr/>
          </p:nvSpPr>
          <p:spPr bwMode="auto">
            <a:xfrm>
              <a:off x="4119563" y="2219326"/>
              <a:ext cx="63500" cy="47625"/>
            </a:xfrm>
            <a:custGeom>
              <a:avLst/>
              <a:gdLst>
                <a:gd name="T0" fmla="*/ 93 w 271"/>
                <a:gd name="T1" fmla="*/ 161 h 204"/>
                <a:gd name="T2" fmla="*/ 34 w 271"/>
                <a:gd name="T3" fmla="*/ 136 h 204"/>
                <a:gd name="T4" fmla="*/ 93 w 271"/>
                <a:gd name="T5" fmla="*/ 26 h 204"/>
                <a:gd name="T6" fmla="*/ 0 w 271"/>
                <a:gd name="T7" fmla="*/ 51 h 204"/>
                <a:gd name="T8" fmla="*/ 68 w 271"/>
                <a:gd name="T9" fmla="*/ 204 h 204"/>
                <a:gd name="T10" fmla="*/ 119 w 271"/>
                <a:gd name="T11" fmla="*/ 204 h 204"/>
                <a:gd name="T12" fmla="*/ 169 w 271"/>
                <a:gd name="T13" fmla="*/ 68 h 204"/>
                <a:gd name="T14" fmla="*/ 202 w 271"/>
                <a:gd name="T15" fmla="*/ 41 h 204"/>
                <a:gd name="T16" fmla="*/ 186 w 271"/>
                <a:gd name="T17" fmla="*/ 161 h 204"/>
                <a:gd name="T18" fmla="*/ 271 w 271"/>
                <a:gd name="T19" fmla="*/ 153 h 204"/>
                <a:gd name="T20" fmla="*/ 251 w 271"/>
                <a:gd name="T21" fmla="*/ 71 h 204"/>
                <a:gd name="T22" fmla="*/ 220 w 271"/>
                <a:gd name="T23" fmla="*/ 0 h 204"/>
                <a:gd name="T24" fmla="*/ 127 w 271"/>
                <a:gd name="T25" fmla="*/ 0 h 204"/>
                <a:gd name="T26" fmla="*/ 105 w 271"/>
                <a:gd name="T27" fmla="*/ 71 h 204"/>
                <a:gd name="T28" fmla="*/ 93 w 271"/>
                <a:gd name="T29" fmla="*/ 16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1" h="204">
                  <a:moveTo>
                    <a:pt x="93" y="161"/>
                  </a:moveTo>
                  <a:cubicBezTo>
                    <a:pt x="61" y="159"/>
                    <a:pt x="54" y="149"/>
                    <a:pt x="34" y="136"/>
                  </a:cubicBezTo>
                  <a:cubicBezTo>
                    <a:pt x="47" y="82"/>
                    <a:pt x="67" y="65"/>
                    <a:pt x="93" y="26"/>
                  </a:cubicBezTo>
                  <a:cubicBezTo>
                    <a:pt x="69" y="26"/>
                    <a:pt x="0" y="31"/>
                    <a:pt x="0" y="51"/>
                  </a:cubicBezTo>
                  <a:cubicBezTo>
                    <a:pt x="0" y="94"/>
                    <a:pt x="32" y="204"/>
                    <a:pt x="68" y="204"/>
                  </a:cubicBezTo>
                  <a:lnTo>
                    <a:pt x="119" y="204"/>
                  </a:lnTo>
                  <a:cubicBezTo>
                    <a:pt x="134" y="204"/>
                    <a:pt x="191" y="161"/>
                    <a:pt x="169" y="68"/>
                  </a:cubicBezTo>
                  <a:lnTo>
                    <a:pt x="202" y="41"/>
                  </a:lnTo>
                  <a:cubicBezTo>
                    <a:pt x="248" y="109"/>
                    <a:pt x="219" y="100"/>
                    <a:pt x="186" y="161"/>
                  </a:cubicBezTo>
                  <a:cubicBezTo>
                    <a:pt x="231" y="161"/>
                    <a:pt x="238" y="156"/>
                    <a:pt x="271" y="153"/>
                  </a:cubicBezTo>
                  <a:cubicBezTo>
                    <a:pt x="260" y="130"/>
                    <a:pt x="260" y="100"/>
                    <a:pt x="251" y="71"/>
                  </a:cubicBezTo>
                  <a:cubicBezTo>
                    <a:pt x="239" y="31"/>
                    <a:pt x="229" y="38"/>
                    <a:pt x="220" y="0"/>
                  </a:cubicBezTo>
                  <a:lnTo>
                    <a:pt x="127" y="0"/>
                  </a:lnTo>
                  <a:cubicBezTo>
                    <a:pt x="121" y="28"/>
                    <a:pt x="112" y="36"/>
                    <a:pt x="105" y="71"/>
                  </a:cubicBezTo>
                  <a:cubicBezTo>
                    <a:pt x="99" y="102"/>
                    <a:pt x="93" y="132"/>
                    <a:pt x="9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2" name="Freeform 27"/>
            <p:cNvSpPr/>
            <p:nvPr/>
          </p:nvSpPr>
          <p:spPr bwMode="auto">
            <a:xfrm>
              <a:off x="4875213" y="2268538"/>
              <a:ext cx="66675" cy="61913"/>
            </a:xfrm>
            <a:custGeom>
              <a:avLst/>
              <a:gdLst>
                <a:gd name="T0" fmla="*/ 0 w 288"/>
                <a:gd name="T1" fmla="*/ 212 h 262"/>
                <a:gd name="T2" fmla="*/ 85 w 288"/>
                <a:gd name="T3" fmla="*/ 229 h 262"/>
                <a:gd name="T4" fmla="*/ 60 w 288"/>
                <a:gd name="T5" fmla="*/ 144 h 262"/>
                <a:gd name="T6" fmla="*/ 212 w 288"/>
                <a:gd name="T7" fmla="*/ 262 h 262"/>
                <a:gd name="T8" fmla="*/ 246 w 288"/>
                <a:gd name="T9" fmla="*/ 262 h 262"/>
                <a:gd name="T10" fmla="*/ 288 w 288"/>
                <a:gd name="T11" fmla="*/ 135 h 262"/>
                <a:gd name="T12" fmla="*/ 246 w 288"/>
                <a:gd name="T13" fmla="*/ 144 h 262"/>
                <a:gd name="T14" fmla="*/ 85 w 288"/>
                <a:gd name="T15" fmla="*/ 85 h 262"/>
                <a:gd name="T16" fmla="*/ 178 w 288"/>
                <a:gd name="T17" fmla="*/ 25 h 262"/>
                <a:gd name="T18" fmla="*/ 85 w 288"/>
                <a:gd name="T19" fmla="*/ 0 h 262"/>
                <a:gd name="T20" fmla="*/ 0 w 288"/>
                <a:gd name="T21" fmla="*/ 21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62">
                  <a:moveTo>
                    <a:pt x="0" y="212"/>
                  </a:moveTo>
                  <a:cubicBezTo>
                    <a:pt x="40" y="215"/>
                    <a:pt x="41" y="228"/>
                    <a:pt x="85" y="229"/>
                  </a:cubicBezTo>
                  <a:cubicBezTo>
                    <a:pt x="70" y="200"/>
                    <a:pt x="60" y="189"/>
                    <a:pt x="60" y="144"/>
                  </a:cubicBezTo>
                  <a:cubicBezTo>
                    <a:pt x="215" y="226"/>
                    <a:pt x="232" y="177"/>
                    <a:pt x="212" y="262"/>
                  </a:cubicBezTo>
                  <a:lnTo>
                    <a:pt x="246" y="262"/>
                  </a:lnTo>
                  <a:cubicBezTo>
                    <a:pt x="251" y="203"/>
                    <a:pt x="284" y="187"/>
                    <a:pt x="288" y="135"/>
                  </a:cubicBezTo>
                  <a:cubicBezTo>
                    <a:pt x="255" y="138"/>
                    <a:pt x="268" y="144"/>
                    <a:pt x="246" y="144"/>
                  </a:cubicBezTo>
                  <a:cubicBezTo>
                    <a:pt x="200" y="144"/>
                    <a:pt x="140" y="97"/>
                    <a:pt x="85" y="85"/>
                  </a:cubicBezTo>
                  <a:cubicBezTo>
                    <a:pt x="129" y="19"/>
                    <a:pt x="136" y="104"/>
                    <a:pt x="178" y="25"/>
                  </a:cubicBezTo>
                  <a:cubicBezTo>
                    <a:pt x="142" y="22"/>
                    <a:pt x="119" y="8"/>
                    <a:pt x="85" y="0"/>
                  </a:cubicBezTo>
                  <a:cubicBezTo>
                    <a:pt x="69" y="33"/>
                    <a:pt x="3" y="184"/>
                    <a:pt x="0" y="2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3" name="Freeform 28"/>
            <p:cNvSpPr/>
            <p:nvPr/>
          </p:nvSpPr>
          <p:spPr bwMode="auto">
            <a:xfrm>
              <a:off x="4840288" y="1944688"/>
              <a:ext cx="66675" cy="44450"/>
            </a:xfrm>
            <a:custGeom>
              <a:avLst/>
              <a:gdLst>
                <a:gd name="T0" fmla="*/ 82 w 291"/>
                <a:gd name="T1" fmla="*/ 43 h 187"/>
                <a:gd name="T2" fmla="*/ 115 w 291"/>
                <a:gd name="T3" fmla="*/ 102 h 187"/>
                <a:gd name="T4" fmla="*/ 56 w 291"/>
                <a:gd name="T5" fmla="*/ 102 h 187"/>
                <a:gd name="T6" fmla="*/ 22 w 291"/>
                <a:gd name="T7" fmla="*/ 34 h 187"/>
                <a:gd name="T8" fmla="*/ 90 w 291"/>
                <a:gd name="T9" fmla="*/ 161 h 187"/>
                <a:gd name="T10" fmla="*/ 170 w 291"/>
                <a:gd name="T11" fmla="*/ 157 h 187"/>
                <a:gd name="T12" fmla="*/ 234 w 291"/>
                <a:gd name="T13" fmla="*/ 187 h 187"/>
                <a:gd name="T14" fmla="*/ 251 w 291"/>
                <a:gd name="T15" fmla="*/ 144 h 187"/>
                <a:gd name="T16" fmla="*/ 209 w 291"/>
                <a:gd name="T17" fmla="*/ 102 h 187"/>
                <a:gd name="T18" fmla="*/ 257 w 291"/>
                <a:gd name="T19" fmla="*/ 55 h 187"/>
                <a:gd name="T20" fmla="*/ 166 w 291"/>
                <a:gd name="T21" fmla="*/ 0 h 187"/>
                <a:gd name="T22" fmla="*/ 192 w 291"/>
                <a:gd name="T23" fmla="*/ 60 h 187"/>
                <a:gd name="T24" fmla="*/ 149 w 291"/>
                <a:gd name="T25" fmla="*/ 68 h 187"/>
                <a:gd name="T26" fmla="*/ 90 w 291"/>
                <a:gd name="T27" fmla="*/ 0 h 187"/>
                <a:gd name="T28" fmla="*/ 82 w 291"/>
                <a:gd name="T29" fmla="*/ 4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1" h="187">
                  <a:moveTo>
                    <a:pt x="82" y="43"/>
                  </a:moveTo>
                  <a:cubicBezTo>
                    <a:pt x="82" y="68"/>
                    <a:pt x="104" y="85"/>
                    <a:pt x="115" y="102"/>
                  </a:cubicBezTo>
                  <a:lnTo>
                    <a:pt x="56" y="102"/>
                  </a:lnTo>
                  <a:cubicBezTo>
                    <a:pt x="56" y="59"/>
                    <a:pt x="56" y="43"/>
                    <a:pt x="22" y="34"/>
                  </a:cubicBezTo>
                  <a:cubicBezTo>
                    <a:pt x="0" y="80"/>
                    <a:pt x="40" y="161"/>
                    <a:pt x="90" y="161"/>
                  </a:cubicBezTo>
                  <a:cubicBezTo>
                    <a:pt x="128" y="161"/>
                    <a:pt x="144" y="148"/>
                    <a:pt x="170" y="157"/>
                  </a:cubicBezTo>
                  <a:cubicBezTo>
                    <a:pt x="198" y="168"/>
                    <a:pt x="183" y="182"/>
                    <a:pt x="234" y="187"/>
                  </a:cubicBezTo>
                  <a:cubicBezTo>
                    <a:pt x="243" y="169"/>
                    <a:pt x="246" y="167"/>
                    <a:pt x="251" y="144"/>
                  </a:cubicBezTo>
                  <a:cubicBezTo>
                    <a:pt x="220" y="103"/>
                    <a:pt x="223" y="155"/>
                    <a:pt x="209" y="102"/>
                  </a:cubicBezTo>
                  <a:cubicBezTo>
                    <a:pt x="268" y="102"/>
                    <a:pt x="291" y="103"/>
                    <a:pt x="257" y="55"/>
                  </a:cubicBezTo>
                  <a:cubicBezTo>
                    <a:pt x="232" y="20"/>
                    <a:pt x="211" y="11"/>
                    <a:pt x="166" y="0"/>
                  </a:cubicBezTo>
                  <a:cubicBezTo>
                    <a:pt x="175" y="38"/>
                    <a:pt x="183" y="28"/>
                    <a:pt x="192" y="60"/>
                  </a:cubicBezTo>
                  <a:cubicBezTo>
                    <a:pt x="158" y="60"/>
                    <a:pt x="172" y="57"/>
                    <a:pt x="149" y="68"/>
                  </a:cubicBezTo>
                  <a:cubicBezTo>
                    <a:pt x="141" y="32"/>
                    <a:pt x="131" y="4"/>
                    <a:pt x="90" y="0"/>
                  </a:cubicBezTo>
                  <a:cubicBezTo>
                    <a:pt x="87" y="34"/>
                    <a:pt x="82" y="21"/>
                    <a:pt x="8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5" name="Freeform 29"/>
            <p:cNvSpPr/>
            <p:nvPr/>
          </p:nvSpPr>
          <p:spPr bwMode="auto">
            <a:xfrm>
              <a:off x="4900613" y="2216151"/>
              <a:ext cx="61913" cy="57150"/>
            </a:xfrm>
            <a:custGeom>
              <a:avLst/>
              <a:gdLst>
                <a:gd name="T0" fmla="*/ 34 w 271"/>
                <a:gd name="T1" fmla="*/ 102 h 246"/>
                <a:gd name="T2" fmla="*/ 93 w 271"/>
                <a:gd name="T3" fmla="*/ 85 h 246"/>
                <a:gd name="T4" fmla="*/ 110 w 271"/>
                <a:gd name="T5" fmla="*/ 127 h 246"/>
                <a:gd name="T6" fmla="*/ 26 w 271"/>
                <a:gd name="T7" fmla="*/ 110 h 246"/>
                <a:gd name="T8" fmla="*/ 0 w 271"/>
                <a:gd name="T9" fmla="*/ 221 h 246"/>
                <a:gd name="T10" fmla="*/ 212 w 271"/>
                <a:gd name="T11" fmla="*/ 246 h 246"/>
                <a:gd name="T12" fmla="*/ 246 w 271"/>
                <a:gd name="T13" fmla="*/ 246 h 246"/>
                <a:gd name="T14" fmla="*/ 271 w 271"/>
                <a:gd name="T15" fmla="*/ 110 h 246"/>
                <a:gd name="T16" fmla="*/ 121 w 271"/>
                <a:gd name="T17" fmla="*/ 83 h 246"/>
                <a:gd name="T18" fmla="*/ 51 w 271"/>
                <a:gd name="T19" fmla="*/ 0 h 246"/>
                <a:gd name="T20" fmla="*/ 34 w 271"/>
                <a:gd name="T21" fmla="*/ 10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46">
                  <a:moveTo>
                    <a:pt x="34" y="102"/>
                  </a:moveTo>
                  <a:cubicBezTo>
                    <a:pt x="57" y="90"/>
                    <a:pt x="59" y="86"/>
                    <a:pt x="93" y="85"/>
                  </a:cubicBezTo>
                  <a:cubicBezTo>
                    <a:pt x="102" y="116"/>
                    <a:pt x="102" y="96"/>
                    <a:pt x="110" y="127"/>
                  </a:cubicBezTo>
                  <a:cubicBezTo>
                    <a:pt x="37" y="134"/>
                    <a:pt x="92" y="155"/>
                    <a:pt x="26" y="110"/>
                  </a:cubicBezTo>
                  <a:cubicBezTo>
                    <a:pt x="8" y="144"/>
                    <a:pt x="0" y="169"/>
                    <a:pt x="0" y="221"/>
                  </a:cubicBezTo>
                  <a:cubicBezTo>
                    <a:pt x="95" y="213"/>
                    <a:pt x="185" y="129"/>
                    <a:pt x="212" y="246"/>
                  </a:cubicBezTo>
                  <a:lnTo>
                    <a:pt x="246" y="246"/>
                  </a:lnTo>
                  <a:cubicBezTo>
                    <a:pt x="246" y="188"/>
                    <a:pt x="270" y="167"/>
                    <a:pt x="271" y="110"/>
                  </a:cubicBezTo>
                  <a:cubicBezTo>
                    <a:pt x="215" y="140"/>
                    <a:pt x="204" y="160"/>
                    <a:pt x="121" y="83"/>
                  </a:cubicBezTo>
                  <a:cubicBezTo>
                    <a:pt x="56" y="24"/>
                    <a:pt x="114" y="6"/>
                    <a:pt x="51" y="0"/>
                  </a:cubicBezTo>
                  <a:cubicBezTo>
                    <a:pt x="48" y="37"/>
                    <a:pt x="35" y="63"/>
                    <a:pt x="34"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6" name="Freeform 30"/>
            <p:cNvSpPr/>
            <p:nvPr/>
          </p:nvSpPr>
          <p:spPr bwMode="auto">
            <a:xfrm>
              <a:off x="4700588" y="1784351"/>
              <a:ext cx="17463" cy="30163"/>
            </a:xfrm>
            <a:custGeom>
              <a:avLst/>
              <a:gdLst>
                <a:gd name="T0" fmla="*/ 0 w 76"/>
                <a:gd name="T1" fmla="*/ 52 h 129"/>
                <a:gd name="T2" fmla="*/ 59 w 76"/>
                <a:gd name="T3" fmla="*/ 129 h 129"/>
                <a:gd name="T4" fmla="*/ 76 w 76"/>
                <a:gd name="T5" fmla="*/ 95 h 129"/>
                <a:gd name="T6" fmla="*/ 0 w 76"/>
                <a:gd name="T7" fmla="*/ 52 h 129"/>
              </a:gdLst>
              <a:ahLst/>
              <a:cxnLst>
                <a:cxn ang="0">
                  <a:pos x="T0" y="T1"/>
                </a:cxn>
                <a:cxn ang="0">
                  <a:pos x="T2" y="T3"/>
                </a:cxn>
                <a:cxn ang="0">
                  <a:pos x="T4" y="T5"/>
                </a:cxn>
                <a:cxn ang="0">
                  <a:pos x="T6" y="T7"/>
                </a:cxn>
              </a:cxnLst>
              <a:rect l="0" t="0" r="r" b="b"/>
              <a:pathLst>
                <a:path w="76" h="129">
                  <a:moveTo>
                    <a:pt x="0" y="52"/>
                  </a:moveTo>
                  <a:cubicBezTo>
                    <a:pt x="0" y="115"/>
                    <a:pt x="19" y="109"/>
                    <a:pt x="59" y="129"/>
                  </a:cubicBezTo>
                  <a:cubicBezTo>
                    <a:pt x="61" y="125"/>
                    <a:pt x="76" y="96"/>
                    <a:pt x="76" y="95"/>
                  </a:cubicBezTo>
                  <a:cubicBezTo>
                    <a:pt x="76" y="57"/>
                    <a:pt x="0" y="0"/>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7" name="Freeform 31"/>
            <p:cNvSpPr/>
            <p:nvPr/>
          </p:nvSpPr>
          <p:spPr bwMode="auto">
            <a:xfrm>
              <a:off x="4854575" y="2428876"/>
              <a:ext cx="3175" cy="1588"/>
            </a:xfrm>
            <a:custGeom>
              <a:avLst/>
              <a:gdLst>
                <a:gd name="T0" fmla="*/ 0 w 8"/>
                <a:gd name="T1" fmla="*/ 10 h 10"/>
                <a:gd name="T2" fmla="*/ 8 w 8"/>
                <a:gd name="T3" fmla="*/ 10 h 10"/>
                <a:gd name="T4" fmla="*/ 1 w 8"/>
                <a:gd name="T5" fmla="*/ 0 h 10"/>
                <a:gd name="T6" fmla="*/ 0 w 8"/>
                <a:gd name="T7" fmla="*/ 10 h 10"/>
              </a:gdLst>
              <a:ahLst/>
              <a:cxnLst>
                <a:cxn ang="0">
                  <a:pos x="T0" y="T1"/>
                </a:cxn>
                <a:cxn ang="0">
                  <a:pos x="T2" y="T3"/>
                </a:cxn>
                <a:cxn ang="0">
                  <a:pos x="T4" y="T5"/>
                </a:cxn>
                <a:cxn ang="0">
                  <a:pos x="T6" y="T7"/>
                </a:cxn>
              </a:cxnLst>
              <a:rect l="0" t="0" r="r" b="b"/>
              <a:pathLst>
                <a:path w="8" h="10">
                  <a:moveTo>
                    <a:pt x="0" y="10"/>
                  </a:moveTo>
                  <a:lnTo>
                    <a:pt x="8" y="10"/>
                  </a:lnTo>
                  <a:lnTo>
                    <a:pt x="1"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58" name="Freeform 38"/>
            <p:cNvSpPr/>
            <p:nvPr/>
          </p:nvSpPr>
          <p:spPr bwMode="auto">
            <a:xfrm>
              <a:off x="4529138" y="2244726"/>
              <a:ext cx="14288" cy="31750"/>
            </a:xfrm>
            <a:custGeom>
              <a:avLst/>
              <a:gdLst>
                <a:gd name="T0" fmla="*/ 6 w 58"/>
                <a:gd name="T1" fmla="*/ 7 h 134"/>
                <a:gd name="T2" fmla="*/ 57 w 58"/>
                <a:gd name="T3" fmla="*/ 134 h 134"/>
                <a:gd name="T4" fmla="*/ 43 w 58"/>
                <a:gd name="T5" fmla="*/ 0 h 134"/>
                <a:gd name="T6" fmla="*/ 6 w 58"/>
                <a:gd name="T7" fmla="*/ 7 h 134"/>
              </a:gdLst>
              <a:ahLst/>
              <a:cxnLst>
                <a:cxn ang="0">
                  <a:pos x="T0" y="T1"/>
                </a:cxn>
                <a:cxn ang="0">
                  <a:pos x="T2" y="T3"/>
                </a:cxn>
                <a:cxn ang="0">
                  <a:pos x="T4" y="T5"/>
                </a:cxn>
                <a:cxn ang="0">
                  <a:pos x="T6" y="T7"/>
                </a:cxn>
              </a:cxnLst>
              <a:rect l="0" t="0" r="r" b="b"/>
              <a:pathLst>
                <a:path w="58" h="134">
                  <a:moveTo>
                    <a:pt x="6" y="7"/>
                  </a:moveTo>
                  <a:cubicBezTo>
                    <a:pt x="2" y="72"/>
                    <a:pt x="0" y="116"/>
                    <a:pt x="57" y="134"/>
                  </a:cubicBezTo>
                  <a:cubicBezTo>
                    <a:pt x="58" y="85"/>
                    <a:pt x="57" y="40"/>
                    <a:pt x="43" y="0"/>
                  </a:cubicBezTo>
                  <a:lnTo>
                    <a:pt x="6"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3351603" y="3107241"/>
            <a:ext cx="8258368" cy="1158538"/>
          </a:xfrm>
          <a:prstGeom prst="rect">
            <a:avLst/>
          </a:prstGeom>
          <a:solidFill>
            <a:srgbClr val="FFFFFF"/>
          </a:solidFill>
          <a:ln w="6350" cap="rnd">
            <a:solidFill>
              <a:schemeClr val="tx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tx1"/>
              </a:solidFill>
            </a:endParaRPr>
          </a:p>
        </p:txBody>
      </p:sp>
      <p:sp>
        <p:nvSpPr>
          <p:cNvPr id="36" name="文本框 16"/>
          <p:cNvSpPr txBox="1"/>
          <p:nvPr/>
        </p:nvSpPr>
        <p:spPr>
          <a:xfrm>
            <a:off x="3407259" y="3120163"/>
            <a:ext cx="8030618" cy="581926"/>
          </a:xfrm>
          <a:prstGeom prst="rect">
            <a:avLst/>
          </a:prstGeom>
          <a:noFill/>
          <a:ln>
            <a:noFill/>
          </a:ln>
        </p:spPr>
        <p:txBody>
          <a:bodyPr wrap="square" lIns="91440" tIns="45720" rIns="91440" bIns="45720" anchor="ctr" anchorCtr="0">
            <a:noAutofit/>
          </a:bodyPr>
          <a:lstStyle/>
          <a:p>
            <a:pPr>
              <a:buSzPct val="25000"/>
            </a:pPr>
            <a:r>
              <a:rPr lang="zh-CN" altLang="en-US" sz="2000" b="1" dirty="0"/>
              <a:t>复制社会现有的不平等，无助于缩小城乡家庭资产配置有效性差距</a:t>
            </a:r>
            <a:endParaRPr lang="zh-CN" altLang="en-US" sz="2000" b="1" dirty="0"/>
          </a:p>
        </p:txBody>
      </p:sp>
      <p:sp>
        <p:nvSpPr>
          <p:cNvPr id="23" name="文本框 24"/>
          <p:cNvSpPr txBox="1"/>
          <p:nvPr/>
        </p:nvSpPr>
        <p:spPr>
          <a:xfrm>
            <a:off x="526275" y="2166385"/>
            <a:ext cx="2155704" cy="1405042"/>
          </a:xfrm>
          <a:prstGeom prst="rect">
            <a:avLst/>
          </a:prstGeom>
          <a:noFill/>
          <a:ln>
            <a:noFill/>
          </a:ln>
        </p:spPr>
        <p:txBody>
          <a:bodyPr wrap="square" lIns="91440" tIns="45720" rIns="91440" bIns="45720" anchor="ctr" anchorCtr="0">
            <a:noAutofit/>
          </a:bodyPr>
          <a:lstStyle/>
          <a:p>
            <a:pPr algn="just"/>
            <a:r>
              <a:rPr lang="zh-CN" altLang="zh-CN" sz="2000" b="1" dirty="0"/>
              <a:t>数字金融</a:t>
            </a:r>
            <a:r>
              <a:rPr lang="zh-CN" altLang="en-US" sz="2000" b="1" dirty="0"/>
              <a:t>发展</a:t>
            </a:r>
            <a:endParaRPr lang="zh-CN" altLang="zh-CN" sz="2000" b="1" dirty="0"/>
          </a:p>
        </p:txBody>
      </p:sp>
      <p:sp>
        <p:nvSpPr>
          <p:cNvPr id="26" name="矩形 25"/>
          <p:cNvSpPr/>
          <p:nvPr/>
        </p:nvSpPr>
        <p:spPr>
          <a:xfrm>
            <a:off x="3336235" y="1201359"/>
            <a:ext cx="8258368" cy="1282738"/>
          </a:xfrm>
          <a:prstGeom prst="rect">
            <a:avLst/>
          </a:prstGeom>
          <a:solidFill>
            <a:srgbClr val="FFFFFF"/>
          </a:solidFill>
          <a:ln w="6350" cap="rnd">
            <a:solidFill>
              <a:schemeClr val="tx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tx1"/>
              </a:solidFill>
            </a:endParaRPr>
          </a:p>
        </p:txBody>
      </p:sp>
      <p:sp>
        <p:nvSpPr>
          <p:cNvPr id="32" name="文本框 34"/>
          <p:cNvSpPr txBox="1"/>
          <p:nvPr/>
        </p:nvSpPr>
        <p:spPr>
          <a:xfrm>
            <a:off x="3417533" y="1222009"/>
            <a:ext cx="7818075" cy="586611"/>
          </a:xfrm>
          <a:prstGeom prst="rect">
            <a:avLst/>
          </a:prstGeom>
          <a:noFill/>
          <a:ln>
            <a:noFill/>
          </a:ln>
        </p:spPr>
        <p:txBody>
          <a:bodyPr wrap="square" lIns="91440" tIns="45720" rIns="91440" bIns="45720" anchor="ctr" anchorCtr="0">
            <a:noAutofit/>
          </a:bodyPr>
          <a:lstStyle/>
          <a:p>
            <a:pPr>
              <a:buSzPct val="25000"/>
            </a:pPr>
            <a:r>
              <a:rPr lang="zh-CN" altLang="en-US" sz="2000" b="1" dirty="0"/>
              <a:t>带来数字红利，弥合城乡家庭资产配置有效性差距</a:t>
            </a:r>
            <a:endParaRPr lang="zh-CN" altLang="en-US" sz="2000" b="1" dirty="0"/>
          </a:p>
        </p:txBody>
      </p:sp>
      <p:cxnSp>
        <p:nvCxnSpPr>
          <p:cNvPr id="38" name="连接符: 肘形 27"/>
          <p:cNvCxnSpPr/>
          <p:nvPr/>
        </p:nvCxnSpPr>
        <p:spPr>
          <a:xfrm>
            <a:off x="2213055" y="2869945"/>
            <a:ext cx="1123958" cy="9256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9" name="连接符: 肘形 22"/>
          <p:cNvCxnSpPr/>
          <p:nvPr/>
        </p:nvCxnSpPr>
        <p:spPr>
          <a:xfrm flipV="1">
            <a:off x="2168182" y="1874013"/>
            <a:ext cx="1163513" cy="994893"/>
          </a:xfrm>
          <a:prstGeom prst="bentConnector3">
            <a:avLst>
              <a:gd name="adj1" fmla="val 52642"/>
            </a:avLst>
          </a:prstGeom>
          <a:ln>
            <a:tailEnd type="triangle"/>
          </a:ln>
        </p:spPr>
        <p:style>
          <a:lnRef idx="1">
            <a:schemeClr val="dk1"/>
          </a:lnRef>
          <a:fillRef idx="0">
            <a:schemeClr val="dk1"/>
          </a:fillRef>
          <a:effectRef idx="0">
            <a:schemeClr val="dk1"/>
          </a:effectRef>
          <a:fontRef idx="minor">
            <a:schemeClr val="tx1"/>
          </a:fontRef>
        </p:style>
      </p:cxnSp>
      <p:sp>
        <p:nvSpPr>
          <p:cNvPr id="2" name="标题 1"/>
          <p:cNvSpPr>
            <a:spLocks noGrp="1"/>
          </p:cNvSpPr>
          <p:nvPr>
            <p:ph type="title"/>
          </p:nvPr>
        </p:nvSpPr>
        <p:spPr/>
        <p:txBody>
          <a:bodyPr/>
          <a:lstStyle/>
          <a:p>
            <a:r>
              <a:rPr lang="zh-CN" altLang="en-US" dirty="0"/>
              <a:t>研究假说</a:t>
            </a:r>
            <a:endParaRPr lang="zh-CN" altLang="en-US" dirty="0"/>
          </a:p>
        </p:txBody>
      </p:sp>
      <p:sp>
        <p:nvSpPr>
          <p:cNvPr id="3" name="矩形 2"/>
          <p:cNvSpPr/>
          <p:nvPr/>
        </p:nvSpPr>
        <p:spPr>
          <a:xfrm>
            <a:off x="2437200" y="6390859"/>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6027"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3630967" y="6267505"/>
            <a:ext cx="14845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矩形 14"/>
          <p:cNvSpPr/>
          <p:nvPr/>
        </p:nvSpPr>
        <p:spPr>
          <a:xfrm>
            <a:off x="490314" y="5312009"/>
            <a:ext cx="11527740" cy="830997"/>
          </a:xfrm>
          <a:prstGeom prst="rect">
            <a:avLst/>
          </a:prstGeom>
        </p:spPr>
        <p:txBody>
          <a:bodyPr wrap="square">
            <a:spAutoFit/>
          </a:bodyPr>
          <a:lstStyle/>
          <a:p>
            <a:r>
              <a:rPr lang="zh-CN" altLang="zh-CN" sz="2400" dirty="0"/>
              <a:t>假说</a:t>
            </a:r>
            <a:r>
              <a:rPr lang="en-US" altLang="zh-CN" sz="2400" dirty="0"/>
              <a:t>3</a:t>
            </a:r>
            <a:r>
              <a:rPr lang="zh-CN" altLang="zh-CN" sz="2400" dirty="0"/>
              <a:t>：</a:t>
            </a:r>
            <a:r>
              <a:rPr lang="zh-CN" altLang="zh-CN" sz="2400" b="1" dirty="0"/>
              <a:t>当存在数字鸿沟时，数字金融发展对城乡居民家庭金融资产组合有效性的影响存在明显差异</a:t>
            </a:r>
            <a:endParaRPr lang="zh-CN" altLang="zh-CN" sz="2400" b="1" dirty="0"/>
          </a:p>
        </p:txBody>
      </p:sp>
      <p:sp>
        <p:nvSpPr>
          <p:cNvPr id="56" name="文本框 14"/>
          <p:cNvSpPr txBox="1"/>
          <p:nvPr/>
        </p:nvSpPr>
        <p:spPr>
          <a:xfrm>
            <a:off x="3434089" y="3523490"/>
            <a:ext cx="7956410" cy="70089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30000"/>
              </a:lnSpc>
            </a:pPr>
            <a:r>
              <a:rPr lang="zh-CN" altLang="zh-CN" sz="1600" dirty="0"/>
              <a:t>城乡间横亘的数字鸿沟，尤其是二级数字鸿沟，使农村家庭在拥有数字设备的情况下，也无法妥善利用数字资源</a:t>
            </a:r>
            <a:endParaRPr lang="en-US" altLang="zh-CN" sz="1600" dirty="0">
              <a:solidFill>
                <a:schemeClr val="tx1"/>
              </a:solidFill>
            </a:endParaRPr>
          </a:p>
        </p:txBody>
      </p:sp>
      <p:sp>
        <p:nvSpPr>
          <p:cNvPr id="37" name="文本框 14"/>
          <p:cNvSpPr txBox="1"/>
          <p:nvPr/>
        </p:nvSpPr>
        <p:spPr>
          <a:xfrm>
            <a:off x="3434089" y="1637732"/>
            <a:ext cx="7941110" cy="787075"/>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r>
              <a:rPr lang="zh-CN" altLang="zh-CN" sz="1600" dirty="0"/>
              <a:t>在一定程度上破除农村金融排斥，通过增加农村家庭获取金融服务的机会和提升农村家庭的信息获取和信息处理能力，帮助农村家庭做出更合理的金融资源配置决策</a:t>
            </a:r>
            <a:endParaRPr lang="zh-CN" altLang="en-US" sz="1600" dirty="0"/>
          </a:p>
        </p:txBody>
      </p:sp>
      <p:grpSp>
        <p:nvGrpSpPr>
          <p:cNvPr id="58" name="组合 57"/>
          <p:cNvGrpSpPr/>
          <p:nvPr/>
        </p:nvGrpSpPr>
        <p:grpSpPr>
          <a:xfrm>
            <a:off x="7403511" y="336658"/>
            <a:ext cx="6256350" cy="6184684"/>
            <a:chOff x="4065588" y="1646238"/>
            <a:chExt cx="969963" cy="958850"/>
          </a:xfrm>
          <a:solidFill>
            <a:schemeClr val="accent1">
              <a:alpha val="5000"/>
            </a:schemeClr>
          </a:solidFill>
        </p:grpSpPr>
        <p:sp>
          <p:nvSpPr>
            <p:cNvPr id="59" name="Freeform 5"/>
            <p:cNvSpPr/>
            <p:nvPr/>
          </p:nvSpPr>
          <p:spPr bwMode="auto">
            <a:xfrm>
              <a:off x="4478338" y="1900238"/>
              <a:ext cx="134938" cy="63500"/>
            </a:xfrm>
            <a:custGeom>
              <a:avLst/>
              <a:gdLst>
                <a:gd name="T0" fmla="*/ 0 w 584"/>
                <a:gd name="T1" fmla="*/ 272 h 272"/>
                <a:gd name="T2" fmla="*/ 122 w 584"/>
                <a:gd name="T3" fmla="*/ 233 h 272"/>
                <a:gd name="T4" fmla="*/ 584 w 584"/>
                <a:gd name="T5" fmla="*/ 272 h 272"/>
                <a:gd name="T6" fmla="*/ 471 w 584"/>
                <a:gd name="T7" fmla="*/ 123 h 272"/>
                <a:gd name="T8" fmla="*/ 116 w 584"/>
                <a:gd name="T9" fmla="*/ 134 h 272"/>
                <a:gd name="T10" fmla="*/ 0 w 584"/>
                <a:gd name="T11" fmla="*/ 272 h 272"/>
              </a:gdLst>
              <a:ahLst/>
              <a:cxnLst>
                <a:cxn ang="0">
                  <a:pos x="T0" y="T1"/>
                </a:cxn>
                <a:cxn ang="0">
                  <a:pos x="T2" y="T3"/>
                </a:cxn>
                <a:cxn ang="0">
                  <a:pos x="T4" y="T5"/>
                </a:cxn>
                <a:cxn ang="0">
                  <a:pos x="T6" y="T7"/>
                </a:cxn>
                <a:cxn ang="0">
                  <a:pos x="T8" y="T9"/>
                </a:cxn>
                <a:cxn ang="0">
                  <a:pos x="T10" y="T11"/>
                </a:cxn>
              </a:cxnLst>
              <a:rect l="0" t="0" r="r" b="b"/>
              <a:pathLst>
                <a:path w="584" h="272">
                  <a:moveTo>
                    <a:pt x="0" y="272"/>
                  </a:moveTo>
                  <a:lnTo>
                    <a:pt x="122" y="233"/>
                  </a:lnTo>
                  <a:cubicBezTo>
                    <a:pt x="349" y="156"/>
                    <a:pt x="436" y="269"/>
                    <a:pt x="584" y="272"/>
                  </a:cubicBezTo>
                  <a:cubicBezTo>
                    <a:pt x="584" y="179"/>
                    <a:pt x="535" y="154"/>
                    <a:pt x="471" y="123"/>
                  </a:cubicBezTo>
                  <a:cubicBezTo>
                    <a:pt x="224" y="0"/>
                    <a:pt x="315" y="35"/>
                    <a:pt x="116" y="134"/>
                  </a:cubicBezTo>
                  <a:cubicBezTo>
                    <a:pt x="51" y="166"/>
                    <a:pt x="7" y="183"/>
                    <a:pt x="0" y="2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0" name="Freeform 6"/>
            <p:cNvSpPr/>
            <p:nvPr/>
          </p:nvSpPr>
          <p:spPr bwMode="auto">
            <a:xfrm>
              <a:off x="4413250" y="2001838"/>
              <a:ext cx="39688" cy="90488"/>
            </a:xfrm>
            <a:custGeom>
              <a:avLst/>
              <a:gdLst>
                <a:gd name="T0" fmla="*/ 0 w 169"/>
                <a:gd name="T1" fmla="*/ 389 h 389"/>
                <a:gd name="T2" fmla="*/ 76 w 169"/>
                <a:gd name="T3" fmla="*/ 330 h 389"/>
                <a:gd name="T4" fmla="*/ 169 w 169"/>
                <a:gd name="T5" fmla="*/ 279 h 389"/>
                <a:gd name="T6" fmla="*/ 169 w 169"/>
                <a:gd name="T7" fmla="*/ 0 h 389"/>
                <a:gd name="T8" fmla="*/ 34 w 169"/>
                <a:gd name="T9" fmla="*/ 145 h 389"/>
                <a:gd name="T10" fmla="*/ 0 w 169"/>
                <a:gd name="T11" fmla="*/ 389 h 389"/>
              </a:gdLst>
              <a:ahLst/>
              <a:cxnLst>
                <a:cxn ang="0">
                  <a:pos x="T0" y="T1"/>
                </a:cxn>
                <a:cxn ang="0">
                  <a:pos x="T2" y="T3"/>
                </a:cxn>
                <a:cxn ang="0">
                  <a:pos x="T4" y="T5"/>
                </a:cxn>
                <a:cxn ang="0">
                  <a:pos x="T6" y="T7"/>
                </a:cxn>
                <a:cxn ang="0">
                  <a:pos x="T8" y="T9"/>
                </a:cxn>
                <a:cxn ang="0">
                  <a:pos x="T10" y="T11"/>
                </a:cxn>
              </a:cxnLst>
              <a:rect l="0" t="0" r="r" b="b"/>
              <a:pathLst>
                <a:path w="169" h="389">
                  <a:moveTo>
                    <a:pt x="0" y="389"/>
                  </a:moveTo>
                  <a:cubicBezTo>
                    <a:pt x="36" y="380"/>
                    <a:pt x="47" y="348"/>
                    <a:pt x="76" y="330"/>
                  </a:cubicBezTo>
                  <a:cubicBezTo>
                    <a:pt x="107" y="311"/>
                    <a:pt x="137" y="301"/>
                    <a:pt x="169" y="279"/>
                  </a:cubicBezTo>
                  <a:lnTo>
                    <a:pt x="169" y="0"/>
                  </a:lnTo>
                  <a:cubicBezTo>
                    <a:pt x="103" y="5"/>
                    <a:pt x="54" y="92"/>
                    <a:pt x="34" y="145"/>
                  </a:cubicBezTo>
                  <a:cubicBezTo>
                    <a:pt x="9" y="216"/>
                    <a:pt x="0" y="294"/>
                    <a:pt x="0" y="3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1" name="Freeform 7"/>
            <p:cNvSpPr/>
            <p:nvPr/>
          </p:nvSpPr>
          <p:spPr bwMode="auto">
            <a:xfrm>
              <a:off x="4637088" y="2001838"/>
              <a:ext cx="41275" cy="88900"/>
            </a:xfrm>
            <a:custGeom>
              <a:avLst/>
              <a:gdLst>
                <a:gd name="T0" fmla="*/ 0 w 178"/>
                <a:gd name="T1" fmla="*/ 279 h 381"/>
                <a:gd name="T2" fmla="*/ 178 w 178"/>
                <a:gd name="T3" fmla="*/ 381 h 381"/>
                <a:gd name="T4" fmla="*/ 17 w 178"/>
                <a:gd name="T5" fmla="*/ 0 h 381"/>
                <a:gd name="T6" fmla="*/ 0 w 178"/>
                <a:gd name="T7" fmla="*/ 279 h 381"/>
              </a:gdLst>
              <a:ahLst/>
              <a:cxnLst>
                <a:cxn ang="0">
                  <a:pos x="T0" y="T1"/>
                </a:cxn>
                <a:cxn ang="0">
                  <a:pos x="T2" y="T3"/>
                </a:cxn>
                <a:cxn ang="0">
                  <a:pos x="T4" y="T5"/>
                </a:cxn>
                <a:cxn ang="0">
                  <a:pos x="T6" y="T7"/>
                </a:cxn>
              </a:cxnLst>
              <a:rect l="0" t="0" r="r" b="b"/>
              <a:pathLst>
                <a:path w="178" h="381">
                  <a:moveTo>
                    <a:pt x="0" y="279"/>
                  </a:moveTo>
                  <a:cubicBezTo>
                    <a:pt x="51" y="306"/>
                    <a:pt x="127" y="369"/>
                    <a:pt x="178" y="381"/>
                  </a:cubicBezTo>
                  <a:cubicBezTo>
                    <a:pt x="178" y="237"/>
                    <a:pt x="125" y="25"/>
                    <a:pt x="17" y="0"/>
                  </a:cubicBezTo>
                  <a:lnTo>
                    <a:pt x="0"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2" name="Freeform 8"/>
            <p:cNvSpPr/>
            <p:nvPr/>
          </p:nvSpPr>
          <p:spPr bwMode="auto">
            <a:xfrm>
              <a:off x="4557713" y="2289176"/>
              <a:ext cx="12700" cy="46038"/>
            </a:xfrm>
            <a:custGeom>
              <a:avLst/>
              <a:gdLst>
                <a:gd name="T0" fmla="*/ 0 w 54"/>
                <a:gd name="T1" fmla="*/ 192 h 192"/>
                <a:gd name="T2" fmla="*/ 47 w 54"/>
                <a:gd name="T3" fmla="*/ 116 h 192"/>
                <a:gd name="T4" fmla="*/ 53 w 54"/>
                <a:gd name="T5" fmla="*/ 0 h 192"/>
                <a:gd name="T6" fmla="*/ 2 w 54"/>
                <a:gd name="T7" fmla="*/ 22 h 192"/>
                <a:gd name="T8" fmla="*/ 0 w 54"/>
                <a:gd name="T9" fmla="*/ 192 h 192"/>
              </a:gdLst>
              <a:ahLst/>
              <a:cxnLst>
                <a:cxn ang="0">
                  <a:pos x="T0" y="T1"/>
                </a:cxn>
                <a:cxn ang="0">
                  <a:pos x="T2" y="T3"/>
                </a:cxn>
                <a:cxn ang="0">
                  <a:pos x="T4" y="T5"/>
                </a:cxn>
                <a:cxn ang="0">
                  <a:pos x="T6" y="T7"/>
                </a:cxn>
                <a:cxn ang="0">
                  <a:pos x="T8" y="T9"/>
                </a:cxn>
              </a:cxnLst>
              <a:rect l="0" t="0" r="r" b="b"/>
              <a:pathLst>
                <a:path w="54" h="192">
                  <a:moveTo>
                    <a:pt x="0" y="192"/>
                  </a:moveTo>
                  <a:cubicBezTo>
                    <a:pt x="37" y="174"/>
                    <a:pt x="40" y="164"/>
                    <a:pt x="47" y="116"/>
                  </a:cubicBezTo>
                  <a:cubicBezTo>
                    <a:pt x="53" y="75"/>
                    <a:pt x="54" y="46"/>
                    <a:pt x="53" y="0"/>
                  </a:cubicBezTo>
                  <a:lnTo>
                    <a:pt x="2" y="22"/>
                  </a:lnTo>
                  <a:lnTo>
                    <a:pt x="0"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3" name="Freeform 9"/>
            <p:cNvSpPr/>
            <p:nvPr/>
          </p:nvSpPr>
          <p:spPr bwMode="auto">
            <a:xfrm>
              <a:off x="4551363" y="2193926"/>
              <a:ext cx="20638" cy="17463"/>
            </a:xfrm>
            <a:custGeom>
              <a:avLst/>
              <a:gdLst>
                <a:gd name="T0" fmla="*/ 0 w 84"/>
                <a:gd name="T1" fmla="*/ 75 h 75"/>
                <a:gd name="T2" fmla="*/ 84 w 84"/>
                <a:gd name="T3" fmla="*/ 69 h 75"/>
                <a:gd name="T4" fmla="*/ 0 w 84"/>
                <a:gd name="T5" fmla="*/ 75 h 75"/>
              </a:gdLst>
              <a:ahLst/>
              <a:cxnLst>
                <a:cxn ang="0">
                  <a:pos x="T0" y="T1"/>
                </a:cxn>
                <a:cxn ang="0">
                  <a:pos x="T2" y="T3"/>
                </a:cxn>
                <a:cxn ang="0">
                  <a:pos x="T4" y="T5"/>
                </a:cxn>
              </a:cxnLst>
              <a:rect l="0" t="0" r="r" b="b"/>
              <a:pathLst>
                <a:path w="84" h="75">
                  <a:moveTo>
                    <a:pt x="0" y="75"/>
                  </a:moveTo>
                  <a:lnTo>
                    <a:pt x="84" y="69"/>
                  </a:lnTo>
                  <a:cubicBezTo>
                    <a:pt x="56" y="13"/>
                    <a:pt x="15" y="0"/>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4" name="Freeform 10"/>
            <p:cNvSpPr/>
            <p:nvPr/>
          </p:nvSpPr>
          <p:spPr bwMode="auto">
            <a:xfrm>
              <a:off x="4476750" y="1973263"/>
              <a:ext cx="146050" cy="93663"/>
            </a:xfrm>
            <a:custGeom>
              <a:avLst/>
              <a:gdLst>
                <a:gd name="T0" fmla="*/ 0 w 631"/>
                <a:gd name="T1" fmla="*/ 75 h 403"/>
                <a:gd name="T2" fmla="*/ 0 w 631"/>
                <a:gd name="T3" fmla="*/ 372 h 403"/>
                <a:gd name="T4" fmla="*/ 330 w 631"/>
                <a:gd name="T5" fmla="*/ 329 h 403"/>
                <a:gd name="T6" fmla="*/ 592 w 631"/>
                <a:gd name="T7" fmla="*/ 338 h 403"/>
                <a:gd name="T8" fmla="*/ 469 w 631"/>
                <a:gd name="T9" fmla="*/ 29 h 403"/>
                <a:gd name="T10" fmla="*/ 65 w 631"/>
                <a:gd name="T11" fmla="*/ 47 h 403"/>
                <a:gd name="T12" fmla="*/ 0 w 631"/>
                <a:gd name="T13" fmla="*/ 75 h 403"/>
              </a:gdLst>
              <a:ahLst/>
              <a:cxnLst>
                <a:cxn ang="0">
                  <a:pos x="T0" y="T1"/>
                </a:cxn>
                <a:cxn ang="0">
                  <a:pos x="T2" y="T3"/>
                </a:cxn>
                <a:cxn ang="0">
                  <a:pos x="T4" y="T5"/>
                </a:cxn>
                <a:cxn ang="0">
                  <a:pos x="T6" y="T7"/>
                </a:cxn>
                <a:cxn ang="0">
                  <a:pos x="T8" y="T9"/>
                </a:cxn>
                <a:cxn ang="0">
                  <a:pos x="T10" y="T11"/>
                </a:cxn>
                <a:cxn ang="0">
                  <a:pos x="T12" y="T13"/>
                </a:cxn>
              </a:cxnLst>
              <a:rect l="0" t="0" r="r" b="b"/>
              <a:pathLst>
                <a:path w="631" h="403">
                  <a:moveTo>
                    <a:pt x="0" y="75"/>
                  </a:moveTo>
                  <a:lnTo>
                    <a:pt x="0" y="372"/>
                  </a:lnTo>
                  <a:cubicBezTo>
                    <a:pt x="68" y="372"/>
                    <a:pt x="180" y="329"/>
                    <a:pt x="330" y="329"/>
                  </a:cubicBezTo>
                  <a:cubicBezTo>
                    <a:pt x="435" y="329"/>
                    <a:pt x="592" y="403"/>
                    <a:pt x="592" y="338"/>
                  </a:cubicBezTo>
                  <a:cubicBezTo>
                    <a:pt x="592" y="31"/>
                    <a:pt x="631" y="64"/>
                    <a:pt x="469" y="29"/>
                  </a:cubicBezTo>
                  <a:cubicBezTo>
                    <a:pt x="360" y="6"/>
                    <a:pt x="174" y="0"/>
                    <a:pt x="65" y="47"/>
                  </a:cubicBezTo>
                  <a:cubicBezTo>
                    <a:pt x="37" y="59"/>
                    <a:pt x="29" y="68"/>
                    <a:pt x="0"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5" name="Freeform 11"/>
            <p:cNvSpPr/>
            <p:nvPr/>
          </p:nvSpPr>
          <p:spPr bwMode="auto">
            <a:xfrm>
              <a:off x="4486275" y="2066926"/>
              <a:ext cx="120650" cy="60325"/>
            </a:xfrm>
            <a:custGeom>
              <a:avLst/>
              <a:gdLst>
                <a:gd name="T0" fmla="*/ 0 w 525"/>
                <a:gd name="T1" fmla="*/ 80 h 257"/>
                <a:gd name="T2" fmla="*/ 262 w 525"/>
                <a:gd name="T3" fmla="*/ 257 h 257"/>
                <a:gd name="T4" fmla="*/ 525 w 525"/>
                <a:gd name="T5" fmla="*/ 54 h 257"/>
                <a:gd name="T6" fmla="*/ 120 w 525"/>
                <a:gd name="T7" fmla="*/ 30 h 257"/>
                <a:gd name="T8" fmla="*/ 0 w 525"/>
                <a:gd name="T9" fmla="*/ 80 h 257"/>
              </a:gdLst>
              <a:ahLst/>
              <a:cxnLst>
                <a:cxn ang="0">
                  <a:pos x="T0" y="T1"/>
                </a:cxn>
                <a:cxn ang="0">
                  <a:pos x="T2" y="T3"/>
                </a:cxn>
                <a:cxn ang="0">
                  <a:pos x="T4" y="T5"/>
                </a:cxn>
                <a:cxn ang="0">
                  <a:pos x="T6" y="T7"/>
                </a:cxn>
                <a:cxn ang="0">
                  <a:pos x="T8" y="T9"/>
                </a:cxn>
              </a:cxnLst>
              <a:rect l="0" t="0" r="r" b="b"/>
              <a:pathLst>
                <a:path w="525" h="257">
                  <a:moveTo>
                    <a:pt x="0" y="80"/>
                  </a:moveTo>
                  <a:cubicBezTo>
                    <a:pt x="12" y="126"/>
                    <a:pt x="165" y="257"/>
                    <a:pt x="262" y="257"/>
                  </a:cubicBezTo>
                  <a:cubicBezTo>
                    <a:pt x="350" y="257"/>
                    <a:pt x="482" y="136"/>
                    <a:pt x="525" y="54"/>
                  </a:cubicBezTo>
                  <a:cubicBezTo>
                    <a:pt x="440" y="13"/>
                    <a:pt x="241" y="0"/>
                    <a:pt x="120" y="30"/>
                  </a:cubicBezTo>
                  <a:cubicBezTo>
                    <a:pt x="69" y="43"/>
                    <a:pt x="42" y="57"/>
                    <a:pt x="0"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6" name="Freeform 12"/>
            <p:cNvSpPr/>
            <p:nvPr/>
          </p:nvSpPr>
          <p:spPr bwMode="auto">
            <a:xfrm>
              <a:off x="4229100" y="1758951"/>
              <a:ext cx="622300" cy="609600"/>
            </a:xfrm>
            <a:custGeom>
              <a:avLst/>
              <a:gdLst>
                <a:gd name="T0" fmla="*/ 532 w 2683"/>
                <a:gd name="T1" fmla="*/ 2604 h 2604"/>
                <a:gd name="T2" fmla="*/ 693 w 2683"/>
                <a:gd name="T3" fmla="*/ 2071 h 2604"/>
                <a:gd name="T4" fmla="*/ 775 w 2683"/>
                <a:gd name="T5" fmla="*/ 1111 h 2604"/>
                <a:gd name="T6" fmla="*/ 945 w 2683"/>
                <a:gd name="T7" fmla="*/ 935 h 2604"/>
                <a:gd name="T8" fmla="*/ 1062 w 2683"/>
                <a:gd name="T9" fmla="*/ 704 h 2604"/>
                <a:gd name="T10" fmla="*/ 1320 w 2683"/>
                <a:gd name="T11" fmla="*/ 606 h 2604"/>
                <a:gd name="T12" fmla="*/ 1320 w 2683"/>
                <a:gd name="T13" fmla="*/ 589 h 2604"/>
                <a:gd name="T14" fmla="*/ 1131 w 2683"/>
                <a:gd name="T15" fmla="*/ 523 h 2604"/>
                <a:gd name="T16" fmla="*/ 1015 w 2683"/>
                <a:gd name="T17" fmla="*/ 344 h 2604"/>
                <a:gd name="T18" fmla="*/ 1286 w 2683"/>
                <a:gd name="T19" fmla="*/ 513 h 2604"/>
                <a:gd name="T20" fmla="*/ 1316 w 2683"/>
                <a:gd name="T21" fmla="*/ 408 h 2604"/>
                <a:gd name="T22" fmla="*/ 1320 w 2683"/>
                <a:gd name="T23" fmla="*/ 268 h 2604"/>
                <a:gd name="T24" fmla="*/ 1362 w 2683"/>
                <a:gd name="T25" fmla="*/ 259 h 2604"/>
                <a:gd name="T26" fmla="*/ 1413 w 2683"/>
                <a:gd name="T27" fmla="*/ 276 h 2604"/>
                <a:gd name="T28" fmla="*/ 1420 w 2683"/>
                <a:gd name="T29" fmla="*/ 430 h 2604"/>
                <a:gd name="T30" fmla="*/ 1490 w 2683"/>
                <a:gd name="T31" fmla="*/ 498 h 2604"/>
                <a:gd name="T32" fmla="*/ 1675 w 2683"/>
                <a:gd name="T33" fmla="*/ 344 h 2604"/>
                <a:gd name="T34" fmla="*/ 1717 w 2683"/>
                <a:gd name="T35" fmla="*/ 352 h 2604"/>
                <a:gd name="T36" fmla="*/ 1631 w 2683"/>
                <a:gd name="T37" fmla="*/ 503 h 2604"/>
                <a:gd name="T38" fmla="*/ 1500 w 2683"/>
                <a:gd name="T39" fmla="*/ 558 h 2604"/>
                <a:gd name="T40" fmla="*/ 1447 w 2683"/>
                <a:gd name="T41" fmla="*/ 572 h 2604"/>
                <a:gd name="T42" fmla="*/ 1734 w 2683"/>
                <a:gd name="T43" fmla="*/ 793 h 2604"/>
                <a:gd name="T44" fmla="*/ 1788 w 2683"/>
                <a:gd name="T45" fmla="*/ 916 h 2604"/>
                <a:gd name="T46" fmla="*/ 1958 w 2683"/>
                <a:gd name="T47" fmla="*/ 1094 h 2604"/>
                <a:gd name="T48" fmla="*/ 2022 w 2683"/>
                <a:gd name="T49" fmla="*/ 1377 h 2604"/>
                <a:gd name="T50" fmla="*/ 2031 w 2683"/>
                <a:gd name="T51" fmla="*/ 1538 h 2604"/>
                <a:gd name="T52" fmla="*/ 2031 w 2683"/>
                <a:gd name="T53" fmla="*/ 1969 h 2604"/>
                <a:gd name="T54" fmla="*/ 2200 w 2683"/>
                <a:gd name="T55" fmla="*/ 2587 h 2604"/>
                <a:gd name="T56" fmla="*/ 2683 w 2683"/>
                <a:gd name="T57" fmla="*/ 1597 h 2604"/>
                <a:gd name="T58" fmla="*/ 2559 w 2683"/>
                <a:gd name="T59" fmla="*/ 1018 h 2604"/>
                <a:gd name="T60" fmla="*/ 2439 w 2683"/>
                <a:gd name="T61" fmla="*/ 816 h 2604"/>
                <a:gd name="T62" fmla="*/ 2329 w 2683"/>
                <a:gd name="T63" fmla="*/ 680 h 2604"/>
                <a:gd name="T64" fmla="*/ 2291 w 2683"/>
                <a:gd name="T65" fmla="*/ 634 h 2604"/>
                <a:gd name="T66" fmla="*/ 1909 w 2683"/>
                <a:gd name="T67" fmla="*/ 363 h 2604"/>
                <a:gd name="T68" fmla="*/ 51 w 2683"/>
                <a:gd name="T69" fmla="*/ 1318 h 2604"/>
                <a:gd name="T70" fmla="*/ 34 w 2683"/>
                <a:gd name="T71" fmla="*/ 1429 h 2604"/>
                <a:gd name="T72" fmla="*/ 273 w 2683"/>
                <a:gd name="T73" fmla="*/ 2339 h 2604"/>
                <a:gd name="T74" fmla="*/ 359 w 2683"/>
                <a:gd name="T75" fmla="*/ 2447 h 2604"/>
                <a:gd name="T76" fmla="*/ 532 w 2683"/>
                <a:gd name="T77" fmla="*/ 2604 h 2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83" h="2604">
                  <a:moveTo>
                    <a:pt x="532" y="2604"/>
                  </a:moveTo>
                  <a:cubicBezTo>
                    <a:pt x="596" y="2558"/>
                    <a:pt x="692" y="2200"/>
                    <a:pt x="693" y="2071"/>
                  </a:cubicBezTo>
                  <a:cubicBezTo>
                    <a:pt x="696" y="1808"/>
                    <a:pt x="665" y="1336"/>
                    <a:pt x="775" y="1111"/>
                  </a:cubicBezTo>
                  <a:cubicBezTo>
                    <a:pt x="824" y="1010"/>
                    <a:pt x="891" y="987"/>
                    <a:pt x="945" y="935"/>
                  </a:cubicBezTo>
                  <a:cubicBezTo>
                    <a:pt x="1017" y="866"/>
                    <a:pt x="924" y="808"/>
                    <a:pt x="1062" y="704"/>
                  </a:cubicBezTo>
                  <a:cubicBezTo>
                    <a:pt x="1131" y="652"/>
                    <a:pt x="1203" y="606"/>
                    <a:pt x="1320" y="606"/>
                  </a:cubicBezTo>
                  <a:lnTo>
                    <a:pt x="1320" y="589"/>
                  </a:lnTo>
                  <a:cubicBezTo>
                    <a:pt x="1241" y="571"/>
                    <a:pt x="1192" y="564"/>
                    <a:pt x="1131" y="523"/>
                  </a:cubicBezTo>
                  <a:cubicBezTo>
                    <a:pt x="1049" y="468"/>
                    <a:pt x="1015" y="428"/>
                    <a:pt x="1015" y="344"/>
                  </a:cubicBezTo>
                  <a:cubicBezTo>
                    <a:pt x="1144" y="344"/>
                    <a:pt x="1115" y="513"/>
                    <a:pt x="1286" y="513"/>
                  </a:cubicBezTo>
                  <a:cubicBezTo>
                    <a:pt x="1324" y="513"/>
                    <a:pt x="1310" y="452"/>
                    <a:pt x="1316" y="408"/>
                  </a:cubicBezTo>
                  <a:cubicBezTo>
                    <a:pt x="1323" y="363"/>
                    <a:pt x="1320" y="314"/>
                    <a:pt x="1320" y="268"/>
                  </a:cubicBezTo>
                  <a:cubicBezTo>
                    <a:pt x="1353" y="265"/>
                    <a:pt x="1340" y="259"/>
                    <a:pt x="1362" y="259"/>
                  </a:cubicBezTo>
                  <a:cubicBezTo>
                    <a:pt x="1378" y="259"/>
                    <a:pt x="1389" y="271"/>
                    <a:pt x="1413" y="276"/>
                  </a:cubicBezTo>
                  <a:cubicBezTo>
                    <a:pt x="1413" y="336"/>
                    <a:pt x="1415" y="382"/>
                    <a:pt x="1420" y="430"/>
                  </a:cubicBezTo>
                  <a:cubicBezTo>
                    <a:pt x="1428" y="513"/>
                    <a:pt x="1410" y="526"/>
                    <a:pt x="1490" y="498"/>
                  </a:cubicBezTo>
                  <a:cubicBezTo>
                    <a:pt x="1608" y="456"/>
                    <a:pt x="1641" y="344"/>
                    <a:pt x="1675" y="344"/>
                  </a:cubicBezTo>
                  <a:cubicBezTo>
                    <a:pt x="1698" y="344"/>
                    <a:pt x="1699" y="348"/>
                    <a:pt x="1717" y="352"/>
                  </a:cubicBezTo>
                  <a:cubicBezTo>
                    <a:pt x="1733" y="417"/>
                    <a:pt x="1694" y="444"/>
                    <a:pt x="1631" y="503"/>
                  </a:cubicBezTo>
                  <a:cubicBezTo>
                    <a:pt x="1568" y="562"/>
                    <a:pt x="1544" y="551"/>
                    <a:pt x="1500" y="558"/>
                  </a:cubicBezTo>
                  <a:cubicBezTo>
                    <a:pt x="1483" y="560"/>
                    <a:pt x="1467" y="568"/>
                    <a:pt x="1447" y="572"/>
                  </a:cubicBezTo>
                  <a:cubicBezTo>
                    <a:pt x="1482" y="621"/>
                    <a:pt x="1689" y="653"/>
                    <a:pt x="1734" y="793"/>
                  </a:cubicBezTo>
                  <a:cubicBezTo>
                    <a:pt x="1750" y="846"/>
                    <a:pt x="1747" y="883"/>
                    <a:pt x="1788" y="916"/>
                  </a:cubicBezTo>
                  <a:cubicBezTo>
                    <a:pt x="1855" y="969"/>
                    <a:pt x="1897" y="974"/>
                    <a:pt x="1958" y="1094"/>
                  </a:cubicBezTo>
                  <a:cubicBezTo>
                    <a:pt x="1999" y="1177"/>
                    <a:pt x="2023" y="1255"/>
                    <a:pt x="2022" y="1377"/>
                  </a:cubicBezTo>
                  <a:cubicBezTo>
                    <a:pt x="2022" y="1434"/>
                    <a:pt x="2031" y="1471"/>
                    <a:pt x="2031" y="1538"/>
                  </a:cubicBezTo>
                  <a:lnTo>
                    <a:pt x="2031" y="1969"/>
                  </a:lnTo>
                  <a:cubicBezTo>
                    <a:pt x="2040" y="2142"/>
                    <a:pt x="2064" y="2496"/>
                    <a:pt x="2200" y="2587"/>
                  </a:cubicBezTo>
                  <a:cubicBezTo>
                    <a:pt x="2428" y="2435"/>
                    <a:pt x="2683" y="1983"/>
                    <a:pt x="2683" y="1597"/>
                  </a:cubicBezTo>
                  <a:cubicBezTo>
                    <a:pt x="2683" y="1366"/>
                    <a:pt x="2642" y="1192"/>
                    <a:pt x="2559" y="1018"/>
                  </a:cubicBezTo>
                  <a:cubicBezTo>
                    <a:pt x="2523" y="943"/>
                    <a:pt x="2483" y="882"/>
                    <a:pt x="2439" y="816"/>
                  </a:cubicBezTo>
                  <a:lnTo>
                    <a:pt x="2329" y="680"/>
                  </a:lnTo>
                  <a:cubicBezTo>
                    <a:pt x="2311" y="661"/>
                    <a:pt x="2309" y="653"/>
                    <a:pt x="2291" y="634"/>
                  </a:cubicBezTo>
                  <a:cubicBezTo>
                    <a:pt x="2202" y="536"/>
                    <a:pt x="2028" y="419"/>
                    <a:pt x="1909" y="363"/>
                  </a:cubicBezTo>
                  <a:cubicBezTo>
                    <a:pt x="1129" y="0"/>
                    <a:pt x="199" y="480"/>
                    <a:pt x="51" y="1318"/>
                  </a:cubicBezTo>
                  <a:cubicBezTo>
                    <a:pt x="44" y="1353"/>
                    <a:pt x="37" y="1398"/>
                    <a:pt x="34" y="1429"/>
                  </a:cubicBezTo>
                  <a:cubicBezTo>
                    <a:pt x="0" y="1758"/>
                    <a:pt x="90" y="2062"/>
                    <a:pt x="273" y="2339"/>
                  </a:cubicBezTo>
                  <a:cubicBezTo>
                    <a:pt x="309" y="2393"/>
                    <a:pt x="328" y="2407"/>
                    <a:pt x="359" y="2447"/>
                  </a:cubicBezTo>
                  <a:cubicBezTo>
                    <a:pt x="401" y="2501"/>
                    <a:pt x="474" y="2574"/>
                    <a:pt x="532" y="26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7" name="Freeform 13"/>
            <p:cNvSpPr>
              <a:spLocks noEditPoints="1"/>
            </p:cNvSpPr>
            <p:nvPr/>
          </p:nvSpPr>
          <p:spPr bwMode="auto">
            <a:xfrm>
              <a:off x="4208463" y="1784351"/>
              <a:ext cx="668338" cy="698500"/>
            </a:xfrm>
            <a:custGeom>
              <a:avLst/>
              <a:gdLst>
                <a:gd name="T0" fmla="*/ 1575 w 2879"/>
                <a:gd name="T1" fmla="*/ 2823 h 2992"/>
                <a:gd name="T2" fmla="*/ 1761 w 2879"/>
                <a:gd name="T3" fmla="*/ 2882 h 2992"/>
                <a:gd name="T4" fmla="*/ 1321 w 2879"/>
                <a:gd name="T5" fmla="*/ 2857 h 2992"/>
                <a:gd name="T6" fmla="*/ 1355 w 2879"/>
                <a:gd name="T7" fmla="*/ 2848 h 2992"/>
                <a:gd name="T8" fmla="*/ 1524 w 2879"/>
                <a:gd name="T9" fmla="*/ 2798 h 2992"/>
                <a:gd name="T10" fmla="*/ 1363 w 2879"/>
                <a:gd name="T11" fmla="*/ 2798 h 2992"/>
                <a:gd name="T12" fmla="*/ 1316 w 2879"/>
                <a:gd name="T13" fmla="*/ 2911 h 2992"/>
                <a:gd name="T14" fmla="*/ 1160 w 2879"/>
                <a:gd name="T15" fmla="*/ 2772 h 2992"/>
                <a:gd name="T16" fmla="*/ 1084 w 2879"/>
                <a:gd name="T17" fmla="*/ 2874 h 2992"/>
                <a:gd name="T18" fmla="*/ 1143 w 2879"/>
                <a:gd name="T19" fmla="*/ 2755 h 2992"/>
                <a:gd name="T20" fmla="*/ 1084 w 2879"/>
                <a:gd name="T21" fmla="*/ 2874 h 2992"/>
                <a:gd name="T22" fmla="*/ 1599 w 2879"/>
                <a:gd name="T23" fmla="*/ 2806 h 2992"/>
                <a:gd name="T24" fmla="*/ 1837 w 2879"/>
                <a:gd name="T25" fmla="*/ 2730 h 2992"/>
                <a:gd name="T26" fmla="*/ 1803 w 2879"/>
                <a:gd name="T27" fmla="*/ 2815 h 2992"/>
                <a:gd name="T28" fmla="*/ 1710 w 2879"/>
                <a:gd name="T29" fmla="*/ 2815 h 2992"/>
                <a:gd name="T30" fmla="*/ 1427 w 2879"/>
                <a:gd name="T31" fmla="*/ 2339 h 2992"/>
                <a:gd name="T32" fmla="*/ 1311 w 2879"/>
                <a:gd name="T33" fmla="*/ 1892 h 2992"/>
                <a:gd name="T34" fmla="*/ 1346 w 2879"/>
                <a:gd name="T35" fmla="*/ 1665 h 2992"/>
                <a:gd name="T36" fmla="*/ 1457 w 2879"/>
                <a:gd name="T37" fmla="*/ 1886 h 2992"/>
                <a:gd name="T38" fmla="*/ 1511 w 2879"/>
                <a:gd name="T39" fmla="*/ 2100 h 2992"/>
                <a:gd name="T40" fmla="*/ 1627 w 2879"/>
                <a:gd name="T41" fmla="*/ 2196 h 2992"/>
                <a:gd name="T42" fmla="*/ 1479 w 2879"/>
                <a:gd name="T43" fmla="*/ 2701 h 2992"/>
                <a:gd name="T44" fmla="*/ 1353 w 2879"/>
                <a:gd name="T45" fmla="*/ 2165 h 2992"/>
                <a:gd name="T46" fmla="*/ 965 w 2879"/>
                <a:gd name="T47" fmla="*/ 2696 h 2992"/>
                <a:gd name="T48" fmla="*/ 329 w 2879"/>
                <a:gd name="T49" fmla="*/ 2283 h 2992"/>
                <a:gd name="T50" fmla="*/ 442 w 2879"/>
                <a:gd name="T51" fmla="*/ 514 h 2992"/>
                <a:gd name="T52" fmla="*/ 2390 w 2879"/>
                <a:gd name="T53" fmla="*/ 467 h 2992"/>
                <a:gd name="T54" fmla="*/ 2537 w 2879"/>
                <a:gd name="T55" fmla="*/ 2304 h 2992"/>
                <a:gd name="T56" fmla="*/ 1914 w 2879"/>
                <a:gd name="T57" fmla="*/ 2696 h 2992"/>
                <a:gd name="T58" fmla="*/ 2068 w 2879"/>
                <a:gd name="T59" fmla="*/ 2270 h 2992"/>
                <a:gd name="T60" fmla="*/ 1812 w 2879"/>
                <a:gd name="T61" fmla="*/ 1308 h 2992"/>
                <a:gd name="T62" fmla="*/ 1679 w 2879"/>
                <a:gd name="T63" fmla="*/ 1601 h 2992"/>
                <a:gd name="T64" fmla="*/ 1770 w 2879"/>
                <a:gd name="T65" fmla="*/ 2095 h 2992"/>
                <a:gd name="T66" fmla="*/ 1685 w 2879"/>
                <a:gd name="T67" fmla="*/ 2493 h 2992"/>
                <a:gd name="T68" fmla="*/ 1383 w 2879"/>
                <a:gd name="T69" fmla="*/ 1607 h 2992"/>
                <a:gd name="T70" fmla="*/ 1228 w 2879"/>
                <a:gd name="T71" fmla="*/ 2442 h 2992"/>
                <a:gd name="T72" fmla="*/ 1135 w 2879"/>
                <a:gd name="T73" fmla="*/ 1849 h 2992"/>
                <a:gd name="T74" fmla="*/ 958 w 2879"/>
                <a:gd name="T75" fmla="*/ 1385 h 2992"/>
                <a:gd name="T76" fmla="*/ 677 w 2879"/>
                <a:gd name="T77" fmla="*/ 2535 h 2992"/>
                <a:gd name="T78" fmla="*/ 914 w 2879"/>
                <a:gd name="T79" fmla="*/ 2806 h 2992"/>
                <a:gd name="T80" fmla="*/ 1934 w 2879"/>
                <a:gd name="T81" fmla="*/ 2911 h 2992"/>
                <a:gd name="T82" fmla="*/ 2320 w 2879"/>
                <a:gd name="T83" fmla="*/ 2603 h 2992"/>
                <a:gd name="T84" fmla="*/ 2523 w 2879"/>
                <a:gd name="T85" fmla="*/ 520 h 2992"/>
                <a:gd name="T86" fmla="*/ 1516 w 2879"/>
                <a:gd name="T87" fmla="*/ 29 h 2992"/>
                <a:gd name="T88" fmla="*/ 408 w 2879"/>
                <a:gd name="T89" fmla="*/ 463 h 2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9" h="2992">
                  <a:moveTo>
                    <a:pt x="1549" y="2908"/>
                  </a:moveTo>
                  <a:lnTo>
                    <a:pt x="1549" y="2823"/>
                  </a:lnTo>
                  <a:lnTo>
                    <a:pt x="1575" y="2823"/>
                  </a:lnTo>
                  <a:cubicBezTo>
                    <a:pt x="1577" y="2850"/>
                    <a:pt x="1583" y="2853"/>
                    <a:pt x="1583" y="2882"/>
                  </a:cubicBezTo>
                  <a:cubicBezTo>
                    <a:pt x="1583" y="2908"/>
                    <a:pt x="1573" y="2905"/>
                    <a:pt x="1549" y="2908"/>
                  </a:cubicBezTo>
                  <a:close/>
                  <a:moveTo>
                    <a:pt x="1761" y="2882"/>
                  </a:moveTo>
                  <a:cubicBezTo>
                    <a:pt x="1750" y="2860"/>
                    <a:pt x="1753" y="2873"/>
                    <a:pt x="1753" y="2840"/>
                  </a:cubicBezTo>
                  <a:cubicBezTo>
                    <a:pt x="1813" y="2845"/>
                    <a:pt x="1781" y="2880"/>
                    <a:pt x="1761" y="2882"/>
                  </a:cubicBezTo>
                  <a:close/>
                  <a:moveTo>
                    <a:pt x="1321" y="2857"/>
                  </a:moveTo>
                  <a:lnTo>
                    <a:pt x="1321" y="2806"/>
                  </a:lnTo>
                  <a:lnTo>
                    <a:pt x="1346" y="2806"/>
                  </a:lnTo>
                  <a:cubicBezTo>
                    <a:pt x="1348" y="2829"/>
                    <a:pt x="1350" y="2829"/>
                    <a:pt x="1355" y="2848"/>
                  </a:cubicBezTo>
                  <a:cubicBezTo>
                    <a:pt x="1341" y="2850"/>
                    <a:pt x="1328" y="2848"/>
                    <a:pt x="1321" y="2857"/>
                  </a:cubicBezTo>
                  <a:close/>
                  <a:moveTo>
                    <a:pt x="1363" y="2798"/>
                  </a:moveTo>
                  <a:lnTo>
                    <a:pt x="1524" y="2798"/>
                  </a:lnTo>
                  <a:cubicBezTo>
                    <a:pt x="1504" y="2840"/>
                    <a:pt x="1521" y="2884"/>
                    <a:pt x="1524" y="2925"/>
                  </a:cubicBezTo>
                  <a:lnTo>
                    <a:pt x="1338" y="2925"/>
                  </a:lnTo>
                  <a:cubicBezTo>
                    <a:pt x="1376" y="2868"/>
                    <a:pt x="1399" y="2865"/>
                    <a:pt x="1363" y="2798"/>
                  </a:cubicBezTo>
                  <a:close/>
                  <a:moveTo>
                    <a:pt x="1287" y="2874"/>
                  </a:moveTo>
                  <a:cubicBezTo>
                    <a:pt x="1307" y="2879"/>
                    <a:pt x="1312" y="2882"/>
                    <a:pt x="1338" y="2882"/>
                  </a:cubicBezTo>
                  <a:cubicBezTo>
                    <a:pt x="1331" y="2906"/>
                    <a:pt x="1340" y="2897"/>
                    <a:pt x="1316" y="2911"/>
                  </a:cubicBezTo>
                  <a:cubicBezTo>
                    <a:pt x="1275" y="2934"/>
                    <a:pt x="1165" y="2927"/>
                    <a:pt x="1143" y="2882"/>
                  </a:cubicBezTo>
                  <a:cubicBezTo>
                    <a:pt x="1135" y="2866"/>
                    <a:pt x="1139" y="2855"/>
                    <a:pt x="1145" y="2835"/>
                  </a:cubicBezTo>
                  <a:cubicBezTo>
                    <a:pt x="1153" y="2811"/>
                    <a:pt x="1158" y="2797"/>
                    <a:pt x="1160" y="2772"/>
                  </a:cubicBezTo>
                  <a:lnTo>
                    <a:pt x="1312" y="2783"/>
                  </a:lnTo>
                  <a:cubicBezTo>
                    <a:pt x="1289" y="2816"/>
                    <a:pt x="1287" y="2814"/>
                    <a:pt x="1287" y="2874"/>
                  </a:cubicBezTo>
                  <a:close/>
                  <a:moveTo>
                    <a:pt x="1084" y="2874"/>
                  </a:moveTo>
                  <a:cubicBezTo>
                    <a:pt x="1021" y="2874"/>
                    <a:pt x="1025" y="2869"/>
                    <a:pt x="974" y="2857"/>
                  </a:cubicBezTo>
                  <a:lnTo>
                    <a:pt x="1036" y="2731"/>
                  </a:lnTo>
                  <a:cubicBezTo>
                    <a:pt x="1070" y="2739"/>
                    <a:pt x="1099" y="2754"/>
                    <a:pt x="1143" y="2755"/>
                  </a:cubicBezTo>
                  <a:cubicBezTo>
                    <a:pt x="1125" y="2800"/>
                    <a:pt x="1149" y="2744"/>
                    <a:pt x="1122" y="2776"/>
                  </a:cubicBezTo>
                  <a:cubicBezTo>
                    <a:pt x="1104" y="2798"/>
                    <a:pt x="1114" y="2769"/>
                    <a:pt x="1116" y="2807"/>
                  </a:cubicBezTo>
                  <a:cubicBezTo>
                    <a:pt x="1118" y="2844"/>
                    <a:pt x="1120" y="2874"/>
                    <a:pt x="1084" y="2874"/>
                  </a:cubicBezTo>
                  <a:close/>
                  <a:moveTo>
                    <a:pt x="1736" y="2899"/>
                  </a:moveTo>
                  <a:cubicBezTo>
                    <a:pt x="1699" y="2908"/>
                    <a:pt x="1632" y="2924"/>
                    <a:pt x="1592" y="2925"/>
                  </a:cubicBezTo>
                  <a:cubicBezTo>
                    <a:pt x="1607" y="2859"/>
                    <a:pt x="1616" y="2924"/>
                    <a:pt x="1599" y="2806"/>
                  </a:cubicBezTo>
                  <a:cubicBezTo>
                    <a:pt x="1592" y="2802"/>
                    <a:pt x="1584" y="2800"/>
                    <a:pt x="1581" y="2800"/>
                  </a:cubicBezTo>
                  <a:lnTo>
                    <a:pt x="1558" y="2789"/>
                  </a:lnTo>
                  <a:cubicBezTo>
                    <a:pt x="1664" y="2765"/>
                    <a:pt x="1744" y="2775"/>
                    <a:pt x="1837" y="2730"/>
                  </a:cubicBezTo>
                  <a:lnTo>
                    <a:pt x="1888" y="2857"/>
                  </a:lnTo>
                  <a:cubicBezTo>
                    <a:pt x="1864" y="2869"/>
                    <a:pt x="1833" y="2876"/>
                    <a:pt x="1803" y="2882"/>
                  </a:cubicBezTo>
                  <a:lnTo>
                    <a:pt x="1803" y="2815"/>
                  </a:lnTo>
                  <a:cubicBezTo>
                    <a:pt x="1759" y="2811"/>
                    <a:pt x="1788" y="2804"/>
                    <a:pt x="1744" y="2815"/>
                  </a:cubicBezTo>
                  <a:cubicBezTo>
                    <a:pt x="1756" y="2797"/>
                    <a:pt x="1767" y="2781"/>
                    <a:pt x="1778" y="2764"/>
                  </a:cubicBezTo>
                  <a:cubicBezTo>
                    <a:pt x="1738" y="2773"/>
                    <a:pt x="1722" y="2778"/>
                    <a:pt x="1710" y="2815"/>
                  </a:cubicBezTo>
                  <a:cubicBezTo>
                    <a:pt x="1701" y="2846"/>
                    <a:pt x="1719" y="2868"/>
                    <a:pt x="1736" y="2899"/>
                  </a:cubicBezTo>
                  <a:close/>
                  <a:moveTo>
                    <a:pt x="1353" y="2165"/>
                  </a:moveTo>
                  <a:cubicBezTo>
                    <a:pt x="1390" y="2221"/>
                    <a:pt x="1360" y="2325"/>
                    <a:pt x="1427" y="2339"/>
                  </a:cubicBezTo>
                  <a:cubicBezTo>
                    <a:pt x="1434" y="2077"/>
                    <a:pt x="1373" y="2191"/>
                    <a:pt x="1342" y="2121"/>
                  </a:cubicBezTo>
                  <a:cubicBezTo>
                    <a:pt x="1327" y="2045"/>
                    <a:pt x="1349" y="2044"/>
                    <a:pt x="1358" y="1989"/>
                  </a:cubicBezTo>
                  <a:cubicBezTo>
                    <a:pt x="1365" y="1942"/>
                    <a:pt x="1321" y="1950"/>
                    <a:pt x="1311" y="1892"/>
                  </a:cubicBezTo>
                  <a:cubicBezTo>
                    <a:pt x="1357" y="1820"/>
                    <a:pt x="1435" y="1869"/>
                    <a:pt x="1428" y="1793"/>
                  </a:cubicBezTo>
                  <a:cubicBezTo>
                    <a:pt x="1395" y="1772"/>
                    <a:pt x="1337" y="1792"/>
                    <a:pt x="1316" y="1759"/>
                  </a:cubicBezTo>
                  <a:cubicBezTo>
                    <a:pt x="1296" y="1727"/>
                    <a:pt x="1329" y="1682"/>
                    <a:pt x="1346" y="1665"/>
                  </a:cubicBezTo>
                  <a:cubicBezTo>
                    <a:pt x="1395" y="1679"/>
                    <a:pt x="1376" y="1680"/>
                    <a:pt x="1400" y="1719"/>
                  </a:cubicBezTo>
                  <a:cubicBezTo>
                    <a:pt x="1515" y="1731"/>
                    <a:pt x="1523" y="1715"/>
                    <a:pt x="1625" y="1757"/>
                  </a:cubicBezTo>
                  <a:cubicBezTo>
                    <a:pt x="1634" y="1916"/>
                    <a:pt x="1547" y="1882"/>
                    <a:pt x="1457" y="1886"/>
                  </a:cubicBezTo>
                  <a:cubicBezTo>
                    <a:pt x="1427" y="1888"/>
                    <a:pt x="1405" y="1892"/>
                    <a:pt x="1385" y="1909"/>
                  </a:cubicBezTo>
                  <a:cubicBezTo>
                    <a:pt x="1409" y="1929"/>
                    <a:pt x="1409" y="1927"/>
                    <a:pt x="1448" y="1935"/>
                  </a:cubicBezTo>
                  <a:cubicBezTo>
                    <a:pt x="1533" y="1952"/>
                    <a:pt x="1492" y="2005"/>
                    <a:pt x="1511" y="2100"/>
                  </a:cubicBezTo>
                  <a:cubicBezTo>
                    <a:pt x="1550" y="2041"/>
                    <a:pt x="1523" y="1991"/>
                    <a:pt x="1577" y="1967"/>
                  </a:cubicBezTo>
                  <a:cubicBezTo>
                    <a:pt x="1610" y="2042"/>
                    <a:pt x="1601" y="2076"/>
                    <a:pt x="1577" y="2149"/>
                  </a:cubicBezTo>
                  <a:cubicBezTo>
                    <a:pt x="1617" y="2174"/>
                    <a:pt x="1618" y="2137"/>
                    <a:pt x="1627" y="2196"/>
                  </a:cubicBezTo>
                  <a:cubicBezTo>
                    <a:pt x="1638" y="2274"/>
                    <a:pt x="1612" y="2358"/>
                    <a:pt x="1557" y="2407"/>
                  </a:cubicBezTo>
                  <a:cubicBezTo>
                    <a:pt x="1497" y="2459"/>
                    <a:pt x="1503" y="2425"/>
                    <a:pt x="1502" y="2535"/>
                  </a:cubicBezTo>
                  <a:cubicBezTo>
                    <a:pt x="1502" y="2594"/>
                    <a:pt x="1503" y="2655"/>
                    <a:pt x="1479" y="2701"/>
                  </a:cubicBezTo>
                  <a:cubicBezTo>
                    <a:pt x="1383" y="2681"/>
                    <a:pt x="1423" y="2605"/>
                    <a:pt x="1425" y="2434"/>
                  </a:cubicBezTo>
                  <a:cubicBezTo>
                    <a:pt x="1366" y="2389"/>
                    <a:pt x="1294" y="2369"/>
                    <a:pt x="1302" y="2221"/>
                  </a:cubicBezTo>
                  <a:cubicBezTo>
                    <a:pt x="1305" y="2178"/>
                    <a:pt x="1313" y="2169"/>
                    <a:pt x="1353" y="2165"/>
                  </a:cubicBezTo>
                  <a:close/>
                  <a:moveTo>
                    <a:pt x="677" y="2535"/>
                  </a:moveTo>
                  <a:cubicBezTo>
                    <a:pt x="685" y="2563"/>
                    <a:pt x="678" y="2547"/>
                    <a:pt x="699" y="2565"/>
                  </a:cubicBezTo>
                  <a:cubicBezTo>
                    <a:pt x="752" y="2611"/>
                    <a:pt x="903" y="2695"/>
                    <a:pt x="965" y="2696"/>
                  </a:cubicBezTo>
                  <a:cubicBezTo>
                    <a:pt x="959" y="2722"/>
                    <a:pt x="954" y="2721"/>
                    <a:pt x="948" y="2747"/>
                  </a:cubicBezTo>
                  <a:cubicBezTo>
                    <a:pt x="896" y="2746"/>
                    <a:pt x="791" y="2693"/>
                    <a:pt x="755" y="2669"/>
                  </a:cubicBezTo>
                  <a:cubicBezTo>
                    <a:pt x="589" y="2561"/>
                    <a:pt x="451" y="2449"/>
                    <a:pt x="329" y="2283"/>
                  </a:cubicBezTo>
                  <a:cubicBezTo>
                    <a:pt x="91" y="1958"/>
                    <a:pt x="5" y="1570"/>
                    <a:pt x="97" y="1150"/>
                  </a:cubicBezTo>
                  <a:cubicBezTo>
                    <a:pt x="143" y="940"/>
                    <a:pt x="268" y="687"/>
                    <a:pt x="421" y="535"/>
                  </a:cubicBezTo>
                  <a:cubicBezTo>
                    <a:pt x="430" y="526"/>
                    <a:pt x="434" y="523"/>
                    <a:pt x="442" y="514"/>
                  </a:cubicBezTo>
                  <a:cubicBezTo>
                    <a:pt x="504" y="446"/>
                    <a:pt x="576" y="385"/>
                    <a:pt x="652" y="334"/>
                  </a:cubicBezTo>
                  <a:cubicBezTo>
                    <a:pt x="1121" y="23"/>
                    <a:pt x="1735" y="0"/>
                    <a:pt x="2203" y="315"/>
                  </a:cubicBezTo>
                  <a:lnTo>
                    <a:pt x="2390" y="467"/>
                  </a:lnTo>
                  <a:cubicBezTo>
                    <a:pt x="2613" y="693"/>
                    <a:pt x="2811" y="1034"/>
                    <a:pt x="2811" y="1375"/>
                  </a:cubicBezTo>
                  <a:lnTo>
                    <a:pt x="2811" y="1528"/>
                  </a:lnTo>
                  <a:cubicBezTo>
                    <a:pt x="2811" y="1813"/>
                    <a:pt x="2667" y="2145"/>
                    <a:pt x="2537" y="2304"/>
                  </a:cubicBezTo>
                  <a:cubicBezTo>
                    <a:pt x="2493" y="2358"/>
                    <a:pt x="2460" y="2391"/>
                    <a:pt x="2411" y="2440"/>
                  </a:cubicBezTo>
                  <a:cubicBezTo>
                    <a:pt x="2306" y="2545"/>
                    <a:pt x="2055" y="2744"/>
                    <a:pt x="1922" y="2747"/>
                  </a:cubicBezTo>
                  <a:cubicBezTo>
                    <a:pt x="1917" y="2727"/>
                    <a:pt x="1914" y="2722"/>
                    <a:pt x="1914" y="2696"/>
                  </a:cubicBezTo>
                  <a:cubicBezTo>
                    <a:pt x="1995" y="2694"/>
                    <a:pt x="2114" y="2602"/>
                    <a:pt x="2176" y="2569"/>
                  </a:cubicBezTo>
                  <a:cubicBezTo>
                    <a:pt x="2169" y="2539"/>
                    <a:pt x="2155" y="2526"/>
                    <a:pt x="2142" y="2501"/>
                  </a:cubicBezTo>
                  <a:cubicBezTo>
                    <a:pt x="2102" y="2424"/>
                    <a:pt x="2080" y="2361"/>
                    <a:pt x="2068" y="2270"/>
                  </a:cubicBezTo>
                  <a:cubicBezTo>
                    <a:pt x="2051" y="2134"/>
                    <a:pt x="2024" y="1600"/>
                    <a:pt x="2024" y="1502"/>
                  </a:cubicBezTo>
                  <a:cubicBezTo>
                    <a:pt x="2024" y="1424"/>
                    <a:pt x="1992" y="1413"/>
                    <a:pt x="1945" y="1378"/>
                  </a:cubicBezTo>
                  <a:cubicBezTo>
                    <a:pt x="1914" y="1354"/>
                    <a:pt x="1853" y="1317"/>
                    <a:pt x="1812" y="1308"/>
                  </a:cubicBezTo>
                  <a:cubicBezTo>
                    <a:pt x="1769" y="1389"/>
                    <a:pt x="1656" y="1489"/>
                    <a:pt x="1575" y="1511"/>
                  </a:cubicBezTo>
                  <a:cubicBezTo>
                    <a:pt x="1583" y="1540"/>
                    <a:pt x="1596" y="1544"/>
                    <a:pt x="1621" y="1558"/>
                  </a:cubicBezTo>
                  <a:cubicBezTo>
                    <a:pt x="1654" y="1577"/>
                    <a:pt x="1652" y="1575"/>
                    <a:pt x="1679" y="1601"/>
                  </a:cubicBezTo>
                  <a:cubicBezTo>
                    <a:pt x="1722" y="1645"/>
                    <a:pt x="1728" y="1668"/>
                    <a:pt x="1742" y="1733"/>
                  </a:cubicBezTo>
                  <a:cubicBezTo>
                    <a:pt x="1753" y="1781"/>
                    <a:pt x="1762" y="1854"/>
                    <a:pt x="1761" y="1908"/>
                  </a:cubicBezTo>
                  <a:cubicBezTo>
                    <a:pt x="1761" y="1979"/>
                    <a:pt x="1770" y="2024"/>
                    <a:pt x="1770" y="2095"/>
                  </a:cubicBezTo>
                  <a:cubicBezTo>
                    <a:pt x="1770" y="2175"/>
                    <a:pt x="1761" y="2221"/>
                    <a:pt x="1761" y="2298"/>
                  </a:cubicBezTo>
                  <a:cubicBezTo>
                    <a:pt x="1762" y="2375"/>
                    <a:pt x="1746" y="2429"/>
                    <a:pt x="1744" y="2493"/>
                  </a:cubicBezTo>
                  <a:lnTo>
                    <a:pt x="1685" y="2493"/>
                  </a:lnTo>
                  <a:cubicBezTo>
                    <a:pt x="1681" y="2447"/>
                    <a:pt x="1668" y="2400"/>
                    <a:pt x="1668" y="2349"/>
                  </a:cubicBezTo>
                  <a:cubicBezTo>
                    <a:pt x="1668" y="2091"/>
                    <a:pt x="1708" y="1881"/>
                    <a:pt x="1609" y="1688"/>
                  </a:cubicBezTo>
                  <a:cubicBezTo>
                    <a:pt x="1566" y="1604"/>
                    <a:pt x="1470" y="1541"/>
                    <a:pt x="1383" y="1607"/>
                  </a:cubicBezTo>
                  <a:cubicBezTo>
                    <a:pt x="1200" y="1748"/>
                    <a:pt x="1245" y="1884"/>
                    <a:pt x="1223" y="2031"/>
                  </a:cubicBezTo>
                  <a:cubicBezTo>
                    <a:pt x="1217" y="2072"/>
                    <a:pt x="1218" y="2102"/>
                    <a:pt x="1224" y="2141"/>
                  </a:cubicBezTo>
                  <a:lnTo>
                    <a:pt x="1228" y="2442"/>
                  </a:lnTo>
                  <a:cubicBezTo>
                    <a:pt x="1228" y="2487"/>
                    <a:pt x="1205" y="2500"/>
                    <a:pt x="1160" y="2501"/>
                  </a:cubicBezTo>
                  <a:cubicBezTo>
                    <a:pt x="1159" y="2465"/>
                    <a:pt x="1152" y="2467"/>
                    <a:pt x="1151" y="2425"/>
                  </a:cubicBezTo>
                  <a:lnTo>
                    <a:pt x="1135" y="1849"/>
                  </a:lnTo>
                  <a:cubicBezTo>
                    <a:pt x="1135" y="1673"/>
                    <a:pt x="1215" y="1607"/>
                    <a:pt x="1321" y="1536"/>
                  </a:cubicBezTo>
                  <a:cubicBezTo>
                    <a:pt x="1259" y="1444"/>
                    <a:pt x="1243" y="1545"/>
                    <a:pt x="1084" y="1308"/>
                  </a:cubicBezTo>
                  <a:cubicBezTo>
                    <a:pt x="1032" y="1335"/>
                    <a:pt x="1004" y="1350"/>
                    <a:pt x="958" y="1385"/>
                  </a:cubicBezTo>
                  <a:cubicBezTo>
                    <a:pt x="891" y="1434"/>
                    <a:pt x="881" y="1445"/>
                    <a:pt x="880" y="1511"/>
                  </a:cubicBezTo>
                  <a:cubicBezTo>
                    <a:pt x="878" y="1674"/>
                    <a:pt x="851" y="2123"/>
                    <a:pt x="824" y="2266"/>
                  </a:cubicBezTo>
                  <a:cubicBezTo>
                    <a:pt x="805" y="2361"/>
                    <a:pt x="772" y="2527"/>
                    <a:pt x="677" y="2535"/>
                  </a:cubicBezTo>
                  <a:close/>
                  <a:moveTo>
                    <a:pt x="0" y="1426"/>
                  </a:moveTo>
                  <a:cubicBezTo>
                    <a:pt x="0" y="1915"/>
                    <a:pt x="185" y="2298"/>
                    <a:pt x="549" y="2596"/>
                  </a:cubicBezTo>
                  <a:cubicBezTo>
                    <a:pt x="716" y="2732"/>
                    <a:pt x="761" y="2732"/>
                    <a:pt x="914" y="2806"/>
                  </a:cubicBezTo>
                  <a:cubicBezTo>
                    <a:pt x="902" y="2825"/>
                    <a:pt x="889" y="2842"/>
                    <a:pt x="889" y="2874"/>
                  </a:cubicBezTo>
                  <a:cubicBezTo>
                    <a:pt x="889" y="2941"/>
                    <a:pt x="1344" y="2992"/>
                    <a:pt x="1482" y="2992"/>
                  </a:cubicBezTo>
                  <a:cubicBezTo>
                    <a:pt x="1595" y="2992"/>
                    <a:pt x="1822" y="2950"/>
                    <a:pt x="1934" y="2911"/>
                  </a:cubicBezTo>
                  <a:cubicBezTo>
                    <a:pt x="1961" y="2902"/>
                    <a:pt x="1965" y="2897"/>
                    <a:pt x="1990" y="2891"/>
                  </a:cubicBezTo>
                  <a:cubicBezTo>
                    <a:pt x="1987" y="2857"/>
                    <a:pt x="1972" y="2841"/>
                    <a:pt x="1964" y="2806"/>
                  </a:cubicBezTo>
                  <a:cubicBezTo>
                    <a:pt x="2149" y="2709"/>
                    <a:pt x="2126" y="2751"/>
                    <a:pt x="2320" y="2603"/>
                  </a:cubicBezTo>
                  <a:cubicBezTo>
                    <a:pt x="2642" y="2357"/>
                    <a:pt x="2879" y="1923"/>
                    <a:pt x="2879" y="1477"/>
                  </a:cubicBezTo>
                  <a:cubicBezTo>
                    <a:pt x="2879" y="1164"/>
                    <a:pt x="2759" y="794"/>
                    <a:pt x="2563" y="565"/>
                  </a:cubicBezTo>
                  <a:cubicBezTo>
                    <a:pt x="2547" y="546"/>
                    <a:pt x="2538" y="540"/>
                    <a:pt x="2523" y="520"/>
                  </a:cubicBezTo>
                  <a:cubicBezTo>
                    <a:pt x="2507" y="499"/>
                    <a:pt x="2498" y="491"/>
                    <a:pt x="2479" y="471"/>
                  </a:cubicBezTo>
                  <a:cubicBezTo>
                    <a:pt x="2361" y="355"/>
                    <a:pt x="2228" y="254"/>
                    <a:pt x="2072" y="176"/>
                  </a:cubicBezTo>
                  <a:cubicBezTo>
                    <a:pt x="1922" y="101"/>
                    <a:pt x="1735" y="29"/>
                    <a:pt x="1516" y="29"/>
                  </a:cubicBezTo>
                  <a:cubicBezTo>
                    <a:pt x="1101" y="29"/>
                    <a:pt x="857" y="107"/>
                    <a:pt x="552" y="335"/>
                  </a:cubicBezTo>
                  <a:cubicBezTo>
                    <a:pt x="527" y="353"/>
                    <a:pt x="523" y="359"/>
                    <a:pt x="502" y="378"/>
                  </a:cubicBezTo>
                  <a:lnTo>
                    <a:pt x="408" y="463"/>
                  </a:lnTo>
                  <a:cubicBezTo>
                    <a:pt x="388" y="484"/>
                    <a:pt x="384" y="493"/>
                    <a:pt x="366" y="514"/>
                  </a:cubicBezTo>
                  <a:cubicBezTo>
                    <a:pt x="152" y="755"/>
                    <a:pt x="0" y="1086"/>
                    <a:pt x="0" y="14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8" name="Freeform 14"/>
            <p:cNvSpPr>
              <a:spLocks noEditPoints="1"/>
            </p:cNvSpPr>
            <p:nvPr/>
          </p:nvSpPr>
          <p:spPr bwMode="auto">
            <a:xfrm>
              <a:off x="4065588" y="1646238"/>
              <a:ext cx="969963" cy="958850"/>
            </a:xfrm>
            <a:custGeom>
              <a:avLst/>
              <a:gdLst>
                <a:gd name="T0" fmla="*/ 2152 w 4182"/>
                <a:gd name="T1" fmla="*/ 4022 h 4106"/>
                <a:gd name="T2" fmla="*/ 1282 w 4182"/>
                <a:gd name="T3" fmla="*/ 3867 h 4106"/>
                <a:gd name="T4" fmla="*/ 834 w 4182"/>
                <a:gd name="T5" fmla="*/ 3603 h 4106"/>
                <a:gd name="T6" fmla="*/ 773 w 4182"/>
                <a:gd name="T7" fmla="*/ 3546 h 4106"/>
                <a:gd name="T8" fmla="*/ 646 w 4182"/>
                <a:gd name="T9" fmla="*/ 3427 h 4106"/>
                <a:gd name="T10" fmla="*/ 382 w 4182"/>
                <a:gd name="T11" fmla="*/ 3098 h 4106"/>
                <a:gd name="T12" fmla="*/ 94 w 4182"/>
                <a:gd name="T13" fmla="*/ 2184 h 4106"/>
                <a:gd name="T14" fmla="*/ 280 w 4182"/>
                <a:gd name="T15" fmla="*/ 1211 h 4106"/>
                <a:gd name="T16" fmla="*/ 567 w 4182"/>
                <a:gd name="T17" fmla="*/ 769 h 4106"/>
                <a:gd name="T18" fmla="*/ 630 w 4182"/>
                <a:gd name="T19" fmla="*/ 713 h 4106"/>
                <a:gd name="T20" fmla="*/ 953 w 4182"/>
                <a:gd name="T21" fmla="*/ 427 h 4106"/>
                <a:gd name="T22" fmla="*/ 2075 w 4182"/>
                <a:gd name="T23" fmla="*/ 85 h 4106"/>
                <a:gd name="T24" fmla="*/ 2939 w 4182"/>
                <a:gd name="T25" fmla="*/ 288 h 4106"/>
                <a:gd name="T26" fmla="*/ 3360 w 4182"/>
                <a:gd name="T27" fmla="*/ 578 h 4106"/>
                <a:gd name="T28" fmla="*/ 3483 w 4182"/>
                <a:gd name="T29" fmla="*/ 700 h 4106"/>
                <a:gd name="T30" fmla="*/ 3647 w 4182"/>
                <a:gd name="T31" fmla="*/ 893 h 4106"/>
                <a:gd name="T32" fmla="*/ 4023 w 4182"/>
                <a:gd name="T33" fmla="*/ 1947 h 4106"/>
                <a:gd name="T34" fmla="*/ 3777 w 4182"/>
                <a:gd name="T35" fmla="*/ 3014 h 4106"/>
                <a:gd name="T36" fmla="*/ 3473 w 4182"/>
                <a:gd name="T37" fmla="*/ 3429 h 4106"/>
                <a:gd name="T38" fmla="*/ 3077 w 4182"/>
                <a:gd name="T39" fmla="*/ 3745 h 4106"/>
                <a:gd name="T40" fmla="*/ 2914 w 4182"/>
                <a:gd name="T41" fmla="*/ 3827 h 4106"/>
                <a:gd name="T42" fmla="*/ 2567 w 4182"/>
                <a:gd name="T43" fmla="*/ 3955 h 4106"/>
                <a:gd name="T44" fmla="*/ 2152 w 4182"/>
                <a:gd name="T45" fmla="*/ 4022 h 4106"/>
                <a:gd name="T46" fmla="*/ 9 w 4182"/>
                <a:gd name="T47" fmla="*/ 1880 h 4106"/>
                <a:gd name="T48" fmla="*/ 62 w 4182"/>
                <a:gd name="T49" fmla="*/ 2563 h 4106"/>
                <a:gd name="T50" fmla="*/ 122 w 4182"/>
                <a:gd name="T51" fmla="*/ 2749 h 4106"/>
                <a:gd name="T52" fmla="*/ 480 w 4182"/>
                <a:gd name="T53" fmla="*/ 3373 h 4106"/>
                <a:gd name="T54" fmla="*/ 730 w 4182"/>
                <a:gd name="T55" fmla="*/ 3623 h 4106"/>
                <a:gd name="T56" fmla="*/ 868 w 4182"/>
                <a:gd name="T57" fmla="*/ 3730 h 4106"/>
                <a:gd name="T58" fmla="*/ 939 w 4182"/>
                <a:gd name="T59" fmla="*/ 3778 h 4106"/>
                <a:gd name="T60" fmla="*/ 1017 w 4182"/>
                <a:gd name="T61" fmla="*/ 3827 h 4106"/>
                <a:gd name="T62" fmla="*/ 1982 w 4182"/>
                <a:gd name="T63" fmla="*/ 4106 h 4106"/>
                <a:gd name="T64" fmla="*/ 2935 w 4182"/>
                <a:gd name="T65" fmla="*/ 3917 h 4106"/>
                <a:gd name="T66" fmla="*/ 3094 w 4182"/>
                <a:gd name="T67" fmla="*/ 3830 h 4106"/>
                <a:gd name="T68" fmla="*/ 3243 w 4182"/>
                <a:gd name="T69" fmla="*/ 3733 h 4106"/>
                <a:gd name="T70" fmla="*/ 3379 w 4182"/>
                <a:gd name="T71" fmla="*/ 3624 h 4106"/>
                <a:gd name="T72" fmla="*/ 3445 w 4182"/>
                <a:gd name="T73" fmla="*/ 3571 h 4106"/>
                <a:gd name="T74" fmla="*/ 3624 w 4182"/>
                <a:gd name="T75" fmla="*/ 3377 h 4106"/>
                <a:gd name="T76" fmla="*/ 3915 w 4182"/>
                <a:gd name="T77" fmla="*/ 2932 h 4106"/>
                <a:gd name="T78" fmla="*/ 3944 w 4182"/>
                <a:gd name="T79" fmla="*/ 1247 h 4106"/>
                <a:gd name="T80" fmla="*/ 3813 w 4182"/>
                <a:gd name="T81" fmla="*/ 1006 h 4106"/>
                <a:gd name="T82" fmla="*/ 3718 w 4182"/>
                <a:gd name="T83" fmla="*/ 847 h 4106"/>
                <a:gd name="T84" fmla="*/ 3470 w 4182"/>
                <a:gd name="T85" fmla="*/ 595 h 4106"/>
                <a:gd name="T86" fmla="*/ 3139 w 4182"/>
                <a:gd name="T87" fmla="*/ 308 h 4106"/>
                <a:gd name="T88" fmla="*/ 2067 w 4182"/>
                <a:gd name="T89" fmla="*/ 0 h 4106"/>
                <a:gd name="T90" fmla="*/ 787 w 4182"/>
                <a:gd name="T91" fmla="*/ 439 h 4106"/>
                <a:gd name="T92" fmla="*/ 89 w 4182"/>
                <a:gd name="T93" fmla="*/ 1459 h 4106"/>
                <a:gd name="T94" fmla="*/ 9 w 4182"/>
                <a:gd name="T95" fmla="*/ 1880 h 4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82" h="4106">
                  <a:moveTo>
                    <a:pt x="2152" y="4022"/>
                  </a:moveTo>
                  <a:cubicBezTo>
                    <a:pt x="1818" y="4022"/>
                    <a:pt x="1527" y="3989"/>
                    <a:pt x="1282" y="3867"/>
                  </a:cubicBezTo>
                  <a:cubicBezTo>
                    <a:pt x="1123" y="3787"/>
                    <a:pt x="973" y="3712"/>
                    <a:pt x="834" y="3603"/>
                  </a:cubicBezTo>
                  <a:cubicBezTo>
                    <a:pt x="808" y="3583"/>
                    <a:pt x="797" y="3565"/>
                    <a:pt x="773" y="3546"/>
                  </a:cubicBezTo>
                  <a:cubicBezTo>
                    <a:pt x="711" y="3497"/>
                    <a:pt x="693" y="3468"/>
                    <a:pt x="646" y="3427"/>
                  </a:cubicBezTo>
                  <a:cubicBezTo>
                    <a:pt x="560" y="3351"/>
                    <a:pt x="442" y="3197"/>
                    <a:pt x="382" y="3098"/>
                  </a:cubicBezTo>
                  <a:cubicBezTo>
                    <a:pt x="250" y="2879"/>
                    <a:pt x="94" y="2473"/>
                    <a:pt x="94" y="2184"/>
                  </a:cubicBezTo>
                  <a:cubicBezTo>
                    <a:pt x="94" y="1799"/>
                    <a:pt x="106" y="1560"/>
                    <a:pt x="280" y="1211"/>
                  </a:cubicBezTo>
                  <a:cubicBezTo>
                    <a:pt x="334" y="1105"/>
                    <a:pt x="478" y="840"/>
                    <a:pt x="567" y="769"/>
                  </a:cubicBezTo>
                  <a:cubicBezTo>
                    <a:pt x="595" y="747"/>
                    <a:pt x="604" y="739"/>
                    <a:pt x="630" y="713"/>
                  </a:cubicBezTo>
                  <a:lnTo>
                    <a:pt x="953" y="427"/>
                  </a:lnTo>
                  <a:cubicBezTo>
                    <a:pt x="1277" y="213"/>
                    <a:pt x="1674" y="85"/>
                    <a:pt x="2075" y="85"/>
                  </a:cubicBezTo>
                  <a:cubicBezTo>
                    <a:pt x="2385" y="85"/>
                    <a:pt x="2717" y="174"/>
                    <a:pt x="2939" y="288"/>
                  </a:cubicBezTo>
                  <a:lnTo>
                    <a:pt x="3360" y="578"/>
                  </a:lnTo>
                  <a:cubicBezTo>
                    <a:pt x="3430" y="647"/>
                    <a:pt x="3408" y="610"/>
                    <a:pt x="3483" y="700"/>
                  </a:cubicBezTo>
                  <a:cubicBezTo>
                    <a:pt x="3541" y="769"/>
                    <a:pt x="3569" y="789"/>
                    <a:pt x="3647" y="893"/>
                  </a:cubicBezTo>
                  <a:cubicBezTo>
                    <a:pt x="3850" y="1164"/>
                    <a:pt x="4023" y="1591"/>
                    <a:pt x="4023" y="1947"/>
                  </a:cubicBezTo>
                  <a:cubicBezTo>
                    <a:pt x="4023" y="2470"/>
                    <a:pt x="3975" y="2614"/>
                    <a:pt x="3777" y="3014"/>
                  </a:cubicBezTo>
                  <a:cubicBezTo>
                    <a:pt x="3733" y="3103"/>
                    <a:pt x="3548" y="3369"/>
                    <a:pt x="3473" y="3429"/>
                  </a:cubicBezTo>
                  <a:cubicBezTo>
                    <a:pt x="3340" y="3534"/>
                    <a:pt x="3274" y="3636"/>
                    <a:pt x="3077" y="3745"/>
                  </a:cubicBezTo>
                  <a:cubicBezTo>
                    <a:pt x="3019" y="3777"/>
                    <a:pt x="2974" y="3800"/>
                    <a:pt x="2914" y="3827"/>
                  </a:cubicBezTo>
                  <a:cubicBezTo>
                    <a:pt x="2776" y="3889"/>
                    <a:pt x="2714" y="3912"/>
                    <a:pt x="2567" y="3955"/>
                  </a:cubicBezTo>
                  <a:cubicBezTo>
                    <a:pt x="2455" y="3988"/>
                    <a:pt x="2297" y="4022"/>
                    <a:pt x="2152" y="4022"/>
                  </a:cubicBezTo>
                  <a:close/>
                  <a:moveTo>
                    <a:pt x="9" y="1880"/>
                  </a:moveTo>
                  <a:cubicBezTo>
                    <a:pt x="9" y="2149"/>
                    <a:pt x="0" y="2296"/>
                    <a:pt x="62" y="2563"/>
                  </a:cubicBezTo>
                  <a:cubicBezTo>
                    <a:pt x="76" y="2621"/>
                    <a:pt x="99" y="2693"/>
                    <a:pt x="122" y="2749"/>
                  </a:cubicBezTo>
                  <a:cubicBezTo>
                    <a:pt x="207" y="2959"/>
                    <a:pt x="341" y="3194"/>
                    <a:pt x="480" y="3373"/>
                  </a:cubicBezTo>
                  <a:cubicBezTo>
                    <a:pt x="543" y="3455"/>
                    <a:pt x="651" y="3558"/>
                    <a:pt x="730" y="3623"/>
                  </a:cubicBezTo>
                  <a:lnTo>
                    <a:pt x="868" y="3730"/>
                  </a:lnTo>
                  <a:cubicBezTo>
                    <a:pt x="893" y="3748"/>
                    <a:pt x="914" y="3762"/>
                    <a:pt x="939" y="3778"/>
                  </a:cubicBezTo>
                  <a:cubicBezTo>
                    <a:pt x="966" y="3795"/>
                    <a:pt x="993" y="3812"/>
                    <a:pt x="1017" y="3827"/>
                  </a:cubicBezTo>
                  <a:cubicBezTo>
                    <a:pt x="1283" y="3980"/>
                    <a:pt x="1622" y="4106"/>
                    <a:pt x="1982" y="4106"/>
                  </a:cubicBezTo>
                  <a:cubicBezTo>
                    <a:pt x="2426" y="4106"/>
                    <a:pt x="2563" y="4069"/>
                    <a:pt x="2935" y="3917"/>
                  </a:cubicBezTo>
                  <a:lnTo>
                    <a:pt x="3094" y="3830"/>
                  </a:lnTo>
                  <a:cubicBezTo>
                    <a:pt x="3147" y="3801"/>
                    <a:pt x="3197" y="3767"/>
                    <a:pt x="3243" y="3733"/>
                  </a:cubicBezTo>
                  <a:lnTo>
                    <a:pt x="3379" y="3624"/>
                  </a:lnTo>
                  <a:cubicBezTo>
                    <a:pt x="3403" y="3605"/>
                    <a:pt x="3422" y="3594"/>
                    <a:pt x="3445" y="3571"/>
                  </a:cubicBezTo>
                  <a:lnTo>
                    <a:pt x="3624" y="3377"/>
                  </a:lnTo>
                  <a:cubicBezTo>
                    <a:pt x="3763" y="3205"/>
                    <a:pt x="3800" y="3163"/>
                    <a:pt x="3915" y="2932"/>
                  </a:cubicBezTo>
                  <a:cubicBezTo>
                    <a:pt x="4155" y="2453"/>
                    <a:pt x="4182" y="1744"/>
                    <a:pt x="3944" y="1247"/>
                  </a:cubicBezTo>
                  <a:lnTo>
                    <a:pt x="3813" y="1006"/>
                  </a:lnTo>
                  <a:cubicBezTo>
                    <a:pt x="3780" y="952"/>
                    <a:pt x="3753" y="896"/>
                    <a:pt x="3718" y="847"/>
                  </a:cubicBezTo>
                  <a:lnTo>
                    <a:pt x="3470" y="595"/>
                  </a:lnTo>
                  <a:cubicBezTo>
                    <a:pt x="3363" y="487"/>
                    <a:pt x="3265" y="393"/>
                    <a:pt x="3139" y="308"/>
                  </a:cubicBezTo>
                  <a:cubicBezTo>
                    <a:pt x="2870" y="127"/>
                    <a:pt x="2419" y="0"/>
                    <a:pt x="2067" y="0"/>
                  </a:cubicBezTo>
                  <a:cubicBezTo>
                    <a:pt x="1608" y="0"/>
                    <a:pt x="1130" y="165"/>
                    <a:pt x="787" y="439"/>
                  </a:cubicBezTo>
                  <a:cubicBezTo>
                    <a:pt x="457" y="703"/>
                    <a:pt x="223" y="1059"/>
                    <a:pt x="89" y="1459"/>
                  </a:cubicBezTo>
                  <a:cubicBezTo>
                    <a:pt x="52" y="1570"/>
                    <a:pt x="9" y="1739"/>
                    <a:pt x="9" y="18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69" name="Freeform 15"/>
            <p:cNvSpPr>
              <a:spLocks noEditPoints="1"/>
            </p:cNvSpPr>
            <p:nvPr/>
          </p:nvSpPr>
          <p:spPr bwMode="auto">
            <a:xfrm>
              <a:off x="4570413" y="2382838"/>
              <a:ext cx="298450" cy="184150"/>
            </a:xfrm>
            <a:custGeom>
              <a:avLst/>
              <a:gdLst>
                <a:gd name="T0" fmla="*/ 781 w 1287"/>
                <a:gd name="T1" fmla="*/ 444 h 788"/>
                <a:gd name="T2" fmla="*/ 1067 w 1287"/>
                <a:gd name="T3" fmla="*/ 69 h 788"/>
                <a:gd name="T4" fmla="*/ 1118 w 1287"/>
                <a:gd name="T5" fmla="*/ 128 h 788"/>
                <a:gd name="T6" fmla="*/ 1228 w 1287"/>
                <a:gd name="T7" fmla="*/ 204 h 788"/>
                <a:gd name="T8" fmla="*/ 1236 w 1287"/>
                <a:gd name="T9" fmla="*/ 187 h 788"/>
                <a:gd name="T10" fmla="*/ 1278 w 1287"/>
                <a:gd name="T11" fmla="*/ 86 h 788"/>
                <a:gd name="T12" fmla="*/ 1168 w 1287"/>
                <a:gd name="T13" fmla="*/ 103 h 788"/>
                <a:gd name="T14" fmla="*/ 997 w 1287"/>
                <a:gd name="T15" fmla="*/ 101 h 788"/>
                <a:gd name="T16" fmla="*/ 728 w 1287"/>
                <a:gd name="T17" fmla="*/ 306 h 788"/>
                <a:gd name="T18" fmla="*/ 779 w 1287"/>
                <a:gd name="T19" fmla="*/ 433 h 788"/>
                <a:gd name="T20" fmla="*/ 711 w 1287"/>
                <a:gd name="T21" fmla="*/ 314 h 788"/>
                <a:gd name="T22" fmla="*/ 398 w 1287"/>
                <a:gd name="T23" fmla="*/ 450 h 788"/>
                <a:gd name="T24" fmla="*/ 329 w 1287"/>
                <a:gd name="T25" fmla="*/ 484 h 788"/>
                <a:gd name="T26" fmla="*/ 152 w 1287"/>
                <a:gd name="T27" fmla="*/ 534 h 788"/>
                <a:gd name="T28" fmla="*/ 203 w 1287"/>
                <a:gd name="T29" fmla="*/ 721 h 788"/>
                <a:gd name="T30" fmla="*/ 102 w 1287"/>
                <a:gd name="T31" fmla="*/ 543 h 788"/>
                <a:gd name="T32" fmla="*/ 0 w 1287"/>
                <a:gd name="T33" fmla="*/ 534 h 788"/>
                <a:gd name="T34" fmla="*/ 42 w 1287"/>
                <a:gd name="T35" fmla="*/ 560 h 788"/>
                <a:gd name="T36" fmla="*/ 220 w 1287"/>
                <a:gd name="T37" fmla="*/ 534 h 788"/>
                <a:gd name="T38" fmla="*/ 313 w 1287"/>
                <a:gd name="T39" fmla="*/ 729 h 788"/>
                <a:gd name="T40" fmla="*/ 406 w 1287"/>
                <a:gd name="T41" fmla="*/ 678 h 788"/>
                <a:gd name="T42" fmla="*/ 421 w 1287"/>
                <a:gd name="T43" fmla="*/ 630 h 788"/>
                <a:gd name="T44" fmla="*/ 474 w 1287"/>
                <a:gd name="T45" fmla="*/ 458 h 788"/>
                <a:gd name="T46" fmla="*/ 584 w 1287"/>
                <a:gd name="T47" fmla="*/ 628 h 788"/>
                <a:gd name="T48" fmla="*/ 686 w 1287"/>
                <a:gd name="T49" fmla="*/ 619 h 788"/>
                <a:gd name="T50" fmla="*/ 609 w 1287"/>
                <a:gd name="T51" fmla="*/ 501 h 788"/>
                <a:gd name="T52" fmla="*/ 821 w 1287"/>
                <a:gd name="T53" fmla="*/ 534 h 788"/>
                <a:gd name="T54" fmla="*/ 838 w 1287"/>
                <a:gd name="T55" fmla="*/ 271 h 788"/>
                <a:gd name="T56" fmla="*/ 940 w 1287"/>
                <a:gd name="T57" fmla="*/ 450 h 788"/>
                <a:gd name="T58" fmla="*/ 1049 w 1287"/>
                <a:gd name="T59" fmla="*/ 264 h 788"/>
                <a:gd name="T60" fmla="*/ 957 w 1287"/>
                <a:gd name="T61" fmla="*/ 297 h 788"/>
                <a:gd name="T62" fmla="*/ 948 w 1287"/>
                <a:gd name="T63" fmla="*/ 221 h 788"/>
                <a:gd name="T64" fmla="*/ 897 w 1287"/>
                <a:gd name="T65" fmla="*/ 213 h 788"/>
                <a:gd name="T66" fmla="*/ 982 w 1287"/>
                <a:gd name="T67" fmla="*/ 145 h 788"/>
                <a:gd name="T68" fmla="*/ 1228 w 1287"/>
                <a:gd name="T69" fmla="*/ 204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7" h="788">
                  <a:moveTo>
                    <a:pt x="779" y="441"/>
                  </a:moveTo>
                  <a:lnTo>
                    <a:pt x="781" y="444"/>
                  </a:lnTo>
                  <a:cubicBezTo>
                    <a:pt x="781" y="444"/>
                    <a:pt x="778" y="442"/>
                    <a:pt x="779" y="441"/>
                  </a:cubicBezTo>
                  <a:close/>
                  <a:moveTo>
                    <a:pt x="1067" y="69"/>
                  </a:moveTo>
                  <a:cubicBezTo>
                    <a:pt x="1103" y="70"/>
                    <a:pt x="1119" y="73"/>
                    <a:pt x="1134" y="94"/>
                  </a:cubicBezTo>
                  <a:cubicBezTo>
                    <a:pt x="1128" y="119"/>
                    <a:pt x="1131" y="108"/>
                    <a:pt x="1118" y="128"/>
                  </a:cubicBezTo>
                  <a:cubicBezTo>
                    <a:pt x="1087" y="120"/>
                    <a:pt x="1071" y="104"/>
                    <a:pt x="1067" y="69"/>
                  </a:cubicBezTo>
                  <a:close/>
                  <a:moveTo>
                    <a:pt x="1228" y="204"/>
                  </a:moveTo>
                  <a:cubicBezTo>
                    <a:pt x="1197" y="204"/>
                    <a:pt x="1151" y="208"/>
                    <a:pt x="1134" y="145"/>
                  </a:cubicBezTo>
                  <a:lnTo>
                    <a:pt x="1236" y="187"/>
                  </a:lnTo>
                  <a:cubicBezTo>
                    <a:pt x="1285" y="186"/>
                    <a:pt x="1287" y="147"/>
                    <a:pt x="1287" y="94"/>
                  </a:cubicBezTo>
                  <a:lnTo>
                    <a:pt x="1278" y="86"/>
                  </a:lnTo>
                  <a:cubicBezTo>
                    <a:pt x="1254" y="104"/>
                    <a:pt x="1262" y="85"/>
                    <a:pt x="1261" y="128"/>
                  </a:cubicBezTo>
                  <a:cubicBezTo>
                    <a:pt x="1227" y="110"/>
                    <a:pt x="1223" y="103"/>
                    <a:pt x="1168" y="103"/>
                  </a:cubicBezTo>
                  <a:cubicBezTo>
                    <a:pt x="1185" y="67"/>
                    <a:pt x="1186" y="58"/>
                    <a:pt x="1177" y="18"/>
                  </a:cubicBezTo>
                  <a:cubicBezTo>
                    <a:pt x="1101" y="0"/>
                    <a:pt x="1032" y="42"/>
                    <a:pt x="997" y="101"/>
                  </a:cubicBezTo>
                  <a:cubicBezTo>
                    <a:pt x="973" y="143"/>
                    <a:pt x="994" y="128"/>
                    <a:pt x="952" y="149"/>
                  </a:cubicBezTo>
                  <a:cubicBezTo>
                    <a:pt x="891" y="179"/>
                    <a:pt x="764" y="296"/>
                    <a:pt x="728" y="306"/>
                  </a:cubicBezTo>
                  <a:lnTo>
                    <a:pt x="762" y="323"/>
                  </a:lnTo>
                  <a:cubicBezTo>
                    <a:pt x="765" y="356"/>
                    <a:pt x="776" y="400"/>
                    <a:pt x="779" y="433"/>
                  </a:cubicBezTo>
                  <a:cubicBezTo>
                    <a:pt x="741" y="413"/>
                    <a:pt x="721" y="392"/>
                    <a:pt x="686" y="374"/>
                  </a:cubicBezTo>
                  <a:cubicBezTo>
                    <a:pt x="696" y="354"/>
                    <a:pt x="705" y="339"/>
                    <a:pt x="711" y="314"/>
                  </a:cubicBezTo>
                  <a:cubicBezTo>
                    <a:pt x="687" y="327"/>
                    <a:pt x="665" y="337"/>
                    <a:pt x="638" y="351"/>
                  </a:cubicBezTo>
                  <a:cubicBezTo>
                    <a:pt x="545" y="401"/>
                    <a:pt x="522" y="421"/>
                    <a:pt x="398" y="450"/>
                  </a:cubicBezTo>
                  <a:cubicBezTo>
                    <a:pt x="405" y="534"/>
                    <a:pt x="425" y="404"/>
                    <a:pt x="466" y="577"/>
                  </a:cubicBezTo>
                  <a:cubicBezTo>
                    <a:pt x="379" y="531"/>
                    <a:pt x="382" y="491"/>
                    <a:pt x="329" y="484"/>
                  </a:cubicBezTo>
                  <a:cubicBezTo>
                    <a:pt x="287" y="478"/>
                    <a:pt x="268" y="491"/>
                    <a:pt x="233" y="497"/>
                  </a:cubicBezTo>
                  <a:cubicBezTo>
                    <a:pt x="181" y="506"/>
                    <a:pt x="165" y="486"/>
                    <a:pt x="152" y="534"/>
                  </a:cubicBezTo>
                  <a:cubicBezTo>
                    <a:pt x="181" y="537"/>
                    <a:pt x="183" y="541"/>
                    <a:pt x="203" y="551"/>
                  </a:cubicBezTo>
                  <a:cubicBezTo>
                    <a:pt x="203" y="623"/>
                    <a:pt x="216" y="664"/>
                    <a:pt x="203" y="721"/>
                  </a:cubicBezTo>
                  <a:cubicBezTo>
                    <a:pt x="173" y="728"/>
                    <a:pt x="175" y="729"/>
                    <a:pt x="135" y="729"/>
                  </a:cubicBezTo>
                  <a:cubicBezTo>
                    <a:pt x="121" y="700"/>
                    <a:pt x="102" y="589"/>
                    <a:pt x="102" y="543"/>
                  </a:cubicBezTo>
                  <a:cubicBezTo>
                    <a:pt x="142" y="539"/>
                    <a:pt x="116" y="555"/>
                    <a:pt x="135" y="518"/>
                  </a:cubicBezTo>
                  <a:cubicBezTo>
                    <a:pt x="103" y="518"/>
                    <a:pt x="28" y="528"/>
                    <a:pt x="0" y="534"/>
                  </a:cubicBezTo>
                  <a:lnTo>
                    <a:pt x="0" y="560"/>
                  </a:lnTo>
                  <a:lnTo>
                    <a:pt x="42" y="560"/>
                  </a:lnTo>
                  <a:cubicBezTo>
                    <a:pt x="42" y="675"/>
                    <a:pt x="45" y="788"/>
                    <a:pt x="166" y="760"/>
                  </a:cubicBezTo>
                  <a:cubicBezTo>
                    <a:pt x="291" y="731"/>
                    <a:pt x="222" y="614"/>
                    <a:pt x="220" y="534"/>
                  </a:cubicBezTo>
                  <a:cubicBezTo>
                    <a:pt x="250" y="528"/>
                    <a:pt x="248" y="526"/>
                    <a:pt x="288" y="526"/>
                  </a:cubicBezTo>
                  <a:cubicBezTo>
                    <a:pt x="318" y="657"/>
                    <a:pt x="328" y="555"/>
                    <a:pt x="313" y="729"/>
                  </a:cubicBezTo>
                  <a:cubicBezTo>
                    <a:pt x="354" y="720"/>
                    <a:pt x="351" y="712"/>
                    <a:pt x="406" y="712"/>
                  </a:cubicBezTo>
                  <a:lnTo>
                    <a:pt x="406" y="678"/>
                  </a:lnTo>
                  <a:cubicBezTo>
                    <a:pt x="354" y="677"/>
                    <a:pt x="338" y="656"/>
                    <a:pt x="330" y="560"/>
                  </a:cubicBezTo>
                  <a:cubicBezTo>
                    <a:pt x="364" y="578"/>
                    <a:pt x="392" y="604"/>
                    <a:pt x="421" y="630"/>
                  </a:cubicBezTo>
                  <a:cubicBezTo>
                    <a:pt x="494" y="693"/>
                    <a:pt x="484" y="673"/>
                    <a:pt x="525" y="670"/>
                  </a:cubicBezTo>
                  <a:cubicBezTo>
                    <a:pt x="518" y="589"/>
                    <a:pt x="474" y="546"/>
                    <a:pt x="474" y="458"/>
                  </a:cubicBezTo>
                  <a:cubicBezTo>
                    <a:pt x="491" y="450"/>
                    <a:pt x="504" y="446"/>
                    <a:pt x="525" y="441"/>
                  </a:cubicBezTo>
                  <a:cubicBezTo>
                    <a:pt x="531" y="514"/>
                    <a:pt x="584" y="547"/>
                    <a:pt x="584" y="628"/>
                  </a:cubicBezTo>
                  <a:cubicBezTo>
                    <a:pt x="556" y="638"/>
                    <a:pt x="578" y="617"/>
                    <a:pt x="559" y="653"/>
                  </a:cubicBezTo>
                  <a:cubicBezTo>
                    <a:pt x="621" y="648"/>
                    <a:pt x="618" y="619"/>
                    <a:pt x="686" y="619"/>
                  </a:cubicBezTo>
                  <a:lnTo>
                    <a:pt x="686" y="585"/>
                  </a:lnTo>
                  <a:cubicBezTo>
                    <a:pt x="641" y="584"/>
                    <a:pt x="647" y="581"/>
                    <a:pt x="609" y="501"/>
                  </a:cubicBezTo>
                  <a:cubicBezTo>
                    <a:pt x="599" y="478"/>
                    <a:pt x="564" y="384"/>
                    <a:pt x="628" y="403"/>
                  </a:cubicBezTo>
                  <a:cubicBezTo>
                    <a:pt x="686" y="420"/>
                    <a:pt x="739" y="533"/>
                    <a:pt x="821" y="534"/>
                  </a:cubicBezTo>
                  <a:cubicBezTo>
                    <a:pt x="821" y="435"/>
                    <a:pt x="782" y="377"/>
                    <a:pt x="804" y="280"/>
                  </a:cubicBezTo>
                  <a:lnTo>
                    <a:pt x="838" y="271"/>
                  </a:lnTo>
                  <a:lnTo>
                    <a:pt x="938" y="393"/>
                  </a:lnTo>
                  <a:cubicBezTo>
                    <a:pt x="955" y="421"/>
                    <a:pt x="941" y="401"/>
                    <a:pt x="940" y="450"/>
                  </a:cubicBezTo>
                  <a:cubicBezTo>
                    <a:pt x="1024" y="405"/>
                    <a:pt x="1066" y="358"/>
                    <a:pt x="1118" y="323"/>
                  </a:cubicBezTo>
                  <a:cubicBezTo>
                    <a:pt x="1114" y="316"/>
                    <a:pt x="1049" y="209"/>
                    <a:pt x="1049" y="264"/>
                  </a:cubicBezTo>
                  <a:cubicBezTo>
                    <a:pt x="1048" y="315"/>
                    <a:pt x="1063" y="359"/>
                    <a:pt x="991" y="365"/>
                  </a:cubicBezTo>
                  <a:cubicBezTo>
                    <a:pt x="979" y="317"/>
                    <a:pt x="967" y="336"/>
                    <a:pt x="957" y="297"/>
                  </a:cubicBezTo>
                  <a:cubicBezTo>
                    <a:pt x="990" y="297"/>
                    <a:pt x="991" y="300"/>
                    <a:pt x="1016" y="306"/>
                  </a:cubicBezTo>
                  <a:cubicBezTo>
                    <a:pt x="1015" y="253"/>
                    <a:pt x="991" y="231"/>
                    <a:pt x="948" y="221"/>
                  </a:cubicBezTo>
                  <a:lnTo>
                    <a:pt x="948" y="272"/>
                  </a:lnTo>
                  <a:cubicBezTo>
                    <a:pt x="909" y="263"/>
                    <a:pt x="898" y="258"/>
                    <a:pt x="897" y="213"/>
                  </a:cubicBezTo>
                  <a:cubicBezTo>
                    <a:pt x="962" y="198"/>
                    <a:pt x="958" y="208"/>
                    <a:pt x="1016" y="213"/>
                  </a:cubicBezTo>
                  <a:cubicBezTo>
                    <a:pt x="1015" y="161"/>
                    <a:pt x="1005" y="179"/>
                    <a:pt x="982" y="145"/>
                  </a:cubicBezTo>
                  <a:cubicBezTo>
                    <a:pt x="1051" y="112"/>
                    <a:pt x="1133" y="224"/>
                    <a:pt x="1134" y="289"/>
                  </a:cubicBezTo>
                  <a:cubicBezTo>
                    <a:pt x="1164" y="281"/>
                    <a:pt x="1211" y="229"/>
                    <a:pt x="1228" y="2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0" name="Freeform 16"/>
            <p:cNvSpPr>
              <a:spLocks noEditPoints="1"/>
            </p:cNvSpPr>
            <p:nvPr/>
          </p:nvSpPr>
          <p:spPr bwMode="auto">
            <a:xfrm>
              <a:off x="4165600" y="2305051"/>
              <a:ext cx="212725" cy="219075"/>
            </a:xfrm>
            <a:custGeom>
              <a:avLst/>
              <a:gdLst>
                <a:gd name="T0" fmla="*/ 770 w 914"/>
                <a:gd name="T1" fmla="*/ 779 h 937"/>
                <a:gd name="T2" fmla="*/ 796 w 914"/>
                <a:gd name="T3" fmla="*/ 686 h 937"/>
                <a:gd name="T4" fmla="*/ 855 w 914"/>
                <a:gd name="T5" fmla="*/ 720 h 937"/>
                <a:gd name="T6" fmla="*/ 770 w 914"/>
                <a:gd name="T7" fmla="*/ 779 h 937"/>
                <a:gd name="T8" fmla="*/ 677 w 914"/>
                <a:gd name="T9" fmla="*/ 712 h 937"/>
                <a:gd name="T10" fmla="*/ 728 w 914"/>
                <a:gd name="T11" fmla="*/ 618 h 937"/>
                <a:gd name="T12" fmla="*/ 677 w 914"/>
                <a:gd name="T13" fmla="*/ 712 h 937"/>
                <a:gd name="T14" fmla="*/ 421 w 914"/>
                <a:gd name="T15" fmla="*/ 642 h 937"/>
                <a:gd name="T16" fmla="*/ 381 w 914"/>
                <a:gd name="T17" fmla="*/ 618 h 937"/>
                <a:gd name="T18" fmla="*/ 388 w 914"/>
                <a:gd name="T19" fmla="*/ 600 h 937"/>
                <a:gd name="T20" fmla="*/ 415 w 914"/>
                <a:gd name="T21" fmla="*/ 542 h 937"/>
                <a:gd name="T22" fmla="*/ 482 w 914"/>
                <a:gd name="T23" fmla="*/ 576 h 937"/>
                <a:gd name="T24" fmla="*/ 421 w 914"/>
                <a:gd name="T25" fmla="*/ 642 h 937"/>
                <a:gd name="T26" fmla="*/ 447 w 914"/>
                <a:gd name="T27" fmla="*/ 510 h 937"/>
                <a:gd name="T28" fmla="*/ 533 w 914"/>
                <a:gd name="T29" fmla="*/ 500 h 937"/>
                <a:gd name="T30" fmla="*/ 499 w 914"/>
                <a:gd name="T31" fmla="*/ 559 h 937"/>
                <a:gd name="T32" fmla="*/ 447 w 914"/>
                <a:gd name="T33" fmla="*/ 510 h 937"/>
                <a:gd name="T34" fmla="*/ 0 w 914"/>
                <a:gd name="T35" fmla="*/ 136 h 937"/>
                <a:gd name="T36" fmla="*/ 180 w 914"/>
                <a:gd name="T37" fmla="*/ 231 h 937"/>
                <a:gd name="T38" fmla="*/ 279 w 914"/>
                <a:gd name="T39" fmla="*/ 212 h 937"/>
                <a:gd name="T40" fmla="*/ 228 w 914"/>
                <a:gd name="T41" fmla="*/ 280 h 937"/>
                <a:gd name="T42" fmla="*/ 322 w 914"/>
                <a:gd name="T43" fmla="*/ 271 h 937"/>
                <a:gd name="T44" fmla="*/ 247 w 914"/>
                <a:gd name="T45" fmla="*/ 350 h 937"/>
                <a:gd name="T46" fmla="*/ 152 w 914"/>
                <a:gd name="T47" fmla="*/ 390 h 937"/>
                <a:gd name="T48" fmla="*/ 245 w 914"/>
                <a:gd name="T49" fmla="*/ 491 h 937"/>
                <a:gd name="T50" fmla="*/ 290 w 914"/>
                <a:gd name="T51" fmla="*/ 409 h 937"/>
                <a:gd name="T52" fmla="*/ 372 w 914"/>
                <a:gd name="T53" fmla="*/ 339 h 937"/>
                <a:gd name="T54" fmla="*/ 364 w 914"/>
                <a:gd name="T55" fmla="*/ 432 h 937"/>
                <a:gd name="T56" fmla="*/ 440 w 914"/>
                <a:gd name="T57" fmla="*/ 398 h 937"/>
                <a:gd name="T58" fmla="*/ 346 w 914"/>
                <a:gd name="T59" fmla="*/ 532 h 937"/>
                <a:gd name="T60" fmla="*/ 288 w 914"/>
                <a:gd name="T61" fmla="*/ 551 h 937"/>
                <a:gd name="T62" fmla="*/ 491 w 914"/>
                <a:gd name="T63" fmla="*/ 720 h 937"/>
                <a:gd name="T64" fmla="*/ 474 w 914"/>
                <a:gd name="T65" fmla="*/ 678 h 937"/>
                <a:gd name="T66" fmla="*/ 584 w 914"/>
                <a:gd name="T67" fmla="*/ 551 h 937"/>
                <a:gd name="T68" fmla="*/ 643 w 914"/>
                <a:gd name="T69" fmla="*/ 576 h 937"/>
                <a:gd name="T70" fmla="*/ 601 w 914"/>
                <a:gd name="T71" fmla="*/ 813 h 937"/>
                <a:gd name="T72" fmla="*/ 711 w 914"/>
                <a:gd name="T73" fmla="*/ 745 h 937"/>
                <a:gd name="T74" fmla="*/ 688 w 914"/>
                <a:gd name="T75" fmla="*/ 850 h 937"/>
                <a:gd name="T76" fmla="*/ 914 w 914"/>
                <a:gd name="T77" fmla="*/ 737 h 937"/>
                <a:gd name="T78" fmla="*/ 830 w 914"/>
                <a:gd name="T79" fmla="*/ 678 h 937"/>
                <a:gd name="T80" fmla="*/ 747 w 914"/>
                <a:gd name="T81" fmla="*/ 617 h 937"/>
                <a:gd name="T82" fmla="*/ 661 w 914"/>
                <a:gd name="T83" fmla="*/ 559 h 937"/>
                <a:gd name="T84" fmla="*/ 539 w 914"/>
                <a:gd name="T85" fmla="*/ 468 h 937"/>
                <a:gd name="T86" fmla="*/ 505 w 914"/>
                <a:gd name="T87" fmla="*/ 427 h 937"/>
                <a:gd name="T88" fmla="*/ 464 w 914"/>
                <a:gd name="T89" fmla="*/ 400 h 937"/>
                <a:gd name="T90" fmla="*/ 332 w 914"/>
                <a:gd name="T91" fmla="*/ 244 h 937"/>
                <a:gd name="T92" fmla="*/ 291 w 914"/>
                <a:gd name="T93" fmla="*/ 208 h 937"/>
                <a:gd name="T94" fmla="*/ 228 w 914"/>
                <a:gd name="T95" fmla="*/ 119 h 937"/>
                <a:gd name="T96" fmla="*/ 175 w 914"/>
                <a:gd name="T97" fmla="*/ 201 h 937"/>
                <a:gd name="T98" fmla="*/ 76 w 914"/>
                <a:gd name="T99" fmla="*/ 237 h 937"/>
                <a:gd name="T100" fmla="*/ 39 w 914"/>
                <a:gd name="T101" fmla="*/ 191 h 937"/>
                <a:gd name="T102" fmla="*/ 228 w 914"/>
                <a:gd name="T103" fmla="*/ 110 h 937"/>
                <a:gd name="T104" fmla="*/ 169 w 914"/>
                <a:gd name="T105" fmla="*/ 0 h 937"/>
                <a:gd name="T106" fmla="*/ 134 w 914"/>
                <a:gd name="T107" fmla="*/ 41 h 937"/>
                <a:gd name="T108" fmla="*/ 117 w 914"/>
                <a:gd name="T109" fmla="*/ 58 h 937"/>
                <a:gd name="T110" fmla="*/ 0 w 914"/>
                <a:gd name="T111" fmla="*/ 136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4" h="937">
                  <a:moveTo>
                    <a:pt x="770" y="779"/>
                  </a:moveTo>
                  <a:cubicBezTo>
                    <a:pt x="781" y="756"/>
                    <a:pt x="795" y="719"/>
                    <a:pt x="796" y="686"/>
                  </a:cubicBezTo>
                  <a:cubicBezTo>
                    <a:pt x="852" y="686"/>
                    <a:pt x="838" y="687"/>
                    <a:pt x="855" y="720"/>
                  </a:cubicBezTo>
                  <a:lnTo>
                    <a:pt x="770" y="779"/>
                  </a:lnTo>
                  <a:close/>
                  <a:moveTo>
                    <a:pt x="677" y="712"/>
                  </a:moveTo>
                  <a:cubicBezTo>
                    <a:pt x="684" y="634"/>
                    <a:pt x="696" y="626"/>
                    <a:pt x="728" y="618"/>
                  </a:cubicBezTo>
                  <a:cubicBezTo>
                    <a:pt x="734" y="646"/>
                    <a:pt x="758" y="693"/>
                    <a:pt x="677" y="712"/>
                  </a:cubicBezTo>
                  <a:close/>
                  <a:moveTo>
                    <a:pt x="421" y="642"/>
                  </a:moveTo>
                  <a:cubicBezTo>
                    <a:pt x="399" y="627"/>
                    <a:pt x="412" y="627"/>
                    <a:pt x="381" y="618"/>
                  </a:cubicBezTo>
                  <a:cubicBezTo>
                    <a:pt x="383" y="614"/>
                    <a:pt x="387" y="603"/>
                    <a:pt x="388" y="600"/>
                  </a:cubicBezTo>
                  <a:cubicBezTo>
                    <a:pt x="416" y="544"/>
                    <a:pt x="411" y="591"/>
                    <a:pt x="415" y="542"/>
                  </a:cubicBezTo>
                  <a:cubicBezTo>
                    <a:pt x="466" y="543"/>
                    <a:pt x="448" y="553"/>
                    <a:pt x="482" y="576"/>
                  </a:cubicBezTo>
                  <a:lnTo>
                    <a:pt x="421" y="642"/>
                  </a:lnTo>
                  <a:close/>
                  <a:moveTo>
                    <a:pt x="447" y="510"/>
                  </a:moveTo>
                  <a:cubicBezTo>
                    <a:pt x="449" y="508"/>
                    <a:pt x="533" y="433"/>
                    <a:pt x="533" y="500"/>
                  </a:cubicBezTo>
                  <a:cubicBezTo>
                    <a:pt x="533" y="515"/>
                    <a:pt x="508" y="547"/>
                    <a:pt x="499" y="559"/>
                  </a:cubicBezTo>
                  <a:lnTo>
                    <a:pt x="447" y="510"/>
                  </a:lnTo>
                  <a:close/>
                  <a:moveTo>
                    <a:pt x="0" y="136"/>
                  </a:moveTo>
                  <a:cubicBezTo>
                    <a:pt x="0" y="253"/>
                    <a:pt x="70" y="313"/>
                    <a:pt x="180" y="231"/>
                  </a:cubicBezTo>
                  <a:cubicBezTo>
                    <a:pt x="215" y="204"/>
                    <a:pt x="223" y="212"/>
                    <a:pt x="279" y="212"/>
                  </a:cubicBezTo>
                  <a:cubicBezTo>
                    <a:pt x="255" y="246"/>
                    <a:pt x="242" y="223"/>
                    <a:pt x="228" y="280"/>
                  </a:cubicBezTo>
                  <a:cubicBezTo>
                    <a:pt x="265" y="279"/>
                    <a:pt x="275" y="271"/>
                    <a:pt x="322" y="271"/>
                  </a:cubicBezTo>
                  <a:cubicBezTo>
                    <a:pt x="310" y="321"/>
                    <a:pt x="280" y="319"/>
                    <a:pt x="247" y="350"/>
                  </a:cubicBezTo>
                  <a:cubicBezTo>
                    <a:pt x="174" y="419"/>
                    <a:pt x="221" y="391"/>
                    <a:pt x="152" y="390"/>
                  </a:cubicBezTo>
                  <a:cubicBezTo>
                    <a:pt x="156" y="432"/>
                    <a:pt x="224" y="486"/>
                    <a:pt x="245" y="491"/>
                  </a:cubicBezTo>
                  <a:cubicBezTo>
                    <a:pt x="232" y="433"/>
                    <a:pt x="252" y="442"/>
                    <a:pt x="290" y="409"/>
                  </a:cubicBezTo>
                  <a:cubicBezTo>
                    <a:pt x="326" y="378"/>
                    <a:pt x="327" y="363"/>
                    <a:pt x="372" y="339"/>
                  </a:cubicBezTo>
                  <a:cubicBezTo>
                    <a:pt x="372" y="386"/>
                    <a:pt x="367" y="397"/>
                    <a:pt x="364" y="432"/>
                  </a:cubicBezTo>
                  <a:cubicBezTo>
                    <a:pt x="438" y="397"/>
                    <a:pt x="398" y="402"/>
                    <a:pt x="440" y="398"/>
                  </a:cubicBezTo>
                  <a:cubicBezTo>
                    <a:pt x="436" y="449"/>
                    <a:pt x="387" y="495"/>
                    <a:pt x="346" y="532"/>
                  </a:cubicBezTo>
                  <a:cubicBezTo>
                    <a:pt x="322" y="554"/>
                    <a:pt x="330" y="551"/>
                    <a:pt x="288" y="551"/>
                  </a:cubicBezTo>
                  <a:cubicBezTo>
                    <a:pt x="316" y="593"/>
                    <a:pt x="445" y="709"/>
                    <a:pt x="491" y="720"/>
                  </a:cubicBezTo>
                  <a:cubicBezTo>
                    <a:pt x="488" y="684"/>
                    <a:pt x="492" y="705"/>
                    <a:pt x="474" y="678"/>
                  </a:cubicBezTo>
                  <a:cubicBezTo>
                    <a:pt x="513" y="667"/>
                    <a:pt x="565" y="586"/>
                    <a:pt x="584" y="551"/>
                  </a:cubicBezTo>
                  <a:cubicBezTo>
                    <a:pt x="604" y="561"/>
                    <a:pt x="623" y="565"/>
                    <a:pt x="643" y="576"/>
                  </a:cubicBezTo>
                  <a:cubicBezTo>
                    <a:pt x="615" y="696"/>
                    <a:pt x="591" y="697"/>
                    <a:pt x="601" y="813"/>
                  </a:cubicBezTo>
                  <a:cubicBezTo>
                    <a:pt x="655" y="800"/>
                    <a:pt x="658" y="760"/>
                    <a:pt x="711" y="745"/>
                  </a:cubicBezTo>
                  <a:cubicBezTo>
                    <a:pt x="707" y="763"/>
                    <a:pt x="687" y="838"/>
                    <a:pt x="688" y="850"/>
                  </a:cubicBezTo>
                  <a:cubicBezTo>
                    <a:pt x="695" y="937"/>
                    <a:pt x="793" y="765"/>
                    <a:pt x="914" y="737"/>
                  </a:cubicBezTo>
                  <a:cubicBezTo>
                    <a:pt x="910" y="689"/>
                    <a:pt x="877" y="682"/>
                    <a:pt x="830" y="678"/>
                  </a:cubicBezTo>
                  <a:cubicBezTo>
                    <a:pt x="826" y="643"/>
                    <a:pt x="828" y="647"/>
                    <a:pt x="747" y="617"/>
                  </a:cubicBezTo>
                  <a:cubicBezTo>
                    <a:pt x="696" y="598"/>
                    <a:pt x="754" y="617"/>
                    <a:pt x="661" y="559"/>
                  </a:cubicBezTo>
                  <a:lnTo>
                    <a:pt x="539" y="468"/>
                  </a:lnTo>
                  <a:cubicBezTo>
                    <a:pt x="518" y="450"/>
                    <a:pt x="528" y="447"/>
                    <a:pt x="505" y="427"/>
                  </a:cubicBezTo>
                  <a:cubicBezTo>
                    <a:pt x="493" y="418"/>
                    <a:pt x="474" y="409"/>
                    <a:pt x="464" y="400"/>
                  </a:cubicBezTo>
                  <a:cubicBezTo>
                    <a:pt x="442" y="380"/>
                    <a:pt x="389" y="297"/>
                    <a:pt x="332" y="244"/>
                  </a:cubicBezTo>
                  <a:cubicBezTo>
                    <a:pt x="319" y="231"/>
                    <a:pt x="300" y="219"/>
                    <a:pt x="291" y="208"/>
                  </a:cubicBezTo>
                  <a:cubicBezTo>
                    <a:pt x="261" y="168"/>
                    <a:pt x="287" y="158"/>
                    <a:pt x="228" y="119"/>
                  </a:cubicBezTo>
                  <a:cubicBezTo>
                    <a:pt x="228" y="186"/>
                    <a:pt x="225" y="176"/>
                    <a:pt x="175" y="201"/>
                  </a:cubicBezTo>
                  <a:cubicBezTo>
                    <a:pt x="140" y="218"/>
                    <a:pt x="125" y="237"/>
                    <a:pt x="76" y="237"/>
                  </a:cubicBezTo>
                  <a:cubicBezTo>
                    <a:pt x="50" y="237"/>
                    <a:pt x="35" y="210"/>
                    <a:pt x="39" y="191"/>
                  </a:cubicBezTo>
                  <a:cubicBezTo>
                    <a:pt x="48" y="156"/>
                    <a:pt x="162" y="79"/>
                    <a:pt x="228" y="110"/>
                  </a:cubicBezTo>
                  <a:cubicBezTo>
                    <a:pt x="223" y="86"/>
                    <a:pt x="185" y="12"/>
                    <a:pt x="169" y="0"/>
                  </a:cubicBezTo>
                  <a:cubicBezTo>
                    <a:pt x="125" y="12"/>
                    <a:pt x="158" y="6"/>
                    <a:pt x="134" y="41"/>
                  </a:cubicBezTo>
                  <a:cubicBezTo>
                    <a:pt x="126" y="54"/>
                    <a:pt x="133" y="47"/>
                    <a:pt x="117" y="58"/>
                  </a:cubicBezTo>
                  <a:cubicBezTo>
                    <a:pt x="84" y="84"/>
                    <a:pt x="0" y="102"/>
                    <a:pt x="0"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1" name="Freeform 17"/>
            <p:cNvSpPr>
              <a:spLocks noEditPoints="1"/>
            </p:cNvSpPr>
            <p:nvPr/>
          </p:nvSpPr>
          <p:spPr bwMode="auto">
            <a:xfrm>
              <a:off x="4154488" y="1903413"/>
              <a:ext cx="77788" cy="103188"/>
            </a:xfrm>
            <a:custGeom>
              <a:avLst/>
              <a:gdLst>
                <a:gd name="T0" fmla="*/ 169 w 339"/>
                <a:gd name="T1" fmla="*/ 304 h 445"/>
                <a:gd name="T2" fmla="*/ 172 w 339"/>
                <a:gd name="T3" fmla="*/ 307 h 445"/>
                <a:gd name="T4" fmla="*/ 169 w 339"/>
                <a:gd name="T5" fmla="*/ 304 h 445"/>
                <a:gd name="T6" fmla="*/ 195 w 339"/>
                <a:gd name="T7" fmla="*/ 228 h 445"/>
                <a:gd name="T8" fmla="*/ 254 w 339"/>
                <a:gd name="T9" fmla="*/ 245 h 445"/>
                <a:gd name="T10" fmla="*/ 195 w 339"/>
                <a:gd name="T11" fmla="*/ 304 h 445"/>
                <a:gd name="T12" fmla="*/ 222 w 339"/>
                <a:gd name="T13" fmla="*/ 272 h 445"/>
                <a:gd name="T14" fmla="*/ 195 w 339"/>
                <a:gd name="T15" fmla="*/ 228 h 445"/>
                <a:gd name="T16" fmla="*/ 119 w 339"/>
                <a:gd name="T17" fmla="*/ 144 h 445"/>
                <a:gd name="T18" fmla="*/ 152 w 339"/>
                <a:gd name="T19" fmla="*/ 177 h 445"/>
                <a:gd name="T20" fmla="*/ 119 w 339"/>
                <a:gd name="T21" fmla="*/ 144 h 445"/>
                <a:gd name="T22" fmla="*/ 271 w 339"/>
                <a:gd name="T23" fmla="*/ 203 h 445"/>
                <a:gd name="T24" fmla="*/ 246 w 339"/>
                <a:gd name="T25" fmla="*/ 203 h 445"/>
                <a:gd name="T26" fmla="*/ 262 w 339"/>
                <a:gd name="T27" fmla="*/ 59 h 445"/>
                <a:gd name="T28" fmla="*/ 271 w 339"/>
                <a:gd name="T29" fmla="*/ 203 h 445"/>
                <a:gd name="T30" fmla="*/ 0 w 339"/>
                <a:gd name="T31" fmla="*/ 220 h 445"/>
                <a:gd name="T32" fmla="*/ 59 w 339"/>
                <a:gd name="T33" fmla="*/ 211 h 445"/>
                <a:gd name="T34" fmla="*/ 117 w 339"/>
                <a:gd name="T35" fmla="*/ 264 h 445"/>
                <a:gd name="T36" fmla="*/ 93 w 339"/>
                <a:gd name="T37" fmla="*/ 338 h 445"/>
                <a:gd name="T38" fmla="*/ 25 w 339"/>
                <a:gd name="T39" fmla="*/ 313 h 445"/>
                <a:gd name="T40" fmla="*/ 19 w 339"/>
                <a:gd name="T41" fmla="*/ 386 h 445"/>
                <a:gd name="T42" fmla="*/ 263 w 339"/>
                <a:gd name="T43" fmla="*/ 339 h 445"/>
                <a:gd name="T44" fmla="*/ 300 w 339"/>
                <a:gd name="T45" fmla="*/ 266 h 445"/>
                <a:gd name="T46" fmla="*/ 339 w 339"/>
                <a:gd name="T47" fmla="*/ 194 h 445"/>
                <a:gd name="T48" fmla="*/ 296 w 339"/>
                <a:gd name="T49" fmla="*/ 194 h 445"/>
                <a:gd name="T50" fmla="*/ 322 w 339"/>
                <a:gd name="T51" fmla="*/ 67 h 445"/>
                <a:gd name="T52" fmla="*/ 296 w 339"/>
                <a:gd name="T53" fmla="*/ 25 h 445"/>
                <a:gd name="T54" fmla="*/ 161 w 339"/>
                <a:gd name="T55" fmla="*/ 93 h 445"/>
                <a:gd name="T56" fmla="*/ 161 w 339"/>
                <a:gd name="T57" fmla="*/ 0 h 445"/>
                <a:gd name="T58" fmla="*/ 54 w 339"/>
                <a:gd name="T59" fmla="*/ 104 h 445"/>
                <a:gd name="T60" fmla="*/ 0 w 339"/>
                <a:gd name="T61" fmla="*/ 22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9" h="445">
                  <a:moveTo>
                    <a:pt x="169" y="304"/>
                  </a:moveTo>
                  <a:lnTo>
                    <a:pt x="172" y="307"/>
                  </a:lnTo>
                  <a:cubicBezTo>
                    <a:pt x="172" y="307"/>
                    <a:pt x="169" y="305"/>
                    <a:pt x="169" y="304"/>
                  </a:cubicBezTo>
                  <a:close/>
                  <a:moveTo>
                    <a:pt x="195" y="228"/>
                  </a:moveTo>
                  <a:cubicBezTo>
                    <a:pt x="220" y="245"/>
                    <a:pt x="212" y="245"/>
                    <a:pt x="254" y="245"/>
                  </a:cubicBezTo>
                  <a:cubicBezTo>
                    <a:pt x="236" y="279"/>
                    <a:pt x="240" y="301"/>
                    <a:pt x="195" y="304"/>
                  </a:cubicBezTo>
                  <a:lnTo>
                    <a:pt x="222" y="272"/>
                  </a:lnTo>
                  <a:cubicBezTo>
                    <a:pt x="194" y="242"/>
                    <a:pt x="201" y="241"/>
                    <a:pt x="195" y="228"/>
                  </a:cubicBezTo>
                  <a:close/>
                  <a:moveTo>
                    <a:pt x="119" y="144"/>
                  </a:moveTo>
                  <a:cubicBezTo>
                    <a:pt x="148" y="151"/>
                    <a:pt x="145" y="148"/>
                    <a:pt x="152" y="177"/>
                  </a:cubicBezTo>
                  <a:cubicBezTo>
                    <a:pt x="110" y="167"/>
                    <a:pt x="124" y="175"/>
                    <a:pt x="119" y="144"/>
                  </a:cubicBezTo>
                  <a:close/>
                  <a:moveTo>
                    <a:pt x="271" y="203"/>
                  </a:moveTo>
                  <a:lnTo>
                    <a:pt x="246" y="203"/>
                  </a:lnTo>
                  <a:cubicBezTo>
                    <a:pt x="245" y="200"/>
                    <a:pt x="159" y="87"/>
                    <a:pt x="262" y="59"/>
                  </a:cubicBezTo>
                  <a:cubicBezTo>
                    <a:pt x="304" y="90"/>
                    <a:pt x="271" y="129"/>
                    <a:pt x="271" y="203"/>
                  </a:cubicBezTo>
                  <a:close/>
                  <a:moveTo>
                    <a:pt x="0" y="220"/>
                  </a:moveTo>
                  <a:cubicBezTo>
                    <a:pt x="0" y="273"/>
                    <a:pt x="21" y="221"/>
                    <a:pt x="59" y="211"/>
                  </a:cubicBezTo>
                  <a:lnTo>
                    <a:pt x="117" y="264"/>
                  </a:lnTo>
                  <a:cubicBezTo>
                    <a:pt x="113" y="286"/>
                    <a:pt x="103" y="318"/>
                    <a:pt x="93" y="338"/>
                  </a:cubicBezTo>
                  <a:cubicBezTo>
                    <a:pt x="77" y="331"/>
                    <a:pt x="44" y="317"/>
                    <a:pt x="25" y="313"/>
                  </a:cubicBezTo>
                  <a:cubicBezTo>
                    <a:pt x="14" y="338"/>
                    <a:pt x="3" y="359"/>
                    <a:pt x="19" y="386"/>
                  </a:cubicBezTo>
                  <a:cubicBezTo>
                    <a:pt x="55" y="445"/>
                    <a:pt x="210" y="443"/>
                    <a:pt x="263" y="339"/>
                  </a:cubicBezTo>
                  <a:cubicBezTo>
                    <a:pt x="273" y="318"/>
                    <a:pt x="286" y="286"/>
                    <a:pt x="300" y="266"/>
                  </a:cubicBezTo>
                  <a:cubicBezTo>
                    <a:pt x="325" y="229"/>
                    <a:pt x="338" y="248"/>
                    <a:pt x="339" y="194"/>
                  </a:cubicBezTo>
                  <a:lnTo>
                    <a:pt x="296" y="194"/>
                  </a:lnTo>
                  <a:lnTo>
                    <a:pt x="322" y="67"/>
                  </a:lnTo>
                  <a:cubicBezTo>
                    <a:pt x="322" y="47"/>
                    <a:pt x="308" y="43"/>
                    <a:pt x="296" y="25"/>
                  </a:cubicBezTo>
                  <a:cubicBezTo>
                    <a:pt x="194" y="27"/>
                    <a:pt x="219" y="77"/>
                    <a:pt x="161" y="93"/>
                  </a:cubicBezTo>
                  <a:lnTo>
                    <a:pt x="161" y="0"/>
                  </a:lnTo>
                  <a:cubicBezTo>
                    <a:pt x="62" y="0"/>
                    <a:pt x="96" y="14"/>
                    <a:pt x="54" y="104"/>
                  </a:cubicBezTo>
                  <a:cubicBezTo>
                    <a:pt x="38" y="138"/>
                    <a:pt x="0" y="185"/>
                    <a:pt x="0" y="2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2" name="Freeform 18"/>
            <p:cNvSpPr>
              <a:spLocks noEditPoints="1"/>
            </p:cNvSpPr>
            <p:nvPr/>
          </p:nvSpPr>
          <p:spPr bwMode="auto">
            <a:xfrm>
              <a:off x="4343400" y="1709738"/>
              <a:ext cx="93663" cy="111125"/>
            </a:xfrm>
            <a:custGeom>
              <a:avLst/>
              <a:gdLst>
                <a:gd name="T0" fmla="*/ 182 w 401"/>
                <a:gd name="T1" fmla="*/ 347 h 474"/>
                <a:gd name="T2" fmla="*/ 185 w 401"/>
                <a:gd name="T3" fmla="*/ 350 h 474"/>
                <a:gd name="T4" fmla="*/ 182 w 401"/>
                <a:gd name="T5" fmla="*/ 347 h 474"/>
                <a:gd name="T6" fmla="*/ 114 w 401"/>
                <a:gd name="T7" fmla="*/ 305 h 474"/>
                <a:gd name="T8" fmla="*/ 140 w 401"/>
                <a:gd name="T9" fmla="*/ 339 h 474"/>
                <a:gd name="T10" fmla="*/ 114 w 401"/>
                <a:gd name="T11" fmla="*/ 339 h 474"/>
                <a:gd name="T12" fmla="*/ 114 w 401"/>
                <a:gd name="T13" fmla="*/ 305 h 474"/>
                <a:gd name="T14" fmla="*/ 165 w 401"/>
                <a:gd name="T15" fmla="*/ 305 h 474"/>
                <a:gd name="T16" fmla="*/ 173 w 401"/>
                <a:gd name="T17" fmla="*/ 306 h 474"/>
                <a:gd name="T18" fmla="*/ 165 w 401"/>
                <a:gd name="T19" fmla="*/ 305 h 474"/>
                <a:gd name="T20" fmla="*/ 182 w 401"/>
                <a:gd name="T21" fmla="*/ 203 h 474"/>
                <a:gd name="T22" fmla="*/ 148 w 401"/>
                <a:gd name="T23" fmla="*/ 254 h 474"/>
                <a:gd name="T24" fmla="*/ 182 w 401"/>
                <a:gd name="T25" fmla="*/ 203 h 474"/>
                <a:gd name="T26" fmla="*/ 182 w 401"/>
                <a:gd name="T27" fmla="*/ 203 h 474"/>
                <a:gd name="T28" fmla="*/ 228 w 401"/>
                <a:gd name="T29" fmla="*/ 165 h 474"/>
                <a:gd name="T30" fmla="*/ 259 w 401"/>
                <a:gd name="T31" fmla="*/ 152 h 474"/>
                <a:gd name="T32" fmla="*/ 277 w 401"/>
                <a:gd name="T33" fmla="*/ 149 h 474"/>
                <a:gd name="T34" fmla="*/ 323 w 401"/>
                <a:gd name="T35" fmla="*/ 189 h 474"/>
                <a:gd name="T36" fmla="*/ 318 w 401"/>
                <a:gd name="T37" fmla="*/ 313 h 474"/>
                <a:gd name="T38" fmla="*/ 275 w 401"/>
                <a:gd name="T39" fmla="*/ 347 h 474"/>
                <a:gd name="T40" fmla="*/ 241 w 401"/>
                <a:gd name="T41" fmla="*/ 203 h 474"/>
                <a:gd name="T42" fmla="*/ 182 w 401"/>
                <a:gd name="T43" fmla="*/ 203 h 474"/>
                <a:gd name="T44" fmla="*/ 89 w 401"/>
                <a:gd name="T45" fmla="*/ 17 h 474"/>
                <a:gd name="T46" fmla="*/ 80 w 401"/>
                <a:gd name="T47" fmla="*/ 68 h 474"/>
                <a:gd name="T48" fmla="*/ 30 w 401"/>
                <a:gd name="T49" fmla="*/ 118 h 474"/>
                <a:gd name="T50" fmla="*/ 114 w 401"/>
                <a:gd name="T51" fmla="*/ 195 h 474"/>
                <a:gd name="T52" fmla="*/ 97 w 401"/>
                <a:gd name="T53" fmla="*/ 254 h 474"/>
                <a:gd name="T54" fmla="*/ 21 w 401"/>
                <a:gd name="T55" fmla="*/ 254 h 474"/>
                <a:gd name="T56" fmla="*/ 123 w 401"/>
                <a:gd name="T57" fmla="*/ 423 h 474"/>
                <a:gd name="T58" fmla="*/ 123 w 401"/>
                <a:gd name="T59" fmla="*/ 372 h 474"/>
                <a:gd name="T60" fmla="*/ 157 w 401"/>
                <a:gd name="T61" fmla="*/ 372 h 474"/>
                <a:gd name="T62" fmla="*/ 216 w 401"/>
                <a:gd name="T63" fmla="*/ 423 h 474"/>
                <a:gd name="T64" fmla="*/ 224 w 401"/>
                <a:gd name="T65" fmla="*/ 474 h 474"/>
                <a:gd name="T66" fmla="*/ 275 w 401"/>
                <a:gd name="T67" fmla="*/ 389 h 474"/>
                <a:gd name="T68" fmla="*/ 351 w 401"/>
                <a:gd name="T69" fmla="*/ 135 h 474"/>
                <a:gd name="T70" fmla="*/ 213 w 401"/>
                <a:gd name="T71" fmla="*/ 141 h 474"/>
                <a:gd name="T72" fmla="*/ 165 w 401"/>
                <a:gd name="T73" fmla="*/ 161 h 474"/>
                <a:gd name="T74" fmla="*/ 148 w 401"/>
                <a:gd name="T75" fmla="*/ 0 h 474"/>
                <a:gd name="T76" fmla="*/ 140 w 401"/>
                <a:gd name="T77" fmla="*/ 63 h 474"/>
                <a:gd name="T78" fmla="*/ 89 w 401"/>
                <a:gd name="T79" fmla="*/ 17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1" h="474">
                  <a:moveTo>
                    <a:pt x="182" y="347"/>
                  </a:moveTo>
                  <a:lnTo>
                    <a:pt x="185" y="350"/>
                  </a:lnTo>
                  <a:cubicBezTo>
                    <a:pt x="184" y="349"/>
                    <a:pt x="181" y="348"/>
                    <a:pt x="182" y="347"/>
                  </a:cubicBezTo>
                  <a:close/>
                  <a:moveTo>
                    <a:pt x="114" y="305"/>
                  </a:moveTo>
                  <a:cubicBezTo>
                    <a:pt x="139" y="323"/>
                    <a:pt x="125" y="310"/>
                    <a:pt x="140" y="339"/>
                  </a:cubicBezTo>
                  <a:lnTo>
                    <a:pt x="114" y="339"/>
                  </a:lnTo>
                  <a:lnTo>
                    <a:pt x="114" y="305"/>
                  </a:lnTo>
                  <a:close/>
                  <a:moveTo>
                    <a:pt x="165" y="305"/>
                  </a:moveTo>
                  <a:cubicBezTo>
                    <a:pt x="167" y="287"/>
                    <a:pt x="210" y="307"/>
                    <a:pt x="173" y="306"/>
                  </a:cubicBezTo>
                  <a:cubicBezTo>
                    <a:pt x="170" y="305"/>
                    <a:pt x="163" y="324"/>
                    <a:pt x="165" y="305"/>
                  </a:cubicBezTo>
                  <a:close/>
                  <a:moveTo>
                    <a:pt x="182" y="203"/>
                  </a:moveTo>
                  <a:cubicBezTo>
                    <a:pt x="181" y="244"/>
                    <a:pt x="183" y="250"/>
                    <a:pt x="148" y="254"/>
                  </a:cubicBezTo>
                  <a:cubicBezTo>
                    <a:pt x="162" y="228"/>
                    <a:pt x="159" y="220"/>
                    <a:pt x="182" y="203"/>
                  </a:cubicBezTo>
                  <a:close/>
                  <a:moveTo>
                    <a:pt x="182" y="203"/>
                  </a:moveTo>
                  <a:cubicBezTo>
                    <a:pt x="194" y="185"/>
                    <a:pt x="206" y="176"/>
                    <a:pt x="228" y="165"/>
                  </a:cubicBezTo>
                  <a:cubicBezTo>
                    <a:pt x="233" y="163"/>
                    <a:pt x="259" y="152"/>
                    <a:pt x="259" y="152"/>
                  </a:cubicBezTo>
                  <a:cubicBezTo>
                    <a:pt x="262" y="152"/>
                    <a:pt x="277" y="149"/>
                    <a:pt x="277" y="149"/>
                  </a:cubicBezTo>
                  <a:cubicBezTo>
                    <a:pt x="303" y="149"/>
                    <a:pt x="316" y="164"/>
                    <a:pt x="323" y="189"/>
                  </a:cubicBezTo>
                  <a:cubicBezTo>
                    <a:pt x="331" y="219"/>
                    <a:pt x="326" y="285"/>
                    <a:pt x="318" y="313"/>
                  </a:cubicBezTo>
                  <a:cubicBezTo>
                    <a:pt x="309" y="343"/>
                    <a:pt x="309" y="344"/>
                    <a:pt x="275" y="347"/>
                  </a:cubicBezTo>
                  <a:cubicBezTo>
                    <a:pt x="260" y="283"/>
                    <a:pt x="241" y="296"/>
                    <a:pt x="241" y="203"/>
                  </a:cubicBezTo>
                  <a:lnTo>
                    <a:pt x="182" y="203"/>
                  </a:lnTo>
                  <a:close/>
                  <a:moveTo>
                    <a:pt x="89" y="17"/>
                  </a:moveTo>
                  <a:cubicBezTo>
                    <a:pt x="86" y="52"/>
                    <a:pt x="80" y="36"/>
                    <a:pt x="80" y="68"/>
                  </a:cubicBezTo>
                  <a:cubicBezTo>
                    <a:pt x="80" y="112"/>
                    <a:pt x="114" y="118"/>
                    <a:pt x="30" y="118"/>
                  </a:cubicBezTo>
                  <a:cubicBezTo>
                    <a:pt x="31" y="187"/>
                    <a:pt x="62" y="167"/>
                    <a:pt x="114" y="195"/>
                  </a:cubicBezTo>
                  <a:cubicBezTo>
                    <a:pt x="107" y="226"/>
                    <a:pt x="100" y="218"/>
                    <a:pt x="97" y="254"/>
                  </a:cubicBezTo>
                  <a:cubicBezTo>
                    <a:pt x="45" y="253"/>
                    <a:pt x="74" y="242"/>
                    <a:pt x="21" y="254"/>
                  </a:cubicBezTo>
                  <a:cubicBezTo>
                    <a:pt x="0" y="345"/>
                    <a:pt x="9" y="414"/>
                    <a:pt x="123" y="423"/>
                  </a:cubicBezTo>
                  <a:lnTo>
                    <a:pt x="123" y="372"/>
                  </a:lnTo>
                  <a:lnTo>
                    <a:pt x="157" y="372"/>
                  </a:lnTo>
                  <a:cubicBezTo>
                    <a:pt x="157" y="429"/>
                    <a:pt x="157" y="423"/>
                    <a:pt x="216" y="423"/>
                  </a:cubicBezTo>
                  <a:cubicBezTo>
                    <a:pt x="221" y="443"/>
                    <a:pt x="224" y="448"/>
                    <a:pt x="224" y="474"/>
                  </a:cubicBezTo>
                  <a:cubicBezTo>
                    <a:pt x="265" y="453"/>
                    <a:pt x="271" y="445"/>
                    <a:pt x="275" y="389"/>
                  </a:cubicBezTo>
                  <a:cubicBezTo>
                    <a:pt x="401" y="389"/>
                    <a:pt x="351" y="263"/>
                    <a:pt x="351" y="135"/>
                  </a:cubicBezTo>
                  <a:cubicBezTo>
                    <a:pt x="231" y="107"/>
                    <a:pt x="263" y="115"/>
                    <a:pt x="213" y="141"/>
                  </a:cubicBezTo>
                  <a:cubicBezTo>
                    <a:pt x="194" y="152"/>
                    <a:pt x="187" y="156"/>
                    <a:pt x="165" y="161"/>
                  </a:cubicBezTo>
                  <a:cubicBezTo>
                    <a:pt x="191" y="50"/>
                    <a:pt x="280" y="70"/>
                    <a:pt x="148" y="0"/>
                  </a:cubicBezTo>
                  <a:cubicBezTo>
                    <a:pt x="150" y="27"/>
                    <a:pt x="173" y="61"/>
                    <a:pt x="140" y="63"/>
                  </a:cubicBezTo>
                  <a:cubicBezTo>
                    <a:pt x="106" y="65"/>
                    <a:pt x="142" y="53"/>
                    <a:pt x="89"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3" name="Freeform 19"/>
            <p:cNvSpPr>
              <a:spLocks noEditPoints="1"/>
            </p:cNvSpPr>
            <p:nvPr/>
          </p:nvSpPr>
          <p:spPr bwMode="auto">
            <a:xfrm>
              <a:off x="4846638" y="1912938"/>
              <a:ext cx="114300" cy="84138"/>
            </a:xfrm>
            <a:custGeom>
              <a:avLst/>
              <a:gdLst>
                <a:gd name="T0" fmla="*/ 279 w 491"/>
                <a:gd name="T1" fmla="*/ 240 h 360"/>
                <a:gd name="T2" fmla="*/ 313 w 491"/>
                <a:gd name="T3" fmla="*/ 282 h 360"/>
                <a:gd name="T4" fmla="*/ 294 w 491"/>
                <a:gd name="T5" fmla="*/ 268 h 360"/>
                <a:gd name="T6" fmla="*/ 279 w 491"/>
                <a:gd name="T7" fmla="*/ 240 h 360"/>
                <a:gd name="T8" fmla="*/ 279 w 491"/>
                <a:gd name="T9" fmla="*/ 181 h 360"/>
                <a:gd name="T10" fmla="*/ 282 w 491"/>
                <a:gd name="T11" fmla="*/ 183 h 360"/>
                <a:gd name="T12" fmla="*/ 279 w 491"/>
                <a:gd name="T13" fmla="*/ 181 h 360"/>
                <a:gd name="T14" fmla="*/ 237 w 491"/>
                <a:gd name="T15" fmla="*/ 130 h 360"/>
                <a:gd name="T16" fmla="*/ 247 w 491"/>
                <a:gd name="T17" fmla="*/ 138 h 360"/>
                <a:gd name="T18" fmla="*/ 237 w 491"/>
                <a:gd name="T19" fmla="*/ 130 h 360"/>
                <a:gd name="T20" fmla="*/ 321 w 491"/>
                <a:gd name="T21" fmla="*/ 113 h 360"/>
                <a:gd name="T22" fmla="*/ 372 w 491"/>
                <a:gd name="T23" fmla="*/ 113 h 360"/>
                <a:gd name="T24" fmla="*/ 372 w 491"/>
                <a:gd name="T25" fmla="*/ 122 h 360"/>
                <a:gd name="T26" fmla="*/ 321 w 491"/>
                <a:gd name="T27" fmla="*/ 122 h 360"/>
                <a:gd name="T28" fmla="*/ 321 w 491"/>
                <a:gd name="T29" fmla="*/ 113 h 360"/>
                <a:gd name="T30" fmla="*/ 279 w 491"/>
                <a:gd name="T31" fmla="*/ 113 h 360"/>
                <a:gd name="T32" fmla="*/ 293 w 491"/>
                <a:gd name="T33" fmla="*/ 117 h 360"/>
                <a:gd name="T34" fmla="*/ 279 w 491"/>
                <a:gd name="T35" fmla="*/ 113 h 360"/>
                <a:gd name="T36" fmla="*/ 0 w 491"/>
                <a:gd name="T37" fmla="*/ 54 h 360"/>
                <a:gd name="T38" fmla="*/ 243 w 491"/>
                <a:gd name="T39" fmla="*/ 184 h 360"/>
                <a:gd name="T40" fmla="*/ 299 w 491"/>
                <a:gd name="T41" fmla="*/ 339 h 360"/>
                <a:gd name="T42" fmla="*/ 333 w 491"/>
                <a:gd name="T43" fmla="*/ 355 h 360"/>
                <a:gd name="T44" fmla="*/ 330 w 491"/>
                <a:gd name="T45" fmla="*/ 215 h 360"/>
                <a:gd name="T46" fmla="*/ 491 w 491"/>
                <a:gd name="T47" fmla="*/ 147 h 360"/>
                <a:gd name="T48" fmla="*/ 398 w 491"/>
                <a:gd name="T49" fmla="*/ 155 h 360"/>
                <a:gd name="T50" fmla="*/ 398 w 491"/>
                <a:gd name="T51" fmla="*/ 138 h 360"/>
                <a:gd name="T52" fmla="*/ 465 w 491"/>
                <a:gd name="T53" fmla="*/ 96 h 360"/>
                <a:gd name="T54" fmla="*/ 355 w 491"/>
                <a:gd name="T55" fmla="*/ 88 h 360"/>
                <a:gd name="T56" fmla="*/ 389 w 491"/>
                <a:gd name="T57" fmla="*/ 20 h 360"/>
                <a:gd name="T58" fmla="*/ 296 w 491"/>
                <a:gd name="T59" fmla="*/ 62 h 360"/>
                <a:gd name="T60" fmla="*/ 279 w 491"/>
                <a:gd name="T61" fmla="*/ 71 h 360"/>
                <a:gd name="T62" fmla="*/ 262 w 491"/>
                <a:gd name="T63" fmla="*/ 45 h 360"/>
                <a:gd name="T64" fmla="*/ 194 w 491"/>
                <a:gd name="T65" fmla="*/ 79 h 360"/>
                <a:gd name="T66" fmla="*/ 220 w 491"/>
                <a:gd name="T67" fmla="*/ 122 h 360"/>
                <a:gd name="T68" fmla="*/ 101 w 491"/>
                <a:gd name="T69" fmla="*/ 62 h 360"/>
                <a:gd name="T70" fmla="*/ 110 w 491"/>
                <a:gd name="T71" fmla="*/ 3 h 360"/>
                <a:gd name="T72" fmla="*/ 39 w 491"/>
                <a:gd name="T73" fmla="*/ 8 h 360"/>
                <a:gd name="T74" fmla="*/ 0 w 491"/>
                <a:gd name="T75" fmla="*/ 54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1" h="360">
                  <a:moveTo>
                    <a:pt x="279" y="240"/>
                  </a:moveTo>
                  <a:cubicBezTo>
                    <a:pt x="309" y="248"/>
                    <a:pt x="310" y="248"/>
                    <a:pt x="313" y="282"/>
                  </a:cubicBezTo>
                  <a:cubicBezTo>
                    <a:pt x="306" y="278"/>
                    <a:pt x="302" y="277"/>
                    <a:pt x="294" y="268"/>
                  </a:cubicBezTo>
                  <a:cubicBezTo>
                    <a:pt x="272" y="243"/>
                    <a:pt x="287" y="255"/>
                    <a:pt x="279" y="240"/>
                  </a:cubicBezTo>
                  <a:close/>
                  <a:moveTo>
                    <a:pt x="279" y="181"/>
                  </a:moveTo>
                  <a:lnTo>
                    <a:pt x="282" y="183"/>
                  </a:lnTo>
                  <a:cubicBezTo>
                    <a:pt x="282" y="183"/>
                    <a:pt x="278" y="182"/>
                    <a:pt x="279" y="181"/>
                  </a:cubicBezTo>
                  <a:close/>
                  <a:moveTo>
                    <a:pt x="237" y="130"/>
                  </a:moveTo>
                  <a:cubicBezTo>
                    <a:pt x="251" y="116"/>
                    <a:pt x="264" y="151"/>
                    <a:pt x="247" y="138"/>
                  </a:cubicBezTo>
                  <a:cubicBezTo>
                    <a:pt x="241" y="134"/>
                    <a:pt x="225" y="142"/>
                    <a:pt x="237" y="130"/>
                  </a:cubicBezTo>
                  <a:close/>
                  <a:moveTo>
                    <a:pt x="321" y="113"/>
                  </a:moveTo>
                  <a:lnTo>
                    <a:pt x="372" y="113"/>
                  </a:lnTo>
                  <a:lnTo>
                    <a:pt x="372" y="122"/>
                  </a:lnTo>
                  <a:lnTo>
                    <a:pt x="321" y="122"/>
                  </a:lnTo>
                  <a:lnTo>
                    <a:pt x="321" y="113"/>
                  </a:lnTo>
                  <a:close/>
                  <a:moveTo>
                    <a:pt x="279" y="113"/>
                  </a:moveTo>
                  <a:cubicBezTo>
                    <a:pt x="288" y="104"/>
                    <a:pt x="325" y="126"/>
                    <a:pt x="293" y="117"/>
                  </a:cubicBezTo>
                  <a:cubicBezTo>
                    <a:pt x="286" y="116"/>
                    <a:pt x="265" y="127"/>
                    <a:pt x="279" y="113"/>
                  </a:cubicBezTo>
                  <a:close/>
                  <a:moveTo>
                    <a:pt x="0" y="54"/>
                  </a:moveTo>
                  <a:cubicBezTo>
                    <a:pt x="0" y="153"/>
                    <a:pt x="138" y="47"/>
                    <a:pt x="243" y="184"/>
                  </a:cubicBezTo>
                  <a:cubicBezTo>
                    <a:pt x="285" y="239"/>
                    <a:pt x="216" y="280"/>
                    <a:pt x="299" y="339"/>
                  </a:cubicBezTo>
                  <a:cubicBezTo>
                    <a:pt x="303" y="341"/>
                    <a:pt x="331" y="355"/>
                    <a:pt x="333" y="355"/>
                  </a:cubicBezTo>
                  <a:cubicBezTo>
                    <a:pt x="402" y="360"/>
                    <a:pt x="333" y="255"/>
                    <a:pt x="330" y="215"/>
                  </a:cubicBezTo>
                  <a:cubicBezTo>
                    <a:pt x="466" y="183"/>
                    <a:pt x="489" y="225"/>
                    <a:pt x="491" y="147"/>
                  </a:cubicBezTo>
                  <a:cubicBezTo>
                    <a:pt x="446" y="151"/>
                    <a:pt x="438" y="164"/>
                    <a:pt x="398" y="155"/>
                  </a:cubicBezTo>
                  <a:lnTo>
                    <a:pt x="398" y="138"/>
                  </a:lnTo>
                  <a:cubicBezTo>
                    <a:pt x="445" y="140"/>
                    <a:pt x="464" y="159"/>
                    <a:pt x="465" y="96"/>
                  </a:cubicBezTo>
                  <a:cubicBezTo>
                    <a:pt x="398" y="96"/>
                    <a:pt x="412" y="101"/>
                    <a:pt x="355" y="88"/>
                  </a:cubicBezTo>
                  <a:cubicBezTo>
                    <a:pt x="374" y="59"/>
                    <a:pt x="385" y="65"/>
                    <a:pt x="389" y="20"/>
                  </a:cubicBezTo>
                  <a:cubicBezTo>
                    <a:pt x="351" y="23"/>
                    <a:pt x="337" y="40"/>
                    <a:pt x="296" y="62"/>
                  </a:cubicBezTo>
                  <a:lnTo>
                    <a:pt x="279" y="71"/>
                  </a:lnTo>
                  <a:cubicBezTo>
                    <a:pt x="260" y="58"/>
                    <a:pt x="269" y="69"/>
                    <a:pt x="262" y="45"/>
                  </a:cubicBezTo>
                  <a:cubicBezTo>
                    <a:pt x="233" y="48"/>
                    <a:pt x="194" y="49"/>
                    <a:pt x="194" y="79"/>
                  </a:cubicBezTo>
                  <a:cubicBezTo>
                    <a:pt x="194" y="115"/>
                    <a:pt x="203" y="75"/>
                    <a:pt x="220" y="122"/>
                  </a:cubicBezTo>
                  <a:lnTo>
                    <a:pt x="101" y="62"/>
                  </a:lnTo>
                  <a:cubicBezTo>
                    <a:pt x="102" y="25"/>
                    <a:pt x="107" y="36"/>
                    <a:pt x="110" y="3"/>
                  </a:cubicBezTo>
                  <a:cubicBezTo>
                    <a:pt x="83" y="3"/>
                    <a:pt x="62" y="0"/>
                    <a:pt x="39" y="8"/>
                  </a:cubicBezTo>
                  <a:cubicBezTo>
                    <a:pt x="22" y="15"/>
                    <a:pt x="0" y="34"/>
                    <a:pt x="0"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4" name="Freeform 20"/>
            <p:cNvSpPr>
              <a:spLocks noEditPoints="1"/>
            </p:cNvSpPr>
            <p:nvPr/>
          </p:nvSpPr>
          <p:spPr bwMode="auto">
            <a:xfrm>
              <a:off x="4837113" y="2320926"/>
              <a:ext cx="80963" cy="87313"/>
            </a:xfrm>
            <a:custGeom>
              <a:avLst/>
              <a:gdLst>
                <a:gd name="T0" fmla="*/ 153 w 348"/>
                <a:gd name="T1" fmla="*/ 178 h 373"/>
                <a:gd name="T2" fmla="*/ 45 w 348"/>
                <a:gd name="T3" fmla="*/ 212 h 373"/>
                <a:gd name="T4" fmla="*/ 68 w 348"/>
                <a:gd name="T5" fmla="*/ 169 h 373"/>
                <a:gd name="T6" fmla="*/ 153 w 348"/>
                <a:gd name="T7" fmla="*/ 178 h 373"/>
                <a:gd name="T8" fmla="*/ 127 w 348"/>
                <a:gd name="T9" fmla="*/ 356 h 373"/>
                <a:gd name="T10" fmla="*/ 136 w 348"/>
                <a:gd name="T11" fmla="*/ 364 h 373"/>
                <a:gd name="T12" fmla="*/ 195 w 348"/>
                <a:gd name="T13" fmla="*/ 373 h 373"/>
                <a:gd name="T14" fmla="*/ 221 w 348"/>
                <a:gd name="T15" fmla="*/ 186 h 373"/>
                <a:gd name="T16" fmla="*/ 153 w 348"/>
                <a:gd name="T17" fmla="*/ 178 h 373"/>
                <a:gd name="T18" fmla="*/ 153 w 348"/>
                <a:gd name="T19" fmla="*/ 144 h 373"/>
                <a:gd name="T20" fmla="*/ 94 w 348"/>
                <a:gd name="T21" fmla="*/ 126 h 373"/>
                <a:gd name="T22" fmla="*/ 94 w 348"/>
                <a:gd name="T23" fmla="*/ 102 h 373"/>
                <a:gd name="T24" fmla="*/ 204 w 348"/>
                <a:gd name="T25" fmla="*/ 135 h 373"/>
                <a:gd name="T26" fmla="*/ 280 w 348"/>
                <a:gd name="T27" fmla="*/ 212 h 373"/>
                <a:gd name="T28" fmla="*/ 324 w 348"/>
                <a:gd name="T29" fmla="*/ 172 h 373"/>
                <a:gd name="T30" fmla="*/ 348 w 348"/>
                <a:gd name="T31" fmla="*/ 102 h 373"/>
                <a:gd name="T32" fmla="*/ 194 w 348"/>
                <a:gd name="T33" fmla="*/ 52 h 373"/>
                <a:gd name="T34" fmla="*/ 170 w 348"/>
                <a:gd name="T35" fmla="*/ 0 h 373"/>
                <a:gd name="T36" fmla="*/ 127 w 348"/>
                <a:gd name="T37" fmla="*/ 0 h 373"/>
                <a:gd name="T38" fmla="*/ 0 w 348"/>
                <a:gd name="T39" fmla="*/ 229 h 373"/>
                <a:gd name="T40" fmla="*/ 68 w 348"/>
                <a:gd name="T41" fmla="*/ 305 h 373"/>
                <a:gd name="T42" fmla="*/ 212 w 348"/>
                <a:gd name="T43" fmla="*/ 246 h 373"/>
                <a:gd name="T44" fmla="*/ 110 w 348"/>
                <a:gd name="T45" fmla="*/ 305 h 373"/>
                <a:gd name="T46" fmla="*/ 127 w 348"/>
                <a:gd name="T47" fmla="*/ 356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8" h="373">
                  <a:moveTo>
                    <a:pt x="153" y="178"/>
                  </a:moveTo>
                  <a:cubicBezTo>
                    <a:pt x="137" y="192"/>
                    <a:pt x="55" y="260"/>
                    <a:pt x="45" y="212"/>
                  </a:cubicBezTo>
                  <a:cubicBezTo>
                    <a:pt x="41" y="191"/>
                    <a:pt x="56" y="188"/>
                    <a:pt x="68" y="169"/>
                  </a:cubicBezTo>
                  <a:cubicBezTo>
                    <a:pt x="113" y="169"/>
                    <a:pt x="118" y="170"/>
                    <a:pt x="153" y="178"/>
                  </a:cubicBezTo>
                  <a:close/>
                  <a:moveTo>
                    <a:pt x="127" y="356"/>
                  </a:moveTo>
                  <a:lnTo>
                    <a:pt x="136" y="364"/>
                  </a:lnTo>
                  <a:cubicBezTo>
                    <a:pt x="169" y="367"/>
                    <a:pt x="158" y="372"/>
                    <a:pt x="195" y="373"/>
                  </a:cubicBezTo>
                  <a:cubicBezTo>
                    <a:pt x="206" y="325"/>
                    <a:pt x="307" y="240"/>
                    <a:pt x="221" y="186"/>
                  </a:cubicBezTo>
                  <a:cubicBezTo>
                    <a:pt x="190" y="166"/>
                    <a:pt x="191" y="175"/>
                    <a:pt x="153" y="178"/>
                  </a:cubicBezTo>
                  <a:lnTo>
                    <a:pt x="153" y="144"/>
                  </a:lnTo>
                  <a:lnTo>
                    <a:pt x="94" y="126"/>
                  </a:lnTo>
                  <a:lnTo>
                    <a:pt x="94" y="102"/>
                  </a:lnTo>
                  <a:cubicBezTo>
                    <a:pt x="178" y="102"/>
                    <a:pt x="152" y="105"/>
                    <a:pt x="204" y="135"/>
                  </a:cubicBezTo>
                  <a:cubicBezTo>
                    <a:pt x="244" y="159"/>
                    <a:pt x="267" y="158"/>
                    <a:pt x="280" y="212"/>
                  </a:cubicBezTo>
                  <a:cubicBezTo>
                    <a:pt x="308" y="204"/>
                    <a:pt x="310" y="195"/>
                    <a:pt x="324" y="172"/>
                  </a:cubicBezTo>
                  <a:cubicBezTo>
                    <a:pt x="339" y="148"/>
                    <a:pt x="347" y="137"/>
                    <a:pt x="348" y="102"/>
                  </a:cubicBezTo>
                  <a:cubicBezTo>
                    <a:pt x="289" y="115"/>
                    <a:pt x="240" y="87"/>
                    <a:pt x="194" y="52"/>
                  </a:cubicBezTo>
                  <a:cubicBezTo>
                    <a:pt x="171" y="33"/>
                    <a:pt x="171" y="39"/>
                    <a:pt x="170" y="0"/>
                  </a:cubicBezTo>
                  <a:lnTo>
                    <a:pt x="127" y="0"/>
                  </a:lnTo>
                  <a:cubicBezTo>
                    <a:pt x="125" y="87"/>
                    <a:pt x="18" y="154"/>
                    <a:pt x="0" y="229"/>
                  </a:cubicBezTo>
                  <a:cubicBezTo>
                    <a:pt x="14" y="249"/>
                    <a:pt x="48" y="291"/>
                    <a:pt x="68" y="305"/>
                  </a:cubicBezTo>
                  <a:cubicBezTo>
                    <a:pt x="177" y="280"/>
                    <a:pt x="137" y="247"/>
                    <a:pt x="212" y="246"/>
                  </a:cubicBezTo>
                  <a:cubicBezTo>
                    <a:pt x="210" y="327"/>
                    <a:pt x="171" y="334"/>
                    <a:pt x="110" y="305"/>
                  </a:cubicBezTo>
                  <a:cubicBezTo>
                    <a:pt x="113" y="334"/>
                    <a:pt x="117" y="336"/>
                    <a:pt x="127" y="3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5" name="Freeform 21"/>
            <p:cNvSpPr/>
            <p:nvPr/>
          </p:nvSpPr>
          <p:spPr bwMode="auto">
            <a:xfrm>
              <a:off x="4656138" y="1728788"/>
              <a:ext cx="77788" cy="79375"/>
            </a:xfrm>
            <a:custGeom>
              <a:avLst/>
              <a:gdLst>
                <a:gd name="T0" fmla="*/ 161 w 331"/>
                <a:gd name="T1" fmla="*/ 127 h 339"/>
                <a:gd name="T2" fmla="*/ 43 w 331"/>
                <a:gd name="T3" fmla="*/ 144 h 339"/>
                <a:gd name="T4" fmla="*/ 136 w 331"/>
                <a:gd name="T5" fmla="*/ 186 h 339"/>
                <a:gd name="T6" fmla="*/ 0 w 331"/>
                <a:gd name="T7" fmla="*/ 279 h 339"/>
                <a:gd name="T8" fmla="*/ 181 w 331"/>
                <a:gd name="T9" fmla="*/ 231 h 339"/>
                <a:gd name="T10" fmla="*/ 331 w 331"/>
                <a:gd name="T11" fmla="*/ 186 h 339"/>
                <a:gd name="T12" fmla="*/ 263 w 331"/>
                <a:gd name="T13" fmla="*/ 127 h 339"/>
                <a:gd name="T14" fmla="*/ 212 w 331"/>
                <a:gd name="T15" fmla="*/ 0 h 339"/>
                <a:gd name="T16" fmla="*/ 195 w 331"/>
                <a:gd name="T17" fmla="*/ 67 h 339"/>
                <a:gd name="T18" fmla="*/ 161 w 331"/>
                <a:gd name="T19" fmla="*/ 127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339">
                  <a:moveTo>
                    <a:pt x="161" y="127"/>
                  </a:moveTo>
                  <a:cubicBezTo>
                    <a:pt x="68" y="127"/>
                    <a:pt x="43" y="51"/>
                    <a:pt x="43" y="144"/>
                  </a:cubicBezTo>
                  <a:cubicBezTo>
                    <a:pt x="43" y="189"/>
                    <a:pt x="91" y="186"/>
                    <a:pt x="136" y="186"/>
                  </a:cubicBezTo>
                  <a:cubicBezTo>
                    <a:pt x="73" y="280"/>
                    <a:pt x="0" y="206"/>
                    <a:pt x="0" y="279"/>
                  </a:cubicBezTo>
                  <a:cubicBezTo>
                    <a:pt x="0" y="321"/>
                    <a:pt x="93" y="339"/>
                    <a:pt x="181" y="231"/>
                  </a:cubicBezTo>
                  <a:cubicBezTo>
                    <a:pt x="233" y="167"/>
                    <a:pt x="252" y="186"/>
                    <a:pt x="331" y="186"/>
                  </a:cubicBezTo>
                  <a:cubicBezTo>
                    <a:pt x="320" y="140"/>
                    <a:pt x="319" y="128"/>
                    <a:pt x="263" y="127"/>
                  </a:cubicBezTo>
                  <a:cubicBezTo>
                    <a:pt x="264" y="75"/>
                    <a:pt x="301" y="20"/>
                    <a:pt x="212" y="0"/>
                  </a:cubicBezTo>
                  <a:cubicBezTo>
                    <a:pt x="210" y="29"/>
                    <a:pt x="202" y="41"/>
                    <a:pt x="195" y="67"/>
                  </a:cubicBezTo>
                  <a:cubicBezTo>
                    <a:pt x="188" y="96"/>
                    <a:pt x="192" y="127"/>
                    <a:pt x="161"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6" name="Freeform 22"/>
            <p:cNvSpPr/>
            <p:nvPr/>
          </p:nvSpPr>
          <p:spPr bwMode="auto">
            <a:xfrm>
              <a:off x="4362450" y="2473326"/>
              <a:ext cx="66675" cy="68263"/>
            </a:xfrm>
            <a:custGeom>
              <a:avLst/>
              <a:gdLst>
                <a:gd name="T0" fmla="*/ 0 w 293"/>
                <a:gd name="T1" fmla="*/ 203 h 296"/>
                <a:gd name="T2" fmla="*/ 0 w 293"/>
                <a:gd name="T3" fmla="*/ 237 h 296"/>
                <a:gd name="T4" fmla="*/ 212 w 293"/>
                <a:gd name="T5" fmla="*/ 296 h 296"/>
                <a:gd name="T6" fmla="*/ 237 w 293"/>
                <a:gd name="T7" fmla="*/ 237 h 296"/>
                <a:gd name="T8" fmla="*/ 224 w 293"/>
                <a:gd name="T9" fmla="*/ 219 h 296"/>
                <a:gd name="T10" fmla="*/ 208 w 293"/>
                <a:gd name="T11" fmla="*/ 223 h 296"/>
                <a:gd name="T12" fmla="*/ 173 w 293"/>
                <a:gd name="T13" fmla="*/ 242 h 296"/>
                <a:gd name="T14" fmla="*/ 102 w 293"/>
                <a:gd name="T15" fmla="*/ 229 h 296"/>
                <a:gd name="T16" fmla="*/ 119 w 293"/>
                <a:gd name="T17" fmla="*/ 169 h 296"/>
                <a:gd name="T18" fmla="*/ 161 w 293"/>
                <a:gd name="T19" fmla="*/ 220 h 296"/>
                <a:gd name="T20" fmla="*/ 212 w 293"/>
                <a:gd name="T21" fmla="*/ 119 h 296"/>
                <a:gd name="T22" fmla="*/ 144 w 293"/>
                <a:gd name="T23" fmla="*/ 136 h 296"/>
                <a:gd name="T24" fmla="*/ 229 w 293"/>
                <a:gd name="T25" fmla="*/ 161 h 296"/>
                <a:gd name="T26" fmla="*/ 288 w 293"/>
                <a:gd name="T27" fmla="*/ 85 h 296"/>
                <a:gd name="T28" fmla="*/ 85 w 293"/>
                <a:gd name="T29" fmla="*/ 0 h 296"/>
                <a:gd name="T30" fmla="*/ 97 w 293"/>
                <a:gd name="T31" fmla="*/ 58 h 296"/>
                <a:gd name="T32" fmla="*/ 55 w 293"/>
                <a:gd name="T33" fmla="*/ 173 h 296"/>
                <a:gd name="T34" fmla="*/ 0 w 293"/>
                <a:gd name="T35" fmla="*/ 20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3" h="296">
                  <a:moveTo>
                    <a:pt x="0" y="203"/>
                  </a:moveTo>
                  <a:lnTo>
                    <a:pt x="0" y="237"/>
                  </a:lnTo>
                  <a:cubicBezTo>
                    <a:pt x="83" y="244"/>
                    <a:pt x="103" y="296"/>
                    <a:pt x="212" y="296"/>
                  </a:cubicBezTo>
                  <a:cubicBezTo>
                    <a:pt x="220" y="263"/>
                    <a:pt x="231" y="258"/>
                    <a:pt x="237" y="237"/>
                  </a:cubicBezTo>
                  <a:cubicBezTo>
                    <a:pt x="240" y="227"/>
                    <a:pt x="250" y="215"/>
                    <a:pt x="224" y="219"/>
                  </a:cubicBezTo>
                  <a:cubicBezTo>
                    <a:pt x="217" y="220"/>
                    <a:pt x="214" y="220"/>
                    <a:pt x="208" y="223"/>
                  </a:cubicBezTo>
                  <a:cubicBezTo>
                    <a:pt x="192" y="229"/>
                    <a:pt x="188" y="234"/>
                    <a:pt x="173" y="242"/>
                  </a:cubicBezTo>
                  <a:cubicBezTo>
                    <a:pt x="135" y="263"/>
                    <a:pt x="135" y="251"/>
                    <a:pt x="102" y="229"/>
                  </a:cubicBezTo>
                  <a:cubicBezTo>
                    <a:pt x="109" y="197"/>
                    <a:pt x="116" y="205"/>
                    <a:pt x="119" y="169"/>
                  </a:cubicBezTo>
                  <a:cubicBezTo>
                    <a:pt x="167" y="170"/>
                    <a:pt x="161" y="173"/>
                    <a:pt x="161" y="220"/>
                  </a:cubicBezTo>
                  <a:cubicBezTo>
                    <a:pt x="191" y="201"/>
                    <a:pt x="208" y="163"/>
                    <a:pt x="212" y="119"/>
                  </a:cubicBezTo>
                  <a:cubicBezTo>
                    <a:pt x="195" y="127"/>
                    <a:pt x="166" y="131"/>
                    <a:pt x="144" y="136"/>
                  </a:cubicBezTo>
                  <a:cubicBezTo>
                    <a:pt x="152" y="42"/>
                    <a:pt x="229" y="60"/>
                    <a:pt x="229" y="161"/>
                  </a:cubicBezTo>
                  <a:cubicBezTo>
                    <a:pt x="293" y="156"/>
                    <a:pt x="266" y="132"/>
                    <a:pt x="288" y="85"/>
                  </a:cubicBezTo>
                  <a:cubicBezTo>
                    <a:pt x="186" y="31"/>
                    <a:pt x="142" y="28"/>
                    <a:pt x="85" y="0"/>
                  </a:cubicBezTo>
                  <a:cubicBezTo>
                    <a:pt x="88" y="29"/>
                    <a:pt x="98" y="39"/>
                    <a:pt x="97" y="58"/>
                  </a:cubicBezTo>
                  <a:lnTo>
                    <a:pt x="55" y="173"/>
                  </a:lnTo>
                  <a:cubicBezTo>
                    <a:pt x="39" y="206"/>
                    <a:pt x="44" y="203"/>
                    <a:pt x="0" y="2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7" name="Freeform 23"/>
            <p:cNvSpPr>
              <a:spLocks noEditPoints="1"/>
            </p:cNvSpPr>
            <p:nvPr/>
          </p:nvSpPr>
          <p:spPr bwMode="auto">
            <a:xfrm>
              <a:off x="4141788" y="2263776"/>
              <a:ext cx="57150" cy="57150"/>
            </a:xfrm>
            <a:custGeom>
              <a:avLst/>
              <a:gdLst>
                <a:gd name="T0" fmla="*/ 36 w 248"/>
                <a:gd name="T1" fmla="*/ 186 h 245"/>
                <a:gd name="T2" fmla="*/ 28 w 248"/>
                <a:gd name="T3" fmla="*/ 152 h 245"/>
                <a:gd name="T4" fmla="*/ 211 w 248"/>
                <a:gd name="T5" fmla="*/ 106 h 245"/>
                <a:gd name="T6" fmla="*/ 173 w 248"/>
                <a:gd name="T7" fmla="*/ 154 h 245"/>
                <a:gd name="T8" fmla="*/ 36 w 248"/>
                <a:gd name="T9" fmla="*/ 186 h 245"/>
                <a:gd name="T10" fmla="*/ 2 w 248"/>
                <a:gd name="T11" fmla="*/ 101 h 245"/>
                <a:gd name="T12" fmla="*/ 104 w 248"/>
                <a:gd name="T13" fmla="*/ 245 h 245"/>
                <a:gd name="T14" fmla="*/ 248 w 248"/>
                <a:gd name="T15" fmla="*/ 110 h 245"/>
                <a:gd name="T16" fmla="*/ 121 w 248"/>
                <a:gd name="T17" fmla="*/ 0 h 245"/>
                <a:gd name="T18" fmla="*/ 2 w 248"/>
                <a:gd name="T19" fmla="*/ 10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5">
                  <a:moveTo>
                    <a:pt x="36" y="186"/>
                  </a:moveTo>
                  <a:cubicBezTo>
                    <a:pt x="31" y="163"/>
                    <a:pt x="28" y="170"/>
                    <a:pt x="28" y="152"/>
                  </a:cubicBezTo>
                  <a:cubicBezTo>
                    <a:pt x="28" y="83"/>
                    <a:pt x="227" y="25"/>
                    <a:pt x="211" y="106"/>
                  </a:cubicBezTo>
                  <a:cubicBezTo>
                    <a:pt x="208" y="123"/>
                    <a:pt x="185" y="145"/>
                    <a:pt x="173" y="154"/>
                  </a:cubicBezTo>
                  <a:cubicBezTo>
                    <a:pt x="134" y="183"/>
                    <a:pt x="102" y="186"/>
                    <a:pt x="36" y="186"/>
                  </a:cubicBezTo>
                  <a:close/>
                  <a:moveTo>
                    <a:pt x="2" y="101"/>
                  </a:moveTo>
                  <a:cubicBezTo>
                    <a:pt x="2" y="165"/>
                    <a:pt x="0" y="245"/>
                    <a:pt x="104" y="245"/>
                  </a:cubicBezTo>
                  <a:cubicBezTo>
                    <a:pt x="171" y="245"/>
                    <a:pt x="248" y="201"/>
                    <a:pt x="248" y="110"/>
                  </a:cubicBezTo>
                  <a:cubicBezTo>
                    <a:pt x="248" y="57"/>
                    <a:pt x="168" y="0"/>
                    <a:pt x="121" y="0"/>
                  </a:cubicBezTo>
                  <a:cubicBezTo>
                    <a:pt x="68" y="0"/>
                    <a:pt x="2" y="49"/>
                    <a:pt x="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8" name="Freeform 24"/>
            <p:cNvSpPr/>
            <p:nvPr/>
          </p:nvSpPr>
          <p:spPr bwMode="auto">
            <a:xfrm>
              <a:off x="4416425" y="2482851"/>
              <a:ext cx="52388" cy="73025"/>
            </a:xfrm>
            <a:custGeom>
              <a:avLst/>
              <a:gdLst>
                <a:gd name="T0" fmla="*/ 33 w 220"/>
                <a:gd name="T1" fmla="*/ 132 h 310"/>
                <a:gd name="T2" fmla="*/ 128 w 220"/>
                <a:gd name="T3" fmla="*/ 242 h 310"/>
                <a:gd name="T4" fmla="*/ 50 w 220"/>
                <a:gd name="T5" fmla="*/ 183 h 310"/>
                <a:gd name="T6" fmla="*/ 16 w 220"/>
                <a:gd name="T7" fmla="*/ 183 h 310"/>
                <a:gd name="T8" fmla="*/ 0 w 220"/>
                <a:gd name="T9" fmla="*/ 267 h 310"/>
                <a:gd name="T10" fmla="*/ 110 w 220"/>
                <a:gd name="T11" fmla="*/ 310 h 310"/>
                <a:gd name="T12" fmla="*/ 194 w 220"/>
                <a:gd name="T13" fmla="*/ 250 h 310"/>
                <a:gd name="T14" fmla="*/ 127 w 220"/>
                <a:gd name="T15" fmla="*/ 81 h 310"/>
                <a:gd name="T16" fmla="*/ 177 w 220"/>
                <a:gd name="T17" fmla="*/ 174 h 310"/>
                <a:gd name="T18" fmla="*/ 211 w 220"/>
                <a:gd name="T19" fmla="*/ 174 h 310"/>
                <a:gd name="T20" fmla="*/ 220 w 220"/>
                <a:gd name="T21" fmla="*/ 73 h 310"/>
                <a:gd name="T22" fmla="*/ 66 w 220"/>
                <a:gd name="T23" fmla="*/ 72 h 310"/>
                <a:gd name="T24" fmla="*/ 33 w 220"/>
                <a:gd name="T25" fmla="*/ 132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310">
                  <a:moveTo>
                    <a:pt x="33" y="132"/>
                  </a:moveTo>
                  <a:cubicBezTo>
                    <a:pt x="33" y="182"/>
                    <a:pt x="114" y="205"/>
                    <a:pt x="128" y="242"/>
                  </a:cubicBezTo>
                  <a:cubicBezTo>
                    <a:pt x="149" y="292"/>
                    <a:pt x="50" y="309"/>
                    <a:pt x="50" y="183"/>
                  </a:cubicBezTo>
                  <a:lnTo>
                    <a:pt x="16" y="183"/>
                  </a:lnTo>
                  <a:cubicBezTo>
                    <a:pt x="11" y="207"/>
                    <a:pt x="2" y="240"/>
                    <a:pt x="0" y="267"/>
                  </a:cubicBezTo>
                  <a:cubicBezTo>
                    <a:pt x="27" y="274"/>
                    <a:pt x="96" y="310"/>
                    <a:pt x="110" y="310"/>
                  </a:cubicBezTo>
                  <a:cubicBezTo>
                    <a:pt x="130" y="310"/>
                    <a:pt x="194" y="278"/>
                    <a:pt x="194" y="250"/>
                  </a:cubicBezTo>
                  <a:cubicBezTo>
                    <a:pt x="194" y="125"/>
                    <a:pt x="35" y="142"/>
                    <a:pt x="127" y="81"/>
                  </a:cubicBezTo>
                  <a:cubicBezTo>
                    <a:pt x="165" y="91"/>
                    <a:pt x="176" y="128"/>
                    <a:pt x="177" y="174"/>
                  </a:cubicBezTo>
                  <a:lnTo>
                    <a:pt x="211" y="174"/>
                  </a:lnTo>
                  <a:cubicBezTo>
                    <a:pt x="211" y="125"/>
                    <a:pt x="220" y="115"/>
                    <a:pt x="220" y="73"/>
                  </a:cubicBezTo>
                  <a:cubicBezTo>
                    <a:pt x="155" y="104"/>
                    <a:pt x="141" y="0"/>
                    <a:pt x="66" y="72"/>
                  </a:cubicBezTo>
                  <a:cubicBezTo>
                    <a:pt x="57" y="81"/>
                    <a:pt x="33" y="115"/>
                    <a:pt x="33" y="1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79" name="Freeform 25"/>
            <p:cNvSpPr/>
            <p:nvPr/>
          </p:nvSpPr>
          <p:spPr bwMode="auto">
            <a:xfrm>
              <a:off x="4468813" y="2500313"/>
              <a:ext cx="58738" cy="63500"/>
            </a:xfrm>
            <a:custGeom>
              <a:avLst/>
              <a:gdLst>
                <a:gd name="T0" fmla="*/ 6 w 252"/>
                <a:gd name="T1" fmla="*/ 101 h 271"/>
                <a:gd name="T2" fmla="*/ 99 w 252"/>
                <a:gd name="T3" fmla="*/ 50 h 271"/>
                <a:gd name="T4" fmla="*/ 74 w 252"/>
                <a:gd name="T5" fmla="*/ 228 h 271"/>
                <a:gd name="T6" fmla="*/ 40 w 252"/>
                <a:gd name="T7" fmla="*/ 228 h 271"/>
                <a:gd name="T8" fmla="*/ 40 w 252"/>
                <a:gd name="T9" fmla="*/ 262 h 271"/>
                <a:gd name="T10" fmla="*/ 175 w 252"/>
                <a:gd name="T11" fmla="*/ 271 h 271"/>
                <a:gd name="T12" fmla="*/ 160 w 252"/>
                <a:gd name="T13" fmla="*/ 59 h 271"/>
                <a:gd name="T14" fmla="*/ 209 w 252"/>
                <a:gd name="T15" fmla="*/ 127 h 271"/>
                <a:gd name="T16" fmla="*/ 243 w 252"/>
                <a:gd name="T17" fmla="*/ 127 h 271"/>
                <a:gd name="T18" fmla="*/ 252 w 252"/>
                <a:gd name="T19" fmla="*/ 42 h 271"/>
                <a:gd name="T20" fmla="*/ 23 w 252"/>
                <a:gd name="T21" fmla="*/ 0 h 271"/>
                <a:gd name="T22" fmla="*/ 6 w 252"/>
                <a:gd name="T23" fmla="*/ 10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 h="271">
                  <a:moveTo>
                    <a:pt x="6" y="101"/>
                  </a:moveTo>
                  <a:cubicBezTo>
                    <a:pt x="94" y="81"/>
                    <a:pt x="0" y="50"/>
                    <a:pt x="99" y="50"/>
                  </a:cubicBezTo>
                  <a:cubicBezTo>
                    <a:pt x="90" y="92"/>
                    <a:pt x="74" y="181"/>
                    <a:pt x="74" y="228"/>
                  </a:cubicBezTo>
                  <a:lnTo>
                    <a:pt x="40" y="228"/>
                  </a:lnTo>
                  <a:lnTo>
                    <a:pt x="40" y="262"/>
                  </a:lnTo>
                  <a:lnTo>
                    <a:pt x="175" y="271"/>
                  </a:lnTo>
                  <a:cubicBezTo>
                    <a:pt x="136" y="196"/>
                    <a:pt x="149" y="238"/>
                    <a:pt x="160" y="59"/>
                  </a:cubicBezTo>
                  <a:cubicBezTo>
                    <a:pt x="208" y="60"/>
                    <a:pt x="205" y="74"/>
                    <a:pt x="209" y="127"/>
                  </a:cubicBezTo>
                  <a:lnTo>
                    <a:pt x="243" y="127"/>
                  </a:lnTo>
                  <a:lnTo>
                    <a:pt x="252" y="42"/>
                  </a:lnTo>
                  <a:cubicBezTo>
                    <a:pt x="191" y="13"/>
                    <a:pt x="70" y="22"/>
                    <a:pt x="23" y="0"/>
                  </a:cubicBezTo>
                  <a:cubicBezTo>
                    <a:pt x="20" y="41"/>
                    <a:pt x="6" y="53"/>
                    <a:pt x="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0" name="Freeform 26"/>
            <p:cNvSpPr/>
            <p:nvPr/>
          </p:nvSpPr>
          <p:spPr bwMode="auto">
            <a:xfrm>
              <a:off x="4119563" y="2219326"/>
              <a:ext cx="63500" cy="47625"/>
            </a:xfrm>
            <a:custGeom>
              <a:avLst/>
              <a:gdLst>
                <a:gd name="T0" fmla="*/ 93 w 271"/>
                <a:gd name="T1" fmla="*/ 161 h 204"/>
                <a:gd name="T2" fmla="*/ 34 w 271"/>
                <a:gd name="T3" fmla="*/ 136 h 204"/>
                <a:gd name="T4" fmla="*/ 93 w 271"/>
                <a:gd name="T5" fmla="*/ 26 h 204"/>
                <a:gd name="T6" fmla="*/ 0 w 271"/>
                <a:gd name="T7" fmla="*/ 51 h 204"/>
                <a:gd name="T8" fmla="*/ 68 w 271"/>
                <a:gd name="T9" fmla="*/ 204 h 204"/>
                <a:gd name="T10" fmla="*/ 119 w 271"/>
                <a:gd name="T11" fmla="*/ 204 h 204"/>
                <a:gd name="T12" fmla="*/ 169 w 271"/>
                <a:gd name="T13" fmla="*/ 68 h 204"/>
                <a:gd name="T14" fmla="*/ 202 w 271"/>
                <a:gd name="T15" fmla="*/ 41 h 204"/>
                <a:gd name="T16" fmla="*/ 186 w 271"/>
                <a:gd name="T17" fmla="*/ 161 h 204"/>
                <a:gd name="T18" fmla="*/ 271 w 271"/>
                <a:gd name="T19" fmla="*/ 153 h 204"/>
                <a:gd name="T20" fmla="*/ 251 w 271"/>
                <a:gd name="T21" fmla="*/ 71 h 204"/>
                <a:gd name="T22" fmla="*/ 220 w 271"/>
                <a:gd name="T23" fmla="*/ 0 h 204"/>
                <a:gd name="T24" fmla="*/ 127 w 271"/>
                <a:gd name="T25" fmla="*/ 0 h 204"/>
                <a:gd name="T26" fmla="*/ 105 w 271"/>
                <a:gd name="T27" fmla="*/ 71 h 204"/>
                <a:gd name="T28" fmla="*/ 93 w 271"/>
                <a:gd name="T29" fmla="*/ 16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1" h="204">
                  <a:moveTo>
                    <a:pt x="93" y="161"/>
                  </a:moveTo>
                  <a:cubicBezTo>
                    <a:pt x="61" y="159"/>
                    <a:pt x="54" y="149"/>
                    <a:pt x="34" y="136"/>
                  </a:cubicBezTo>
                  <a:cubicBezTo>
                    <a:pt x="47" y="82"/>
                    <a:pt x="67" y="65"/>
                    <a:pt x="93" y="26"/>
                  </a:cubicBezTo>
                  <a:cubicBezTo>
                    <a:pt x="69" y="26"/>
                    <a:pt x="0" y="31"/>
                    <a:pt x="0" y="51"/>
                  </a:cubicBezTo>
                  <a:cubicBezTo>
                    <a:pt x="0" y="94"/>
                    <a:pt x="32" y="204"/>
                    <a:pt x="68" y="204"/>
                  </a:cubicBezTo>
                  <a:lnTo>
                    <a:pt x="119" y="204"/>
                  </a:lnTo>
                  <a:cubicBezTo>
                    <a:pt x="134" y="204"/>
                    <a:pt x="191" y="161"/>
                    <a:pt x="169" y="68"/>
                  </a:cubicBezTo>
                  <a:lnTo>
                    <a:pt x="202" y="41"/>
                  </a:lnTo>
                  <a:cubicBezTo>
                    <a:pt x="248" y="109"/>
                    <a:pt x="219" y="100"/>
                    <a:pt x="186" y="161"/>
                  </a:cubicBezTo>
                  <a:cubicBezTo>
                    <a:pt x="231" y="161"/>
                    <a:pt x="238" y="156"/>
                    <a:pt x="271" y="153"/>
                  </a:cubicBezTo>
                  <a:cubicBezTo>
                    <a:pt x="260" y="130"/>
                    <a:pt x="260" y="100"/>
                    <a:pt x="251" y="71"/>
                  </a:cubicBezTo>
                  <a:cubicBezTo>
                    <a:pt x="239" y="31"/>
                    <a:pt x="229" y="38"/>
                    <a:pt x="220" y="0"/>
                  </a:cubicBezTo>
                  <a:lnTo>
                    <a:pt x="127" y="0"/>
                  </a:lnTo>
                  <a:cubicBezTo>
                    <a:pt x="121" y="28"/>
                    <a:pt x="112" y="36"/>
                    <a:pt x="105" y="71"/>
                  </a:cubicBezTo>
                  <a:cubicBezTo>
                    <a:pt x="99" y="102"/>
                    <a:pt x="93" y="132"/>
                    <a:pt x="93"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1" name="Freeform 27"/>
            <p:cNvSpPr/>
            <p:nvPr/>
          </p:nvSpPr>
          <p:spPr bwMode="auto">
            <a:xfrm>
              <a:off x="4875213" y="2268538"/>
              <a:ext cx="66675" cy="61913"/>
            </a:xfrm>
            <a:custGeom>
              <a:avLst/>
              <a:gdLst>
                <a:gd name="T0" fmla="*/ 0 w 288"/>
                <a:gd name="T1" fmla="*/ 212 h 262"/>
                <a:gd name="T2" fmla="*/ 85 w 288"/>
                <a:gd name="T3" fmla="*/ 229 h 262"/>
                <a:gd name="T4" fmla="*/ 60 w 288"/>
                <a:gd name="T5" fmla="*/ 144 h 262"/>
                <a:gd name="T6" fmla="*/ 212 w 288"/>
                <a:gd name="T7" fmla="*/ 262 h 262"/>
                <a:gd name="T8" fmla="*/ 246 w 288"/>
                <a:gd name="T9" fmla="*/ 262 h 262"/>
                <a:gd name="T10" fmla="*/ 288 w 288"/>
                <a:gd name="T11" fmla="*/ 135 h 262"/>
                <a:gd name="T12" fmla="*/ 246 w 288"/>
                <a:gd name="T13" fmla="*/ 144 h 262"/>
                <a:gd name="T14" fmla="*/ 85 w 288"/>
                <a:gd name="T15" fmla="*/ 85 h 262"/>
                <a:gd name="T16" fmla="*/ 178 w 288"/>
                <a:gd name="T17" fmla="*/ 25 h 262"/>
                <a:gd name="T18" fmla="*/ 85 w 288"/>
                <a:gd name="T19" fmla="*/ 0 h 262"/>
                <a:gd name="T20" fmla="*/ 0 w 288"/>
                <a:gd name="T21" fmla="*/ 21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62">
                  <a:moveTo>
                    <a:pt x="0" y="212"/>
                  </a:moveTo>
                  <a:cubicBezTo>
                    <a:pt x="40" y="215"/>
                    <a:pt x="41" y="228"/>
                    <a:pt x="85" y="229"/>
                  </a:cubicBezTo>
                  <a:cubicBezTo>
                    <a:pt x="70" y="200"/>
                    <a:pt x="60" y="189"/>
                    <a:pt x="60" y="144"/>
                  </a:cubicBezTo>
                  <a:cubicBezTo>
                    <a:pt x="215" y="226"/>
                    <a:pt x="232" y="177"/>
                    <a:pt x="212" y="262"/>
                  </a:cubicBezTo>
                  <a:lnTo>
                    <a:pt x="246" y="262"/>
                  </a:lnTo>
                  <a:cubicBezTo>
                    <a:pt x="251" y="203"/>
                    <a:pt x="284" y="187"/>
                    <a:pt x="288" y="135"/>
                  </a:cubicBezTo>
                  <a:cubicBezTo>
                    <a:pt x="255" y="138"/>
                    <a:pt x="268" y="144"/>
                    <a:pt x="246" y="144"/>
                  </a:cubicBezTo>
                  <a:cubicBezTo>
                    <a:pt x="200" y="144"/>
                    <a:pt x="140" y="97"/>
                    <a:pt x="85" y="85"/>
                  </a:cubicBezTo>
                  <a:cubicBezTo>
                    <a:pt x="129" y="19"/>
                    <a:pt x="136" y="104"/>
                    <a:pt x="178" y="25"/>
                  </a:cubicBezTo>
                  <a:cubicBezTo>
                    <a:pt x="142" y="22"/>
                    <a:pt x="119" y="8"/>
                    <a:pt x="85" y="0"/>
                  </a:cubicBezTo>
                  <a:cubicBezTo>
                    <a:pt x="69" y="33"/>
                    <a:pt x="3" y="184"/>
                    <a:pt x="0" y="2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2" name="Freeform 28"/>
            <p:cNvSpPr/>
            <p:nvPr/>
          </p:nvSpPr>
          <p:spPr bwMode="auto">
            <a:xfrm>
              <a:off x="4840288" y="1944688"/>
              <a:ext cx="66675" cy="44450"/>
            </a:xfrm>
            <a:custGeom>
              <a:avLst/>
              <a:gdLst>
                <a:gd name="T0" fmla="*/ 82 w 291"/>
                <a:gd name="T1" fmla="*/ 43 h 187"/>
                <a:gd name="T2" fmla="*/ 115 w 291"/>
                <a:gd name="T3" fmla="*/ 102 h 187"/>
                <a:gd name="T4" fmla="*/ 56 w 291"/>
                <a:gd name="T5" fmla="*/ 102 h 187"/>
                <a:gd name="T6" fmla="*/ 22 w 291"/>
                <a:gd name="T7" fmla="*/ 34 h 187"/>
                <a:gd name="T8" fmla="*/ 90 w 291"/>
                <a:gd name="T9" fmla="*/ 161 h 187"/>
                <a:gd name="T10" fmla="*/ 170 w 291"/>
                <a:gd name="T11" fmla="*/ 157 h 187"/>
                <a:gd name="T12" fmla="*/ 234 w 291"/>
                <a:gd name="T13" fmla="*/ 187 h 187"/>
                <a:gd name="T14" fmla="*/ 251 w 291"/>
                <a:gd name="T15" fmla="*/ 144 h 187"/>
                <a:gd name="T16" fmla="*/ 209 w 291"/>
                <a:gd name="T17" fmla="*/ 102 h 187"/>
                <a:gd name="T18" fmla="*/ 257 w 291"/>
                <a:gd name="T19" fmla="*/ 55 h 187"/>
                <a:gd name="T20" fmla="*/ 166 w 291"/>
                <a:gd name="T21" fmla="*/ 0 h 187"/>
                <a:gd name="T22" fmla="*/ 192 w 291"/>
                <a:gd name="T23" fmla="*/ 60 h 187"/>
                <a:gd name="T24" fmla="*/ 149 w 291"/>
                <a:gd name="T25" fmla="*/ 68 h 187"/>
                <a:gd name="T26" fmla="*/ 90 w 291"/>
                <a:gd name="T27" fmla="*/ 0 h 187"/>
                <a:gd name="T28" fmla="*/ 82 w 291"/>
                <a:gd name="T29" fmla="*/ 4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1" h="187">
                  <a:moveTo>
                    <a:pt x="82" y="43"/>
                  </a:moveTo>
                  <a:cubicBezTo>
                    <a:pt x="82" y="68"/>
                    <a:pt x="104" y="85"/>
                    <a:pt x="115" y="102"/>
                  </a:cubicBezTo>
                  <a:lnTo>
                    <a:pt x="56" y="102"/>
                  </a:lnTo>
                  <a:cubicBezTo>
                    <a:pt x="56" y="59"/>
                    <a:pt x="56" y="43"/>
                    <a:pt x="22" y="34"/>
                  </a:cubicBezTo>
                  <a:cubicBezTo>
                    <a:pt x="0" y="80"/>
                    <a:pt x="40" y="161"/>
                    <a:pt x="90" y="161"/>
                  </a:cubicBezTo>
                  <a:cubicBezTo>
                    <a:pt x="128" y="161"/>
                    <a:pt x="144" y="148"/>
                    <a:pt x="170" y="157"/>
                  </a:cubicBezTo>
                  <a:cubicBezTo>
                    <a:pt x="198" y="168"/>
                    <a:pt x="183" y="182"/>
                    <a:pt x="234" y="187"/>
                  </a:cubicBezTo>
                  <a:cubicBezTo>
                    <a:pt x="243" y="169"/>
                    <a:pt x="246" y="167"/>
                    <a:pt x="251" y="144"/>
                  </a:cubicBezTo>
                  <a:cubicBezTo>
                    <a:pt x="220" y="103"/>
                    <a:pt x="223" y="155"/>
                    <a:pt x="209" y="102"/>
                  </a:cubicBezTo>
                  <a:cubicBezTo>
                    <a:pt x="268" y="102"/>
                    <a:pt x="291" y="103"/>
                    <a:pt x="257" y="55"/>
                  </a:cubicBezTo>
                  <a:cubicBezTo>
                    <a:pt x="232" y="20"/>
                    <a:pt x="211" y="11"/>
                    <a:pt x="166" y="0"/>
                  </a:cubicBezTo>
                  <a:cubicBezTo>
                    <a:pt x="175" y="38"/>
                    <a:pt x="183" y="28"/>
                    <a:pt x="192" y="60"/>
                  </a:cubicBezTo>
                  <a:cubicBezTo>
                    <a:pt x="158" y="60"/>
                    <a:pt x="172" y="57"/>
                    <a:pt x="149" y="68"/>
                  </a:cubicBezTo>
                  <a:cubicBezTo>
                    <a:pt x="141" y="32"/>
                    <a:pt x="131" y="4"/>
                    <a:pt x="90" y="0"/>
                  </a:cubicBezTo>
                  <a:cubicBezTo>
                    <a:pt x="87" y="34"/>
                    <a:pt x="82" y="21"/>
                    <a:pt x="8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3" name="Freeform 29"/>
            <p:cNvSpPr/>
            <p:nvPr/>
          </p:nvSpPr>
          <p:spPr bwMode="auto">
            <a:xfrm>
              <a:off x="4900613" y="2216151"/>
              <a:ext cx="61913" cy="57150"/>
            </a:xfrm>
            <a:custGeom>
              <a:avLst/>
              <a:gdLst>
                <a:gd name="T0" fmla="*/ 34 w 271"/>
                <a:gd name="T1" fmla="*/ 102 h 246"/>
                <a:gd name="T2" fmla="*/ 93 w 271"/>
                <a:gd name="T3" fmla="*/ 85 h 246"/>
                <a:gd name="T4" fmla="*/ 110 w 271"/>
                <a:gd name="T5" fmla="*/ 127 h 246"/>
                <a:gd name="T6" fmla="*/ 26 w 271"/>
                <a:gd name="T7" fmla="*/ 110 h 246"/>
                <a:gd name="T8" fmla="*/ 0 w 271"/>
                <a:gd name="T9" fmla="*/ 221 h 246"/>
                <a:gd name="T10" fmla="*/ 212 w 271"/>
                <a:gd name="T11" fmla="*/ 246 h 246"/>
                <a:gd name="T12" fmla="*/ 246 w 271"/>
                <a:gd name="T13" fmla="*/ 246 h 246"/>
                <a:gd name="T14" fmla="*/ 271 w 271"/>
                <a:gd name="T15" fmla="*/ 110 h 246"/>
                <a:gd name="T16" fmla="*/ 121 w 271"/>
                <a:gd name="T17" fmla="*/ 83 h 246"/>
                <a:gd name="T18" fmla="*/ 51 w 271"/>
                <a:gd name="T19" fmla="*/ 0 h 246"/>
                <a:gd name="T20" fmla="*/ 34 w 271"/>
                <a:gd name="T21" fmla="*/ 10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46">
                  <a:moveTo>
                    <a:pt x="34" y="102"/>
                  </a:moveTo>
                  <a:cubicBezTo>
                    <a:pt x="57" y="90"/>
                    <a:pt x="59" y="86"/>
                    <a:pt x="93" y="85"/>
                  </a:cubicBezTo>
                  <a:cubicBezTo>
                    <a:pt x="102" y="116"/>
                    <a:pt x="102" y="96"/>
                    <a:pt x="110" y="127"/>
                  </a:cubicBezTo>
                  <a:cubicBezTo>
                    <a:pt x="37" y="134"/>
                    <a:pt x="92" y="155"/>
                    <a:pt x="26" y="110"/>
                  </a:cubicBezTo>
                  <a:cubicBezTo>
                    <a:pt x="8" y="144"/>
                    <a:pt x="0" y="169"/>
                    <a:pt x="0" y="221"/>
                  </a:cubicBezTo>
                  <a:cubicBezTo>
                    <a:pt x="95" y="213"/>
                    <a:pt x="185" y="129"/>
                    <a:pt x="212" y="246"/>
                  </a:cubicBezTo>
                  <a:lnTo>
                    <a:pt x="246" y="246"/>
                  </a:lnTo>
                  <a:cubicBezTo>
                    <a:pt x="246" y="188"/>
                    <a:pt x="270" y="167"/>
                    <a:pt x="271" y="110"/>
                  </a:cubicBezTo>
                  <a:cubicBezTo>
                    <a:pt x="215" y="140"/>
                    <a:pt x="204" y="160"/>
                    <a:pt x="121" y="83"/>
                  </a:cubicBezTo>
                  <a:cubicBezTo>
                    <a:pt x="56" y="24"/>
                    <a:pt x="114" y="6"/>
                    <a:pt x="51" y="0"/>
                  </a:cubicBezTo>
                  <a:cubicBezTo>
                    <a:pt x="48" y="37"/>
                    <a:pt x="35" y="63"/>
                    <a:pt x="34"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4" name="Freeform 30"/>
            <p:cNvSpPr/>
            <p:nvPr/>
          </p:nvSpPr>
          <p:spPr bwMode="auto">
            <a:xfrm>
              <a:off x="4700588" y="1784351"/>
              <a:ext cx="17463" cy="30163"/>
            </a:xfrm>
            <a:custGeom>
              <a:avLst/>
              <a:gdLst>
                <a:gd name="T0" fmla="*/ 0 w 76"/>
                <a:gd name="T1" fmla="*/ 52 h 129"/>
                <a:gd name="T2" fmla="*/ 59 w 76"/>
                <a:gd name="T3" fmla="*/ 129 h 129"/>
                <a:gd name="T4" fmla="*/ 76 w 76"/>
                <a:gd name="T5" fmla="*/ 95 h 129"/>
                <a:gd name="T6" fmla="*/ 0 w 76"/>
                <a:gd name="T7" fmla="*/ 52 h 129"/>
              </a:gdLst>
              <a:ahLst/>
              <a:cxnLst>
                <a:cxn ang="0">
                  <a:pos x="T0" y="T1"/>
                </a:cxn>
                <a:cxn ang="0">
                  <a:pos x="T2" y="T3"/>
                </a:cxn>
                <a:cxn ang="0">
                  <a:pos x="T4" y="T5"/>
                </a:cxn>
                <a:cxn ang="0">
                  <a:pos x="T6" y="T7"/>
                </a:cxn>
              </a:cxnLst>
              <a:rect l="0" t="0" r="r" b="b"/>
              <a:pathLst>
                <a:path w="76" h="129">
                  <a:moveTo>
                    <a:pt x="0" y="52"/>
                  </a:moveTo>
                  <a:cubicBezTo>
                    <a:pt x="0" y="115"/>
                    <a:pt x="19" y="109"/>
                    <a:pt x="59" y="129"/>
                  </a:cubicBezTo>
                  <a:cubicBezTo>
                    <a:pt x="61" y="125"/>
                    <a:pt x="76" y="96"/>
                    <a:pt x="76" y="95"/>
                  </a:cubicBezTo>
                  <a:cubicBezTo>
                    <a:pt x="76" y="57"/>
                    <a:pt x="0" y="0"/>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5" name="Freeform 31"/>
            <p:cNvSpPr/>
            <p:nvPr/>
          </p:nvSpPr>
          <p:spPr bwMode="auto">
            <a:xfrm>
              <a:off x="4854575" y="2428876"/>
              <a:ext cx="3175" cy="1588"/>
            </a:xfrm>
            <a:custGeom>
              <a:avLst/>
              <a:gdLst>
                <a:gd name="T0" fmla="*/ 0 w 8"/>
                <a:gd name="T1" fmla="*/ 10 h 10"/>
                <a:gd name="T2" fmla="*/ 8 w 8"/>
                <a:gd name="T3" fmla="*/ 10 h 10"/>
                <a:gd name="T4" fmla="*/ 1 w 8"/>
                <a:gd name="T5" fmla="*/ 0 h 10"/>
                <a:gd name="T6" fmla="*/ 0 w 8"/>
                <a:gd name="T7" fmla="*/ 10 h 10"/>
              </a:gdLst>
              <a:ahLst/>
              <a:cxnLst>
                <a:cxn ang="0">
                  <a:pos x="T0" y="T1"/>
                </a:cxn>
                <a:cxn ang="0">
                  <a:pos x="T2" y="T3"/>
                </a:cxn>
                <a:cxn ang="0">
                  <a:pos x="T4" y="T5"/>
                </a:cxn>
                <a:cxn ang="0">
                  <a:pos x="T6" y="T7"/>
                </a:cxn>
              </a:cxnLst>
              <a:rect l="0" t="0" r="r" b="b"/>
              <a:pathLst>
                <a:path w="8" h="10">
                  <a:moveTo>
                    <a:pt x="0" y="10"/>
                  </a:moveTo>
                  <a:lnTo>
                    <a:pt x="8" y="10"/>
                  </a:lnTo>
                  <a:lnTo>
                    <a:pt x="1"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sp>
          <p:nvSpPr>
            <p:cNvPr id="86" name="Freeform 38"/>
            <p:cNvSpPr/>
            <p:nvPr/>
          </p:nvSpPr>
          <p:spPr bwMode="auto">
            <a:xfrm>
              <a:off x="4529138" y="2244726"/>
              <a:ext cx="14288" cy="31750"/>
            </a:xfrm>
            <a:custGeom>
              <a:avLst/>
              <a:gdLst>
                <a:gd name="T0" fmla="*/ 6 w 58"/>
                <a:gd name="T1" fmla="*/ 7 h 134"/>
                <a:gd name="T2" fmla="*/ 57 w 58"/>
                <a:gd name="T3" fmla="*/ 134 h 134"/>
                <a:gd name="T4" fmla="*/ 43 w 58"/>
                <a:gd name="T5" fmla="*/ 0 h 134"/>
                <a:gd name="T6" fmla="*/ 6 w 58"/>
                <a:gd name="T7" fmla="*/ 7 h 134"/>
              </a:gdLst>
              <a:ahLst/>
              <a:cxnLst>
                <a:cxn ang="0">
                  <a:pos x="T0" y="T1"/>
                </a:cxn>
                <a:cxn ang="0">
                  <a:pos x="T2" y="T3"/>
                </a:cxn>
                <a:cxn ang="0">
                  <a:pos x="T4" y="T5"/>
                </a:cxn>
                <a:cxn ang="0">
                  <a:pos x="T6" y="T7"/>
                </a:cxn>
              </a:cxnLst>
              <a:rect l="0" t="0" r="r" b="b"/>
              <a:pathLst>
                <a:path w="58" h="134">
                  <a:moveTo>
                    <a:pt x="6" y="7"/>
                  </a:moveTo>
                  <a:cubicBezTo>
                    <a:pt x="2" y="72"/>
                    <a:pt x="0" y="116"/>
                    <a:pt x="57" y="134"/>
                  </a:cubicBezTo>
                  <a:cubicBezTo>
                    <a:pt x="58" y="85"/>
                    <a:pt x="57" y="40"/>
                    <a:pt x="43" y="0"/>
                  </a:cubicBezTo>
                  <a:lnTo>
                    <a:pt x="6"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Segoe UI" panose="020B0502040204020203"/>
                <a:ea typeface="微软雅黑" panose="020B0503020204020204" charset="-122"/>
              </a:endParaRPr>
            </a:p>
          </p:txBody>
        </p:sp>
      </p:grpSp>
      <p:sp>
        <p:nvSpPr>
          <p:cNvPr id="57" name="文本框 56"/>
          <p:cNvSpPr txBox="1"/>
          <p:nvPr/>
        </p:nvSpPr>
        <p:spPr>
          <a:xfrm>
            <a:off x="509679" y="4631762"/>
            <a:ext cx="9848110" cy="461665"/>
          </a:xfrm>
          <a:prstGeom prst="rect">
            <a:avLst/>
          </a:prstGeom>
          <a:noFill/>
        </p:spPr>
        <p:txBody>
          <a:bodyPr wrap="square">
            <a:spAutoFit/>
          </a:bodyPr>
          <a:lstStyle/>
          <a:p>
            <a:r>
              <a:rPr lang="zh-CN" altLang="en-US" sz="2400" dirty="0"/>
              <a:t>假说</a:t>
            </a:r>
            <a:r>
              <a:rPr lang="en-US" altLang="zh-CN" sz="2400" dirty="0"/>
              <a:t>2</a:t>
            </a:r>
            <a:r>
              <a:rPr lang="zh-CN" altLang="en-US" sz="2400" dirty="0"/>
              <a:t>：</a:t>
            </a:r>
            <a:r>
              <a:rPr lang="zh-CN" altLang="zh-CN" sz="2400" b="1" dirty="0"/>
              <a:t>数字金融发展不利于缩小城乡</a:t>
            </a:r>
            <a:r>
              <a:rPr lang="zh-CN" altLang="en-US" sz="2400" b="1" dirty="0"/>
              <a:t>居民</a:t>
            </a:r>
            <a:r>
              <a:rPr lang="zh-CN" altLang="zh-CN" sz="2400" b="1" dirty="0"/>
              <a:t>家庭金融资产组合有效性差距</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数据来源和变量设置</a:t>
            </a:r>
            <a:endParaRPr lang="zh-CN" altLang="en-US" dirty="0"/>
          </a:p>
        </p:txBody>
      </p:sp>
      <p:sp>
        <p:nvSpPr>
          <p:cNvPr id="3" name="矩形 2"/>
          <p:cNvSpPr/>
          <p:nvPr/>
        </p:nvSpPr>
        <p:spPr>
          <a:xfrm>
            <a:off x="4874400" y="6392444"/>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6016055" y="6265828"/>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6" name="矩形 25"/>
          <p:cNvSpPr/>
          <p:nvPr/>
        </p:nvSpPr>
        <p:spPr>
          <a:xfrm>
            <a:off x="3339621" y="-1584"/>
            <a:ext cx="8849226" cy="6390861"/>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grpSp>
        <p:nvGrpSpPr>
          <p:cNvPr id="35" name="组合 34"/>
          <p:cNvGrpSpPr/>
          <p:nvPr/>
        </p:nvGrpSpPr>
        <p:grpSpPr>
          <a:xfrm>
            <a:off x="194396" y="4025007"/>
            <a:ext cx="2839218" cy="1134413"/>
            <a:chOff x="4464048" y="2741974"/>
            <a:chExt cx="2946124" cy="1134413"/>
          </a:xfrm>
        </p:grpSpPr>
        <p:sp>
          <p:nvSpPr>
            <p:cNvPr id="36" name="矩形 35"/>
            <p:cNvSpPr/>
            <p:nvPr/>
          </p:nvSpPr>
          <p:spPr>
            <a:xfrm>
              <a:off x="4464048" y="3257723"/>
              <a:ext cx="184067" cy="184065"/>
            </a:xfrm>
            <a:prstGeom prst="rect">
              <a:avLst/>
            </a:prstGeom>
            <a:solidFill>
              <a:schemeClr val="accent2">
                <a:lumMod val="60000"/>
                <a:lumOff val="40000"/>
              </a:schemeClr>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7" name="矩形 36"/>
            <p:cNvSpPr/>
            <p:nvPr/>
          </p:nvSpPr>
          <p:spPr>
            <a:xfrm flipH="1">
              <a:off x="4703436" y="2741974"/>
              <a:ext cx="2706736" cy="1134413"/>
            </a:xfrm>
            <a:prstGeom prst="rect">
              <a:avLst/>
            </a:prstGeom>
            <a:ln>
              <a:noFill/>
            </a:ln>
          </p:spPr>
          <p:txBody>
            <a:bodyPr wrap="square" lIns="91440" tIns="45720" rIns="91440" bIns="45720" anchor="t">
              <a:spAutoFit/>
            </a:bodyPr>
            <a:lstStyle/>
            <a:p>
              <a:pPr lvl="0" defTabSz="913765">
                <a:lnSpc>
                  <a:spcPct val="150000"/>
                </a:lnSpc>
                <a:buSzPct val="25000"/>
                <a:defRPr/>
              </a:pPr>
              <a:r>
                <a:rPr lang="zh-CN" altLang="en-US" sz="2400" b="1" dirty="0"/>
                <a:t>北京大学数字</a:t>
              </a:r>
              <a:endParaRPr lang="en-US" altLang="zh-CN" sz="2400" b="1" dirty="0"/>
            </a:p>
            <a:p>
              <a:pPr lvl="0" defTabSz="913765">
                <a:lnSpc>
                  <a:spcPct val="150000"/>
                </a:lnSpc>
                <a:buSzPct val="25000"/>
                <a:defRPr/>
              </a:pPr>
              <a:r>
                <a:rPr lang="zh-CN" altLang="en-US" sz="2400" b="1" dirty="0"/>
                <a:t>普惠金融指数</a:t>
              </a:r>
              <a:endParaRPr lang="zh-CN" altLang="en-US" sz="2400" b="1" dirty="0"/>
            </a:p>
          </p:txBody>
        </p:sp>
      </p:grpSp>
      <p:grpSp>
        <p:nvGrpSpPr>
          <p:cNvPr id="38" name="组合 37"/>
          <p:cNvGrpSpPr/>
          <p:nvPr/>
        </p:nvGrpSpPr>
        <p:grpSpPr>
          <a:xfrm>
            <a:off x="194399" y="5436856"/>
            <a:ext cx="2510747" cy="577850"/>
            <a:chOff x="4503055" y="5485490"/>
            <a:chExt cx="2605284" cy="577850"/>
          </a:xfrm>
        </p:grpSpPr>
        <p:sp>
          <p:nvSpPr>
            <p:cNvPr id="39" name="矩形 38"/>
            <p:cNvSpPr/>
            <p:nvPr/>
          </p:nvSpPr>
          <p:spPr>
            <a:xfrm>
              <a:off x="4503055" y="5747380"/>
              <a:ext cx="184067" cy="184065"/>
            </a:xfrm>
            <a:prstGeom prst="rect">
              <a:avLst/>
            </a:prstGeom>
            <a:solidFill>
              <a:schemeClr val="accent3">
                <a:lumMod val="60000"/>
                <a:lumOff val="40000"/>
              </a:schemeClr>
            </a:solidFill>
            <a:ln w="12700" cap="rnd">
              <a:noFill/>
              <a:prstDash val="solid"/>
              <a:rou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矩形 39"/>
            <p:cNvSpPr/>
            <p:nvPr/>
          </p:nvSpPr>
          <p:spPr>
            <a:xfrm flipH="1">
              <a:off x="4757761" y="5485490"/>
              <a:ext cx="2350578" cy="577850"/>
            </a:xfrm>
            <a:prstGeom prst="rect">
              <a:avLst/>
            </a:prstGeom>
            <a:ln>
              <a:noFill/>
            </a:ln>
          </p:spPr>
          <p:txBody>
            <a:bodyPr wrap="square" lIns="91440" tIns="45720" rIns="91440" bIns="45720" anchor="t">
              <a:spAutoFit/>
            </a:bodyPr>
            <a:lstStyle/>
            <a:p>
              <a:pPr lvl="0" defTabSz="913765">
                <a:lnSpc>
                  <a:spcPct val="150000"/>
                </a:lnSpc>
                <a:buSzPct val="25000"/>
                <a:defRPr/>
              </a:pPr>
              <a:r>
                <a:rPr lang="en-US" altLang="zh-CN" sz="2400" b="1" dirty="0"/>
                <a:t>CHFS2019</a:t>
              </a:r>
              <a:endParaRPr lang="zh-CN" altLang="en-US" sz="2400" b="1" dirty="0"/>
            </a:p>
          </p:txBody>
        </p:sp>
      </p:grpSp>
      <p:sp>
        <p:nvSpPr>
          <p:cNvPr id="41" name="任意多边形 40"/>
          <p:cNvSpPr/>
          <p:nvPr/>
        </p:nvSpPr>
        <p:spPr>
          <a:xfrm rot="10800000">
            <a:off x="2810769" y="4641118"/>
            <a:ext cx="519168" cy="1199422"/>
          </a:xfrm>
          <a:custGeom>
            <a:avLst/>
            <a:gdLst>
              <a:gd name="connsiteX0" fmla="*/ 0 w 1504950"/>
              <a:gd name="connsiteY0" fmla="*/ 0 h 828675"/>
              <a:gd name="connsiteX1" fmla="*/ 1504950 w 1504950"/>
              <a:gd name="connsiteY1" fmla="*/ 0 h 828675"/>
              <a:gd name="connsiteX2" fmla="*/ 1504950 w 1504950"/>
              <a:gd name="connsiteY2" fmla="*/ 828675 h 828675"/>
              <a:gd name="connsiteX3" fmla="*/ 0 w 1504950"/>
              <a:gd name="connsiteY3" fmla="*/ 828675 h 828675"/>
              <a:gd name="connsiteX4" fmla="*/ 0 w 1504950"/>
              <a:gd name="connsiteY4" fmla="*/ 0 h 828675"/>
              <a:gd name="connsiteX0-1" fmla="*/ 0 w 1504950"/>
              <a:gd name="connsiteY0-2" fmla="*/ 0 h 828675"/>
              <a:gd name="connsiteX1-3" fmla="*/ 326231 w 1504950"/>
              <a:gd name="connsiteY1-4" fmla="*/ 0 h 828675"/>
              <a:gd name="connsiteX2-5" fmla="*/ 1504950 w 1504950"/>
              <a:gd name="connsiteY2-6" fmla="*/ 0 h 828675"/>
              <a:gd name="connsiteX3-7" fmla="*/ 1504950 w 1504950"/>
              <a:gd name="connsiteY3-8" fmla="*/ 828675 h 828675"/>
              <a:gd name="connsiteX4-9" fmla="*/ 0 w 1504950"/>
              <a:gd name="connsiteY4-10" fmla="*/ 828675 h 828675"/>
              <a:gd name="connsiteX5" fmla="*/ 0 w 1504950"/>
              <a:gd name="connsiteY5" fmla="*/ 0 h 828675"/>
              <a:gd name="connsiteX0-11" fmla="*/ 0 w 1504950"/>
              <a:gd name="connsiteY0-12" fmla="*/ 0 h 828675"/>
              <a:gd name="connsiteX1-13" fmla="*/ 326231 w 1504950"/>
              <a:gd name="connsiteY1-14" fmla="*/ 0 h 828675"/>
              <a:gd name="connsiteX2-15" fmla="*/ 1504950 w 1504950"/>
              <a:gd name="connsiteY2-16" fmla="*/ 0 h 828675"/>
              <a:gd name="connsiteX3-17" fmla="*/ 1504950 w 1504950"/>
              <a:gd name="connsiteY3-18" fmla="*/ 828675 h 828675"/>
              <a:gd name="connsiteX4-19" fmla="*/ 323850 w 1504950"/>
              <a:gd name="connsiteY4-20" fmla="*/ 828675 h 828675"/>
              <a:gd name="connsiteX5-21" fmla="*/ 0 w 1504950"/>
              <a:gd name="connsiteY5-22" fmla="*/ 828675 h 828675"/>
              <a:gd name="connsiteX6" fmla="*/ 0 w 1504950"/>
              <a:gd name="connsiteY6" fmla="*/ 0 h 828675"/>
              <a:gd name="connsiteX0-23" fmla="*/ 0 w 1504950"/>
              <a:gd name="connsiteY0-24" fmla="*/ 0 h 828675"/>
              <a:gd name="connsiteX1-25" fmla="*/ 326231 w 1504950"/>
              <a:gd name="connsiteY1-26" fmla="*/ 0 h 828675"/>
              <a:gd name="connsiteX2-27" fmla="*/ 1504950 w 1504950"/>
              <a:gd name="connsiteY2-28" fmla="*/ 0 h 828675"/>
              <a:gd name="connsiteX3-29" fmla="*/ 323850 w 1504950"/>
              <a:gd name="connsiteY3-30" fmla="*/ 828675 h 828675"/>
              <a:gd name="connsiteX4-31" fmla="*/ 0 w 1504950"/>
              <a:gd name="connsiteY4-32" fmla="*/ 828675 h 828675"/>
              <a:gd name="connsiteX5-33" fmla="*/ 0 w 1504950"/>
              <a:gd name="connsiteY5-34" fmla="*/ 0 h 828675"/>
              <a:gd name="connsiteX0-35" fmla="*/ 1504950 w 1596390"/>
              <a:gd name="connsiteY0-36" fmla="*/ 0 h 828675"/>
              <a:gd name="connsiteX1-37" fmla="*/ 323850 w 1596390"/>
              <a:gd name="connsiteY1-38" fmla="*/ 828675 h 828675"/>
              <a:gd name="connsiteX2-39" fmla="*/ 0 w 1596390"/>
              <a:gd name="connsiteY2-40" fmla="*/ 828675 h 828675"/>
              <a:gd name="connsiteX3-41" fmla="*/ 0 w 1596390"/>
              <a:gd name="connsiteY3-42" fmla="*/ 0 h 828675"/>
              <a:gd name="connsiteX4-43" fmla="*/ 326231 w 1596390"/>
              <a:gd name="connsiteY4-44" fmla="*/ 0 h 828675"/>
              <a:gd name="connsiteX5-45" fmla="*/ 1596390 w 1596390"/>
              <a:gd name="connsiteY5-46" fmla="*/ 91440 h 828675"/>
              <a:gd name="connsiteX0-47" fmla="*/ 1504950 w 1504950"/>
              <a:gd name="connsiteY0-48" fmla="*/ 0 h 828675"/>
              <a:gd name="connsiteX1-49" fmla="*/ 323850 w 1504950"/>
              <a:gd name="connsiteY1-50" fmla="*/ 828675 h 828675"/>
              <a:gd name="connsiteX2-51" fmla="*/ 0 w 1504950"/>
              <a:gd name="connsiteY2-52" fmla="*/ 828675 h 828675"/>
              <a:gd name="connsiteX3-53" fmla="*/ 0 w 1504950"/>
              <a:gd name="connsiteY3-54" fmla="*/ 0 h 828675"/>
              <a:gd name="connsiteX4-55" fmla="*/ 326231 w 1504950"/>
              <a:gd name="connsiteY4-56" fmla="*/ 0 h 828675"/>
              <a:gd name="connsiteX0-57" fmla="*/ 323850 w 326231"/>
              <a:gd name="connsiteY0-58" fmla="*/ 828675 h 828675"/>
              <a:gd name="connsiteX1-59" fmla="*/ 0 w 326231"/>
              <a:gd name="connsiteY1-60" fmla="*/ 828675 h 828675"/>
              <a:gd name="connsiteX2-61" fmla="*/ 0 w 326231"/>
              <a:gd name="connsiteY2-62" fmla="*/ 0 h 828675"/>
              <a:gd name="connsiteX3-63" fmla="*/ 326231 w 326231"/>
              <a:gd name="connsiteY3-64" fmla="*/ 0 h 828675"/>
            </a:gdLst>
            <a:ahLst/>
            <a:cxnLst>
              <a:cxn ang="0">
                <a:pos x="connsiteX0-1" y="connsiteY0-2"/>
              </a:cxn>
              <a:cxn ang="0">
                <a:pos x="connsiteX1-3" y="connsiteY1-4"/>
              </a:cxn>
              <a:cxn ang="0">
                <a:pos x="connsiteX2-5" y="connsiteY2-6"/>
              </a:cxn>
              <a:cxn ang="0">
                <a:pos x="connsiteX3-7" y="connsiteY3-8"/>
              </a:cxn>
            </a:cxnLst>
            <a:rect l="l" t="t" r="r" b="b"/>
            <a:pathLst>
              <a:path w="326231" h="828675">
                <a:moveTo>
                  <a:pt x="323850" y="828675"/>
                </a:moveTo>
                <a:lnTo>
                  <a:pt x="0" y="828675"/>
                </a:lnTo>
                <a:lnTo>
                  <a:pt x="0" y="0"/>
                </a:lnTo>
                <a:lnTo>
                  <a:pt x="326231"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3942055" y="4377479"/>
            <a:ext cx="5724644" cy="461665"/>
          </a:xfrm>
          <a:prstGeom prst="rect">
            <a:avLst/>
          </a:prstGeom>
        </p:spPr>
        <p:txBody>
          <a:bodyPr wrap="none">
            <a:spAutoFit/>
          </a:bodyPr>
          <a:lstStyle/>
          <a:p>
            <a:r>
              <a:rPr lang="zh-CN" altLang="en-US" sz="2400" b="1" dirty="0"/>
              <a:t>解释变量：</a:t>
            </a:r>
            <a:r>
              <a:rPr lang="zh-CN" altLang="zh-CN" sz="2400" b="1" dirty="0"/>
              <a:t>数字金融发展水平</a:t>
            </a:r>
            <a:r>
              <a:rPr lang="zh-CN" altLang="en-US" sz="2400" dirty="0"/>
              <a:t>及其</a:t>
            </a:r>
            <a:r>
              <a:rPr lang="zh-CN" altLang="en-US" sz="2400" b="1" dirty="0"/>
              <a:t>子维度</a:t>
            </a:r>
            <a:endParaRPr lang="zh-CN" altLang="en-US" sz="2400" b="1" dirty="0"/>
          </a:p>
        </p:txBody>
      </p:sp>
      <p:sp>
        <p:nvSpPr>
          <p:cNvPr id="44" name="矩形 43"/>
          <p:cNvSpPr/>
          <p:nvPr/>
        </p:nvSpPr>
        <p:spPr>
          <a:xfrm>
            <a:off x="3972026" y="5411682"/>
            <a:ext cx="6474271" cy="461665"/>
          </a:xfrm>
          <a:prstGeom prst="rect">
            <a:avLst/>
          </a:prstGeom>
        </p:spPr>
        <p:txBody>
          <a:bodyPr wrap="square">
            <a:spAutoFit/>
          </a:bodyPr>
          <a:lstStyle/>
          <a:p>
            <a:r>
              <a:rPr lang="zh-CN" altLang="zh-CN" sz="2400" dirty="0"/>
              <a:t>控制变量</a:t>
            </a:r>
            <a:r>
              <a:rPr lang="zh-CN" altLang="en-US" sz="2400" dirty="0"/>
              <a:t>：户主特征和家庭特征</a:t>
            </a:r>
            <a:endParaRPr lang="zh-CN" altLang="en-US" sz="2400" dirty="0"/>
          </a:p>
        </p:txBody>
      </p:sp>
      <p:grpSp>
        <p:nvGrpSpPr>
          <p:cNvPr id="60" name="组合 59"/>
          <p:cNvGrpSpPr/>
          <p:nvPr/>
        </p:nvGrpSpPr>
        <p:grpSpPr>
          <a:xfrm>
            <a:off x="143296" y="1057737"/>
            <a:ext cx="11998069" cy="2705546"/>
            <a:chOff x="143296" y="1273705"/>
            <a:chExt cx="11998069" cy="2705546"/>
          </a:xfrm>
        </p:grpSpPr>
        <p:sp>
          <p:nvSpPr>
            <p:cNvPr id="27" name="矩形 26"/>
            <p:cNvSpPr/>
            <p:nvPr/>
          </p:nvSpPr>
          <p:spPr>
            <a:xfrm>
              <a:off x="9417542" y="1622505"/>
              <a:ext cx="2723823" cy="2356746"/>
            </a:xfrm>
            <a:prstGeom prst="rect">
              <a:avLst/>
            </a:prstGeom>
            <a:solidFill>
              <a:schemeClr val="bg1">
                <a:lumMod val="8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b="1" dirty="0"/>
            </a:p>
          </p:txBody>
        </p:sp>
        <p:grpSp>
          <p:nvGrpSpPr>
            <p:cNvPr id="28" name="组合 27"/>
            <p:cNvGrpSpPr/>
            <p:nvPr/>
          </p:nvGrpSpPr>
          <p:grpSpPr>
            <a:xfrm>
              <a:off x="143296" y="1273705"/>
              <a:ext cx="3586463" cy="580415"/>
              <a:chOff x="5715946" y="1824918"/>
              <a:chExt cx="3586463" cy="580415"/>
            </a:xfrm>
          </p:grpSpPr>
          <p:sp>
            <p:nvSpPr>
              <p:cNvPr id="29" name="矩形 28"/>
              <p:cNvSpPr/>
              <p:nvPr/>
            </p:nvSpPr>
            <p:spPr>
              <a:xfrm>
                <a:off x="5715946" y="2095288"/>
                <a:ext cx="184067" cy="184065"/>
              </a:xfrm>
              <a:prstGeom prst="rect">
                <a:avLst/>
              </a:prstGeom>
              <a:solidFill>
                <a:schemeClr val="accent3">
                  <a:lumMod val="50000"/>
                </a:schemeClr>
              </a:solidFill>
              <a:ln w="12700" cap="rnd">
                <a:noFill/>
                <a:prstDash val="solid"/>
                <a:rou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400" b="1" dirty="0">
                  <a:solidFill>
                    <a:schemeClr val="bg1"/>
                  </a:solidFill>
                </a:endParaRPr>
              </a:p>
            </p:txBody>
          </p:sp>
          <p:sp>
            <p:nvSpPr>
              <p:cNvPr id="30" name="矩形 29"/>
              <p:cNvSpPr/>
              <p:nvPr/>
            </p:nvSpPr>
            <p:spPr>
              <a:xfrm flipH="1">
                <a:off x="5997747" y="1824918"/>
                <a:ext cx="3304662" cy="580415"/>
              </a:xfrm>
              <a:prstGeom prst="rect">
                <a:avLst/>
              </a:prstGeom>
              <a:ln>
                <a:noFill/>
              </a:ln>
            </p:spPr>
            <p:txBody>
              <a:bodyPr wrap="square" lIns="91440" tIns="45720" rIns="91440" bIns="45720" anchor="t">
                <a:spAutoFit/>
              </a:bodyPr>
              <a:lstStyle/>
              <a:p>
                <a:pPr lvl="0" defTabSz="913765">
                  <a:lnSpc>
                    <a:spcPct val="150000"/>
                  </a:lnSpc>
                  <a:buSzPct val="25000"/>
                  <a:defRPr/>
                </a:pPr>
                <a:r>
                  <a:rPr lang="zh-CN" altLang="en-US" sz="2400" b="1" dirty="0"/>
                  <a:t>国泰安数据库</a:t>
                </a:r>
                <a:endParaRPr lang="zh-CN" altLang="en-US" sz="2400" b="1" dirty="0"/>
              </a:p>
            </p:txBody>
          </p:sp>
        </p:grpSp>
        <p:grpSp>
          <p:nvGrpSpPr>
            <p:cNvPr id="31" name="组合 30"/>
            <p:cNvGrpSpPr/>
            <p:nvPr/>
          </p:nvGrpSpPr>
          <p:grpSpPr>
            <a:xfrm>
              <a:off x="187717" y="2833327"/>
              <a:ext cx="3604803" cy="580415"/>
              <a:chOff x="4482484" y="2871880"/>
              <a:chExt cx="3604803" cy="580415"/>
            </a:xfrm>
          </p:grpSpPr>
          <p:sp>
            <p:nvSpPr>
              <p:cNvPr id="32" name="矩形 31"/>
              <p:cNvSpPr/>
              <p:nvPr/>
            </p:nvSpPr>
            <p:spPr>
              <a:xfrm>
                <a:off x="4482484" y="3151190"/>
                <a:ext cx="184067" cy="184065"/>
              </a:xfrm>
              <a:prstGeom prst="rect">
                <a:avLst/>
              </a:prstGeom>
              <a:solidFill>
                <a:schemeClr val="accent3">
                  <a:lumMod val="50000"/>
                </a:schemeClr>
              </a:solidFill>
              <a:ln w="12700" cap="rnd">
                <a:noFill/>
                <a:prstDash val="solid"/>
                <a:rou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400" b="1" dirty="0">
                  <a:solidFill>
                    <a:schemeClr val="bg1"/>
                  </a:solidFill>
                </a:endParaRPr>
              </a:p>
            </p:txBody>
          </p:sp>
          <p:sp>
            <p:nvSpPr>
              <p:cNvPr id="33" name="矩形 32"/>
              <p:cNvSpPr/>
              <p:nvPr/>
            </p:nvSpPr>
            <p:spPr>
              <a:xfrm flipH="1">
                <a:off x="4782625" y="2871880"/>
                <a:ext cx="3304662" cy="580415"/>
              </a:xfrm>
              <a:prstGeom prst="rect">
                <a:avLst/>
              </a:prstGeom>
              <a:ln>
                <a:noFill/>
              </a:ln>
            </p:spPr>
            <p:txBody>
              <a:bodyPr wrap="square" lIns="91440" tIns="45720" rIns="91440" bIns="45720" anchor="t">
                <a:spAutoFit/>
              </a:bodyPr>
              <a:lstStyle/>
              <a:p>
                <a:pPr lvl="0" defTabSz="913765">
                  <a:lnSpc>
                    <a:spcPct val="150000"/>
                  </a:lnSpc>
                  <a:buSzPct val="25000"/>
                  <a:defRPr/>
                </a:pPr>
                <a:r>
                  <a:rPr lang="en-US" altLang="zh-CN" sz="2400" b="1" dirty="0"/>
                  <a:t>Wind</a:t>
                </a:r>
                <a:r>
                  <a:rPr lang="zh-CN" altLang="en-US" sz="2400" b="1" dirty="0"/>
                  <a:t>数据库</a:t>
                </a:r>
                <a:endParaRPr lang="zh-CN" altLang="en-US" sz="2400" b="1" dirty="0"/>
              </a:p>
            </p:txBody>
          </p:sp>
        </p:grpSp>
        <p:sp>
          <p:nvSpPr>
            <p:cNvPr id="34" name="任意多边形 33"/>
            <p:cNvSpPr/>
            <p:nvPr/>
          </p:nvSpPr>
          <p:spPr>
            <a:xfrm rot="10800000">
              <a:off x="2791220" y="1649860"/>
              <a:ext cx="538716" cy="2242469"/>
            </a:xfrm>
            <a:custGeom>
              <a:avLst/>
              <a:gdLst>
                <a:gd name="connsiteX0" fmla="*/ 0 w 1504950"/>
                <a:gd name="connsiteY0" fmla="*/ 0 h 828675"/>
                <a:gd name="connsiteX1" fmla="*/ 1504950 w 1504950"/>
                <a:gd name="connsiteY1" fmla="*/ 0 h 828675"/>
                <a:gd name="connsiteX2" fmla="*/ 1504950 w 1504950"/>
                <a:gd name="connsiteY2" fmla="*/ 828675 h 828675"/>
                <a:gd name="connsiteX3" fmla="*/ 0 w 1504950"/>
                <a:gd name="connsiteY3" fmla="*/ 828675 h 828675"/>
                <a:gd name="connsiteX4" fmla="*/ 0 w 1504950"/>
                <a:gd name="connsiteY4" fmla="*/ 0 h 828675"/>
                <a:gd name="connsiteX0-1" fmla="*/ 0 w 1504950"/>
                <a:gd name="connsiteY0-2" fmla="*/ 0 h 828675"/>
                <a:gd name="connsiteX1-3" fmla="*/ 326231 w 1504950"/>
                <a:gd name="connsiteY1-4" fmla="*/ 0 h 828675"/>
                <a:gd name="connsiteX2-5" fmla="*/ 1504950 w 1504950"/>
                <a:gd name="connsiteY2-6" fmla="*/ 0 h 828675"/>
                <a:gd name="connsiteX3-7" fmla="*/ 1504950 w 1504950"/>
                <a:gd name="connsiteY3-8" fmla="*/ 828675 h 828675"/>
                <a:gd name="connsiteX4-9" fmla="*/ 0 w 1504950"/>
                <a:gd name="connsiteY4-10" fmla="*/ 828675 h 828675"/>
                <a:gd name="connsiteX5" fmla="*/ 0 w 1504950"/>
                <a:gd name="connsiteY5" fmla="*/ 0 h 828675"/>
                <a:gd name="connsiteX0-11" fmla="*/ 0 w 1504950"/>
                <a:gd name="connsiteY0-12" fmla="*/ 0 h 828675"/>
                <a:gd name="connsiteX1-13" fmla="*/ 326231 w 1504950"/>
                <a:gd name="connsiteY1-14" fmla="*/ 0 h 828675"/>
                <a:gd name="connsiteX2-15" fmla="*/ 1504950 w 1504950"/>
                <a:gd name="connsiteY2-16" fmla="*/ 0 h 828675"/>
                <a:gd name="connsiteX3-17" fmla="*/ 1504950 w 1504950"/>
                <a:gd name="connsiteY3-18" fmla="*/ 828675 h 828675"/>
                <a:gd name="connsiteX4-19" fmla="*/ 323850 w 1504950"/>
                <a:gd name="connsiteY4-20" fmla="*/ 828675 h 828675"/>
                <a:gd name="connsiteX5-21" fmla="*/ 0 w 1504950"/>
                <a:gd name="connsiteY5-22" fmla="*/ 828675 h 828675"/>
                <a:gd name="connsiteX6" fmla="*/ 0 w 1504950"/>
                <a:gd name="connsiteY6" fmla="*/ 0 h 828675"/>
                <a:gd name="connsiteX0-23" fmla="*/ 0 w 1504950"/>
                <a:gd name="connsiteY0-24" fmla="*/ 0 h 828675"/>
                <a:gd name="connsiteX1-25" fmla="*/ 326231 w 1504950"/>
                <a:gd name="connsiteY1-26" fmla="*/ 0 h 828675"/>
                <a:gd name="connsiteX2-27" fmla="*/ 1504950 w 1504950"/>
                <a:gd name="connsiteY2-28" fmla="*/ 0 h 828675"/>
                <a:gd name="connsiteX3-29" fmla="*/ 323850 w 1504950"/>
                <a:gd name="connsiteY3-30" fmla="*/ 828675 h 828675"/>
                <a:gd name="connsiteX4-31" fmla="*/ 0 w 1504950"/>
                <a:gd name="connsiteY4-32" fmla="*/ 828675 h 828675"/>
                <a:gd name="connsiteX5-33" fmla="*/ 0 w 1504950"/>
                <a:gd name="connsiteY5-34" fmla="*/ 0 h 828675"/>
                <a:gd name="connsiteX0-35" fmla="*/ 1504950 w 1596390"/>
                <a:gd name="connsiteY0-36" fmla="*/ 0 h 828675"/>
                <a:gd name="connsiteX1-37" fmla="*/ 323850 w 1596390"/>
                <a:gd name="connsiteY1-38" fmla="*/ 828675 h 828675"/>
                <a:gd name="connsiteX2-39" fmla="*/ 0 w 1596390"/>
                <a:gd name="connsiteY2-40" fmla="*/ 828675 h 828675"/>
                <a:gd name="connsiteX3-41" fmla="*/ 0 w 1596390"/>
                <a:gd name="connsiteY3-42" fmla="*/ 0 h 828675"/>
                <a:gd name="connsiteX4-43" fmla="*/ 326231 w 1596390"/>
                <a:gd name="connsiteY4-44" fmla="*/ 0 h 828675"/>
                <a:gd name="connsiteX5-45" fmla="*/ 1596390 w 1596390"/>
                <a:gd name="connsiteY5-46" fmla="*/ 91440 h 828675"/>
                <a:gd name="connsiteX0-47" fmla="*/ 1504950 w 1504950"/>
                <a:gd name="connsiteY0-48" fmla="*/ 0 h 828675"/>
                <a:gd name="connsiteX1-49" fmla="*/ 323850 w 1504950"/>
                <a:gd name="connsiteY1-50" fmla="*/ 828675 h 828675"/>
                <a:gd name="connsiteX2-51" fmla="*/ 0 w 1504950"/>
                <a:gd name="connsiteY2-52" fmla="*/ 828675 h 828675"/>
                <a:gd name="connsiteX3-53" fmla="*/ 0 w 1504950"/>
                <a:gd name="connsiteY3-54" fmla="*/ 0 h 828675"/>
                <a:gd name="connsiteX4-55" fmla="*/ 326231 w 1504950"/>
                <a:gd name="connsiteY4-56" fmla="*/ 0 h 828675"/>
                <a:gd name="connsiteX0-57" fmla="*/ 323850 w 326231"/>
                <a:gd name="connsiteY0-58" fmla="*/ 828675 h 828675"/>
                <a:gd name="connsiteX1-59" fmla="*/ 0 w 326231"/>
                <a:gd name="connsiteY1-60" fmla="*/ 828675 h 828675"/>
                <a:gd name="connsiteX2-61" fmla="*/ 0 w 326231"/>
                <a:gd name="connsiteY2-62" fmla="*/ 0 h 828675"/>
                <a:gd name="connsiteX3-63" fmla="*/ 326231 w 326231"/>
                <a:gd name="connsiteY3-64" fmla="*/ 0 h 828675"/>
              </a:gdLst>
              <a:ahLst/>
              <a:cxnLst>
                <a:cxn ang="0">
                  <a:pos x="connsiteX0-1" y="connsiteY0-2"/>
                </a:cxn>
                <a:cxn ang="0">
                  <a:pos x="connsiteX1-3" y="connsiteY1-4"/>
                </a:cxn>
                <a:cxn ang="0">
                  <a:pos x="connsiteX2-5" y="connsiteY2-6"/>
                </a:cxn>
                <a:cxn ang="0">
                  <a:pos x="connsiteX3-7" y="connsiteY3-8"/>
                </a:cxn>
              </a:cxnLst>
              <a:rect l="l" t="t" r="r" b="b"/>
              <a:pathLst>
                <a:path w="326231" h="828675">
                  <a:moveTo>
                    <a:pt x="323850" y="828675"/>
                  </a:moveTo>
                  <a:lnTo>
                    <a:pt x="0" y="828675"/>
                  </a:lnTo>
                  <a:lnTo>
                    <a:pt x="0" y="0"/>
                  </a:lnTo>
                  <a:lnTo>
                    <a:pt x="326231"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p>
          </p:txBody>
        </p:sp>
        <p:sp>
          <p:nvSpPr>
            <p:cNvPr id="42" name="矩形 41"/>
            <p:cNvSpPr/>
            <p:nvPr/>
          </p:nvSpPr>
          <p:spPr>
            <a:xfrm>
              <a:off x="4015408" y="1619380"/>
              <a:ext cx="4716661" cy="2359871"/>
            </a:xfrm>
            <a:prstGeom prst="rect">
              <a:avLst/>
            </a:prstGeom>
            <a:solidFill>
              <a:schemeClr val="bg1">
                <a:lumMod val="8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b="1" dirty="0"/>
            </a:p>
          </p:txBody>
        </p:sp>
        <p:sp>
          <p:nvSpPr>
            <p:cNvPr id="47" name="矩形 46"/>
            <p:cNvSpPr/>
            <p:nvPr/>
          </p:nvSpPr>
          <p:spPr>
            <a:xfrm>
              <a:off x="9382272" y="1599073"/>
              <a:ext cx="1716421" cy="646331"/>
            </a:xfrm>
            <a:prstGeom prst="rect">
              <a:avLst/>
            </a:prstGeom>
          </p:spPr>
          <p:txBody>
            <a:bodyPr wrap="square">
              <a:spAutoFit/>
            </a:bodyPr>
            <a:lstStyle/>
            <a:p>
              <a:r>
                <a:rPr lang="zh-CN" altLang="en-US" b="1" dirty="0">
                  <a:solidFill>
                    <a:schemeClr val="bg1"/>
                  </a:solidFill>
                </a:rPr>
                <a:t>被解释变量</a:t>
              </a:r>
              <a:endParaRPr lang="en-US" altLang="zh-CN" b="1" dirty="0">
                <a:solidFill>
                  <a:schemeClr val="bg1"/>
                </a:solidFill>
              </a:endParaRPr>
            </a:p>
            <a:p>
              <a:endParaRPr lang="zh-CN" altLang="en-US" b="1" dirty="0">
                <a:solidFill>
                  <a:schemeClr val="bg1"/>
                </a:solidFill>
              </a:endParaRPr>
            </a:p>
          </p:txBody>
        </p:sp>
        <p:sp>
          <p:nvSpPr>
            <p:cNvPr id="48" name="矩形 47"/>
            <p:cNvSpPr/>
            <p:nvPr/>
          </p:nvSpPr>
          <p:spPr>
            <a:xfrm>
              <a:off x="9353422" y="2272850"/>
              <a:ext cx="2787943" cy="369332"/>
            </a:xfrm>
            <a:prstGeom prst="rect">
              <a:avLst/>
            </a:prstGeom>
          </p:spPr>
          <p:txBody>
            <a:bodyPr wrap="none">
              <a:spAutoFit/>
            </a:bodyPr>
            <a:lstStyle/>
            <a:p>
              <a:r>
                <a:rPr lang="zh-CN" altLang="en-US" b="1" dirty="0">
                  <a:solidFill>
                    <a:schemeClr val="bg1"/>
                  </a:solidFill>
                </a:rPr>
                <a:t> 农村家庭资产组合有效性</a:t>
              </a:r>
              <a:endParaRPr lang="zh-CN" altLang="en-US" dirty="0">
                <a:solidFill>
                  <a:schemeClr val="bg1"/>
                </a:solidFill>
              </a:endParaRPr>
            </a:p>
          </p:txBody>
        </p:sp>
        <p:sp>
          <p:nvSpPr>
            <p:cNvPr id="49" name="矩形 48"/>
            <p:cNvSpPr/>
            <p:nvPr/>
          </p:nvSpPr>
          <p:spPr>
            <a:xfrm>
              <a:off x="9417542" y="2782063"/>
              <a:ext cx="2723823" cy="369332"/>
            </a:xfrm>
            <a:prstGeom prst="rect">
              <a:avLst/>
            </a:prstGeom>
          </p:spPr>
          <p:txBody>
            <a:bodyPr wrap="none">
              <a:spAutoFit/>
            </a:bodyPr>
            <a:lstStyle/>
            <a:p>
              <a:r>
                <a:rPr lang="zh-CN" altLang="en-US" b="1" dirty="0">
                  <a:solidFill>
                    <a:schemeClr val="bg1"/>
                  </a:solidFill>
                </a:rPr>
                <a:t>城市家庭资产组合有效性</a:t>
              </a:r>
              <a:endParaRPr lang="zh-CN" altLang="en-US" dirty="0">
                <a:solidFill>
                  <a:schemeClr val="bg1"/>
                </a:solidFill>
              </a:endParaRPr>
            </a:p>
          </p:txBody>
        </p:sp>
        <p:cxnSp>
          <p:nvCxnSpPr>
            <p:cNvPr id="50" name="直接箭头连接符 49"/>
            <p:cNvCxnSpPr/>
            <p:nvPr/>
          </p:nvCxnSpPr>
          <p:spPr>
            <a:xfrm>
              <a:off x="3342774" y="2762665"/>
              <a:ext cx="685473"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3387992" y="2379136"/>
              <a:ext cx="595035" cy="338554"/>
            </a:xfrm>
            <a:prstGeom prst="rect">
              <a:avLst/>
            </a:prstGeom>
          </p:spPr>
          <p:txBody>
            <a:bodyPr wrap="none">
              <a:spAutoFit/>
            </a:bodyPr>
            <a:lstStyle/>
            <a:p>
              <a:r>
                <a:rPr lang="zh-CN" altLang="en-US" sz="1600" dirty="0"/>
                <a:t>计算</a:t>
              </a:r>
              <a:endParaRPr lang="zh-CN" altLang="en-US" sz="1600" dirty="0"/>
            </a:p>
          </p:txBody>
        </p:sp>
        <p:sp>
          <p:nvSpPr>
            <p:cNvPr id="52" name="矩形 51"/>
            <p:cNvSpPr/>
            <p:nvPr/>
          </p:nvSpPr>
          <p:spPr>
            <a:xfrm>
              <a:off x="3999818" y="1612576"/>
              <a:ext cx="1107996" cy="369332"/>
            </a:xfrm>
            <a:prstGeom prst="rect">
              <a:avLst/>
            </a:prstGeom>
          </p:spPr>
          <p:txBody>
            <a:bodyPr wrap="none">
              <a:spAutoFit/>
            </a:bodyPr>
            <a:lstStyle/>
            <a:p>
              <a:r>
                <a:rPr lang="zh-CN" altLang="zh-CN" b="1" dirty="0">
                  <a:solidFill>
                    <a:schemeClr val="bg1"/>
                  </a:solidFill>
                </a:rPr>
                <a:t>夏普比率</a:t>
              </a:r>
              <a:endParaRPr lang="zh-CN" altLang="en-US" b="1" dirty="0">
                <a:solidFill>
                  <a:schemeClr val="bg1"/>
                </a:solidFill>
              </a:endParaRPr>
            </a:p>
          </p:txBody>
        </p:sp>
        <mc:AlternateContent xmlns:mc="http://schemas.openxmlformats.org/markup-compatibility/2006">
          <mc:Choice xmlns:a14="http://schemas.microsoft.com/office/drawing/2010/main" Requires="a14">
            <p:sp>
              <p:nvSpPr>
                <p:cNvPr id="53" name="矩形 52"/>
                <p:cNvSpPr/>
                <p:nvPr/>
              </p:nvSpPr>
              <p:spPr>
                <a:xfrm>
                  <a:off x="3942055" y="1848695"/>
                  <a:ext cx="4854078" cy="608821"/>
                </a:xfrm>
                <a:prstGeom prst="rect">
                  <a:avLst/>
                </a:prstGeom>
              </p:spPr>
              <p:txBody>
                <a:bodyPr wrap="square">
                  <a:spAutoFit/>
                </a:bodyPr>
                <a:lstStyle/>
                <a:p>
                  <a:pPr algn="ct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a:rPr>
                            <m:t>𝑆ℎ𝑎𝑟𝑝𝑒</m:t>
                          </m:r>
                          <m:r>
                            <a:rPr lang="en-US" altLang="zh-CN" i="1">
                              <a:latin typeface="Cambria Math" panose="02040503050406030204"/>
                            </a:rPr>
                            <m:t>_</m:t>
                          </m:r>
                          <m:r>
                            <a:rPr lang="en-US" altLang="zh-CN" i="1">
                              <a:latin typeface="Cambria Math" panose="02040503050406030204"/>
                            </a:rPr>
                            <m:t>𝑟𝑎𝑡𝑖𝑜</m:t>
                          </m:r>
                        </m:e>
                        <m:sub>
                          <m:r>
                            <a:rPr lang="en-US" altLang="zh-CN" i="1">
                              <a:latin typeface="Cambria Math" panose="02040503050406030204"/>
                            </a:rPr>
                            <m:t>𝑖</m:t>
                          </m:r>
                        </m:sub>
                      </m:sSub>
                      <m:r>
                        <a:rPr lang="en-US" altLang="zh-CN">
                          <a:latin typeface="Cambria Math" panose="02040503050406030204"/>
                        </a:rPr>
                        <m:t>=</m:t>
                      </m:r>
                      <m:f>
                        <m:fPr>
                          <m:ctrlPr>
                            <a:rPr lang="zh-CN" altLang="zh-CN" i="1">
                              <a:latin typeface="Cambria Math" panose="02040503050406030204" pitchFamily="18" charset="0"/>
                            </a:rPr>
                          </m:ctrlPr>
                        </m:fPr>
                        <m:num>
                          <m:r>
                            <a:rPr lang="en-US" altLang="zh-CN" i="1">
                              <a:latin typeface="Cambria Math" panose="02040503050406030204"/>
                            </a:rPr>
                            <m:t>𝐸</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𝑝𝑖</m:t>
                                  </m:r>
                                </m:sub>
                              </m:sSub>
                            </m:e>
                          </m:d>
                          <m:r>
                            <a:rPr lang="en-US" altLang="zh-CN" i="1">
                              <a:latin typeface="Cambria Math" panose="02040503050406030204"/>
                            </a:rPr>
                            <m:t>−</m:t>
                          </m:r>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𝑓</m:t>
                              </m:r>
                            </m:sub>
                          </m:sSub>
                        </m:num>
                        <m:den>
                          <m:sSub>
                            <m:sSubPr>
                              <m:ctrlPr>
                                <a:rPr lang="zh-CN" altLang="zh-CN" i="1">
                                  <a:latin typeface="Cambria Math" panose="02040503050406030204" pitchFamily="18" charset="0"/>
                                </a:rPr>
                              </m:ctrlPr>
                            </m:sSubPr>
                            <m:e>
                              <m:r>
                                <a:rPr lang="en-US" altLang="zh-CN" i="1">
                                  <a:latin typeface="Cambria Math" panose="02040503050406030204"/>
                                </a:rPr>
                                <m:t>𝜎</m:t>
                              </m:r>
                            </m:e>
                            <m:sub>
                              <m:r>
                                <a:rPr lang="en-US" altLang="zh-CN" i="1">
                                  <a:latin typeface="Cambria Math" panose="02040503050406030204"/>
                                </a:rPr>
                                <m:t>𝑝𝑖</m:t>
                              </m:r>
                            </m:sub>
                          </m:sSub>
                        </m:den>
                      </m:f>
                      <m:r>
                        <a:rPr lang="en-US" altLang="zh-CN">
                          <a:latin typeface="Cambria Math" panose="02040503050406030204"/>
                        </a:rPr>
                        <m:t>,</m:t>
                      </m:r>
                      <m:r>
                        <a:rPr lang="en-US" altLang="zh-CN" i="1">
                          <a:latin typeface="Cambria Math" panose="02040503050406030204"/>
                        </a:rPr>
                        <m:t>𝑖</m:t>
                      </m:r>
                      <m:r>
                        <a:rPr lang="en-US" altLang="zh-CN">
                          <a:latin typeface="Cambria Math" panose="02040503050406030204"/>
                        </a:rPr>
                        <m:t>=</m:t>
                      </m:r>
                      <m:r>
                        <a:rPr lang="en-US" altLang="zh-CN">
                          <a:latin typeface="Cambria Math" panose="02040503050406030204"/>
                        </a:rPr>
                        <m:t>1</m:t>
                      </m:r>
                      <m:r>
                        <a:rPr lang="en-US" altLang="zh-CN">
                          <a:latin typeface="Cambria Math" panose="02040503050406030204"/>
                        </a:rPr>
                        <m:t>,</m:t>
                      </m:r>
                      <m:r>
                        <a:rPr lang="en-US" altLang="zh-CN">
                          <a:latin typeface="Cambria Math" panose="02040503050406030204"/>
                        </a:rPr>
                        <m:t>2</m:t>
                      </m:r>
                      <m:r>
                        <a:rPr lang="en-US" altLang="zh-CN">
                          <a:latin typeface="Cambria Math" panose="02040503050406030204"/>
                        </a:rPr>
                        <m:t>,</m:t>
                      </m:r>
                      <m:r>
                        <a:rPr lang="en-US" altLang="zh-CN">
                          <a:latin typeface="Cambria Math" panose="02040503050406030204"/>
                        </a:rPr>
                        <m:t>3</m:t>
                      </m:r>
                      <m:r>
                        <a:rPr lang="zh-CN" altLang="zh-CN">
                          <a:latin typeface="Cambria Math" panose="02040503050406030204"/>
                        </a:rPr>
                        <m:t>……</m:t>
                      </m:r>
                      <m:r>
                        <a:rPr lang="en-US" altLang="zh-CN">
                          <a:latin typeface="Cambria Math" panose="02040503050406030204"/>
                        </a:rPr>
                        <m:t>,</m:t>
                      </m:r>
                      <m:r>
                        <m:rPr>
                          <m:sty m:val="p"/>
                        </m:rPr>
                        <a:rPr lang="en-US" altLang="zh-CN">
                          <a:latin typeface="Cambria Math" panose="02040503050406030204"/>
                        </a:rPr>
                        <m:t>n</m:t>
                      </m:r>
                    </m:oMath>
                  </a14:m>
                  <a:r>
                    <a:rPr lang="en-US" altLang="zh-CN" dirty="0"/>
                    <a:t> </a:t>
                  </a:r>
                  <a:endParaRPr lang="zh-CN" altLang="en-US" dirty="0"/>
                </a:p>
              </p:txBody>
            </p:sp>
          </mc:Choice>
          <mc:Fallback>
            <p:sp>
              <p:nvSpPr>
                <p:cNvPr id="53" name="矩形 52"/>
                <p:cNvSpPr>
                  <a:spLocks noRot="1" noChangeAspect="1" noMove="1" noResize="1" noEditPoints="1" noAdjustHandles="1" noChangeArrowheads="1" noChangeShapeType="1" noTextEdit="1"/>
                </p:cNvSpPr>
                <p:nvPr/>
              </p:nvSpPr>
              <p:spPr>
                <a:xfrm>
                  <a:off x="3942055" y="1848695"/>
                  <a:ext cx="4854078" cy="608821"/>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矩形 53"/>
                <p:cNvSpPr/>
                <p:nvPr/>
              </p:nvSpPr>
              <p:spPr>
                <a:xfrm>
                  <a:off x="5249782" y="2439627"/>
                  <a:ext cx="2278380" cy="6678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a:rPr>
                          <m:t>E</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𝑝𝑖</m:t>
                                </m:r>
                              </m:sub>
                            </m:sSub>
                          </m:e>
                        </m:d>
                        <m:r>
                          <a:rPr lang="en-US" altLang="zh-CN">
                            <a:latin typeface="Cambria Math" panose="02040503050406030204"/>
                          </a:rPr>
                          <m:t>=</m:t>
                        </m:r>
                        <m:nary>
                          <m:naryPr>
                            <m:chr m:val="∑"/>
                            <m:limLoc m:val="subSup"/>
                            <m:ctrlPr>
                              <a:rPr lang="zh-CN" altLang="zh-CN" i="1">
                                <a:latin typeface="Cambria Math" panose="02040503050406030204" pitchFamily="18" charset="0"/>
                              </a:rPr>
                            </m:ctrlPr>
                          </m:naryPr>
                          <m:sub>
                            <m:r>
                              <a:rPr lang="en-US" altLang="zh-CN" i="1">
                                <a:latin typeface="Cambria Math" panose="02040503050406030204"/>
                              </a:rPr>
                              <m:t>𝑗</m:t>
                            </m:r>
                            <m:r>
                              <a:rPr lang="en-US" altLang="zh-CN" i="1">
                                <a:latin typeface="Cambria Math" panose="02040503050406030204"/>
                              </a:rPr>
                              <m:t>=</m:t>
                            </m:r>
                            <m:r>
                              <a:rPr lang="en-US" altLang="zh-CN" i="1">
                                <a:latin typeface="Cambria Math" panose="02040503050406030204"/>
                              </a:rPr>
                              <m:t>1</m:t>
                            </m:r>
                          </m:sub>
                          <m:sup>
                            <m:r>
                              <a:rPr lang="en-US" altLang="zh-CN" i="1">
                                <a:latin typeface="Cambria Math" panose="02040503050406030204"/>
                              </a:rPr>
                              <m:t>𝑚</m:t>
                            </m:r>
                          </m:sup>
                          <m:e>
                            <m:sSub>
                              <m:sSubPr>
                                <m:ctrlPr>
                                  <a:rPr lang="zh-CN" altLang="zh-CN" i="1">
                                    <a:latin typeface="Cambria Math" panose="02040503050406030204" pitchFamily="18" charset="0"/>
                                  </a:rPr>
                                </m:ctrlPr>
                              </m:sSubPr>
                              <m:e>
                                <m:r>
                                  <a:rPr lang="en-US" altLang="zh-CN" i="1">
                                    <a:latin typeface="Cambria Math" panose="02040503050406030204"/>
                                  </a:rPr>
                                  <m:t>𝑤</m:t>
                                </m:r>
                              </m:e>
                              <m:sub>
                                <m:r>
                                  <a:rPr lang="en-US" altLang="zh-CN" i="1">
                                    <a:latin typeface="Cambria Math" panose="02040503050406030204"/>
                                  </a:rPr>
                                  <m:t>𝑗</m:t>
                                </m:r>
                              </m:sub>
                            </m:sSub>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𝑗</m:t>
                                </m:r>
                              </m:sub>
                            </m:sSub>
                          </m:e>
                        </m:nary>
                      </m:oMath>
                    </m:oMathPara>
                  </a14:m>
                  <a:endParaRPr lang="zh-CN" altLang="en-US" dirty="0"/>
                </a:p>
              </p:txBody>
            </p:sp>
          </mc:Choice>
          <mc:Fallback>
            <p:sp>
              <p:nvSpPr>
                <p:cNvPr id="54" name="矩形 53"/>
                <p:cNvSpPr>
                  <a:spLocks noRot="1" noChangeAspect="1" noMove="1" noResize="1" noEditPoints="1" noAdjustHandles="1" noChangeArrowheads="1" noChangeShapeType="1" noTextEdit="1"/>
                </p:cNvSpPr>
                <p:nvPr/>
              </p:nvSpPr>
              <p:spPr>
                <a:xfrm>
                  <a:off x="5249782" y="2439627"/>
                  <a:ext cx="2278380" cy="667875"/>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矩形 54"/>
                <p:cNvSpPr/>
                <p:nvPr/>
              </p:nvSpPr>
              <p:spPr>
                <a:xfrm>
                  <a:off x="4245707" y="3038735"/>
                  <a:ext cx="4347216" cy="91069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a:rPr>
                              <m:t>𝜎</m:t>
                            </m:r>
                          </m:e>
                          <m:sub>
                            <m:r>
                              <a:rPr lang="en-US" altLang="zh-CN" i="1">
                                <a:latin typeface="Cambria Math" panose="02040503050406030204"/>
                              </a:rPr>
                              <m:t>𝑝𝑖</m:t>
                            </m:r>
                          </m:sub>
                        </m:sSub>
                        <m:r>
                          <a:rPr lang="en-US" altLang="zh-CN" i="1">
                            <a:latin typeface="Cambria Math" panose="02040503050406030204"/>
                          </a:rPr>
                          <m:t>=</m:t>
                        </m:r>
                        <m:rad>
                          <m:radPr>
                            <m:degHide m:val="on"/>
                            <m:ctrlPr>
                              <a:rPr lang="zh-CN" altLang="zh-CN" i="1">
                                <a:latin typeface="Cambria Math" panose="02040503050406030204" pitchFamily="18" charset="0"/>
                              </a:rPr>
                            </m:ctrlPr>
                          </m:radPr>
                          <m:deg/>
                          <m:e>
                            <m:sSubSup>
                              <m:sSubSupPr>
                                <m:ctrlPr>
                                  <a:rPr lang="zh-CN" altLang="zh-CN" i="1">
                                    <a:latin typeface="Cambria Math" panose="02040503050406030204" pitchFamily="18" charset="0"/>
                                  </a:rPr>
                                </m:ctrlPr>
                              </m:sSubSupPr>
                              <m:e>
                                <m:r>
                                  <a:rPr lang="en-US" altLang="zh-CN" i="1">
                                    <a:latin typeface="Cambria Math" panose="02040503050406030204"/>
                                  </a:rPr>
                                  <m:t>𝜎</m:t>
                                </m:r>
                              </m:e>
                              <m:sub>
                                <m:r>
                                  <a:rPr lang="en-US" altLang="zh-CN" i="1">
                                    <a:latin typeface="Cambria Math" panose="02040503050406030204"/>
                                  </a:rPr>
                                  <m:t>𝑝𝑖</m:t>
                                </m:r>
                              </m:sub>
                              <m:sup>
                                <m:r>
                                  <a:rPr lang="en-US" altLang="zh-CN" i="1">
                                    <a:latin typeface="Cambria Math" panose="02040503050406030204"/>
                                  </a:rPr>
                                  <m:t>2</m:t>
                                </m:r>
                              </m:sup>
                            </m:sSubSup>
                          </m:e>
                        </m:rad>
                        <m:r>
                          <a:rPr lang="en-US" altLang="zh-CN" i="1">
                            <a:latin typeface="Cambria Math" panose="02040503050406030204"/>
                          </a:rPr>
                          <m:t>=</m:t>
                        </m:r>
                        <m:rad>
                          <m:radPr>
                            <m:degHide m:val="on"/>
                            <m:ctrlPr>
                              <a:rPr lang="zh-CN" altLang="zh-CN" i="1">
                                <a:latin typeface="Cambria Math" panose="02040503050406030204" pitchFamily="18" charset="0"/>
                              </a:rPr>
                            </m:ctrlPr>
                          </m:radPr>
                          <m:deg/>
                          <m:e>
                            <m:nary>
                              <m:naryPr>
                                <m:chr m:val="∑"/>
                                <m:limLoc m:val="subSup"/>
                                <m:ctrlPr>
                                  <a:rPr lang="zh-CN" altLang="zh-CN" i="1">
                                    <a:latin typeface="Cambria Math" panose="02040503050406030204" pitchFamily="18" charset="0"/>
                                  </a:rPr>
                                </m:ctrlPr>
                              </m:naryPr>
                              <m:sub>
                                <m:r>
                                  <a:rPr lang="en-US" altLang="zh-CN" i="1">
                                    <a:latin typeface="Cambria Math" panose="02040503050406030204"/>
                                  </a:rPr>
                                  <m:t>𝑖</m:t>
                                </m:r>
                                <m:r>
                                  <a:rPr lang="en-US" altLang="zh-CN" i="1">
                                    <a:latin typeface="Cambria Math" panose="02040503050406030204"/>
                                  </a:rPr>
                                  <m:t>=</m:t>
                                </m:r>
                                <m:r>
                                  <a:rPr lang="en-US" altLang="zh-CN" i="1">
                                    <a:latin typeface="Cambria Math" panose="02040503050406030204"/>
                                  </a:rPr>
                                  <m:t>1</m:t>
                                </m:r>
                              </m:sub>
                              <m:sup>
                                <m:r>
                                  <a:rPr lang="en-US" altLang="zh-CN" i="1">
                                    <a:latin typeface="Cambria Math" panose="02040503050406030204"/>
                                  </a:rPr>
                                  <m:t>𝑚</m:t>
                                </m:r>
                              </m:sup>
                              <m:e>
                                <m:nary>
                                  <m:naryPr>
                                    <m:chr m:val="∑"/>
                                    <m:limLoc m:val="subSup"/>
                                    <m:ctrlPr>
                                      <a:rPr lang="zh-CN" altLang="zh-CN" i="1">
                                        <a:latin typeface="Cambria Math" panose="02040503050406030204" pitchFamily="18" charset="0"/>
                                      </a:rPr>
                                    </m:ctrlPr>
                                  </m:naryPr>
                                  <m:sub>
                                    <m:r>
                                      <a:rPr lang="en-US" altLang="zh-CN" i="1">
                                        <a:latin typeface="Cambria Math" panose="02040503050406030204"/>
                                      </a:rPr>
                                      <m:t>𝑘</m:t>
                                    </m:r>
                                    <m:r>
                                      <a:rPr lang="en-US" altLang="zh-CN" i="1">
                                        <a:latin typeface="Cambria Math" panose="02040503050406030204"/>
                                      </a:rPr>
                                      <m:t>=</m:t>
                                    </m:r>
                                    <m:r>
                                      <a:rPr lang="en-US" altLang="zh-CN" i="1">
                                        <a:latin typeface="Cambria Math" panose="02040503050406030204"/>
                                      </a:rPr>
                                      <m:t>1</m:t>
                                    </m:r>
                                  </m:sub>
                                  <m:sup>
                                    <m:r>
                                      <a:rPr lang="en-US" altLang="zh-CN" i="1">
                                        <a:latin typeface="Cambria Math" panose="02040503050406030204"/>
                                      </a:rPr>
                                      <m:t>𝑚</m:t>
                                    </m:r>
                                  </m:sup>
                                  <m:e>
                                    <m:sSub>
                                      <m:sSubPr>
                                        <m:ctrlPr>
                                          <a:rPr lang="zh-CN" altLang="zh-CN" i="1">
                                            <a:latin typeface="Cambria Math" panose="02040503050406030204" pitchFamily="18" charset="0"/>
                                          </a:rPr>
                                        </m:ctrlPr>
                                      </m:sSubPr>
                                      <m:e>
                                        <m:r>
                                          <a:rPr lang="en-US" altLang="zh-CN" i="1">
                                            <a:latin typeface="Cambria Math" panose="02040503050406030204"/>
                                          </a:rPr>
                                          <m:t>𝑤</m:t>
                                        </m:r>
                                      </m:e>
                                      <m:sub>
                                        <m:r>
                                          <a:rPr lang="en-US" altLang="zh-CN" i="1">
                                            <a:latin typeface="Cambria Math" panose="02040503050406030204"/>
                                          </a:rPr>
                                          <m:t>𝑖</m:t>
                                        </m:r>
                                      </m:sub>
                                    </m:sSub>
                                    <m:sSub>
                                      <m:sSubPr>
                                        <m:ctrlPr>
                                          <a:rPr lang="zh-CN" altLang="zh-CN" i="1">
                                            <a:latin typeface="Cambria Math" panose="02040503050406030204" pitchFamily="18" charset="0"/>
                                          </a:rPr>
                                        </m:ctrlPr>
                                      </m:sSubPr>
                                      <m:e>
                                        <m:r>
                                          <a:rPr lang="en-US" altLang="zh-CN" i="1">
                                            <a:latin typeface="Cambria Math" panose="02040503050406030204"/>
                                          </a:rPr>
                                          <m:t>𝑤</m:t>
                                        </m:r>
                                      </m:e>
                                      <m:sub>
                                        <m:r>
                                          <a:rPr lang="en-US" altLang="zh-CN" i="1">
                                            <a:latin typeface="Cambria Math" panose="02040503050406030204"/>
                                          </a:rPr>
                                          <m:t>𝑘</m:t>
                                        </m:r>
                                      </m:sub>
                                    </m:sSub>
                                    <m:r>
                                      <a:rPr lang="en-US" altLang="zh-CN" i="1">
                                        <a:latin typeface="Cambria Math" panose="02040503050406030204"/>
                                      </a:rPr>
                                      <m:t>𝜎</m:t>
                                    </m:r>
                                    <m:r>
                                      <a:rPr lang="en-US" altLang="zh-CN" i="1">
                                        <a:latin typeface="Cambria Math" panose="02040503050406030204"/>
                                      </a:rPr>
                                      <m:t>(</m:t>
                                    </m:r>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𝑖</m:t>
                                        </m:r>
                                        <m:r>
                                          <a:rPr lang="en-US" altLang="zh-CN" i="1">
                                            <a:latin typeface="Cambria Math" panose="02040503050406030204"/>
                                          </a:rPr>
                                          <m:t>,</m:t>
                                        </m:r>
                                      </m:sub>
                                    </m:sSub>
                                    <m:sSub>
                                      <m:sSubPr>
                                        <m:ctrlPr>
                                          <a:rPr lang="zh-CN" altLang="zh-CN" i="1">
                                            <a:latin typeface="Cambria Math" panose="02040503050406030204" pitchFamily="18" charset="0"/>
                                          </a:rPr>
                                        </m:ctrlPr>
                                      </m:sSubPr>
                                      <m:e>
                                        <m:r>
                                          <a:rPr lang="en-US" altLang="zh-CN" i="1">
                                            <a:latin typeface="Cambria Math" panose="02040503050406030204"/>
                                          </a:rPr>
                                          <m:t>𝑅</m:t>
                                        </m:r>
                                      </m:e>
                                      <m:sub>
                                        <m:r>
                                          <a:rPr lang="en-US" altLang="zh-CN" i="1">
                                            <a:latin typeface="Cambria Math" panose="02040503050406030204"/>
                                          </a:rPr>
                                          <m:t>𝑘</m:t>
                                        </m:r>
                                      </m:sub>
                                    </m:sSub>
                                    <m:r>
                                      <a:rPr lang="en-US" altLang="zh-CN" i="1">
                                        <a:latin typeface="Cambria Math" panose="02040503050406030204"/>
                                      </a:rPr>
                                      <m:t>)</m:t>
                                    </m:r>
                                  </m:e>
                                </m:nary>
                              </m:e>
                            </m:nary>
                          </m:e>
                        </m:rad>
                      </m:oMath>
                    </m:oMathPara>
                  </a14:m>
                  <a:endParaRPr lang="zh-CN" altLang="en-US" dirty="0"/>
                </a:p>
              </p:txBody>
            </p:sp>
          </mc:Choice>
          <mc:Fallback>
            <p:sp>
              <p:nvSpPr>
                <p:cNvPr id="55" name="矩形 54"/>
                <p:cNvSpPr>
                  <a:spLocks noRot="1" noChangeAspect="1" noMove="1" noResize="1" noEditPoints="1" noAdjustHandles="1" noChangeArrowheads="1" noChangeShapeType="1" noTextEdit="1"/>
                </p:cNvSpPr>
                <p:nvPr/>
              </p:nvSpPr>
              <p:spPr>
                <a:xfrm>
                  <a:off x="4245707" y="3038735"/>
                  <a:ext cx="4347216" cy="910699"/>
                </a:xfrm>
                <a:prstGeom prst="rect">
                  <a:avLst/>
                </a:prstGeom>
                <a:blipFill rotWithShape="1">
                  <a:blip r:embed="rId3"/>
                </a:blipFill>
              </p:spPr>
              <p:txBody>
                <a:bodyPr/>
                <a:lstStyle/>
                <a:p>
                  <a:r>
                    <a:rPr lang="zh-CN" altLang="en-US">
                      <a:noFill/>
                    </a:rPr>
                    <a:t> </a:t>
                  </a:r>
                </a:p>
              </p:txBody>
            </p:sp>
          </mc:Fallback>
        </mc:AlternateContent>
        <p:cxnSp>
          <p:nvCxnSpPr>
            <p:cNvPr id="56" name="直接箭头连接符 55"/>
            <p:cNvCxnSpPr/>
            <p:nvPr/>
          </p:nvCxnSpPr>
          <p:spPr>
            <a:xfrm>
              <a:off x="8732067" y="2755624"/>
              <a:ext cx="685473"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8777287" y="2341947"/>
              <a:ext cx="595035" cy="338554"/>
            </a:xfrm>
            <a:prstGeom prst="rect">
              <a:avLst/>
            </a:prstGeom>
          </p:spPr>
          <p:txBody>
            <a:bodyPr wrap="none">
              <a:spAutoFit/>
            </a:bodyPr>
            <a:lstStyle/>
            <a:p>
              <a:r>
                <a:rPr lang="zh-CN" altLang="en-US" sz="1600" dirty="0"/>
                <a:t>衡量</a:t>
              </a:r>
              <a:endParaRPr lang="zh-CN" altLang="en-US" sz="1600" dirty="0"/>
            </a:p>
          </p:txBody>
        </p:sp>
      </p:grpSp>
      <p:cxnSp>
        <p:nvCxnSpPr>
          <p:cNvPr id="58" name="直接箭头连接符 57"/>
          <p:cNvCxnSpPr/>
          <p:nvPr/>
        </p:nvCxnSpPr>
        <p:spPr>
          <a:xfrm>
            <a:off x="3329935" y="5240829"/>
            <a:ext cx="685473"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3358282" y="4885182"/>
            <a:ext cx="595035" cy="338554"/>
          </a:xfrm>
          <a:prstGeom prst="rect">
            <a:avLst/>
          </a:prstGeom>
        </p:spPr>
        <p:txBody>
          <a:bodyPr wrap="none">
            <a:spAutoFit/>
          </a:bodyPr>
          <a:lstStyle/>
          <a:p>
            <a:r>
              <a:rPr lang="zh-CN" altLang="en-US" sz="1600" dirty="0"/>
              <a:t>衡量</a:t>
            </a:r>
            <a:endParaRPr lang="zh-CN" altLang="en-US" sz="1600" dirty="0"/>
          </a:p>
        </p:txBody>
      </p:sp>
      <p:sp>
        <p:nvSpPr>
          <p:cNvPr id="61" name="矩形 60"/>
          <p:cNvSpPr/>
          <p:nvPr/>
        </p:nvSpPr>
        <p:spPr>
          <a:xfrm>
            <a:off x="90001" y="1670725"/>
            <a:ext cx="3239936" cy="830997"/>
          </a:xfrm>
          <a:prstGeom prst="rect">
            <a:avLst/>
          </a:prstGeom>
        </p:spPr>
        <p:txBody>
          <a:bodyPr wrap="square">
            <a:spAutoFit/>
          </a:bodyPr>
          <a:lstStyle/>
          <a:p>
            <a:r>
              <a:rPr lang="zh-CN" altLang="zh-CN" sz="1600" dirty="0"/>
              <a:t>中证综合全债指数的月收益率数据</a:t>
            </a:r>
            <a:endParaRPr lang="en-US" altLang="zh-CN" sz="1600" dirty="0"/>
          </a:p>
          <a:p>
            <a:r>
              <a:rPr lang="zh-CN" altLang="zh-CN" sz="1600" dirty="0"/>
              <a:t>上证指数收益率</a:t>
            </a:r>
            <a:r>
              <a:rPr lang="zh-CN" altLang="en-US" sz="1600" dirty="0"/>
              <a:t>数据</a:t>
            </a:r>
            <a:endParaRPr lang="en-US" altLang="zh-CN" sz="1600" dirty="0"/>
          </a:p>
          <a:p>
            <a:r>
              <a:rPr lang="zh-CN" altLang="zh-CN" sz="1600" dirty="0"/>
              <a:t>深成指数收益率数据</a:t>
            </a:r>
            <a:endParaRPr lang="zh-CN" altLang="en-US" sz="1600" dirty="0"/>
          </a:p>
        </p:txBody>
      </p:sp>
      <p:sp>
        <p:nvSpPr>
          <p:cNvPr id="62" name="矩形 61"/>
          <p:cNvSpPr/>
          <p:nvPr/>
        </p:nvSpPr>
        <p:spPr>
          <a:xfrm>
            <a:off x="77189" y="3106206"/>
            <a:ext cx="3262432" cy="584775"/>
          </a:xfrm>
          <a:prstGeom prst="rect">
            <a:avLst/>
          </a:prstGeom>
        </p:spPr>
        <p:txBody>
          <a:bodyPr wrap="none">
            <a:spAutoFit/>
          </a:bodyPr>
          <a:lstStyle/>
          <a:p>
            <a:r>
              <a:rPr lang="zh-CN" altLang="zh-CN" sz="1600" dirty="0"/>
              <a:t>无风险收益率数据</a:t>
            </a:r>
            <a:r>
              <a:rPr lang="zh-CN" altLang="en-US" sz="1600" dirty="0"/>
              <a:t>，本研究中为</a:t>
            </a:r>
            <a:r>
              <a:rPr lang="zh-CN" altLang="zh-CN" sz="1600" dirty="0"/>
              <a:t>央</a:t>
            </a:r>
            <a:endParaRPr lang="en-US" altLang="zh-CN" sz="1600" dirty="0"/>
          </a:p>
          <a:p>
            <a:r>
              <a:rPr lang="zh-CN" altLang="zh-CN" sz="1600" dirty="0"/>
              <a:t>行公布的一年期的定期存款利率</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描述性统计</a:t>
            </a:r>
            <a:endParaRPr lang="zh-CN" altLang="en-US" dirty="0"/>
          </a:p>
        </p:txBody>
      </p:sp>
      <p:sp>
        <p:nvSpPr>
          <p:cNvPr id="3" name="矩形 2"/>
          <p:cNvSpPr/>
          <p:nvPr/>
        </p:nvSpPr>
        <p:spPr>
          <a:xfrm>
            <a:off x="4874400" y="6392444"/>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6016055" y="6265828"/>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graphicFrame>
        <p:nvGraphicFramePr>
          <p:cNvPr id="23" name="表格 22"/>
          <p:cNvGraphicFramePr>
            <a:graphicFrameLocks noGrp="1"/>
          </p:cNvGraphicFramePr>
          <p:nvPr/>
        </p:nvGraphicFramePr>
        <p:xfrm>
          <a:off x="636417" y="1140755"/>
          <a:ext cx="10913163" cy="5074588"/>
        </p:xfrm>
        <a:graphic>
          <a:graphicData uri="http://schemas.openxmlformats.org/drawingml/2006/table">
            <a:tbl>
              <a:tblPr firstRow="1" firstCol="1" bandRow="1">
                <a:tableStyleId>{5C22544A-7EE6-4342-B048-85BDC9FD1C3A}</a:tableStyleId>
              </a:tblPr>
              <a:tblGrid>
                <a:gridCol w="2193233"/>
                <a:gridCol w="7327584"/>
                <a:gridCol w="696173"/>
                <a:gridCol w="696173"/>
              </a:tblGrid>
              <a:tr h="247224">
                <a:tc>
                  <a:txBody>
                    <a:bodyPr/>
                    <a:lstStyle/>
                    <a:p>
                      <a:pPr algn="just">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变量名称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定义</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均值</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标准差</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7224">
                <a:tc>
                  <a:txBody>
                    <a:bodyPr/>
                    <a:lstStyle/>
                    <a:p>
                      <a:pPr algn="just">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农村家庭金融资产配置有效性</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rowSpan="2">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夏普比率</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0.018</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0.077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r>
              <a:tr h="247224">
                <a:tc>
                  <a:txBody>
                    <a:bodyPr/>
                    <a:lstStyle/>
                    <a:p>
                      <a:pPr algn="just">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城市家庭金融资产配置有效性</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vMerge="1">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0.050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0.110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r>
              <a:tr h="247224">
                <a:tc>
                  <a:txBody>
                    <a:bodyPr/>
                    <a:lstStyle/>
                    <a:p>
                      <a:pPr algn="just">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数字金融发展水平</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样本所在地级市</a:t>
                      </a:r>
                      <a:r>
                        <a:rPr lang="zh-CN" altLang="en-US" sz="1200" b="1" kern="0" dirty="0">
                          <a:solidFill>
                            <a:sysClr val="windowText" lastClr="000000"/>
                          </a:solidFill>
                          <a:effectLst/>
                          <a:latin typeface="Times New Roman" panose="02020603050405020304" pitchFamily="18" charset="0"/>
                          <a:ea typeface="宋体" panose="02010600030101010101" pitchFamily="2" charset="-122"/>
                        </a:rPr>
                        <a:t>滞后一期</a:t>
                      </a:r>
                      <a:r>
                        <a:rPr lang="zh-CN" sz="1200" kern="0" dirty="0">
                          <a:solidFill>
                            <a:sysClr val="windowText" lastClr="000000"/>
                          </a:solidFill>
                          <a:effectLst/>
                          <a:latin typeface="Times New Roman" panose="02020603050405020304" pitchFamily="18" charset="0"/>
                          <a:ea typeface="宋体" panose="02010600030101010101" pitchFamily="2" charset="-122"/>
                        </a:rPr>
                        <a:t>数字普惠金融指数的对数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5.504</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0.107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r>
              <a:tr h="247224">
                <a:tc>
                  <a:txBody>
                    <a:bodyPr/>
                    <a:lstStyle/>
                    <a:p>
                      <a:pPr algn="just">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数字金融覆盖广度</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样本所在地级市</a:t>
                      </a:r>
                      <a:r>
                        <a:rPr lang="zh-CN" altLang="en-US" sz="1200" b="1" kern="0" dirty="0">
                          <a:solidFill>
                            <a:sysClr val="windowText" lastClr="000000"/>
                          </a:solidFill>
                          <a:effectLst/>
                          <a:latin typeface="Times New Roman" panose="02020603050405020304" pitchFamily="18" charset="0"/>
                          <a:ea typeface="宋体" panose="02010600030101010101" pitchFamily="2" charset="-122"/>
                        </a:rPr>
                        <a:t>滞后一期</a:t>
                      </a:r>
                      <a:r>
                        <a:rPr lang="zh-CN" sz="1200" kern="0" dirty="0">
                          <a:solidFill>
                            <a:sysClr val="windowText" lastClr="000000"/>
                          </a:solidFill>
                          <a:effectLst/>
                          <a:latin typeface="Times New Roman" panose="02020603050405020304" pitchFamily="18" charset="0"/>
                          <a:ea typeface="宋体" panose="02010600030101010101" pitchFamily="2" charset="-122"/>
                        </a:rPr>
                        <a:t>数字普惠金融覆盖广度得分的对数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5.450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0.129</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数字金融使用深度</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样本所在地级市</a:t>
                      </a:r>
                      <a:r>
                        <a:rPr lang="zh-CN" altLang="en-US" sz="1200" b="1" kern="0" dirty="0">
                          <a:solidFill>
                            <a:sysClr val="windowText" lastClr="000000"/>
                          </a:solidFill>
                          <a:effectLst/>
                          <a:latin typeface="Times New Roman" panose="02020603050405020304" pitchFamily="18" charset="0"/>
                          <a:ea typeface="宋体" panose="02010600030101010101" pitchFamily="2" charset="-122"/>
                        </a:rPr>
                        <a:t>滞后一期</a:t>
                      </a:r>
                      <a:r>
                        <a:rPr lang="zh-CN" sz="1200" kern="0" dirty="0">
                          <a:solidFill>
                            <a:sysClr val="windowText" lastClr="000000"/>
                          </a:solidFill>
                          <a:effectLst/>
                          <a:latin typeface="Times New Roman" panose="02020603050405020304" pitchFamily="18" charset="0"/>
                          <a:ea typeface="宋体" panose="02010600030101010101" pitchFamily="2" charset="-122"/>
                        </a:rPr>
                        <a:t>数字普惠金融使用深度得分的对数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5.502</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0.126</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数字化程度</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样本所在地级市</a:t>
                      </a:r>
                      <a:r>
                        <a:rPr lang="zh-CN" altLang="en-US" sz="1200" b="1" kern="0" dirty="0">
                          <a:solidFill>
                            <a:sysClr val="windowText" lastClr="000000"/>
                          </a:solidFill>
                          <a:effectLst/>
                          <a:latin typeface="Times New Roman" panose="02020603050405020304" pitchFamily="18" charset="0"/>
                          <a:ea typeface="宋体" panose="02010600030101010101" pitchFamily="2" charset="-122"/>
                        </a:rPr>
                        <a:t>滞后一期</a:t>
                      </a:r>
                      <a:r>
                        <a:rPr lang="zh-CN" sz="1200" kern="0" dirty="0">
                          <a:solidFill>
                            <a:sysClr val="windowText" lastClr="000000"/>
                          </a:solidFill>
                          <a:effectLst/>
                          <a:latin typeface="Times New Roman" panose="02020603050405020304" pitchFamily="18" charset="0"/>
                          <a:ea typeface="宋体" panose="02010600030101010101" pitchFamily="2" charset="-122"/>
                        </a:rPr>
                        <a:t>数字化程度得分的对数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5.682</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0.063</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年龄</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户主年龄（单位：岁）</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61.606</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12.988</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性别</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户主的性别：男</a:t>
                      </a:r>
                      <a:r>
                        <a:rPr lang="en-US" sz="1200" kern="0" dirty="0">
                          <a:solidFill>
                            <a:sysClr val="windowText" lastClr="000000"/>
                          </a:solidFill>
                          <a:effectLst/>
                          <a:latin typeface="Times New Roman" panose="02020603050405020304" pitchFamily="18" charset="0"/>
                          <a:ea typeface="宋体" panose="02010600030101010101" pitchFamily="2" charset="-122"/>
                        </a:rPr>
                        <a:t>=1，女=0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0.755</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0.430</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婚姻状况</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户主的婚姻状况：已婚</a:t>
                      </a:r>
                      <a:r>
                        <a:rPr lang="en-US" sz="1200" kern="0" dirty="0">
                          <a:solidFill>
                            <a:sysClr val="windowText" lastClr="000000"/>
                          </a:solidFill>
                          <a:effectLst/>
                          <a:latin typeface="Times New Roman" panose="02020603050405020304" pitchFamily="18" charset="0"/>
                          <a:ea typeface="宋体" panose="02010600030101010101" pitchFamily="2" charset="-122"/>
                        </a:rPr>
                        <a:t>=1</a:t>
                      </a:r>
                      <a:r>
                        <a:rPr lang="zh-CN" sz="1200" kern="0" dirty="0">
                          <a:solidFill>
                            <a:sysClr val="windowText" lastClr="000000"/>
                          </a:solidFill>
                          <a:effectLst/>
                          <a:latin typeface="Times New Roman" panose="02020603050405020304" pitchFamily="18" charset="0"/>
                          <a:ea typeface="宋体" panose="02010600030101010101" pitchFamily="2" charset="-122"/>
                        </a:rPr>
                        <a:t>，其他</a:t>
                      </a:r>
                      <a:r>
                        <a:rPr lang="en-US" sz="1200" kern="0" dirty="0">
                          <a:solidFill>
                            <a:sysClr val="windowText" lastClr="000000"/>
                          </a:solidFill>
                          <a:effectLst/>
                          <a:latin typeface="Times New Roman" panose="02020603050405020304" pitchFamily="18" charset="0"/>
                          <a:ea typeface="宋体" panose="02010600030101010101" pitchFamily="2" charset="-122"/>
                        </a:rPr>
                        <a:t>=0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0.950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0.219</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435890">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受教育年限</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100" dirty="0">
                          <a:solidFill>
                            <a:sysClr val="windowText" lastClr="000000"/>
                          </a:solidFill>
                          <a:effectLst/>
                          <a:latin typeface="Times New Roman" panose="02020603050405020304" pitchFamily="18" charset="0"/>
                          <a:ea typeface="宋体" panose="02010600030101010101" pitchFamily="2" charset="-122"/>
                        </a:rPr>
                        <a:t>户主的受教育年限</a:t>
                      </a:r>
                      <a:r>
                        <a:rPr lang="zh-CN" sz="1200" kern="0" dirty="0">
                          <a:solidFill>
                            <a:sysClr val="windowText" lastClr="000000"/>
                          </a:solidFill>
                          <a:effectLst/>
                          <a:latin typeface="Times New Roman" panose="02020603050405020304" pitchFamily="18" charset="0"/>
                          <a:ea typeface="宋体" panose="02010600030101010101" pitchFamily="2" charset="-122"/>
                        </a:rPr>
                        <a:t>（单位：年）</a:t>
                      </a:r>
                      <a:r>
                        <a:rPr lang="zh-CN" sz="1200" kern="100" dirty="0">
                          <a:solidFill>
                            <a:sysClr val="windowText" lastClr="000000"/>
                          </a:solidFill>
                          <a:effectLst/>
                          <a:latin typeface="Times New Roman" panose="02020603050405020304" pitchFamily="18" charset="0"/>
                          <a:ea typeface="宋体" panose="02010600030101010101" pitchFamily="2" charset="-122"/>
                        </a:rPr>
                        <a:t>：博士</a:t>
                      </a:r>
                      <a:r>
                        <a:rPr lang="en-US" sz="1200" kern="100" dirty="0">
                          <a:solidFill>
                            <a:sysClr val="windowText" lastClr="000000"/>
                          </a:solidFill>
                          <a:effectLst/>
                          <a:latin typeface="Times New Roman" panose="02020603050405020304" pitchFamily="18" charset="0"/>
                          <a:ea typeface="宋体" panose="02010600030101010101" pitchFamily="2" charset="-122"/>
                        </a:rPr>
                        <a:t>=22</a:t>
                      </a:r>
                      <a:r>
                        <a:rPr lang="zh-CN" sz="1200" kern="100" dirty="0">
                          <a:solidFill>
                            <a:sysClr val="windowText" lastClr="000000"/>
                          </a:solidFill>
                          <a:effectLst/>
                          <a:latin typeface="Times New Roman" panose="02020603050405020304" pitchFamily="18" charset="0"/>
                          <a:ea typeface="宋体" panose="02010600030101010101" pitchFamily="2" charset="-122"/>
                        </a:rPr>
                        <a:t>，硕士</a:t>
                      </a:r>
                      <a:r>
                        <a:rPr lang="en-US" sz="1200" kern="100" dirty="0">
                          <a:solidFill>
                            <a:sysClr val="windowText" lastClr="000000"/>
                          </a:solidFill>
                          <a:effectLst/>
                          <a:latin typeface="Times New Roman" panose="02020603050405020304" pitchFamily="18" charset="0"/>
                          <a:ea typeface="宋体" panose="02010600030101010101" pitchFamily="2" charset="-122"/>
                        </a:rPr>
                        <a:t>=18</a:t>
                      </a:r>
                      <a:r>
                        <a:rPr lang="zh-CN" sz="1200" kern="100" dirty="0">
                          <a:solidFill>
                            <a:sysClr val="windowText" lastClr="000000"/>
                          </a:solidFill>
                          <a:effectLst/>
                          <a:latin typeface="Times New Roman" panose="02020603050405020304" pitchFamily="18" charset="0"/>
                          <a:ea typeface="宋体" panose="02010600030101010101" pitchFamily="2" charset="-122"/>
                        </a:rPr>
                        <a:t>，本科</a:t>
                      </a:r>
                      <a:r>
                        <a:rPr lang="en-US" sz="1200" kern="100" dirty="0">
                          <a:solidFill>
                            <a:sysClr val="windowText" lastClr="000000"/>
                          </a:solidFill>
                          <a:effectLst/>
                          <a:latin typeface="Times New Roman" panose="02020603050405020304" pitchFamily="18" charset="0"/>
                          <a:ea typeface="宋体" panose="02010600030101010101" pitchFamily="2" charset="-122"/>
                        </a:rPr>
                        <a:t>=16</a:t>
                      </a:r>
                      <a:r>
                        <a:rPr lang="zh-CN" sz="1200" kern="100" dirty="0">
                          <a:solidFill>
                            <a:sysClr val="windowText" lastClr="000000"/>
                          </a:solidFill>
                          <a:effectLst/>
                          <a:latin typeface="Times New Roman" panose="02020603050405020304" pitchFamily="18" charset="0"/>
                          <a:ea typeface="宋体" panose="02010600030101010101" pitchFamily="2" charset="-122"/>
                        </a:rPr>
                        <a:t>，大专</a:t>
                      </a:r>
                      <a:r>
                        <a:rPr lang="en-US" sz="1200" kern="100" dirty="0">
                          <a:solidFill>
                            <a:sysClr val="windowText" lastClr="000000"/>
                          </a:solidFill>
                          <a:effectLst/>
                          <a:latin typeface="Times New Roman" panose="02020603050405020304" pitchFamily="18" charset="0"/>
                          <a:ea typeface="宋体" panose="02010600030101010101" pitchFamily="2" charset="-122"/>
                        </a:rPr>
                        <a:t>=15</a:t>
                      </a:r>
                      <a:r>
                        <a:rPr lang="zh-CN" sz="1200" kern="100" dirty="0">
                          <a:solidFill>
                            <a:sysClr val="windowText" lastClr="000000"/>
                          </a:solidFill>
                          <a:effectLst/>
                          <a:latin typeface="Times New Roman" panose="02020603050405020304" pitchFamily="18" charset="0"/>
                          <a:ea typeface="宋体" panose="02010600030101010101" pitchFamily="2" charset="-122"/>
                        </a:rPr>
                        <a:t>，高中、职校、中专</a:t>
                      </a:r>
                      <a:r>
                        <a:rPr lang="en-US" sz="1200" kern="100" dirty="0">
                          <a:solidFill>
                            <a:sysClr val="windowText" lastClr="000000"/>
                          </a:solidFill>
                          <a:effectLst/>
                          <a:latin typeface="Times New Roman" panose="02020603050405020304" pitchFamily="18" charset="0"/>
                          <a:ea typeface="宋体" panose="02010600030101010101" pitchFamily="2" charset="-122"/>
                        </a:rPr>
                        <a:t>=12</a:t>
                      </a:r>
                      <a:r>
                        <a:rPr lang="zh-CN" sz="1200" kern="100" dirty="0">
                          <a:solidFill>
                            <a:sysClr val="windowText" lastClr="000000"/>
                          </a:solidFill>
                          <a:effectLst/>
                          <a:latin typeface="Times New Roman" panose="02020603050405020304" pitchFamily="18" charset="0"/>
                          <a:ea typeface="宋体" panose="02010600030101010101" pitchFamily="2" charset="-122"/>
                        </a:rPr>
                        <a:t>，初中</a:t>
                      </a:r>
                      <a:r>
                        <a:rPr lang="en-US" sz="1200" kern="100" dirty="0">
                          <a:solidFill>
                            <a:sysClr val="windowText" lastClr="000000"/>
                          </a:solidFill>
                          <a:effectLst/>
                          <a:latin typeface="Times New Roman" panose="02020603050405020304" pitchFamily="18" charset="0"/>
                          <a:ea typeface="宋体" panose="02010600030101010101" pitchFamily="2" charset="-122"/>
                        </a:rPr>
                        <a:t>=9</a:t>
                      </a:r>
                      <a:r>
                        <a:rPr lang="zh-CN" sz="1200" kern="100" dirty="0">
                          <a:solidFill>
                            <a:sysClr val="windowText" lastClr="000000"/>
                          </a:solidFill>
                          <a:effectLst/>
                          <a:latin typeface="Times New Roman" panose="02020603050405020304" pitchFamily="18" charset="0"/>
                          <a:ea typeface="宋体" panose="02010600030101010101" pitchFamily="2" charset="-122"/>
                        </a:rPr>
                        <a:t>，小学</a:t>
                      </a:r>
                      <a:r>
                        <a:rPr lang="en-US" sz="1200" kern="100" dirty="0">
                          <a:solidFill>
                            <a:sysClr val="windowText" lastClr="000000"/>
                          </a:solidFill>
                          <a:effectLst/>
                          <a:latin typeface="Times New Roman" panose="02020603050405020304" pitchFamily="18" charset="0"/>
                          <a:ea typeface="宋体" panose="02010600030101010101" pitchFamily="2" charset="-122"/>
                        </a:rPr>
                        <a:t>=6</a:t>
                      </a:r>
                      <a:r>
                        <a:rPr lang="zh-CN" sz="1200" kern="100" dirty="0">
                          <a:solidFill>
                            <a:sysClr val="windowText" lastClr="000000"/>
                          </a:solidFill>
                          <a:effectLst/>
                          <a:latin typeface="Times New Roman" panose="02020603050405020304" pitchFamily="18" charset="0"/>
                          <a:ea typeface="宋体" panose="02010600030101010101" pitchFamily="2" charset="-122"/>
                        </a:rPr>
                        <a:t>，未上过学</a:t>
                      </a:r>
                      <a:r>
                        <a:rPr lang="en-US" sz="1200" kern="100" dirty="0">
                          <a:solidFill>
                            <a:sysClr val="windowText" lastClr="000000"/>
                          </a:solidFill>
                          <a:effectLst/>
                          <a:latin typeface="Times New Roman" panose="02020603050405020304" pitchFamily="18" charset="0"/>
                          <a:ea typeface="宋体" panose="02010600030101010101" pitchFamily="2" charset="-122"/>
                        </a:rPr>
                        <a:t>=0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100">
                          <a:solidFill>
                            <a:sysClr val="windowText" lastClr="000000"/>
                          </a:solidFill>
                          <a:effectLst/>
                          <a:latin typeface="Times New Roman" panose="02020603050405020304" pitchFamily="18" charset="0"/>
                          <a:ea typeface="宋体" panose="02010600030101010101" pitchFamily="2" charset="-122"/>
                        </a:rPr>
                        <a:t>9.332</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100" dirty="0">
                          <a:solidFill>
                            <a:sysClr val="windowText" lastClr="000000"/>
                          </a:solidFill>
                          <a:effectLst/>
                          <a:latin typeface="Times New Roman" panose="02020603050405020304" pitchFamily="18" charset="0"/>
                          <a:ea typeface="宋体" panose="02010600030101010101" pitchFamily="2" charset="-122"/>
                        </a:rPr>
                        <a:t>3.797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政治面貌</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户主是否是党员：是</a:t>
                      </a:r>
                      <a:r>
                        <a:rPr lang="en-US" sz="1200" kern="0" dirty="0">
                          <a:solidFill>
                            <a:sysClr val="windowText" lastClr="000000"/>
                          </a:solidFill>
                          <a:effectLst/>
                          <a:latin typeface="Times New Roman" panose="02020603050405020304" pitchFamily="18" charset="0"/>
                          <a:ea typeface="宋体" panose="02010600030101010101" pitchFamily="2" charset="-122"/>
                        </a:rPr>
                        <a:t>=1</a:t>
                      </a:r>
                      <a:r>
                        <a:rPr lang="zh-CN" sz="1200" kern="0" dirty="0">
                          <a:solidFill>
                            <a:sysClr val="windowText" lastClr="000000"/>
                          </a:solidFill>
                          <a:effectLst/>
                          <a:latin typeface="Times New Roman" panose="02020603050405020304" pitchFamily="18" charset="0"/>
                          <a:ea typeface="宋体" panose="02010600030101010101" pitchFamily="2" charset="-122"/>
                        </a:rPr>
                        <a:t>，否</a:t>
                      </a:r>
                      <a:r>
                        <a:rPr lang="en-US" sz="1200" kern="0" dirty="0">
                          <a:solidFill>
                            <a:sysClr val="windowText" lastClr="000000"/>
                          </a:solidFill>
                          <a:effectLst/>
                          <a:latin typeface="Times New Roman" panose="02020603050405020304" pitchFamily="18" charset="0"/>
                          <a:ea typeface="宋体" panose="02010600030101010101" pitchFamily="2" charset="-122"/>
                        </a:rPr>
                        <a:t>=0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0.184</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0.388</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435890">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金融知识</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分别通过利率问题、通货膨胀问题、投资风险</a:t>
                      </a:r>
                      <a:r>
                        <a:rPr lang="en-US" sz="1200" kern="0" dirty="0">
                          <a:solidFill>
                            <a:sysClr val="windowText" lastClr="000000"/>
                          </a:solidFill>
                          <a:effectLst/>
                          <a:latin typeface="Times New Roman" panose="02020603050405020304" pitchFamily="18" charset="0"/>
                          <a:ea typeface="宋体" panose="02010600030101010101" pitchFamily="2" charset="-122"/>
                        </a:rPr>
                        <a:t>3</a:t>
                      </a:r>
                      <a:r>
                        <a:rPr lang="zh-CN" sz="1200" kern="0" dirty="0">
                          <a:solidFill>
                            <a:sysClr val="windowText" lastClr="000000"/>
                          </a:solidFill>
                          <a:effectLst/>
                          <a:latin typeface="Times New Roman" panose="02020603050405020304" pitchFamily="18" charset="0"/>
                          <a:ea typeface="宋体" panose="02010600030101010101" pitchFamily="2" charset="-122"/>
                        </a:rPr>
                        <a:t>个问题来测度，答对一题得一分，金融知识水平</a:t>
                      </a:r>
                      <a:r>
                        <a:rPr lang="en-US" sz="1200" kern="0" baseline="30000" dirty="0">
                          <a:solidFill>
                            <a:sysClr val="windowText" lastClr="000000"/>
                          </a:solidFill>
                          <a:effectLst/>
                          <a:latin typeface="Times New Roman" panose="02020603050405020304" pitchFamily="18" charset="0"/>
                          <a:ea typeface="宋体" panose="02010600030101010101" pitchFamily="2" charset="-122"/>
                        </a:rPr>
                        <a:t>b</a:t>
                      </a:r>
                      <a:r>
                        <a:rPr lang="zh-CN" sz="1200" kern="0" dirty="0">
                          <a:solidFill>
                            <a:sysClr val="windowText" lastClr="000000"/>
                          </a:solidFill>
                          <a:effectLst/>
                          <a:latin typeface="Times New Roman" panose="02020603050405020304" pitchFamily="18" charset="0"/>
                          <a:ea typeface="宋体" panose="02010600030101010101" pitchFamily="2" charset="-122"/>
                        </a:rPr>
                        <a:t>为受访者正确回答问题的个数</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100">
                          <a:solidFill>
                            <a:sysClr val="windowText" lastClr="000000"/>
                          </a:solidFill>
                          <a:effectLst/>
                          <a:latin typeface="Times New Roman" panose="02020603050405020304" pitchFamily="18" charset="0"/>
                          <a:ea typeface="宋体" panose="02010600030101010101" pitchFamily="2" charset="-122"/>
                        </a:rPr>
                        <a:t>0.700</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100" dirty="0">
                          <a:solidFill>
                            <a:sysClr val="windowText" lastClr="000000"/>
                          </a:solidFill>
                          <a:effectLst/>
                          <a:latin typeface="Times New Roman" panose="02020603050405020304" pitchFamily="18" charset="0"/>
                          <a:ea typeface="宋体" panose="02010600030101010101" pitchFamily="2" charset="-122"/>
                        </a:rPr>
                        <a:t>0.769</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风险偏好</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风险偏好</a:t>
                      </a:r>
                      <a:r>
                        <a:rPr lang="en-US" sz="1200" kern="0" baseline="30000" dirty="0" err="1">
                          <a:solidFill>
                            <a:sysClr val="windowText" lastClr="000000"/>
                          </a:solidFill>
                          <a:effectLst/>
                          <a:latin typeface="Times New Roman" panose="02020603050405020304" pitchFamily="18" charset="0"/>
                          <a:ea typeface="宋体" panose="02010600030101010101" pitchFamily="2" charset="-122"/>
                        </a:rPr>
                        <a:t>c</a:t>
                      </a:r>
                      <a:r>
                        <a:rPr lang="en-US" sz="1200" kern="0" dirty="0" err="1">
                          <a:solidFill>
                            <a:sysClr val="windowText" lastClr="000000"/>
                          </a:solidFill>
                          <a:effectLst/>
                          <a:latin typeface="Times New Roman" panose="02020603050405020304" pitchFamily="18" charset="0"/>
                          <a:ea typeface="宋体" panose="02010600030101010101" pitchFamily="2" charset="-122"/>
                        </a:rPr>
                        <a:t>：是</a:t>
                      </a:r>
                      <a:r>
                        <a:rPr lang="en-US" sz="1200" kern="0" dirty="0">
                          <a:solidFill>
                            <a:sysClr val="windowText" lastClr="000000"/>
                          </a:solidFill>
                          <a:effectLst/>
                          <a:latin typeface="Times New Roman" panose="02020603050405020304" pitchFamily="18" charset="0"/>
                          <a:ea typeface="宋体" panose="02010600030101010101" pitchFamily="2" charset="-122"/>
                        </a:rPr>
                        <a:t>=1，否=0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0.060</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0.237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风险厌恶</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err="1">
                          <a:solidFill>
                            <a:sysClr val="windowText" lastClr="000000"/>
                          </a:solidFill>
                          <a:effectLst/>
                          <a:latin typeface="Times New Roman" panose="02020603050405020304" pitchFamily="18" charset="0"/>
                          <a:ea typeface="宋体" panose="02010600030101010101" pitchFamily="2" charset="-122"/>
                        </a:rPr>
                        <a:t>风险厌恶：是</a:t>
                      </a:r>
                      <a:r>
                        <a:rPr lang="en-US" sz="1200" kern="0" dirty="0">
                          <a:solidFill>
                            <a:sysClr val="windowText" lastClr="000000"/>
                          </a:solidFill>
                          <a:effectLst/>
                          <a:latin typeface="Times New Roman" panose="02020603050405020304" pitchFamily="18" charset="0"/>
                          <a:ea typeface="宋体" panose="02010600030101010101" pitchFamily="2" charset="-122"/>
                        </a:rPr>
                        <a:t>=1，否=0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0.791</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0.407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拥有自有住房</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家庭是否拥有自有住房：是</a:t>
                      </a:r>
                      <a:r>
                        <a:rPr lang="en-US" sz="1200" kern="0" dirty="0">
                          <a:solidFill>
                            <a:sysClr val="windowText" lastClr="000000"/>
                          </a:solidFill>
                          <a:effectLst/>
                          <a:latin typeface="Times New Roman" panose="02020603050405020304" pitchFamily="18" charset="0"/>
                          <a:ea typeface="宋体" panose="02010600030101010101" pitchFamily="2" charset="-122"/>
                        </a:rPr>
                        <a:t>=1</a:t>
                      </a:r>
                      <a:r>
                        <a:rPr lang="zh-CN" sz="1200" kern="0" dirty="0">
                          <a:solidFill>
                            <a:sysClr val="windowText" lastClr="000000"/>
                          </a:solidFill>
                          <a:effectLst/>
                          <a:latin typeface="Times New Roman" panose="02020603050405020304" pitchFamily="18" charset="0"/>
                          <a:ea typeface="宋体" panose="02010600030101010101" pitchFamily="2" charset="-122"/>
                        </a:rPr>
                        <a:t>，否</a:t>
                      </a:r>
                      <a:r>
                        <a:rPr lang="en-US" sz="1200" kern="0" dirty="0">
                          <a:solidFill>
                            <a:sysClr val="windowText" lastClr="000000"/>
                          </a:solidFill>
                          <a:effectLst/>
                          <a:latin typeface="Times New Roman" panose="02020603050405020304" pitchFamily="18" charset="0"/>
                          <a:ea typeface="宋体" panose="02010600030101010101" pitchFamily="2" charset="-122"/>
                        </a:rPr>
                        <a:t>=0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0.920</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0.271</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总收入</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家庭当年总收入的对数（原单位：元）</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10.762</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1.271</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100">
                          <a:solidFill>
                            <a:sysClr val="windowText" lastClr="000000"/>
                          </a:solidFill>
                          <a:effectLst/>
                          <a:latin typeface="Times New Roman" panose="02020603050405020304" pitchFamily="18" charset="0"/>
                          <a:ea typeface="宋体" panose="02010600030101010101" pitchFamily="2" charset="-122"/>
                        </a:rPr>
                        <a:t>非金融资产</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oFill/>
                  </a:tcPr>
                </a:tc>
                <a:tc>
                  <a:txBody>
                    <a:bodyPr/>
                    <a:lstStyle/>
                    <a:p>
                      <a:pPr algn="ctr">
                        <a:spcAft>
                          <a:spcPts val="0"/>
                        </a:spcAft>
                      </a:pPr>
                      <a:r>
                        <a:rPr lang="zh-CN" sz="1200" kern="100" dirty="0">
                          <a:solidFill>
                            <a:sysClr val="windowText" lastClr="000000"/>
                          </a:solidFill>
                          <a:effectLst/>
                          <a:latin typeface="Times New Roman" panose="02020603050405020304" pitchFamily="18" charset="0"/>
                          <a:ea typeface="宋体" panose="02010600030101010101" pitchFamily="2" charset="-122"/>
                        </a:rPr>
                        <a:t>家庭当年非金融资产总值的对数（原单位：元）</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oFill/>
                  </a:tcPr>
                </a:tc>
                <a:tc>
                  <a:txBody>
                    <a:bodyPr/>
                    <a:lstStyle/>
                    <a:p>
                      <a:pPr algn="ctr">
                        <a:spcAft>
                          <a:spcPts val="0"/>
                        </a:spcAft>
                      </a:pPr>
                      <a:r>
                        <a:rPr lang="en-US" sz="1200" kern="100" dirty="0">
                          <a:solidFill>
                            <a:sysClr val="windowText" lastClr="000000"/>
                          </a:solidFill>
                          <a:effectLst/>
                          <a:latin typeface="Times New Roman" panose="02020603050405020304" pitchFamily="18" charset="0"/>
                          <a:ea typeface="宋体" panose="02010600030101010101" pitchFamily="2" charset="-122"/>
                        </a:rPr>
                        <a:t>12.621</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c>
                  <a:txBody>
                    <a:bodyPr/>
                    <a:lstStyle/>
                    <a:p>
                      <a:pPr algn="ctr">
                        <a:spcAft>
                          <a:spcPts val="0"/>
                        </a:spcAft>
                      </a:pPr>
                      <a:r>
                        <a:rPr lang="en-US" sz="1200" kern="100" dirty="0">
                          <a:solidFill>
                            <a:sysClr val="windowText" lastClr="000000"/>
                          </a:solidFill>
                          <a:effectLst/>
                          <a:latin typeface="Times New Roman" panose="02020603050405020304" pitchFamily="18" charset="0"/>
                          <a:ea typeface="宋体" panose="02010600030101010101" pitchFamily="2" charset="-122"/>
                        </a:rPr>
                        <a:t>1.847</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noFill/>
                  </a:tcPr>
                </a:tc>
              </a:tr>
              <a:tr h="247224">
                <a:tc>
                  <a:txBody>
                    <a:bodyPr/>
                    <a:lstStyle/>
                    <a:p>
                      <a:pPr algn="just">
                        <a:spcAft>
                          <a:spcPts val="0"/>
                        </a:spcAft>
                      </a:pPr>
                      <a:r>
                        <a:rPr lang="en-US" sz="1200" kern="0">
                          <a:solidFill>
                            <a:sysClr val="windowText" lastClr="000000"/>
                          </a:solidFill>
                          <a:effectLst/>
                          <a:latin typeface="Times New Roman" panose="02020603050405020304" pitchFamily="18" charset="0"/>
                          <a:ea typeface="宋体" panose="02010600030101010101" pitchFamily="2" charset="-122"/>
                        </a:rPr>
                        <a:t>是否从事工商业生产</a:t>
                      </a:r>
                      <a:endParaRPr lang="zh-CN" sz="1600" kern="10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9050" cap="flat" cmpd="sng" algn="ctr">
                      <a:solidFill>
                        <a:schemeClr val="tx1"/>
                      </a:solidFill>
                      <a:prstDash val="solid"/>
                      <a:round/>
                      <a:headEnd type="none" w="med" len="med"/>
                      <a:tailEnd type="none" w="med" len="med"/>
                    </a:lnB>
                    <a:noFill/>
                  </a:tcPr>
                </a:tc>
                <a:tc>
                  <a:txBody>
                    <a:bodyPr/>
                    <a:lstStyle/>
                    <a:p>
                      <a:pPr algn="ctr">
                        <a:spcAft>
                          <a:spcPts val="0"/>
                        </a:spcAft>
                      </a:pPr>
                      <a:r>
                        <a:rPr lang="zh-CN" sz="1200" kern="0" dirty="0">
                          <a:solidFill>
                            <a:sysClr val="windowText" lastClr="000000"/>
                          </a:solidFill>
                          <a:effectLst/>
                          <a:latin typeface="Times New Roman" panose="02020603050405020304" pitchFamily="18" charset="0"/>
                          <a:ea typeface="宋体" panose="02010600030101010101" pitchFamily="2" charset="-122"/>
                        </a:rPr>
                        <a:t>家庭是否从事工商业生产经营：是</a:t>
                      </a:r>
                      <a:r>
                        <a:rPr lang="en-US" sz="1200" kern="0" dirty="0">
                          <a:solidFill>
                            <a:sysClr val="windowText" lastClr="000000"/>
                          </a:solidFill>
                          <a:effectLst/>
                          <a:latin typeface="Times New Roman" panose="02020603050405020304" pitchFamily="18" charset="0"/>
                          <a:ea typeface="宋体" panose="02010600030101010101" pitchFamily="2" charset="-122"/>
                        </a:rPr>
                        <a:t>=1</a:t>
                      </a:r>
                      <a:r>
                        <a:rPr lang="zh-CN" sz="1200" kern="0" dirty="0">
                          <a:solidFill>
                            <a:sysClr val="windowText" lastClr="000000"/>
                          </a:solidFill>
                          <a:effectLst/>
                          <a:latin typeface="Times New Roman" panose="02020603050405020304" pitchFamily="18" charset="0"/>
                          <a:ea typeface="宋体" panose="02010600030101010101" pitchFamily="2" charset="-122"/>
                        </a:rPr>
                        <a:t>，否</a:t>
                      </a:r>
                      <a:r>
                        <a:rPr lang="en-US" sz="1200" kern="0" dirty="0">
                          <a:solidFill>
                            <a:sysClr val="windowText" lastClr="000000"/>
                          </a:solidFill>
                          <a:effectLst/>
                          <a:latin typeface="Times New Roman" panose="02020603050405020304" pitchFamily="18" charset="0"/>
                          <a:ea typeface="宋体" panose="02010600030101010101" pitchFamily="2" charset="-122"/>
                        </a:rPr>
                        <a:t>=0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905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0.108</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9050" cap="flat" cmpd="sng" algn="ctr">
                      <a:solidFill>
                        <a:schemeClr val="tx1"/>
                      </a:solidFill>
                      <a:prstDash val="solid"/>
                      <a:round/>
                      <a:headEnd type="none" w="med" len="med"/>
                      <a:tailEnd type="none" w="med" len="med"/>
                    </a:lnB>
                    <a:noFill/>
                  </a:tcPr>
                </a:tc>
                <a:tc>
                  <a:txBody>
                    <a:bodyPr/>
                    <a:lstStyle/>
                    <a:p>
                      <a:pPr algn="ctr">
                        <a:spcAft>
                          <a:spcPts val="0"/>
                        </a:spcAft>
                      </a:pPr>
                      <a:r>
                        <a:rPr lang="en-US" sz="1200" kern="0" dirty="0">
                          <a:solidFill>
                            <a:sysClr val="windowText" lastClr="000000"/>
                          </a:solidFill>
                          <a:effectLst/>
                          <a:latin typeface="Times New Roman" panose="02020603050405020304" pitchFamily="18" charset="0"/>
                          <a:ea typeface="宋体" panose="02010600030101010101" pitchFamily="2" charset="-122"/>
                        </a:rPr>
                        <a:t>0.310</a:t>
                      </a:r>
                      <a:endParaRPr lang="zh-CN" sz="1600" kern="100" dirty="0">
                        <a:solidFill>
                          <a:sysClr val="windowText" lastClr="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lnB w="19050" cap="flat" cmpd="sng" algn="ctr">
                      <a:solidFill>
                        <a:schemeClr val="tx1"/>
                      </a:solidFill>
                      <a:prstDash val="solid"/>
                      <a:round/>
                      <a:headEnd type="none" w="med" len="med"/>
                      <a:tailEnd type="none" w="med" len="med"/>
                    </a:lnB>
                    <a:noFill/>
                  </a:tcPr>
                </a:tc>
              </a:tr>
            </a:tbl>
          </a:graphicData>
        </a:graphic>
      </p:graphicFrame>
      <p:sp>
        <p:nvSpPr>
          <p:cNvPr id="15" name="矩形 14"/>
          <p:cNvSpPr/>
          <p:nvPr/>
        </p:nvSpPr>
        <p:spPr>
          <a:xfrm>
            <a:off x="4891984" y="832977"/>
            <a:ext cx="2518638" cy="307777"/>
          </a:xfrm>
          <a:prstGeom prst="rect">
            <a:avLst/>
          </a:prstGeom>
        </p:spPr>
        <p:txBody>
          <a:bodyPr wrap="none">
            <a:spAutoFit/>
          </a:bodyPr>
          <a:lstStyle/>
          <a:p>
            <a:r>
              <a:rPr lang="zh-CN" altLang="zh-CN" sz="1400" dirty="0">
                <a:latin typeface="黑体" panose="02010609060101010101" pitchFamily="49" charset="-122"/>
                <a:ea typeface="黑体" panose="02010609060101010101" pitchFamily="49" charset="-122"/>
              </a:rPr>
              <a:t>表</a:t>
            </a:r>
            <a:r>
              <a:rPr lang="en-US" altLang="zh-CN" sz="1400" dirty="0">
                <a:latin typeface="黑体" panose="02010609060101010101" pitchFamily="49" charset="-122"/>
                <a:ea typeface="黑体" panose="02010609060101010101" pitchFamily="49" charset="-122"/>
              </a:rPr>
              <a:t>1   </a:t>
            </a:r>
            <a:r>
              <a:rPr lang="zh-CN" altLang="zh-CN" sz="1400" dirty="0">
                <a:latin typeface="黑体" panose="02010609060101010101" pitchFamily="49" charset="-122"/>
                <a:ea typeface="黑体" panose="02010609060101010101" pitchFamily="49" charset="-122"/>
              </a:rPr>
              <a:t>变量定义与描述性统计</a:t>
            </a:r>
            <a:endParaRPr lang="zh-CN" altLang="zh-CN" sz="1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76519" y="3075562"/>
            <a:ext cx="11332028" cy="3098941"/>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6" name="矩形 5"/>
          <p:cNvSpPr/>
          <p:nvPr/>
        </p:nvSpPr>
        <p:spPr>
          <a:xfrm>
            <a:off x="476519" y="1878804"/>
            <a:ext cx="11332028" cy="918897"/>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50" y="370114"/>
            <a:ext cx="1758950" cy="433257"/>
          </a:xfrm>
        </p:spPr>
        <p:txBody>
          <a:bodyPr/>
          <a:lstStyle/>
          <a:p>
            <a:r>
              <a:rPr lang="zh-CN" altLang="en-US" dirty="0"/>
              <a:t>模型选择</a:t>
            </a: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4173700" y="1139278"/>
                <a:ext cx="5729004" cy="461665"/>
              </a:xfrm>
              <a:prstGeom prst="rect">
                <a:avLst/>
              </a:prstGeom>
            </p:spPr>
            <p:txBody>
              <a:bodyPr wrap="none">
                <a:spAutoFit/>
              </a:bodyPr>
              <a:lstStyle/>
              <a:p>
                <a14:m>
                  <m:oMath xmlns:m="http://schemas.openxmlformats.org/officeDocument/2006/math">
                    <m:r>
                      <a:rPr lang="en-US" altLang="zh-CN" sz="2400" i="1">
                        <a:latin typeface="Cambria Math" panose="02040503050406030204"/>
                      </a:rPr>
                      <m:t> </m:t>
                    </m:r>
                    <m:sSub>
                      <m:sSubPr>
                        <m:ctrlPr>
                          <a:rPr lang="zh-CN" altLang="zh-CN" sz="2400" i="1">
                            <a:latin typeface="Cambria Math" panose="02040503050406030204" pitchFamily="18" charset="0"/>
                          </a:rPr>
                        </m:ctrlPr>
                      </m:sSubPr>
                      <m:e>
                        <m:r>
                          <a:rPr lang="en-US" altLang="zh-CN" sz="2400" i="1">
                            <a:latin typeface="Cambria Math" panose="02040503050406030204"/>
                          </a:rPr>
                          <m:t>𝑆ℎ𝑎𝑟𝑝𝑒</m:t>
                        </m:r>
                        <m:r>
                          <a:rPr lang="en-US" altLang="zh-CN" sz="2400" i="1">
                            <a:latin typeface="Cambria Math" panose="02040503050406030204"/>
                          </a:rPr>
                          <m:t>_</m:t>
                        </m:r>
                        <m:r>
                          <a:rPr lang="en-US" altLang="zh-CN" sz="2400" i="1">
                            <a:latin typeface="Cambria Math" panose="02040503050406030204"/>
                          </a:rPr>
                          <m:t>𝑟𝑎𝑡𝑖𝑜</m:t>
                        </m:r>
                      </m:e>
                      <m:sub>
                        <m:r>
                          <a:rPr lang="en-US" altLang="zh-CN" sz="2400" i="1">
                            <a:latin typeface="Cambria Math" panose="02040503050406030204"/>
                          </a:rPr>
                          <m:t>𝑖</m:t>
                        </m:r>
                      </m:sub>
                    </m:sSub>
                    <m:r>
                      <a:rPr lang="en-US" altLang="zh-CN" sz="2400" i="1">
                        <a:latin typeface="Cambria Math" panose="02040503050406030204"/>
                      </a:rPr>
                      <m:t>=</m:t>
                    </m:r>
                    <m:sSub>
                      <m:sSubPr>
                        <m:ctrlPr>
                          <a:rPr lang="zh-CN" altLang="zh-CN" sz="2400" i="1">
                            <a:latin typeface="Cambria Math" panose="02040503050406030204" pitchFamily="18" charset="0"/>
                          </a:rPr>
                        </m:ctrlPr>
                      </m:sSubPr>
                      <m:e>
                        <m:r>
                          <a:rPr lang="en-US" altLang="zh-CN" sz="2400" i="1">
                            <a:latin typeface="Cambria Math" panose="02040503050406030204"/>
                          </a:rPr>
                          <m:t>𝛼</m:t>
                        </m:r>
                      </m:e>
                      <m:sub>
                        <m:r>
                          <a:rPr lang="en-US" altLang="zh-CN" sz="2400" i="1">
                            <a:latin typeface="Cambria Math" panose="02040503050406030204"/>
                          </a:rPr>
                          <m:t>1</m:t>
                        </m:r>
                      </m:sub>
                    </m:sSub>
                    <m:r>
                      <a:rPr lang="en-US" altLang="zh-CN" sz="2400" i="1">
                        <a:latin typeface="Cambria Math" panose="02040503050406030204"/>
                      </a:rPr>
                      <m:t>+</m:t>
                    </m:r>
                    <m:sSub>
                      <m:sSubPr>
                        <m:ctrlPr>
                          <a:rPr lang="zh-CN" altLang="zh-CN" sz="2400" i="1">
                            <a:latin typeface="Cambria Math" panose="02040503050406030204" pitchFamily="18" charset="0"/>
                          </a:rPr>
                        </m:ctrlPr>
                      </m:sSubPr>
                      <m:e>
                        <m:r>
                          <a:rPr lang="en-US" altLang="zh-CN" sz="2400" i="1">
                            <a:latin typeface="Cambria Math" panose="02040503050406030204"/>
                          </a:rPr>
                          <m:t>𝛽</m:t>
                        </m:r>
                      </m:e>
                      <m:sub>
                        <m:r>
                          <a:rPr lang="en-US" altLang="zh-CN" sz="2400" i="1">
                            <a:latin typeface="Cambria Math" panose="02040503050406030204"/>
                          </a:rPr>
                          <m:t>1</m:t>
                        </m:r>
                      </m:sub>
                    </m:sSub>
                    <m:r>
                      <a:rPr lang="en-US" altLang="zh-CN" sz="2400" i="1">
                        <a:latin typeface="Cambria Math" panose="02040503050406030204"/>
                      </a:rPr>
                      <m:t>𝐷</m:t>
                    </m:r>
                    <m:sSub>
                      <m:sSubPr>
                        <m:ctrlPr>
                          <a:rPr lang="zh-CN" altLang="zh-CN" sz="2400" i="1">
                            <a:latin typeface="Cambria Math" panose="02040503050406030204" pitchFamily="18" charset="0"/>
                          </a:rPr>
                        </m:ctrlPr>
                      </m:sSubPr>
                      <m:e>
                        <m:r>
                          <a:rPr lang="en-US" altLang="zh-CN" sz="2400" i="1">
                            <a:latin typeface="Cambria Math" panose="02040503050406030204"/>
                          </a:rPr>
                          <m:t>𝐹</m:t>
                        </m:r>
                      </m:e>
                      <m:sub>
                        <m:r>
                          <a:rPr lang="en-US" altLang="zh-CN" sz="2400" i="1">
                            <a:latin typeface="Cambria Math" panose="02040503050406030204"/>
                          </a:rPr>
                          <m:t>𝑖</m:t>
                        </m:r>
                      </m:sub>
                    </m:sSub>
                    <m:r>
                      <a:rPr lang="en-US" altLang="zh-CN" sz="2400" i="1">
                        <a:latin typeface="Cambria Math" panose="02040503050406030204"/>
                      </a:rPr>
                      <m:t>+</m:t>
                    </m:r>
                    <m:sSub>
                      <m:sSubPr>
                        <m:ctrlPr>
                          <a:rPr lang="zh-CN" altLang="zh-CN" sz="2400" i="1">
                            <a:latin typeface="Cambria Math" panose="02040503050406030204" pitchFamily="18" charset="0"/>
                          </a:rPr>
                        </m:ctrlPr>
                      </m:sSubPr>
                      <m:e>
                        <m:r>
                          <a:rPr lang="en-US" altLang="zh-CN" sz="2400" i="1">
                            <a:latin typeface="Cambria Math" panose="02040503050406030204"/>
                          </a:rPr>
                          <m:t>𝛽</m:t>
                        </m:r>
                      </m:e>
                      <m:sub>
                        <m:r>
                          <a:rPr lang="en-US" altLang="zh-CN" sz="2400" i="1">
                            <a:latin typeface="Cambria Math" panose="02040503050406030204"/>
                          </a:rPr>
                          <m:t>𝑚</m:t>
                        </m:r>
                      </m:sub>
                    </m:sSub>
                    <m:sSub>
                      <m:sSubPr>
                        <m:ctrlPr>
                          <a:rPr lang="zh-CN" altLang="zh-CN" sz="2400" i="1">
                            <a:latin typeface="Cambria Math" panose="02040503050406030204" pitchFamily="18" charset="0"/>
                          </a:rPr>
                        </m:ctrlPr>
                      </m:sSubPr>
                      <m:e>
                        <m:r>
                          <a:rPr lang="en-US" altLang="zh-CN" sz="2400" i="1">
                            <a:latin typeface="Cambria Math" panose="02040503050406030204"/>
                          </a:rPr>
                          <m:t>𝑋</m:t>
                        </m:r>
                      </m:e>
                      <m:sub>
                        <m:r>
                          <a:rPr lang="en-US" altLang="zh-CN" sz="2400" i="1">
                            <a:latin typeface="Cambria Math" panose="02040503050406030204"/>
                          </a:rPr>
                          <m:t>𝑖</m:t>
                        </m:r>
                      </m:sub>
                    </m:sSub>
                    <m:r>
                      <a:rPr lang="en-US" altLang="zh-CN" sz="2400" i="1">
                        <a:latin typeface="Cambria Math" panose="02040503050406030204"/>
                      </a:rPr>
                      <m:t>+</m:t>
                    </m:r>
                    <m:sSub>
                      <m:sSubPr>
                        <m:ctrlPr>
                          <a:rPr lang="zh-CN" altLang="zh-CN" sz="2400" i="1">
                            <a:latin typeface="Cambria Math" panose="02040503050406030204" pitchFamily="18" charset="0"/>
                          </a:rPr>
                        </m:ctrlPr>
                      </m:sSubPr>
                      <m:e>
                        <m:r>
                          <a:rPr lang="en-US" altLang="zh-CN" sz="2400" i="1">
                            <a:latin typeface="Cambria Math" panose="02040503050406030204"/>
                          </a:rPr>
                          <m:t>𝜀</m:t>
                        </m:r>
                      </m:e>
                      <m:sub>
                        <m:r>
                          <a:rPr lang="en-US" altLang="zh-CN" sz="2400" i="1">
                            <a:latin typeface="Cambria Math" panose="02040503050406030204"/>
                          </a:rPr>
                          <m:t>𝑖</m:t>
                        </m:r>
                      </m:sub>
                    </m:sSub>
                  </m:oMath>
                </a14:m>
                <a:r>
                  <a:rPr lang="en-US" altLang="zh-CN" sz="2400" i="1" dirty="0"/>
                  <a:t> </a:t>
                </a:r>
                <a:endParaRPr lang="zh-CN"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4173700" y="1139278"/>
                <a:ext cx="5729004" cy="461665"/>
              </a:xfrm>
              <a:prstGeom prst="rect">
                <a:avLst/>
              </a:prstGeom>
              <a:blipFill rotWithShape="1">
                <a:blip r:embed="rId1"/>
                <a:stretch>
                  <a:fillRect l="-8" t="-19" r="-1377" b="23"/>
                </a:stretch>
              </a:blipFill>
            </p:spPr>
            <p:txBody>
              <a:bodyPr/>
              <a:lstStyle/>
              <a:p>
                <a:r>
                  <a:rPr lang="zh-CN" altLang="en-US">
                    <a:noFill/>
                  </a:rPr>
                  <a:t> </a:t>
                </a:r>
              </a:p>
            </p:txBody>
          </p:sp>
        </mc:Fallback>
      </mc:AlternateContent>
      <p:sp>
        <p:nvSpPr>
          <p:cNvPr id="4" name="矩形 3"/>
          <p:cNvSpPr/>
          <p:nvPr/>
        </p:nvSpPr>
        <p:spPr>
          <a:xfrm>
            <a:off x="2426315" y="1108501"/>
            <a:ext cx="2014269" cy="523220"/>
          </a:xfrm>
          <a:prstGeom prst="rect">
            <a:avLst/>
          </a:prstGeom>
        </p:spPr>
        <p:txBody>
          <a:bodyPr wrap="none">
            <a:spAutoFit/>
          </a:bodyPr>
          <a:lstStyle/>
          <a:p>
            <a:r>
              <a:rPr lang="en-US" altLang="zh-CN" sz="2800" dirty="0">
                <a:latin typeface="Times New Roman" panose="02020603050405020304" pitchFamily="18" charset="0"/>
                <a:ea typeface="微软雅黑" panose="020B0503020204020204" charset="-122"/>
                <a:cs typeface="Times New Roman" panose="02020603050405020304" pitchFamily="18" charset="0"/>
              </a:rPr>
              <a:t>Tobit</a:t>
            </a:r>
            <a:r>
              <a:rPr lang="zh-CN" altLang="en-US" sz="2800" dirty="0">
                <a:latin typeface="Times New Roman" panose="02020603050405020304" pitchFamily="18" charset="0"/>
                <a:ea typeface="微软雅黑" panose="020B0503020204020204" charset="-122"/>
                <a:cs typeface="Times New Roman" panose="02020603050405020304" pitchFamily="18" charset="0"/>
              </a:rPr>
              <a:t>模型：</a:t>
            </a:r>
            <a:endParaRPr lang="zh-CN" altLang="zh-CN" sz="28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8" name="文本框 7"/>
          <p:cNvSpPr txBox="1"/>
          <p:nvPr/>
        </p:nvSpPr>
        <p:spPr>
          <a:xfrm>
            <a:off x="500743" y="1909582"/>
            <a:ext cx="11440958" cy="830997"/>
          </a:xfrm>
          <a:prstGeom prst="rect">
            <a:avLst/>
          </a:prstGeom>
          <a:noFill/>
        </p:spPr>
        <p:txBody>
          <a:bodyPr wrap="square">
            <a:spAutoFit/>
          </a:bodyPr>
          <a:lstStyle/>
          <a:p>
            <a:r>
              <a:rPr lang="zh-CN" altLang="en-US" sz="2400" b="1" dirty="0"/>
              <a:t>选取原因  </a:t>
            </a:r>
            <a:r>
              <a:rPr lang="zh-CN" altLang="en-US" sz="2400" dirty="0"/>
              <a:t>本文基准回归中的被解释变量夏普比率是截断的，取值范围为 </a:t>
            </a:r>
            <a:r>
              <a:rPr lang="en-US" altLang="zh-CN" sz="2400" dirty="0"/>
              <a:t>0</a:t>
            </a:r>
            <a:r>
              <a:rPr lang="zh-CN" altLang="en-US" sz="2400" dirty="0"/>
              <a:t>～</a:t>
            </a:r>
            <a:r>
              <a:rPr lang="en-US" altLang="zh-CN" sz="2400" dirty="0"/>
              <a:t>1</a:t>
            </a:r>
            <a:r>
              <a:rPr lang="zh-CN" altLang="en-US" sz="2400" dirty="0"/>
              <a:t>，因此选用 </a:t>
            </a:r>
            <a:r>
              <a:rPr lang="en-US" altLang="zh-CN" sz="2400" dirty="0"/>
              <a:t>Tobit </a:t>
            </a:r>
            <a:r>
              <a:rPr lang="zh-CN" altLang="en-US" sz="2400" dirty="0"/>
              <a:t>模型对其进行分析</a:t>
            </a:r>
            <a:endParaRPr lang="zh-CN" altLang="en-US" sz="2400" dirty="0"/>
          </a:p>
        </p:txBody>
      </p:sp>
      <mc:AlternateContent xmlns:mc="http://schemas.openxmlformats.org/markup-compatibility/2006">
        <mc:Choice xmlns:a14="http://schemas.microsoft.com/office/drawing/2010/main" Requires="a14">
          <p:sp>
            <p:nvSpPr>
              <p:cNvPr id="10" name="文本框 9"/>
              <p:cNvSpPr txBox="1"/>
              <p:nvPr/>
            </p:nvSpPr>
            <p:spPr>
              <a:xfrm>
                <a:off x="524212" y="3096738"/>
                <a:ext cx="10983686" cy="3077766"/>
              </a:xfrm>
              <a:prstGeom prst="rect">
                <a:avLst/>
              </a:prstGeom>
              <a:noFill/>
            </p:spPr>
            <p:txBody>
              <a:bodyPr wrap="square">
                <a:spAutoFit/>
              </a:bodyPr>
              <a:lstStyle/>
              <a:p>
                <a:pPr>
                  <a:spcAft>
                    <a:spcPts val="1200"/>
                  </a:spcAft>
                </a:pPr>
                <a:r>
                  <a:rPr lang="zh-CN" altLang="en-US" sz="2400" b="1" dirty="0"/>
                  <a:t>其中 </a:t>
                </a:r>
                <a14:m>
                  <m:oMath xmlns:m="http://schemas.openxmlformats.org/officeDocument/2006/math">
                    <m:sSub>
                      <m:sSubPr>
                        <m:ctrlPr>
                          <a:rPr lang="zh-CN" altLang="zh-CN" sz="240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i="1">
                            <a:latin typeface="Cambria Math" panose="02040503050406030204"/>
                          </a:rPr>
                          <m:t>𝑆ℎ𝑎𝑟𝑝𝑒</m:t>
                        </m:r>
                        <m:r>
                          <a:rPr lang="en-US" altLang="zh-CN" sz="2400" i="1">
                            <a:latin typeface="Cambria Math" panose="02040503050406030204"/>
                          </a:rPr>
                          <m:t>_</m:t>
                        </m:r>
                        <m:r>
                          <a:rPr lang="en-US" altLang="zh-CN" sz="2400" i="1">
                            <a:latin typeface="Cambria Math" panose="02040503050406030204"/>
                          </a:rPr>
                          <m:t>𝑟𝑎𝑡𝑖𝑜</m:t>
                        </m:r>
                      </m:e>
                      <m:sub>
                        <m:r>
                          <a:rPr lang="en-US" altLang="zh-CN" sz="2400" i="1">
                            <a:latin typeface="Cambria Math" panose="02040503050406030204"/>
                          </a:rPr>
                          <m:t>𝑖</m:t>
                        </m:r>
                      </m:sub>
                    </m:sSub>
                  </m:oMath>
                </a14:m>
                <a:r>
                  <a:rPr lang="zh-CN" altLang="en-US" sz="2400" dirty="0"/>
                  <a:t>，𝑖家庭的夏普比率；</a:t>
                </a:r>
                <a:endParaRPr lang="en-US" altLang="zh-CN" sz="2400" dirty="0"/>
              </a:p>
              <a:p>
                <a:pPr>
                  <a:spcAft>
                    <a:spcPts val="1200"/>
                  </a:spcAft>
                </a:pPr>
                <a:r>
                  <a:rPr lang="en-US" altLang="zh-CN" sz="2400" b="1" dirty="0"/>
                  <a:t>          </a:t>
                </a:r>
                <a14:m>
                  <m:oMath xmlns:m="http://schemas.openxmlformats.org/officeDocument/2006/math">
                    <m:r>
                      <a:rPr lang="en-US" altLang="zh-CN" sz="2400" b="0" i="1" smtClean="0">
                        <a:latin typeface="Cambria Math" panose="02040503050406030204" pitchFamily="18" charset="0"/>
                      </a:rPr>
                      <m:t>𝐷</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𝐹</m:t>
                        </m:r>
                      </m:e>
                      <m:sub>
                        <m:r>
                          <a:rPr lang="en-US" altLang="zh-CN" sz="2400" b="0" i="1" smtClean="0">
                            <a:latin typeface="Cambria Math" panose="02040503050406030204" pitchFamily="18" charset="0"/>
                          </a:rPr>
                          <m:t>𝑖</m:t>
                        </m:r>
                      </m:sub>
                    </m:sSub>
                  </m:oMath>
                </a14:m>
                <a:r>
                  <a:rPr lang="zh-CN" altLang="en-US" sz="2400" dirty="0"/>
                  <a:t>，𝑖家庭所在地区的</a:t>
                </a:r>
                <a:r>
                  <a:rPr lang="zh-CN" altLang="en-US" sz="2400" b="1" dirty="0"/>
                  <a:t>滞后一期</a:t>
                </a:r>
                <a:r>
                  <a:rPr lang="zh-CN" altLang="en-US" sz="2400" dirty="0"/>
                  <a:t>的数字金融发展程度；</a:t>
                </a:r>
                <a:endParaRPr lang="en-US" altLang="zh-CN" sz="2400" dirty="0"/>
              </a:p>
              <a:p>
                <a:pPr>
                  <a:spcAft>
                    <a:spcPts val="1200"/>
                  </a:spcAft>
                </a:pPr>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1</m:t>
                        </m:r>
                      </m:sub>
                    </m:sSub>
                  </m:oMath>
                </a14:m>
                <a:r>
                  <a:rPr lang="zh-CN" altLang="en-US" sz="2400" dirty="0"/>
                  <a:t>，常数项；</a:t>
                </a:r>
                <a:endParaRPr lang="en-US" altLang="zh-CN" sz="2400" dirty="0"/>
              </a:p>
              <a:p>
                <a:pPr>
                  <a:spcAft>
                    <a:spcPts val="1200"/>
                  </a:spcAft>
                </a:pPr>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𝛽</m:t>
                        </m:r>
                      </m:e>
                      <m:sub>
                        <m:r>
                          <a:rPr lang="en-US" altLang="zh-CN" sz="2400" b="0" i="1" smtClean="0">
                            <a:latin typeface="Cambria Math" panose="02040503050406030204" pitchFamily="18" charset="0"/>
                          </a:rPr>
                          <m:t>1</m:t>
                        </m:r>
                      </m:sub>
                    </m:sSub>
                  </m:oMath>
                </a14:m>
                <a:r>
                  <a:rPr lang="zh-CN" altLang="en-US" sz="2400" dirty="0"/>
                  <a:t>，衡量了数字金融的发展对家庭金融资产组合有效性的总体影响；</a:t>
                </a:r>
                <a:endParaRPr lang="en-US" altLang="zh-CN" sz="2400" dirty="0"/>
              </a:p>
              <a:p>
                <a:pPr>
                  <a:spcAft>
                    <a:spcPts val="1200"/>
                  </a:spcAft>
                </a:pPr>
                <a:r>
                  <a:rPr lang="en-US" altLang="zh-CN" sz="2400" dirty="0"/>
                  <a:t>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𝑋</m:t>
                        </m:r>
                      </m:e>
                      <m:sub>
                        <m:r>
                          <a:rPr lang="en-US" altLang="zh-CN" sz="2400" i="1" dirty="0">
                            <a:latin typeface="Cambria Math" panose="02040503050406030204" pitchFamily="18" charset="0"/>
                          </a:rPr>
                          <m:t>𝑖</m:t>
                        </m:r>
                      </m:sub>
                    </m:sSub>
                  </m:oMath>
                </a14:m>
                <a:r>
                  <a:rPr lang="zh-CN" altLang="en-US" sz="2400" dirty="0"/>
                  <a:t>， 控制变量；</a:t>
                </a:r>
                <a:endParaRPr lang="en-US" altLang="zh-CN" sz="2400" dirty="0"/>
              </a:p>
              <a:p>
                <a:pPr>
                  <a:spcAft>
                    <a:spcPts val="1200"/>
                  </a:spcAft>
                </a:pPr>
                <a:r>
                  <a:rPr lang="en-US" altLang="zh-CN" sz="2400" dirty="0"/>
                  <a:t>           </a:t>
                </a:r>
                <a14:m>
                  <m:oMath xmlns:m="http://schemas.openxmlformats.org/officeDocument/2006/math">
                    <m:sSub>
                      <m:sSubPr>
                        <m:ctrlPr>
                          <a:rPr lang="el-GR" altLang="zh-CN" sz="2400" i="1" smtClean="0">
                            <a:latin typeface="Cambria Math" panose="02040503050406030204" pitchFamily="18" charset="0"/>
                            <a:ea typeface="Cambria Math" panose="02040503050406030204" pitchFamily="18" charset="0"/>
                          </a:rPr>
                        </m:ctrlPr>
                      </m:sSubPr>
                      <m:e>
                        <m:r>
                          <a:rPr lang="zh-CN" altLang="el-GR" sz="2400" i="1" smtClean="0">
                            <a:latin typeface="Cambria Math" panose="02040503050406030204" pitchFamily="18" charset="0"/>
                            <a:ea typeface="Cambria Math" panose="02040503050406030204" pitchFamily="18" charset="0"/>
                          </a:rPr>
                          <m:t>𝜀</m:t>
                        </m:r>
                      </m:e>
                      <m:sub>
                        <m:r>
                          <a:rPr lang="en-US" altLang="zh-CN" sz="2400" i="1">
                            <a:latin typeface="Cambria Math" panose="02040503050406030204" pitchFamily="18" charset="0"/>
                            <a:ea typeface="Cambria Math" panose="02040503050406030204" pitchFamily="18" charset="0"/>
                          </a:rPr>
                          <m:t>𝑖</m:t>
                        </m:r>
                      </m:sub>
                    </m:sSub>
                    <m:r>
                      <a:rPr lang="en-US" altLang="zh-CN" sz="2400" i="1">
                        <a:latin typeface="Cambria Math" panose="02040503050406030204" pitchFamily="18" charset="0"/>
                      </a:rPr>
                      <m:t> </m:t>
                    </m:r>
                  </m:oMath>
                </a14:m>
                <a:r>
                  <a:rPr lang="zh-CN" altLang="en-US" sz="2400" dirty="0"/>
                  <a:t>，为随机误差项。 </a:t>
                </a:r>
                <a:endParaRPr lang="zh-CN" alt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524212" y="3096738"/>
                <a:ext cx="10983686" cy="3077766"/>
              </a:xfrm>
              <a:prstGeom prst="rect">
                <a:avLst/>
              </a:prstGeom>
              <a:blipFill rotWithShape="1">
                <a:blip r:embed="rId2"/>
                <a:stretch>
                  <a:fillRect l="-3" t="-1233" r="4" b="13"/>
                </a:stretch>
              </a:blipFill>
            </p:spPr>
            <p:txBody>
              <a:bodyPr/>
              <a:lstStyle/>
              <a:p>
                <a:r>
                  <a:rPr lang="zh-CN" altLang="en-US">
                    <a:noFill/>
                  </a:rPr>
                  <a:t> </a:t>
                </a:r>
              </a:p>
            </p:txBody>
          </p:sp>
        </mc:Fallback>
      </mc:AlternateContent>
      <p:sp>
        <p:nvSpPr>
          <p:cNvPr id="12" name="矩形 11"/>
          <p:cNvSpPr/>
          <p:nvPr/>
        </p:nvSpPr>
        <p:spPr>
          <a:xfrm>
            <a:off x="4874400" y="6392444"/>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矩形 12"/>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18" name="矩形 17"/>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9" name="矩形 18"/>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2" name="等腰三角形 21"/>
          <p:cNvSpPr/>
          <p:nvPr/>
        </p:nvSpPr>
        <p:spPr>
          <a:xfrm>
            <a:off x="6016055" y="6265828"/>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9555"/>
    </mc:Choice>
    <mc:Fallback>
      <p:transition advTm="955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42282" y="314485"/>
            <a:ext cx="8500993" cy="480131"/>
          </a:xfrm>
        </p:spPr>
        <p:txBody>
          <a:bodyPr/>
          <a:lstStyle/>
          <a:p>
            <a:r>
              <a:rPr lang="zh-CN" altLang="zh-CN" dirty="0"/>
              <a:t>基准结果分析</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7706"/>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7" name="矩形 16"/>
          <p:cNvSpPr/>
          <p:nvPr/>
        </p:nvSpPr>
        <p:spPr>
          <a:xfrm>
            <a:off x="472016" y="1219893"/>
            <a:ext cx="3584088" cy="5146281"/>
          </a:xfrm>
          <a:prstGeom prst="rect">
            <a:avLst/>
          </a:prstGeom>
        </p:spPr>
        <p:txBody>
          <a:bodyPr wrap="square">
            <a:spAutoFit/>
          </a:bodyPr>
          <a:lstStyle/>
          <a:p>
            <a:pPr algn="just">
              <a:lnSpc>
                <a:spcPts val="4000"/>
              </a:lnSpc>
            </a:pPr>
            <a:r>
              <a:rPr lang="zh-CN" altLang="zh-CN" sz="2000" dirty="0"/>
              <a:t>数字金融发展</a:t>
            </a:r>
            <a:r>
              <a:rPr lang="zh-CN" altLang="en-US" sz="2000" dirty="0"/>
              <a:t>能整体优化</a:t>
            </a:r>
            <a:r>
              <a:rPr lang="zh-CN" altLang="zh-CN" sz="2000" b="1" dirty="0"/>
              <a:t>城</a:t>
            </a:r>
            <a:r>
              <a:rPr lang="zh-CN" altLang="en-US" sz="2000" b="1" dirty="0"/>
              <a:t>乡</a:t>
            </a:r>
            <a:r>
              <a:rPr lang="zh-CN" altLang="zh-CN" sz="2000" b="1" dirty="0"/>
              <a:t>家庭</a:t>
            </a:r>
            <a:r>
              <a:rPr lang="zh-CN" altLang="zh-CN" sz="2000" dirty="0"/>
              <a:t>金融资产组合有效性</a:t>
            </a:r>
            <a:r>
              <a:rPr lang="zh-CN" altLang="en-US" sz="2000" dirty="0"/>
              <a:t>，但</a:t>
            </a:r>
            <a:r>
              <a:rPr lang="zh-CN" altLang="zh-CN" sz="2000" b="1" dirty="0"/>
              <a:t>更有利于城镇家庭</a:t>
            </a:r>
            <a:r>
              <a:rPr lang="zh-CN" altLang="en-US" sz="2000" dirty="0"/>
              <a:t>金融资产组合</a:t>
            </a:r>
            <a:r>
              <a:rPr lang="zh-CN" altLang="zh-CN" sz="2000" dirty="0"/>
              <a:t>有效性提升</a:t>
            </a:r>
            <a:r>
              <a:rPr lang="zh-CN" altLang="en-US" sz="2000" dirty="0"/>
              <a:t>。假说</a:t>
            </a:r>
            <a:r>
              <a:rPr lang="en-US" altLang="zh-CN" sz="2000" dirty="0"/>
              <a:t>1</a:t>
            </a:r>
            <a:r>
              <a:rPr lang="zh-CN" altLang="en-US" sz="2000" dirty="0"/>
              <a:t>得到验证。</a:t>
            </a:r>
            <a:endParaRPr lang="en-US" altLang="zh-CN" sz="2000" dirty="0"/>
          </a:p>
          <a:p>
            <a:pPr algn="just">
              <a:lnSpc>
                <a:spcPts val="4000"/>
              </a:lnSpc>
            </a:pPr>
            <a:r>
              <a:rPr lang="zh-CN" altLang="zh-CN" sz="2000" dirty="0"/>
              <a:t>这可能与</a:t>
            </a:r>
            <a:r>
              <a:rPr lang="zh-CN" altLang="zh-CN" sz="2000" b="1" dirty="0"/>
              <a:t>农村家庭</a:t>
            </a:r>
            <a:r>
              <a:rPr lang="zh-CN" altLang="en-US" sz="2000" b="1" dirty="0"/>
              <a:t>金融知识相对不足、</a:t>
            </a:r>
            <a:r>
              <a:rPr lang="zh-CN" altLang="zh-CN" sz="2000" b="1" dirty="0"/>
              <a:t>投资理财意识相对淡薄、互联网接入和使用困难</a:t>
            </a:r>
            <a:r>
              <a:rPr lang="zh-CN" altLang="zh-CN" sz="2000" dirty="0"/>
              <a:t>等有关。</a:t>
            </a:r>
            <a:endParaRPr lang="zh-CN" altLang="zh-CN" sz="2000" dirty="0"/>
          </a:p>
          <a:p>
            <a:pPr>
              <a:lnSpc>
                <a:spcPts val="4000"/>
              </a:lnSpc>
            </a:pPr>
            <a:endParaRPr lang="zh-CN" altLang="en-US" dirty="0"/>
          </a:p>
        </p:txBody>
      </p:sp>
      <p:graphicFrame>
        <p:nvGraphicFramePr>
          <p:cNvPr id="15" name="表格 14"/>
          <p:cNvGraphicFramePr>
            <a:graphicFrameLocks noGrp="1"/>
          </p:cNvGraphicFramePr>
          <p:nvPr/>
        </p:nvGraphicFramePr>
        <p:xfrm>
          <a:off x="4241986" y="903949"/>
          <a:ext cx="7635598" cy="5317200"/>
        </p:xfrm>
        <a:graphic>
          <a:graphicData uri="http://schemas.openxmlformats.org/drawingml/2006/table">
            <a:tbl>
              <a:tblPr/>
              <a:tblGrid>
                <a:gridCol w="1379038"/>
                <a:gridCol w="1042760"/>
                <a:gridCol w="1042760"/>
                <a:gridCol w="1042760"/>
                <a:gridCol w="1042760"/>
                <a:gridCol w="1042760"/>
                <a:gridCol w="1042760"/>
              </a:tblGrid>
              <a:tr h="491057">
                <a:tc gridSpan="7">
                  <a:txBody>
                    <a:bodyPr/>
                    <a:lstStyle/>
                    <a:p>
                      <a:pPr algn="ctr" fontAlgn="ctr"/>
                      <a:r>
                        <a:rPr lang="zh-CN" sz="1600" b="0" i="0" u="none" strike="noStrike" dirty="0">
                          <a:solidFill>
                            <a:srgbClr val="000000"/>
                          </a:solidFill>
                          <a:effectLst/>
                          <a:latin typeface="黑体" panose="02010609060101010101" pitchFamily="49" charset="-122"/>
                          <a:ea typeface="黑体" panose="02010609060101010101" pitchFamily="49" charset="-122"/>
                        </a:rPr>
                        <a:t>表2</a:t>
                      </a:r>
                      <a:r>
                        <a:rPr lang="en-US" altLang="zh-CN" sz="1600" b="0" i="0" u="none" strike="noStrike" dirty="0">
                          <a:solidFill>
                            <a:srgbClr val="000000"/>
                          </a:solidFill>
                          <a:effectLst/>
                          <a:latin typeface="黑体" panose="02010609060101010101" pitchFamily="49" charset="-122"/>
                          <a:ea typeface="黑体" panose="02010609060101010101" pitchFamily="49" charset="-122"/>
                        </a:rPr>
                        <a:t>   </a:t>
                      </a:r>
                      <a:r>
                        <a:rPr lang="zh-CN" altLang="en-US" sz="1600" b="0" i="0" u="none" strike="noStrike" dirty="0">
                          <a:solidFill>
                            <a:srgbClr val="000000"/>
                          </a:solidFill>
                          <a:effectLst/>
                          <a:latin typeface="黑体" panose="02010609060101010101" pitchFamily="49" charset="-122"/>
                          <a:ea typeface="黑体" panose="02010609060101010101" pitchFamily="49" charset="-122"/>
                        </a:rPr>
                        <a:t>数字金融发展与家庭金融资产组合有效性</a:t>
                      </a:r>
                      <a:endParaRPr lang="zh-CN" altLang="en-US" sz="1600" b="0" i="0" u="none" strike="noStrike" dirty="0">
                        <a:solidFill>
                          <a:srgbClr val="000000"/>
                        </a:solidFill>
                        <a:effectLst/>
                        <a:latin typeface="黑体" panose="02010609060101010101" pitchFamily="49" charset="-122"/>
                        <a:ea typeface="黑体" panose="02010609060101010101" pitchFamily="49" charset="-122"/>
                      </a:endParaRPr>
                    </a:p>
                  </a:txBody>
                  <a:tcPr marL="4763" marR="4763" marT="4763" marB="0" anchor="ctr">
                    <a:lnL>
                      <a:noFill/>
                    </a:lnL>
                    <a:lnR w="12700" cmpd="sng">
                      <a:noFill/>
                      <a:prstDash val="solid"/>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marL="4763" marR="4763" marT="4763" marB="0" anchor="ctr">
                    <a:lnL>
                      <a:noFill/>
                    </a:lnL>
                    <a:lnR>
                      <a:noFill/>
                    </a:lnR>
                    <a:lnT>
                      <a:noFill/>
                    </a:lnT>
                    <a:lnB w="12700" cap="flat" cmpd="sng" algn="ctr">
                      <a:solidFill>
                        <a:srgbClr val="000000"/>
                      </a:solidFill>
                      <a:prstDash val="solid"/>
                      <a:round/>
                      <a:headEnd type="none" w="med" len="med"/>
                      <a:tailEnd type="none" w="med" len="med"/>
                    </a:lnB>
                  </a:tcPr>
                </a:tc>
                <a:tc hMerge="1">
                  <a:tcPr>
                    <a:lnL w="12700" cmpd="sng">
                      <a:noFill/>
                      <a:prstDash val="solid"/>
                    </a:lnL>
                  </a:tcPr>
                </a:tc>
                <a:tc hMerge="1">
                  <a:tcPr/>
                </a:tc>
                <a:tc hMerge="1">
                  <a:tcPr/>
                </a:tc>
                <a:tc hMerge="1">
                  <a:tcPr/>
                </a:tc>
                <a:tc hMerge="1">
                  <a:tcPr/>
                </a:tc>
              </a:tr>
              <a:tr h="491057">
                <a:tc rowSpan="2">
                  <a:txBody>
                    <a:bodyPr/>
                    <a:lstStyle/>
                    <a:p>
                      <a:pPr algn="l" fontAlgn="ctr"/>
                      <a:r>
                        <a:rPr lang="zh-CN" sz="1600" b="0" i="0" u="none" strike="noStrike" dirty="0">
                          <a:solidFill>
                            <a:srgbClr val="000000"/>
                          </a:solidFill>
                          <a:effectLst/>
                          <a:latin typeface="宋体" panose="02010600030101010101" pitchFamily="2" charset="-122"/>
                          <a:ea typeface="宋体" panose="02010600030101010101" pitchFamily="2" charset="-122"/>
                        </a:rPr>
                        <a:t>　</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zh-CN" sz="1600" b="0" i="0" u="none" strike="noStrike" dirty="0">
                          <a:solidFill>
                            <a:srgbClr val="000000"/>
                          </a:solidFill>
                          <a:effectLst/>
                          <a:latin typeface="宋体" panose="02010600030101010101" pitchFamily="2" charset="-122"/>
                          <a:ea typeface="宋体" panose="02010600030101010101" pitchFamily="2" charset="-122"/>
                        </a:rPr>
                        <a:t>（1）</a:t>
                      </a:r>
                      <a:endParaRPr lang="zh-CN" altLang="en-US" sz="1600" dirty="0"/>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（2）</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0" i="0" u="none" strike="noStrike" dirty="0">
                          <a:solidFill>
                            <a:srgbClr val="000000"/>
                          </a:solidFill>
                          <a:effectLst/>
                          <a:latin typeface="宋体" panose="02010600030101010101" pitchFamily="2" charset="-122"/>
                          <a:ea typeface="宋体" panose="02010600030101010101" pitchFamily="2" charset="-122"/>
                        </a:rPr>
                        <a:t>（3）</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（5）</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0" i="0" u="none" strike="noStrike" dirty="0">
                          <a:solidFill>
                            <a:srgbClr val="000000"/>
                          </a:solidFill>
                          <a:effectLst/>
                          <a:latin typeface="宋体" panose="02010600030101010101" pitchFamily="2" charset="-122"/>
                          <a:ea typeface="宋体" panose="02010600030101010101" pitchFamily="2" charset="-122"/>
                        </a:rPr>
                        <a:t>（6）</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057">
                <a:tc vMerge="1">
                  <a:tcPr/>
                </a:tc>
                <a:tc>
                  <a:txBody>
                    <a:bodyPr/>
                    <a:lstStyle/>
                    <a:p>
                      <a:pPr algn="ctr"/>
                      <a:r>
                        <a:rPr lang="zh-CN" sz="1600" b="1" i="0" u="none" strike="noStrike" dirty="0">
                          <a:solidFill>
                            <a:srgbClr val="000000"/>
                          </a:solidFill>
                          <a:effectLst/>
                          <a:latin typeface="宋体" panose="02010600030101010101" pitchFamily="2" charset="-122"/>
                          <a:ea typeface="宋体" panose="02010600030101010101" pitchFamily="2" charset="-122"/>
                        </a:rPr>
                        <a:t>农村样本</a:t>
                      </a:r>
                      <a:endParaRPr lang="zh-CN" altLang="en-US" sz="1600" dirty="0"/>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1" i="0" u="none" strike="noStrike">
                          <a:solidFill>
                            <a:srgbClr val="000000"/>
                          </a:solidFill>
                          <a:effectLst/>
                          <a:latin typeface="宋体" panose="02010600030101010101" pitchFamily="2" charset="-122"/>
                          <a:ea typeface="宋体" panose="02010600030101010101" pitchFamily="2" charset="-122"/>
                        </a:rPr>
                        <a:t>城镇样本</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1" i="0" u="none" strike="noStrike">
                          <a:solidFill>
                            <a:srgbClr val="000000"/>
                          </a:solidFill>
                          <a:effectLst/>
                          <a:latin typeface="宋体" panose="02010600030101010101" pitchFamily="2" charset="-122"/>
                          <a:ea typeface="宋体" panose="02010600030101010101" pitchFamily="2" charset="-122"/>
                        </a:rPr>
                        <a:t>农村样本</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1" i="0" u="none" strike="noStrike">
                          <a:solidFill>
                            <a:srgbClr val="000000"/>
                          </a:solidFill>
                          <a:effectLst/>
                          <a:latin typeface="宋体" panose="02010600030101010101" pitchFamily="2" charset="-122"/>
                          <a:ea typeface="宋体" panose="02010600030101010101" pitchFamily="2" charset="-122"/>
                        </a:rPr>
                        <a:t>城镇样本</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1" i="0" u="none" strike="noStrike">
                          <a:solidFill>
                            <a:srgbClr val="000000"/>
                          </a:solidFill>
                          <a:effectLst/>
                          <a:latin typeface="宋体" panose="02010600030101010101" pitchFamily="2" charset="-122"/>
                          <a:ea typeface="宋体" panose="02010600030101010101" pitchFamily="2" charset="-122"/>
                        </a:rPr>
                        <a:t>农村样本</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1600" b="1" i="0" u="none" strike="noStrike" dirty="0">
                          <a:solidFill>
                            <a:srgbClr val="000000"/>
                          </a:solidFill>
                          <a:effectLst/>
                          <a:latin typeface="宋体" panose="02010600030101010101" pitchFamily="2" charset="-122"/>
                          <a:ea typeface="宋体" panose="02010600030101010101" pitchFamily="2" charset="-122"/>
                        </a:rPr>
                        <a:t>城镇样本</a:t>
                      </a:r>
                      <a:endParaRPr lang="zh-CN" sz="1600" b="1"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8996">
                <a:tc rowSpan="2">
                  <a:txBody>
                    <a:bodyPr/>
                    <a:lstStyle/>
                    <a:p>
                      <a:pPr algn="l" fontAlgn="ctr"/>
                      <a:r>
                        <a:rPr lang="zh-CN" sz="1600" b="1" i="0" u="none" strike="noStrike" dirty="0">
                          <a:solidFill>
                            <a:srgbClr val="000000"/>
                          </a:solidFill>
                          <a:effectLst/>
                          <a:latin typeface="宋体" panose="02010600030101010101" pitchFamily="2" charset="-122"/>
                          <a:ea typeface="宋体" panose="02010600030101010101" pitchFamily="2" charset="-122"/>
                        </a:rPr>
                        <a:t>数字金融发展水平</a:t>
                      </a:r>
                      <a:endParaRPr lang="zh-CN" sz="1600" b="1"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w="12700" cap="flat" cmpd="sng" algn="ctr">
                      <a:noFill/>
                      <a:prstDash val="solid"/>
                      <a:round/>
                      <a:headEnd type="none" w="med" len="med"/>
                      <a:tailEnd type="none" w="med" len="med"/>
                    </a:lnT>
                    <a:lnB>
                      <a:noFill/>
                    </a:lnB>
                  </a:tcPr>
                </a:tc>
                <a:tc>
                  <a:txBody>
                    <a:bodyPr/>
                    <a:lstStyle/>
                    <a:p>
                      <a:pPr algn="ctr"/>
                      <a:r>
                        <a:rPr lang="en-US" sz="1600" b="1" i="0" u="none" strike="noStrike" dirty="0">
                          <a:solidFill>
                            <a:srgbClr val="000000"/>
                          </a:solidFill>
                          <a:effectLst/>
                          <a:latin typeface="Times New Roman" panose="02020603050405020304" pitchFamily="18" charset="0"/>
                          <a:ea typeface="等线" panose="02010600030101010101" charset="-122"/>
                        </a:rPr>
                        <a:t>0.014</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altLang="en-US" sz="1600" b="1" dirty="0"/>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sz="1600" b="1" i="0" u="none" strike="noStrike" dirty="0">
                          <a:solidFill>
                            <a:srgbClr val="000000"/>
                          </a:solidFill>
                          <a:effectLst/>
                          <a:latin typeface="Times New Roman" panose="02020603050405020304" pitchFamily="18" charset="0"/>
                          <a:ea typeface="等线" panose="02010600030101010101" charset="-122"/>
                        </a:rPr>
                        <a:t>0.076</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sz="1600" b="1"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sz="1600" b="1" i="0" u="none" strike="noStrike" dirty="0">
                          <a:solidFill>
                            <a:srgbClr val="000000"/>
                          </a:solidFill>
                          <a:effectLst/>
                          <a:latin typeface="Times New Roman" panose="02020603050405020304" pitchFamily="18" charset="0"/>
                          <a:ea typeface="等线" panose="02010600030101010101" charset="-122"/>
                        </a:rPr>
                        <a:t>0.013</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sz="1600" b="1"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sz="1600" b="1" i="0" u="none" strike="noStrike" dirty="0">
                          <a:solidFill>
                            <a:srgbClr val="000000"/>
                          </a:solidFill>
                          <a:effectLst/>
                          <a:latin typeface="Times New Roman" panose="02020603050405020304" pitchFamily="18" charset="0"/>
                          <a:ea typeface="等线" panose="02010600030101010101" charset="-122"/>
                        </a:rPr>
                        <a:t>0.058</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sz="1600" b="1"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sz="1600" b="1" i="0" u="none" strike="noStrike" dirty="0">
                          <a:solidFill>
                            <a:srgbClr val="000000"/>
                          </a:solidFill>
                          <a:effectLst/>
                          <a:latin typeface="Times New Roman" panose="02020603050405020304" pitchFamily="18" charset="0"/>
                          <a:ea typeface="等线" panose="02010600030101010101" charset="-122"/>
                        </a:rPr>
                        <a:t>0.009</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sz="1600" b="1"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sz="1600" b="1" i="0" u="none" strike="noStrike" dirty="0">
                          <a:solidFill>
                            <a:srgbClr val="000000"/>
                          </a:solidFill>
                          <a:effectLst/>
                          <a:latin typeface="Times New Roman" panose="02020603050405020304" pitchFamily="18" charset="0"/>
                          <a:ea typeface="等线" panose="02010600030101010101" charset="-122"/>
                        </a:rPr>
                        <a:t>0.032</a:t>
                      </a:r>
                      <a:r>
                        <a:rPr lang="en-US" sz="1600" b="1" i="0" u="none" strike="noStrike" baseline="30000" dirty="0">
                          <a:solidFill>
                            <a:srgbClr val="000000"/>
                          </a:solidFill>
                          <a:effectLst/>
                          <a:latin typeface="Times New Roman" panose="02020603050405020304" pitchFamily="18" charset="0"/>
                          <a:ea typeface="等线" panose="02010600030101010101" charset="-122"/>
                        </a:rPr>
                        <a:t>***</a:t>
                      </a:r>
                      <a:endParaRPr lang="zh-CN" sz="1600" b="1"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w="12700" cap="flat" cmpd="sng" algn="ctr">
                      <a:solidFill>
                        <a:srgbClr val="000000"/>
                      </a:solidFill>
                      <a:prstDash val="solid"/>
                      <a:round/>
                      <a:headEnd type="none" w="med" len="med"/>
                      <a:tailEnd type="none" w="med" len="med"/>
                    </a:lnT>
                    <a:lnB>
                      <a:noFill/>
                    </a:lnB>
                  </a:tcPr>
                </a:tc>
              </a:tr>
              <a:tr h="478996">
                <a:tc vMerge="1">
                  <a:tcPr/>
                </a:tc>
                <a:tc>
                  <a:txBody>
                    <a:bodyPr/>
                    <a:lstStyle/>
                    <a:p>
                      <a:pPr algn="ctr"/>
                      <a:r>
                        <a:rPr lang="zh-CN" sz="1600" b="0" i="0" u="none" strike="noStrike" dirty="0">
                          <a:solidFill>
                            <a:srgbClr val="000000"/>
                          </a:solidFill>
                          <a:effectLst/>
                          <a:latin typeface="宋体" panose="02010600030101010101" pitchFamily="2" charset="-122"/>
                          <a:ea typeface="宋体" panose="02010600030101010101" pitchFamily="2" charset="-122"/>
                        </a:rPr>
                        <a:t>（0.003）</a:t>
                      </a:r>
                      <a:endParaRPr lang="zh-CN" altLang="en-US" sz="1600" dirty="0"/>
                    </a:p>
                  </a:txBody>
                  <a:tcPr marL="4763" marR="4763" marT="4763" marB="0" anchor="ctr">
                    <a:lnL>
                      <a:noFill/>
                    </a:lnL>
                    <a:lnR>
                      <a:noFill/>
                    </a:lnR>
                    <a:lnT>
                      <a:noFill/>
                    </a:lnT>
                    <a:lnB>
                      <a:noFill/>
                    </a:lnB>
                  </a:tcPr>
                </a:tc>
                <a:tc>
                  <a:txBody>
                    <a:bodyPr/>
                    <a:lstStyle/>
                    <a:p>
                      <a:pPr algn="ctr" fontAlgn="ctr"/>
                      <a:r>
                        <a:rPr lang="zh-CN" sz="1600" b="0" i="0" u="none" strike="noStrike" dirty="0">
                          <a:solidFill>
                            <a:srgbClr val="000000"/>
                          </a:solidFill>
                          <a:effectLst/>
                          <a:latin typeface="宋体" panose="02010600030101010101" pitchFamily="2" charset="-122"/>
                          <a:ea typeface="宋体" panose="02010600030101010101" pitchFamily="2" charset="-122"/>
                        </a:rPr>
                        <a:t>（0.004）</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dirty="0">
                          <a:solidFill>
                            <a:srgbClr val="000000"/>
                          </a:solidFill>
                          <a:effectLst/>
                          <a:latin typeface="宋体" panose="02010600030101010101" pitchFamily="2" charset="-122"/>
                          <a:ea typeface="宋体" panose="02010600030101010101" pitchFamily="2" charset="-122"/>
                        </a:rPr>
                        <a:t>（0.003）</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（0.004）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（0.003）</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（0.005）</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r>
              <a:tr h="478996">
                <a:tc>
                  <a:txBody>
                    <a:bodyPr/>
                    <a:lstStyle/>
                    <a:p>
                      <a:pPr algn="l" fontAlgn="ctr"/>
                      <a:r>
                        <a:rPr lang="zh-CN" sz="1600" b="0" i="0" u="none" strike="noStrike" dirty="0">
                          <a:solidFill>
                            <a:srgbClr val="000000"/>
                          </a:solidFill>
                          <a:effectLst/>
                          <a:latin typeface="宋体" panose="02010600030101010101" pitchFamily="2" charset="-122"/>
                          <a:ea typeface="宋体" panose="02010600030101010101" pitchFamily="2" charset="-122"/>
                        </a:rPr>
                        <a:t>控制户主特征</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a:r>
                        <a:rPr lang="zh-CN" altLang="en-US" sz="1600" b="0" i="0" u="none" strike="noStrike" dirty="0">
                          <a:solidFill>
                            <a:srgbClr val="000000"/>
                          </a:solidFill>
                          <a:effectLst/>
                          <a:latin typeface="宋体" panose="02010600030101010101" pitchFamily="2" charset="-122"/>
                          <a:ea typeface="宋体" panose="02010600030101010101" pitchFamily="2" charset="-122"/>
                        </a:rPr>
                        <a:t>否</a:t>
                      </a:r>
                      <a:endParaRPr lang="zh-CN" altLang="en-US" sz="1600" dirty="0"/>
                    </a:p>
                  </a:txBody>
                  <a:tcPr marL="4763" marR="4763" marT="4763" marB="0" anchor="ctr">
                    <a:lnL>
                      <a:noFill/>
                    </a:lnL>
                    <a:lnR>
                      <a:noFill/>
                    </a:lnR>
                    <a:lnT>
                      <a:noFill/>
                    </a:lnT>
                    <a:lnB>
                      <a:noFill/>
                    </a:lnB>
                  </a:tcPr>
                </a:tc>
                <a:tc>
                  <a:txBody>
                    <a:bodyPr/>
                    <a:lstStyle/>
                    <a:p>
                      <a:pPr algn="ctr" fontAlgn="ctr"/>
                      <a:r>
                        <a:rPr lang="zh-CN" altLang="en-US" sz="1600" b="0" i="0" u="none" strike="noStrike" dirty="0">
                          <a:solidFill>
                            <a:srgbClr val="000000"/>
                          </a:solidFill>
                          <a:effectLst/>
                          <a:latin typeface="宋体" panose="02010600030101010101" pitchFamily="2" charset="-122"/>
                          <a:ea typeface="宋体" panose="02010600030101010101" pitchFamily="2" charset="-122"/>
                        </a:rPr>
                        <a:t>否</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r>
              <a:tr h="478996">
                <a:tc>
                  <a:txBody>
                    <a:bodyPr/>
                    <a:lstStyle/>
                    <a:p>
                      <a:pPr algn="l" fontAlgn="ctr"/>
                      <a:r>
                        <a:rPr lang="zh-CN" sz="1600" b="0" i="0" u="none" strike="noStrike">
                          <a:solidFill>
                            <a:srgbClr val="000000"/>
                          </a:solidFill>
                          <a:effectLst/>
                          <a:latin typeface="宋体" panose="02010600030101010101" pitchFamily="2" charset="-122"/>
                          <a:ea typeface="宋体" panose="02010600030101010101" pitchFamily="2" charset="-122"/>
                        </a:rPr>
                        <a:t>控制家庭特征</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a:r>
                        <a:rPr lang="zh-CN" altLang="en-US" sz="1600" b="0" i="0" u="none" strike="noStrike" dirty="0">
                          <a:solidFill>
                            <a:srgbClr val="000000"/>
                          </a:solidFill>
                          <a:effectLst/>
                          <a:latin typeface="宋体" panose="02010600030101010101" pitchFamily="2" charset="-122"/>
                          <a:ea typeface="宋体" panose="02010600030101010101" pitchFamily="2" charset="-122"/>
                        </a:rPr>
                        <a:t>否</a:t>
                      </a:r>
                      <a:endParaRPr lang="zh-CN" altLang="en-US" sz="1600" dirty="0"/>
                    </a:p>
                  </a:txBody>
                  <a:tcPr marL="4763" marR="4763" marT="4763" marB="0" anchor="ctr">
                    <a:lnL>
                      <a:noFill/>
                    </a:lnL>
                    <a:lnR>
                      <a:noFill/>
                    </a:lnR>
                    <a:lnT>
                      <a:noFill/>
                    </a:lnT>
                    <a:lnB>
                      <a:noFill/>
                    </a:lnB>
                  </a:tcPr>
                </a:tc>
                <a:tc>
                  <a:txBody>
                    <a:bodyPr/>
                    <a:lstStyle/>
                    <a:p>
                      <a:pPr algn="ctr" fontAlgn="ctr"/>
                      <a:r>
                        <a:rPr lang="zh-CN" altLang="en-US" sz="1600" b="0" i="0" u="none" strike="noStrike" dirty="0">
                          <a:solidFill>
                            <a:srgbClr val="000000"/>
                          </a:solidFill>
                          <a:effectLst/>
                          <a:latin typeface="宋体" panose="02010600030101010101" pitchFamily="2" charset="-122"/>
                          <a:ea typeface="宋体" panose="02010600030101010101" pitchFamily="2" charset="-122"/>
                        </a:rPr>
                        <a:t>否</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altLang="en-US" sz="1600" b="0" i="0" u="none" strike="noStrike" dirty="0">
                          <a:solidFill>
                            <a:srgbClr val="000000"/>
                          </a:solidFill>
                          <a:effectLst/>
                          <a:latin typeface="宋体" panose="02010600030101010101" pitchFamily="2" charset="-122"/>
                          <a:ea typeface="宋体" panose="02010600030101010101" pitchFamily="2" charset="-122"/>
                        </a:rPr>
                        <a:t>否</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altLang="en-US" sz="1600" b="0" i="0" u="none" strike="noStrike">
                          <a:solidFill>
                            <a:srgbClr val="000000"/>
                          </a:solidFill>
                          <a:effectLst/>
                          <a:latin typeface="宋体" panose="02010600030101010101" pitchFamily="2" charset="-122"/>
                          <a:ea typeface="宋体" panose="02010600030101010101" pitchFamily="2" charset="-122"/>
                        </a:rPr>
                        <a:t>否</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是</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r>
              <a:tr h="478996">
                <a:tc rowSpan="2">
                  <a:txBody>
                    <a:bodyPr/>
                    <a:lstStyle/>
                    <a:p>
                      <a:pPr algn="l" fontAlgn="ctr"/>
                      <a:r>
                        <a:rPr lang="en-US" sz="1600" b="0" i="0" u="none" strike="noStrike">
                          <a:solidFill>
                            <a:srgbClr val="000000"/>
                          </a:solidFill>
                          <a:effectLst/>
                          <a:latin typeface="Times New Roman" panose="02020603050405020304" pitchFamily="18" charset="0"/>
                          <a:ea typeface="等线" panose="02010600030101010101" charset="-122"/>
                        </a:rPr>
                        <a:t>Constant</a:t>
                      </a:r>
                      <a:endParaRPr lang="zh-CN" sz="1600" b="0" i="0" u="none" strike="noStrike">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a:r>
                        <a:rPr lang="en-US" sz="1600" b="0" i="0" u="none" strike="noStrike" dirty="0">
                          <a:solidFill>
                            <a:srgbClr val="000000"/>
                          </a:solidFill>
                          <a:effectLst/>
                          <a:latin typeface="Times New Roman" panose="02020603050405020304" pitchFamily="18" charset="0"/>
                          <a:ea typeface="等线" panose="02010600030101010101" charset="-122"/>
                        </a:rPr>
                        <a:t>-0.398</a:t>
                      </a:r>
                      <a:r>
                        <a:rPr lang="en-US" sz="1600" b="0" i="0" u="none" strike="noStrike" baseline="30000" dirty="0">
                          <a:solidFill>
                            <a:srgbClr val="000000"/>
                          </a:solidFill>
                          <a:effectLst/>
                          <a:latin typeface="Times New Roman" panose="02020603050405020304" pitchFamily="18" charset="0"/>
                          <a:ea typeface="等线" panose="02010600030101010101" charset="-122"/>
                        </a:rPr>
                        <a:t>***</a:t>
                      </a:r>
                      <a:endParaRPr lang="zh-CN" altLang="en-US" sz="1600" dirty="0"/>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-0.365</a:t>
                      </a:r>
                      <a:r>
                        <a:rPr lang="en-US" sz="1600" b="0" i="0" u="none" strike="noStrike" baseline="30000" dirty="0">
                          <a:solidFill>
                            <a:srgbClr val="000000"/>
                          </a:solidFill>
                          <a:effectLst/>
                          <a:latin typeface="Times New Roman" panose="02020603050405020304" pitchFamily="18" charset="0"/>
                          <a:ea typeface="等线" panose="02010600030101010101" charset="-122"/>
                        </a:rPr>
                        <a:t>***</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a:solidFill>
                            <a:srgbClr val="000000"/>
                          </a:solidFill>
                          <a:effectLst/>
                          <a:latin typeface="Times New Roman" panose="02020603050405020304" pitchFamily="18" charset="0"/>
                          <a:ea typeface="等线" panose="02010600030101010101" charset="-122"/>
                        </a:rPr>
                        <a:t>-0.062</a:t>
                      </a:r>
                      <a:r>
                        <a:rPr lang="en-US" sz="1600" b="0" i="0" u="none" strike="noStrike" baseline="30000">
                          <a:solidFill>
                            <a:srgbClr val="000000"/>
                          </a:solidFill>
                          <a:effectLst/>
                          <a:latin typeface="Times New Roman" panose="02020603050405020304" pitchFamily="18" charset="0"/>
                          <a:ea typeface="等线" panose="02010600030101010101" charset="-122"/>
                        </a:rPr>
                        <a:t>***</a:t>
                      </a:r>
                      <a:endParaRPr lang="zh-CN" sz="1600" b="0" i="0" u="none" strike="noStrike">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-0.311</a:t>
                      </a:r>
                      <a:r>
                        <a:rPr lang="en-US" sz="1600" b="0" i="0" u="none" strike="noStrike" baseline="30000" dirty="0">
                          <a:solidFill>
                            <a:srgbClr val="000000"/>
                          </a:solidFill>
                          <a:effectLst/>
                          <a:latin typeface="Times New Roman" panose="02020603050405020304" pitchFamily="18" charset="0"/>
                          <a:ea typeface="等线" panose="02010600030101010101" charset="-122"/>
                        </a:rPr>
                        <a:t>***</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a:solidFill>
                            <a:srgbClr val="000000"/>
                          </a:solidFill>
                          <a:effectLst/>
                          <a:latin typeface="Times New Roman" panose="02020603050405020304" pitchFamily="18" charset="0"/>
                          <a:ea typeface="等线" panose="02010600030101010101" charset="-122"/>
                        </a:rPr>
                        <a:t>-0.044</a:t>
                      </a:r>
                      <a:r>
                        <a:rPr lang="en-US" sz="1600" b="0" i="0" u="none" strike="noStrike" baseline="30000">
                          <a:solidFill>
                            <a:srgbClr val="000000"/>
                          </a:solidFill>
                          <a:effectLst/>
                          <a:latin typeface="Times New Roman" panose="02020603050405020304" pitchFamily="18" charset="0"/>
                          <a:ea typeface="等线" panose="02010600030101010101" charset="-122"/>
                        </a:rPr>
                        <a:t>***</a:t>
                      </a:r>
                      <a:endParaRPr lang="zh-CN" sz="1600" b="0" i="0" u="none" strike="noStrike">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a:solidFill>
                            <a:srgbClr val="000000"/>
                          </a:solidFill>
                          <a:effectLst/>
                          <a:latin typeface="Times New Roman" panose="02020603050405020304" pitchFamily="18" charset="0"/>
                          <a:ea typeface="等线" panose="02010600030101010101" charset="-122"/>
                        </a:rPr>
                        <a:t>-0.165</a:t>
                      </a:r>
                      <a:r>
                        <a:rPr lang="en-US" sz="1600" b="0" i="0" u="none" strike="noStrike" baseline="30000">
                          <a:solidFill>
                            <a:srgbClr val="000000"/>
                          </a:solidFill>
                          <a:effectLst/>
                          <a:latin typeface="Times New Roman" panose="02020603050405020304" pitchFamily="18" charset="0"/>
                          <a:ea typeface="等线" panose="02010600030101010101" charset="-122"/>
                        </a:rPr>
                        <a:t>***</a:t>
                      </a:r>
                      <a:endParaRPr lang="zh-CN" sz="1600" b="0" i="0" u="none" strike="noStrike">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r>
              <a:tr h="478996">
                <a:tc vMerge="1">
                  <a:tcPr/>
                </a:tc>
                <a:tc>
                  <a:txBody>
                    <a:bodyPr/>
                    <a:lstStyle/>
                    <a:p>
                      <a:pPr algn="ctr"/>
                      <a:r>
                        <a:rPr lang="zh-CN" sz="1600" b="0" i="0" u="none" strike="noStrike" dirty="0">
                          <a:solidFill>
                            <a:srgbClr val="000000"/>
                          </a:solidFill>
                          <a:effectLst/>
                          <a:latin typeface="宋体" panose="02010600030101010101" pitchFamily="2" charset="-122"/>
                          <a:ea typeface="宋体" panose="02010600030101010101" pitchFamily="2" charset="-122"/>
                        </a:rPr>
                        <a:t>（0.017）</a:t>
                      </a:r>
                      <a:endParaRPr lang="zh-CN" altLang="en-US" sz="1600" dirty="0"/>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（0.025）</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（0.024）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（0.017）</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dirty="0">
                          <a:solidFill>
                            <a:srgbClr val="000000"/>
                          </a:solidFill>
                          <a:effectLst/>
                          <a:latin typeface="宋体" panose="02010600030101010101" pitchFamily="2" charset="-122"/>
                          <a:ea typeface="宋体" panose="02010600030101010101" pitchFamily="2" charset="-122"/>
                        </a:rPr>
                        <a:t>（0.026）</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fontAlgn="ctr"/>
                      <a:r>
                        <a:rPr lang="zh-CN" sz="1600" b="0" i="0" u="none" strike="noStrike">
                          <a:solidFill>
                            <a:srgbClr val="000000"/>
                          </a:solidFill>
                          <a:effectLst/>
                          <a:latin typeface="宋体" panose="02010600030101010101" pitchFamily="2" charset="-122"/>
                          <a:ea typeface="宋体" panose="02010600030101010101" pitchFamily="2" charset="-122"/>
                        </a:rPr>
                        <a:t>（0.017）</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r>
              <a:tr h="478996">
                <a:tc>
                  <a:txBody>
                    <a:bodyPr/>
                    <a:lstStyle/>
                    <a:p>
                      <a:pPr algn="l" fontAlgn="ctr"/>
                      <a:r>
                        <a:rPr lang="zh-CN" sz="1600" b="0" i="0" u="none" strike="noStrike">
                          <a:solidFill>
                            <a:srgbClr val="000000"/>
                          </a:solidFill>
                          <a:effectLst/>
                          <a:latin typeface="宋体" panose="02010600030101010101" pitchFamily="2" charset="-122"/>
                          <a:ea typeface="宋体" panose="02010600030101010101" pitchFamily="2" charset="-122"/>
                        </a:rPr>
                        <a:t>观测值</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a:noFill/>
                    </a:lnB>
                  </a:tcPr>
                </a:tc>
                <a:tc>
                  <a:txBody>
                    <a:bodyPr/>
                    <a:lstStyle/>
                    <a:p>
                      <a:pPr algn="ctr"/>
                      <a:r>
                        <a:rPr lang="en-US" sz="1600" b="0" i="0" u="none" strike="noStrike" dirty="0">
                          <a:solidFill>
                            <a:srgbClr val="000000"/>
                          </a:solidFill>
                          <a:effectLst/>
                          <a:latin typeface="Times New Roman" panose="02020603050405020304" pitchFamily="18" charset="0"/>
                          <a:ea typeface="等线" panose="02010600030101010101" charset="-122"/>
                        </a:rPr>
                        <a:t>3,987</a:t>
                      </a:r>
                      <a:endParaRPr lang="zh-CN" altLang="en-US" sz="1600" dirty="0"/>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7,129</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3,987</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7,129</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3,987</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c>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7,129</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a:noFill/>
                    </a:lnB>
                  </a:tcPr>
                </a:tc>
              </a:tr>
              <a:tr h="491057">
                <a:tc>
                  <a:txBody>
                    <a:bodyPr/>
                    <a:lstStyle/>
                    <a:p>
                      <a:pPr algn="l" fontAlgn="ctr"/>
                      <a:r>
                        <a:rPr lang="zh-CN" sz="1600" b="0" i="0" u="none" strike="noStrike">
                          <a:solidFill>
                            <a:srgbClr val="000000"/>
                          </a:solidFill>
                          <a:effectLst/>
                          <a:latin typeface="宋体" panose="02010600030101010101" pitchFamily="2" charset="-122"/>
                          <a:ea typeface="宋体" panose="02010600030101010101" pitchFamily="2" charset="-122"/>
                        </a:rPr>
                        <a:t>经验</a:t>
                      </a:r>
                      <a:r>
                        <a:rPr lang="zh-CN" sz="1600" b="0" i="0" u="none" strike="noStrike">
                          <a:solidFill>
                            <a:srgbClr val="000000"/>
                          </a:solidFill>
                          <a:effectLst/>
                          <a:latin typeface="Times New Roman" panose="02020603050405020304" pitchFamily="18" charset="0"/>
                          <a:ea typeface="宋体" panose="02010600030101010101" pitchFamily="2" charset="-122"/>
                        </a:rPr>
                        <a:t>p</a:t>
                      </a:r>
                      <a:r>
                        <a:rPr lang="zh-CN" sz="1600" b="0" i="0" u="none" strike="noStrike">
                          <a:solidFill>
                            <a:srgbClr val="000000"/>
                          </a:solidFill>
                          <a:effectLst/>
                          <a:latin typeface="宋体" panose="02010600030101010101" pitchFamily="2" charset="-122"/>
                          <a:ea typeface="宋体" panose="02010600030101010101" pitchFamily="2" charset="-122"/>
                        </a:rPr>
                        <a:t>值</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4763" marR="4763" marT="4763"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b="0" i="0" u="none" strike="noStrike" dirty="0">
                          <a:solidFill>
                            <a:srgbClr val="000000"/>
                          </a:solidFill>
                          <a:effectLst/>
                          <a:latin typeface="Times New Roman" panose="02020603050405020304" pitchFamily="18" charset="0"/>
                          <a:ea typeface="等线" panose="02010600030101010101" charset="-122"/>
                        </a:rPr>
                        <a:t>0.000</a:t>
                      </a:r>
                      <a:r>
                        <a:rPr lang="en-US" sz="1600" b="0" i="0" u="none" strike="noStrike" baseline="30000" dirty="0">
                          <a:solidFill>
                            <a:srgbClr val="000000"/>
                          </a:solidFill>
                          <a:effectLst/>
                          <a:latin typeface="Times New Roman" panose="02020603050405020304" pitchFamily="18" charset="0"/>
                          <a:ea typeface="等线" panose="02010600030101010101" charset="-122"/>
                        </a:rPr>
                        <a:t>***</a:t>
                      </a:r>
                      <a:endParaRPr lang="zh-CN" altLang="en-US" sz="1600" dirty="0"/>
                    </a:p>
                  </a:txBody>
                  <a:tcPr marL="4763" marR="4763" marT="4763" marB="0" anchor="ctr">
                    <a:lnL>
                      <a:noFill/>
                    </a:lnL>
                    <a:lnR>
                      <a:noFill/>
                    </a:lnR>
                    <a:lnT>
                      <a:noFill/>
                    </a:lnT>
                    <a:lnB w="19050" cap="flat" cmpd="sng" algn="ctr">
                      <a:solidFill>
                        <a:srgbClr val="000000"/>
                      </a:solidFill>
                      <a:prstDash val="solid"/>
                      <a:round/>
                      <a:headEnd type="none" w="med" len="med"/>
                      <a:tailEnd type="none" w="med" len="med"/>
                    </a:lnB>
                  </a:tcPr>
                </a:tc>
                <a:tc hMerge="1">
                  <a:tcPr>
                    <a:lnL w="12700" cmpd="sng">
                      <a:noFill/>
                      <a:prstDash val="solid"/>
                    </a:lnL>
                    <a:lnT w="12700" cmpd="sng">
                      <a:noFill/>
                      <a:prstDash val="solid"/>
                    </a:lnT>
                  </a:tcPr>
                </a:tc>
                <a:tc gridSpan="2">
                  <a:txBody>
                    <a:bodyPr/>
                    <a:lstStyle/>
                    <a:p>
                      <a:pPr algn="ctr" fontAlgn="ctr"/>
                      <a:r>
                        <a:rPr lang="en-US" sz="1600" b="0" i="0" u="none" strike="noStrike">
                          <a:solidFill>
                            <a:srgbClr val="000000"/>
                          </a:solidFill>
                          <a:effectLst/>
                          <a:latin typeface="Times New Roman" panose="02020603050405020304" pitchFamily="18" charset="0"/>
                          <a:ea typeface="等线" panose="02010600030101010101" charset="-122"/>
                        </a:rPr>
                        <a:t>0.000</a:t>
                      </a:r>
                      <a:r>
                        <a:rPr lang="en-US" sz="1600" b="0" i="0" u="none" strike="noStrike" baseline="30000">
                          <a:solidFill>
                            <a:srgbClr val="000000"/>
                          </a:solidFill>
                          <a:effectLst/>
                          <a:latin typeface="Times New Roman" panose="02020603050405020304" pitchFamily="18" charset="0"/>
                          <a:ea typeface="等线" panose="02010600030101010101" charset="-122"/>
                        </a:rPr>
                        <a:t>***</a:t>
                      </a:r>
                      <a:endParaRPr lang="zh-CN" sz="1600" b="0" i="0" u="none" strike="noStrike">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w="19050" cap="flat" cmpd="sng" algn="ctr">
                      <a:solidFill>
                        <a:srgbClr val="000000"/>
                      </a:solidFill>
                      <a:prstDash val="solid"/>
                      <a:round/>
                      <a:headEnd type="none" w="med" len="med"/>
                      <a:tailEnd type="none" w="med" len="med"/>
                    </a:lnB>
                  </a:tcPr>
                </a:tc>
                <a:tc hMerge="1">
                  <a:tcPr/>
                </a:tc>
                <a:tc gridSpan="2">
                  <a:txBody>
                    <a:bodyPr/>
                    <a:lstStyle/>
                    <a:p>
                      <a:pPr algn="ctr" fontAlgn="ctr"/>
                      <a:r>
                        <a:rPr lang="en-US" sz="1600" b="0" i="0" u="none" strike="noStrike" dirty="0">
                          <a:solidFill>
                            <a:srgbClr val="000000"/>
                          </a:solidFill>
                          <a:effectLst/>
                          <a:latin typeface="Times New Roman" panose="02020603050405020304" pitchFamily="18" charset="0"/>
                          <a:ea typeface="等线" panose="02010600030101010101" charset="-122"/>
                        </a:rPr>
                        <a:t>0.000</a:t>
                      </a:r>
                      <a:r>
                        <a:rPr lang="en-US" sz="1600" b="0" i="0" u="none" strike="noStrike" baseline="30000" dirty="0">
                          <a:solidFill>
                            <a:srgbClr val="000000"/>
                          </a:solidFill>
                          <a:effectLst/>
                          <a:latin typeface="Times New Roman" panose="02020603050405020304" pitchFamily="18" charset="0"/>
                          <a:ea typeface="等线" panose="02010600030101010101" charset="-122"/>
                        </a:rPr>
                        <a:t>***</a:t>
                      </a:r>
                      <a:endParaRPr lang="zh-CN" sz="1600" b="0" i="0" u="none" strike="noStrike" dirty="0">
                        <a:solidFill>
                          <a:srgbClr val="000000"/>
                        </a:solidFill>
                        <a:effectLst/>
                        <a:latin typeface="Times New Roman" panose="02020603050405020304" pitchFamily="18" charset="0"/>
                        <a:ea typeface="等线" panose="02010600030101010101" charset="-122"/>
                      </a:endParaRPr>
                    </a:p>
                  </a:txBody>
                  <a:tcPr marL="4763" marR="4763" marT="4763" marB="0" anchor="ctr">
                    <a:lnL>
                      <a:noFill/>
                    </a:lnL>
                    <a:lnR>
                      <a:noFill/>
                    </a:lnR>
                    <a:lnT>
                      <a:noFill/>
                    </a:lnT>
                    <a:lnB w="19050" cap="flat" cmpd="sng" algn="ctr">
                      <a:solidFill>
                        <a:srgbClr val="000000"/>
                      </a:solidFill>
                      <a:prstDash val="solid"/>
                      <a:round/>
                      <a:headEnd type="none" w="med" len="med"/>
                      <a:tailEnd type="none" w="med" len="med"/>
                    </a:lnB>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156704" y="344817"/>
            <a:ext cx="9673811" cy="480131"/>
          </a:xfrm>
        </p:spPr>
        <p:txBody>
          <a:bodyPr/>
          <a:lstStyle/>
          <a:p>
            <a:r>
              <a:rPr lang="zh-CN" altLang="zh-CN" dirty="0"/>
              <a:t>基准结果分析</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7" name="矩形 16"/>
          <p:cNvSpPr/>
          <p:nvPr/>
        </p:nvSpPr>
        <p:spPr>
          <a:xfrm>
            <a:off x="478579" y="1119859"/>
            <a:ext cx="3585600" cy="3424655"/>
          </a:xfrm>
          <a:prstGeom prst="rect">
            <a:avLst/>
          </a:prstGeom>
        </p:spPr>
        <p:txBody>
          <a:bodyPr wrap="square">
            <a:spAutoFit/>
          </a:bodyPr>
          <a:lstStyle/>
          <a:p>
            <a:pPr>
              <a:lnSpc>
                <a:spcPts val="4000"/>
              </a:lnSpc>
            </a:pPr>
            <a:r>
              <a:rPr lang="zh-CN" altLang="zh-CN" sz="2000" dirty="0"/>
              <a:t>数字金融三个子维度对城乡家庭金融资产组合有效性均有显著的正向影响，</a:t>
            </a:r>
            <a:r>
              <a:rPr lang="zh-CN" altLang="zh-CN" sz="2000" b="1" dirty="0"/>
              <a:t>但对城镇家庭的影响更大</a:t>
            </a:r>
            <a:r>
              <a:rPr lang="zh-CN" altLang="en-US" sz="2000" b="1" dirty="0"/>
              <a:t>。</a:t>
            </a:r>
            <a:endParaRPr lang="en-US" altLang="zh-CN" sz="2000" b="1" dirty="0"/>
          </a:p>
          <a:p>
            <a:pPr>
              <a:lnSpc>
                <a:spcPts val="2700"/>
              </a:lnSpc>
            </a:pPr>
            <a:endParaRPr lang="en-US" altLang="zh-CN" sz="2000" dirty="0"/>
          </a:p>
          <a:p>
            <a:pPr>
              <a:lnSpc>
                <a:spcPts val="2500"/>
              </a:lnSpc>
            </a:pPr>
            <a:endParaRPr lang="en-US" altLang="zh-CN" sz="2000" b="1" dirty="0"/>
          </a:p>
          <a:p>
            <a:pPr>
              <a:lnSpc>
                <a:spcPts val="2500"/>
              </a:lnSpc>
            </a:pPr>
            <a:endParaRPr lang="en-US" altLang="zh-CN" sz="2000" b="1" dirty="0"/>
          </a:p>
          <a:p>
            <a:pPr>
              <a:lnSpc>
                <a:spcPts val="2500"/>
              </a:lnSpc>
            </a:pPr>
            <a:endParaRPr lang="en-US" altLang="zh-CN" sz="2000" b="1" dirty="0"/>
          </a:p>
        </p:txBody>
      </p:sp>
      <p:graphicFrame>
        <p:nvGraphicFramePr>
          <p:cNvPr id="19" name="表格 18"/>
          <p:cNvGraphicFramePr>
            <a:graphicFrameLocks noGrp="1"/>
          </p:cNvGraphicFramePr>
          <p:nvPr/>
        </p:nvGraphicFramePr>
        <p:xfrm>
          <a:off x="4098735" y="835792"/>
          <a:ext cx="7630548" cy="5317201"/>
        </p:xfrm>
        <a:graphic>
          <a:graphicData uri="http://schemas.openxmlformats.org/drawingml/2006/table">
            <a:tbl>
              <a:tblPr firstRow="1" firstCol="1" bandRow="1"/>
              <a:tblGrid>
                <a:gridCol w="1387002"/>
                <a:gridCol w="1040591"/>
                <a:gridCol w="1040591"/>
                <a:gridCol w="1040591"/>
                <a:gridCol w="1040591"/>
                <a:gridCol w="1040591"/>
                <a:gridCol w="1040591"/>
              </a:tblGrid>
              <a:tr h="468987">
                <a:tc gridSpan="7">
                  <a:txBody>
                    <a:bodyPr/>
                    <a:lstStyle/>
                    <a:p>
                      <a:pPr indent="228600" algn="ctr">
                        <a:spcAft>
                          <a:spcPts val="600"/>
                        </a:spcAft>
                      </a:pPr>
                      <a:r>
                        <a:rPr lang="zh-CN" sz="1600" kern="100" dirty="0">
                          <a:solidFill>
                            <a:srgbClr val="000000"/>
                          </a:solidFill>
                          <a:effectLst/>
                          <a:latin typeface="Calibri" panose="020F0502020204030204" pitchFamily="34" charset="0"/>
                          <a:ea typeface="黑体" panose="02010609060101010101" pitchFamily="49" charset="-122"/>
                          <a:cs typeface="宋体" panose="02010600030101010101" pitchFamily="2" charset="-122"/>
                        </a:rPr>
                        <a:t>表</a:t>
                      </a:r>
                      <a:r>
                        <a:rPr lang="en-US" altLang="zh-CN" sz="1600" kern="100" dirty="0">
                          <a:solidFill>
                            <a:srgbClr val="000000"/>
                          </a:solidFill>
                          <a:effectLst/>
                          <a:latin typeface="Calibri" panose="020F0502020204030204" pitchFamily="34" charset="0"/>
                          <a:ea typeface="黑体" panose="02010609060101010101" pitchFamily="49" charset="-122"/>
                          <a:cs typeface="宋体" panose="02010600030101010101" pitchFamily="2" charset="-122"/>
                        </a:rPr>
                        <a:t>3   </a:t>
                      </a:r>
                      <a:r>
                        <a:rPr lang="zh-CN" altLang="en-US" sz="1600" kern="0" dirty="0">
                          <a:solidFill>
                            <a:srgbClr val="000000"/>
                          </a:solidFill>
                          <a:effectLst/>
                          <a:latin typeface="Calibri" panose="020F0502020204030204" pitchFamily="34" charset="0"/>
                          <a:ea typeface="黑体" panose="02010609060101010101" pitchFamily="49" charset="-122"/>
                        </a:rPr>
                        <a:t>数字金融发展子维度与家庭金融资产组合有效性</a:t>
                      </a:r>
                      <a:endParaRPr lang="en-US" altLang="zh-CN" sz="1600" kern="0" dirty="0">
                        <a:solidFill>
                          <a:srgbClr val="000000"/>
                        </a:solidFill>
                        <a:effectLst/>
                        <a:latin typeface="Calibri" panose="020F0502020204030204" pitchFamily="34" charset="0"/>
                        <a:ea typeface="黑体" panose="02010609060101010101" pitchFamily="49" charset="-122"/>
                      </a:endParaRPr>
                    </a:p>
                  </a:txBody>
                  <a:tcPr marL="66621" marR="66621" marT="0" marB="0" anchor="ctr">
                    <a:lnL>
                      <a:noFill/>
                    </a:lnL>
                    <a:lnR>
                      <a:noFill/>
                    </a:lnR>
                    <a:lnT>
                      <a:noFill/>
                    </a:lnT>
                    <a:lnB w="19050" cap="flat" cmpd="sng" algn="ctr">
                      <a:solidFill>
                        <a:schemeClr val="tx1"/>
                      </a:solidFill>
                      <a:prstDash val="solid"/>
                      <a:round/>
                      <a:headEnd type="none" w="med" len="med"/>
                      <a:tailEnd type="none" w="med" len="med"/>
                    </a:lnB>
                  </a:tcPr>
                </a:tc>
                <a:tc hMerge="1">
                  <a:tcPr>
                    <a:lnL w="12700" cmpd="sng">
                      <a:noFill/>
                      <a:prstDash val="solid"/>
                    </a:lnL>
                  </a:tcPr>
                </a:tc>
                <a:tc hMerge="1">
                  <a:tcPr>
                    <a:lnL w="12700" cmpd="sng">
                      <a:noFill/>
                      <a:prstDash val="solid"/>
                    </a:lnL>
                  </a:tcPr>
                </a:tc>
                <a:tc hMerge="1">
                  <a:tcPr/>
                </a:tc>
                <a:tc hMerge="1">
                  <a:tcPr/>
                </a:tc>
                <a:tc hMerge="1">
                  <a:tcPr/>
                </a:tc>
                <a:tc hMerge="1">
                  <a:tcPr>
                    <a:lnL w="12700" cmpd="sng">
                      <a:noFill/>
                      <a:prstDash val="solid"/>
                    </a:lnL>
                  </a:tcPr>
                </a:tc>
              </a:tr>
              <a:tr h="382120">
                <a:tc rowSpan="2">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Calibri" panose="020F0502020204030204" pitchFamily="34" charset="0"/>
                        </a:rPr>
                        <a:t>　</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5</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6</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2120">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2120">
                <a:tc rowSpan="2">
                  <a:txBody>
                    <a:bodyPr/>
                    <a:lstStyle/>
                    <a:p>
                      <a:pPr algn="just"/>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数字金融覆盖广度</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0.019</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w="12700" cap="flat" cmpd="sng" algn="ctr">
                      <a:solidFill>
                        <a:srgbClr val="000000"/>
                      </a:solidFill>
                      <a:prstDash val="solid"/>
                      <a:round/>
                      <a:headEnd type="none" w="med" len="med"/>
                      <a:tailEnd type="none" w="med" len="med"/>
                    </a:lnT>
                    <a:lnB>
                      <a:noFill/>
                    </a:lnB>
                  </a:tcPr>
                </a:tc>
              </a:tr>
              <a:tr h="382120">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0.002</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r>
              <a:tr h="382120">
                <a:tc rowSpan="2">
                  <a:txBody>
                    <a:bodyPr/>
                    <a:lstStyle/>
                    <a:p>
                      <a:pPr algn="just"/>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数字金融使用深度</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0.010</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0.033</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r>
              <a:tr h="382120">
                <a:tc vMerge="1">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0.003</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r>
              <a:tr h="382120">
                <a:tc rowSpan="2">
                  <a:txBody>
                    <a:bodyPr/>
                    <a:lstStyle/>
                    <a:p>
                      <a:pPr algn="just"/>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数字化程度</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0.017</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0.069</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r>
              <a:tr h="490752">
                <a:tc vMerge="1">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endParaRPr lang="zh-CN" sz="1600" b="1" dirty="0">
                        <a:effectLst/>
                        <a:latin typeface="Times New Roman" panose="02020603050405020304" pitchFamily="18" charset="0"/>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0.008</a:t>
                      </a: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r>
              <a:tr h="459191">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r>
              <a:tr h="459191">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r>
              <a:tr h="3821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3,987</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7,129</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3,987</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7,129</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3,987</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7,129</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a:noFill/>
                    </a:lnB>
                  </a:tcPr>
                </a:tc>
              </a:tr>
              <a:tr h="3821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0.002</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hMerge="1">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hMerge="1">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0.000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c hMerge="1">
                  <a:tcPr marL="66621" marR="66621" marT="0" marB="0" anchor="ctr">
                    <a:lnL>
                      <a:noFill/>
                    </a:lnL>
                    <a:lnR>
                      <a:noFill/>
                    </a:lnR>
                    <a:lnT>
                      <a:noFill/>
                    </a:lnT>
                    <a:lnB w="1905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矩形 15"/>
          <p:cNvSpPr/>
          <p:nvPr/>
        </p:nvSpPr>
        <p:spPr>
          <a:xfrm>
            <a:off x="472016" y="1420798"/>
            <a:ext cx="5623984" cy="4243704"/>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zh-CN" dirty="0"/>
              <a:t>内生性</a:t>
            </a:r>
            <a:r>
              <a:rPr lang="zh-CN" altLang="en-US" dirty="0"/>
              <a:t>讨论：工具变量法</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8" name="矩形 17"/>
          <p:cNvSpPr/>
          <p:nvPr/>
        </p:nvSpPr>
        <p:spPr>
          <a:xfrm>
            <a:off x="472987" y="1734354"/>
            <a:ext cx="5681484" cy="3907095"/>
          </a:xfrm>
          <a:prstGeom prst="rect">
            <a:avLst/>
          </a:prstGeom>
        </p:spPr>
        <p:txBody>
          <a:bodyPr wrap="square">
            <a:spAutoFit/>
          </a:bodyPr>
          <a:lstStyle/>
          <a:p>
            <a:pPr algn="just">
              <a:lnSpc>
                <a:spcPts val="4100"/>
              </a:lnSpc>
              <a:spcAft>
                <a:spcPts val="600"/>
              </a:spcAft>
            </a:pPr>
            <a:r>
              <a:rPr lang="zh-CN" altLang="zh-CN" sz="2400" b="1" dirty="0">
                <a:solidFill>
                  <a:schemeClr val="accent1"/>
                </a:solidFill>
              </a:rPr>
              <a:t>工具变量</a:t>
            </a:r>
            <a:r>
              <a:rPr lang="zh-CN" altLang="en-US" sz="2400" b="1" dirty="0">
                <a:solidFill>
                  <a:schemeClr val="accent1"/>
                </a:solidFill>
              </a:rPr>
              <a:t>：</a:t>
            </a:r>
            <a:endParaRPr lang="en-US" altLang="zh-CN" sz="2400" b="1" dirty="0">
              <a:solidFill>
                <a:schemeClr val="accent1"/>
              </a:solidFill>
            </a:endParaRPr>
          </a:p>
          <a:p>
            <a:pPr algn="just">
              <a:lnSpc>
                <a:spcPts val="4000"/>
              </a:lnSpc>
              <a:spcAft>
                <a:spcPts val="600"/>
              </a:spcAft>
            </a:pPr>
            <a:r>
              <a:rPr lang="zh-CN" altLang="zh-CN" sz="2000" b="1" dirty="0"/>
              <a:t>省域内除自身所在地级市（州）以外的其他地级市（州）数字金融发展水平的平均值</a:t>
            </a:r>
            <a:endParaRPr lang="en-US" altLang="zh-CN" sz="2000" dirty="0"/>
          </a:p>
          <a:p>
            <a:pPr algn="just">
              <a:lnSpc>
                <a:spcPts val="4100"/>
              </a:lnSpc>
              <a:spcAft>
                <a:spcPts val="600"/>
              </a:spcAft>
            </a:pPr>
            <a:r>
              <a:rPr lang="zh-CN" altLang="en-US" sz="2400" b="1" dirty="0">
                <a:solidFill>
                  <a:schemeClr val="accent1"/>
                </a:solidFill>
              </a:rPr>
              <a:t>结论：</a:t>
            </a:r>
            <a:endParaRPr lang="en-US" altLang="zh-CN" sz="2400" b="1" dirty="0">
              <a:solidFill>
                <a:schemeClr val="accent1"/>
              </a:solidFill>
            </a:endParaRPr>
          </a:p>
          <a:p>
            <a:pPr algn="just">
              <a:lnSpc>
                <a:spcPts val="4100"/>
              </a:lnSpc>
              <a:spcAft>
                <a:spcPts val="600"/>
              </a:spcAft>
            </a:pPr>
            <a:r>
              <a:rPr lang="zh-CN" altLang="en-US" sz="2000" dirty="0"/>
              <a:t>数字金融发展确实会能提高农村家庭金融资产组合有效性，但会扩大城乡家庭金融资产组合有效性差距，前文回归结果可靠。</a:t>
            </a:r>
            <a:endParaRPr lang="en-US" altLang="zh-CN" sz="2000" dirty="0"/>
          </a:p>
        </p:txBody>
      </p:sp>
      <p:graphicFrame>
        <p:nvGraphicFramePr>
          <p:cNvPr id="19" name="表格 18"/>
          <p:cNvGraphicFramePr>
            <a:graphicFrameLocks noGrp="1"/>
          </p:cNvGraphicFramePr>
          <p:nvPr/>
        </p:nvGraphicFramePr>
        <p:xfrm>
          <a:off x="6225022" y="1484388"/>
          <a:ext cx="5455571" cy="4141693"/>
        </p:xfrm>
        <a:graphic>
          <a:graphicData uri="http://schemas.openxmlformats.org/drawingml/2006/table">
            <a:tbl>
              <a:tblPr firstRow="1" firstCol="1" bandRow="1"/>
              <a:tblGrid>
                <a:gridCol w="1065953"/>
                <a:gridCol w="2194809"/>
                <a:gridCol w="2194809"/>
              </a:tblGrid>
              <a:tr h="425933">
                <a:tc gridSpan="3">
                  <a:txBody>
                    <a:bodyPr/>
                    <a:lstStyle/>
                    <a:p>
                      <a:pPr indent="228600" algn="ctr"/>
                      <a:r>
                        <a:rPr lang="zh-CN" sz="1600" kern="100" dirty="0">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effectLst/>
                          <a:latin typeface="Calibri" panose="020F0502020204030204" pitchFamily="34" charset="0"/>
                          <a:ea typeface="黑体" panose="02010609060101010101" pitchFamily="49" charset="-122"/>
                          <a:cs typeface="Times New Roman" panose="02020603050405020304" pitchFamily="18" charset="0"/>
                        </a:rPr>
                        <a:t>4   </a:t>
                      </a:r>
                      <a:r>
                        <a:rPr lang="en-US" sz="1600" kern="100" dirty="0">
                          <a:effectLst/>
                          <a:latin typeface="黑体" panose="02010609060101010101" pitchFamily="49" charset="-122"/>
                          <a:ea typeface="宋体" panose="02010600030101010101" pitchFamily="2" charset="-122"/>
                          <a:cs typeface="Times New Roman" panose="02020603050405020304" pitchFamily="18" charset="0"/>
                        </a:rPr>
                        <a:t>IV Tobit</a:t>
                      </a:r>
                      <a:r>
                        <a:rPr lang="zh-CN" altLang="en-US" sz="1600" kern="100" dirty="0">
                          <a:effectLst/>
                          <a:latin typeface="Calibri" panose="020F0502020204030204" pitchFamily="34" charset="0"/>
                          <a:ea typeface="黑体" panose="02010609060101010101" pitchFamily="49" charset="-122"/>
                          <a:cs typeface="Times New Roman" panose="02020603050405020304" pitchFamily="18" charset="0"/>
                        </a:rPr>
                        <a:t>回归结果</a:t>
                      </a:r>
                      <a:r>
                        <a:rPr lang="en-US" sz="1600" kern="0" dirty="0">
                          <a:solidFill>
                            <a:srgbClr val="000000"/>
                          </a:solidFill>
                          <a:effectLst/>
                          <a:latin typeface="宋体" panose="02010600030101010101" pitchFamily="2" charset="-122"/>
                          <a:ea typeface="宋体" panose="02010600030101010101" pitchFamily="2" charset="-122"/>
                        </a:rPr>
                        <a:t> </a:t>
                      </a:r>
                      <a:endParaRPr lang="zh-CN" altLang="en-US" sz="1600" kern="100" dirty="0">
                        <a:effectLst/>
                        <a:latin typeface="Calibri" panose="020F0502020204030204" pitchFamily="34" charset="0"/>
                        <a:ea typeface="宋体" panose="02010600030101010101" pitchFamily="2" charset="-122"/>
                      </a:endParaRPr>
                    </a:p>
                  </a:txBody>
                  <a:tcPr marL="68580" marR="68580" marT="0" marB="0" anchor="ctr">
                    <a:lnL>
                      <a:noFill/>
                    </a:lnL>
                    <a:lnR>
                      <a:noFill/>
                    </a:lnR>
                    <a:lnT>
                      <a:noFill/>
                    </a:lnT>
                    <a:lnB w="19050" cap="flat" cmpd="sng" algn="ctr">
                      <a:solidFill>
                        <a:schemeClr val="tx1"/>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lnL w="12700" cmpd="sng">
                      <a:noFill/>
                      <a:prstDash val="solid"/>
                    </a:lnL>
                  </a:tcPr>
                </a:tc>
              </a:tr>
              <a:tr h="425933">
                <a:tc rowSpan="2">
                  <a:txBody>
                    <a:bodyPr/>
                    <a:lstStyle/>
                    <a:p>
                      <a:pPr algn="ctr"/>
                      <a:endParaRPr lang="zh-CN" sz="1600" dirty="0">
                        <a:effectLst/>
                        <a:latin typeface="Times New Roman" panose="02020603050405020304" pitchFamily="18" charset="0"/>
                        <a:cs typeface="宋体" panose="02010600030101010101" pitchFamily="2" charset="-122"/>
                      </a:endParaRPr>
                    </a:p>
                  </a:txBody>
                  <a:tcPr marL="68580" marR="68580" marT="0" marB="0" anchor="ctr">
                    <a:lnL>
                      <a:noFill/>
                    </a:lnL>
                    <a:lnR>
                      <a:noFill/>
                    </a:lnR>
                    <a:lnT w="19050" cap="flat" cmpd="sng" algn="ctr">
                      <a:solidFill>
                        <a:schemeClr val="tx1"/>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sz="1600" dirty="0"/>
                    </a:p>
                  </a:txBody>
                  <a:tcPr marL="68580" marR="68580"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5933">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altLang="en-US" sz="1600" dirty="0"/>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129">
                <a:tc rowSpan="2">
                  <a:txBody>
                    <a:bodyPr/>
                    <a:lstStyle/>
                    <a:p>
                      <a:pPr algn="l"/>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数字金融发展水平</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0.074</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sz="1600" b="1" dirty="0"/>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0.125</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654165">
                <a:tc vMerge="1">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0.021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sz="1600" dirty="0"/>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0.019</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9727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altLang="en-US" sz="1600" dirty="0"/>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54165">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altLang="en-US" sz="1600" dirty="0"/>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54165">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3,987</a:t>
                      </a:r>
                      <a:endParaRPr lang="zh-CN" altLang="en-US" sz="1600" dirty="0"/>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7,129</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bl>
          </a:graphicData>
        </a:graphic>
      </p:graphicFrame>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497078" y="1512192"/>
            <a:ext cx="4614217" cy="3942826"/>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en-US" dirty="0"/>
              <a:t>稳健性检验：替换被解释变量</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矩形 14"/>
          <p:cNvSpPr/>
          <p:nvPr/>
        </p:nvSpPr>
        <p:spPr>
          <a:xfrm>
            <a:off x="565654" y="1670058"/>
            <a:ext cx="4477064" cy="1563505"/>
          </a:xfrm>
          <a:prstGeom prst="rect">
            <a:avLst/>
          </a:prstGeom>
        </p:spPr>
        <p:txBody>
          <a:bodyPr wrap="square">
            <a:spAutoFit/>
          </a:bodyPr>
          <a:lstStyle/>
          <a:p>
            <a:pPr algn="just">
              <a:lnSpc>
                <a:spcPts val="4000"/>
              </a:lnSpc>
              <a:spcAft>
                <a:spcPts val="600"/>
              </a:spcAft>
            </a:pPr>
            <a:r>
              <a:rPr lang="zh-CN" altLang="en-US" sz="2000" dirty="0"/>
              <a:t>采取</a:t>
            </a:r>
            <a:r>
              <a:rPr lang="zh-CN" altLang="en-US" sz="2000" b="1" dirty="0"/>
              <a:t>历史收益率数据</a:t>
            </a:r>
            <a:r>
              <a:rPr lang="en-US" altLang="zh-CN" sz="2000" b="1" dirty="0"/>
              <a:t>(</a:t>
            </a:r>
            <a:r>
              <a:rPr lang="zh-CN" altLang="en-US" sz="2000" dirty="0"/>
              <a:t>区间为 </a:t>
            </a:r>
            <a:r>
              <a:rPr lang="en-US" altLang="zh-CN" sz="2000" b="1" dirty="0"/>
              <a:t>2003 </a:t>
            </a:r>
            <a:r>
              <a:rPr lang="zh-CN" altLang="en-US" sz="2000" b="1" dirty="0"/>
              <a:t>年 </a:t>
            </a:r>
            <a:r>
              <a:rPr lang="en-US" altLang="zh-CN" sz="2000" b="1" dirty="0"/>
              <a:t>1</a:t>
            </a:r>
            <a:r>
              <a:rPr lang="zh-CN" altLang="en-US" sz="2000" b="1" dirty="0"/>
              <a:t>月至 </a:t>
            </a:r>
            <a:r>
              <a:rPr lang="en-US" altLang="zh-CN" sz="2000" b="1" dirty="0"/>
              <a:t>2019 </a:t>
            </a:r>
            <a:r>
              <a:rPr lang="zh-CN" altLang="en-US" sz="2000" b="1" dirty="0"/>
              <a:t>年 </a:t>
            </a:r>
            <a:r>
              <a:rPr lang="en-US" altLang="zh-CN" sz="2000" b="1" dirty="0"/>
              <a:t>8 </a:t>
            </a:r>
            <a:r>
              <a:rPr lang="zh-CN" altLang="en-US" sz="2000" b="1" dirty="0"/>
              <a:t>月</a:t>
            </a:r>
            <a:r>
              <a:rPr lang="en-US" altLang="zh-CN" sz="2000" b="1" dirty="0"/>
              <a:t>)</a:t>
            </a:r>
            <a:r>
              <a:rPr lang="zh-CN" altLang="en-US" sz="2000" dirty="0"/>
              <a:t>计算夏普比率重新进行回归。前文结论可靠。</a:t>
            </a:r>
            <a:endParaRPr lang="zh-CN" altLang="zh-CN" sz="2000" dirty="0"/>
          </a:p>
        </p:txBody>
      </p:sp>
      <p:graphicFrame>
        <p:nvGraphicFramePr>
          <p:cNvPr id="16" name="表格 15"/>
          <p:cNvGraphicFramePr>
            <a:graphicFrameLocks noGrp="1"/>
          </p:cNvGraphicFramePr>
          <p:nvPr/>
        </p:nvGraphicFramePr>
        <p:xfrm>
          <a:off x="5198816" y="1512191"/>
          <a:ext cx="6508877" cy="3942826"/>
        </p:xfrm>
        <a:graphic>
          <a:graphicData uri="http://schemas.openxmlformats.org/drawingml/2006/table">
            <a:tbl>
              <a:tblPr firstRow="1" firstCol="1" bandRow="1"/>
              <a:tblGrid>
                <a:gridCol w="1451041"/>
                <a:gridCol w="2528918"/>
                <a:gridCol w="2528918"/>
              </a:tblGrid>
              <a:tr h="363058">
                <a:tc gridSpan="3">
                  <a:txBody>
                    <a:bodyPr/>
                    <a:lstStyle/>
                    <a:p>
                      <a:pPr indent="228600" algn="ctr"/>
                      <a:r>
                        <a:rPr lang="zh-CN" sz="1600" kern="100" dirty="0">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effectLst/>
                          <a:latin typeface="Calibri" panose="020F0502020204030204" pitchFamily="34" charset="0"/>
                          <a:ea typeface="黑体" panose="02010609060101010101" pitchFamily="49" charset="-122"/>
                          <a:cs typeface="Times New Roman" panose="02020603050405020304" pitchFamily="18" charset="0"/>
                        </a:rPr>
                        <a:t>5   </a:t>
                      </a:r>
                      <a:r>
                        <a:rPr lang="zh-CN" altLang="en-US" sz="1600" kern="100" dirty="0">
                          <a:effectLst/>
                          <a:latin typeface="Calibri" panose="020F0502020204030204" pitchFamily="34" charset="0"/>
                          <a:ea typeface="黑体" panose="02010609060101010101" pitchFamily="49" charset="-122"/>
                          <a:cs typeface="Times New Roman" panose="02020603050405020304" pitchFamily="18" charset="0"/>
                        </a:rPr>
                        <a:t>历史收益率所构建夏普比率的回归结果</a:t>
                      </a:r>
                      <a:r>
                        <a:rPr lang="en-US" sz="1600" kern="0" dirty="0">
                          <a:solidFill>
                            <a:srgbClr val="000000"/>
                          </a:solidFill>
                          <a:effectLst/>
                          <a:latin typeface="宋体" panose="02010600030101010101" pitchFamily="2" charset="-122"/>
                          <a:ea typeface="宋体" panose="02010600030101010101" pitchFamily="2" charset="-122"/>
                        </a:rPr>
                        <a:t> </a:t>
                      </a:r>
                      <a:endParaRPr lang="zh-CN" altLang="en-US" sz="1600" kern="100" dirty="0">
                        <a:effectLst/>
                        <a:latin typeface="Calibri" panose="020F0502020204030204" pitchFamily="34" charset="0"/>
                        <a:ea typeface="宋体" panose="02010600030101010101" pitchFamily="2" charset="-122"/>
                      </a:endParaRPr>
                    </a:p>
                  </a:txBody>
                  <a:tcPr marL="68566" marR="68566"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66" marR="68566" marT="0" marB="0" anchor="ctr">
                    <a:lnL>
                      <a:noFill/>
                    </a:lnL>
                    <a:lnR>
                      <a:noFill/>
                    </a:lnR>
                    <a:lnT>
                      <a:noFill/>
                    </a:lnT>
                    <a:lnB w="19050" cap="flat" cmpd="sng" algn="ctr">
                      <a:solidFill>
                        <a:srgbClr val="000000"/>
                      </a:solidFill>
                      <a:prstDash val="solid"/>
                      <a:round/>
                      <a:headEnd type="none" w="med" len="med"/>
                      <a:tailEnd type="none" w="med" len="med"/>
                    </a:lnB>
                  </a:tcPr>
                </a:tc>
                <a:tc hMerge="1">
                  <a:tcPr>
                    <a:lnL w="12700" cmpd="sng">
                      <a:noFill/>
                      <a:prstDash val="solid"/>
                    </a:lnL>
                  </a:tcPr>
                </a:tc>
              </a:tr>
              <a:tr h="363058">
                <a:tc rowSpan="3">
                  <a:txBody>
                    <a:bodyPr/>
                    <a:lstStyle/>
                    <a:p>
                      <a:pPr algn="ctr"/>
                      <a:endParaRPr lang="zh-CN" sz="1600" dirty="0">
                        <a:effectLst/>
                        <a:latin typeface="Times New Roman" panose="02020603050405020304" pitchFamily="18" charset="0"/>
                        <a:cs typeface="宋体" panose="02010600030101010101" pitchFamily="2" charset="-122"/>
                      </a:endParaRPr>
                    </a:p>
                  </a:txBody>
                  <a:tcPr marL="68566" marR="68566"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dirty="0"/>
                    </a:p>
                  </a:txBody>
                  <a:tcPr marL="68566" marR="68566"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3144">
                <a:tc v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历史收益率</a:t>
                      </a:r>
                      <a:endParaRPr lang="zh-CN" altLang="en-US" dirty="0"/>
                    </a:p>
                  </a:txBody>
                  <a:tcPr marL="68566" marR="68566"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lnL w="12700" cmpd="sng">
                      <a:noFill/>
                      <a:prstDash val="solid"/>
                    </a:lnL>
                    <a:lnT w="12700" cap="flat" cmpd="sng" algn="ctr">
                      <a:solidFill>
                        <a:srgbClr val="000000"/>
                      </a:solidFill>
                      <a:prstDash val="solid"/>
                      <a:round/>
                      <a:headEnd type="none" w="med" len="med"/>
                      <a:tailEnd type="none" w="med" len="med"/>
                    </a:lnT>
                  </a:tcPr>
                </a:tc>
              </a:tr>
              <a:tr h="353144">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altLang="en-US" dirty="0"/>
                    </a:p>
                  </a:txBody>
                  <a:tcPr marL="68566" marR="68566"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城市样本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B w="12700" cap="flat" cmpd="sng" algn="ctr">
                      <a:solidFill>
                        <a:srgbClr val="000000"/>
                      </a:solidFill>
                      <a:prstDash val="solid"/>
                      <a:round/>
                      <a:headEnd type="none" w="med" len="med"/>
                      <a:tailEnd type="none" w="med" len="med"/>
                    </a:lnB>
                  </a:tcPr>
                </a:tc>
              </a:tr>
              <a:tr h="344471">
                <a:tc rowSpan="2">
                  <a:txBody>
                    <a:bodyPr/>
                    <a:lstStyle/>
                    <a:p>
                      <a:pPr algn="l"/>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数字金融发展水平</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0.035</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b="1" dirty="0"/>
                    </a:p>
                  </a:txBody>
                  <a:tcPr marL="68566" marR="68566"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0.069</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w="12700" cap="flat" cmpd="sng" algn="ctr">
                      <a:solidFill>
                        <a:srgbClr val="000000"/>
                      </a:solidFill>
                      <a:prstDash val="solid"/>
                      <a:round/>
                      <a:headEnd type="none" w="med" len="med"/>
                      <a:tailEnd type="none" w="med" len="med"/>
                    </a:lnT>
                    <a:lnB>
                      <a:noFill/>
                    </a:lnB>
                  </a:tcPr>
                </a:tc>
              </a:tr>
              <a:tr h="344471">
                <a:tc vMerge="1">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0.009</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dirty="0"/>
                    </a:p>
                  </a:txBody>
                  <a:tcPr marL="68566" marR="68566"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0.011</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r>
              <a:tr h="557596">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altLang="en-US" dirty="0"/>
                    </a:p>
                  </a:txBody>
                  <a:tcPr marL="68566" marR="68566"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r>
              <a:tr h="557596">
                <a:tc>
                  <a:txBody>
                    <a:bodyPr/>
                    <a:lstStyle/>
                    <a:p>
                      <a:pPr algn="l"/>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altLang="en-US" dirty="0"/>
                    </a:p>
                  </a:txBody>
                  <a:tcPr marL="68566" marR="68566"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r>
              <a:tr h="353144">
                <a:tc>
                  <a:txBody>
                    <a:bodyPr/>
                    <a:lstStyle/>
                    <a:p>
                      <a:pPr algn="l"/>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3,987</a:t>
                      </a:r>
                      <a:endParaRPr lang="zh-CN" altLang="en-US"/>
                    </a:p>
                  </a:txBody>
                  <a:tcPr marL="68566" marR="68566"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7,129</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a:noFill/>
                    </a:lnB>
                  </a:tcPr>
                </a:tc>
              </a:tr>
              <a:tr h="353144">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66" marR="68566" marT="0"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0.003</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en-US" dirty="0"/>
                    </a:p>
                  </a:txBody>
                  <a:tcPr marL="68566" marR="68566" marT="0" marB="0" anchor="ctr">
                    <a:lnL>
                      <a:noFill/>
                    </a:lnL>
                    <a:lnR>
                      <a:noFill/>
                    </a:lnR>
                    <a:lnT>
                      <a:noFill/>
                    </a:lnT>
                    <a:lnB w="19050" cap="flat" cmpd="sng" algn="ctr">
                      <a:solidFill>
                        <a:srgbClr val="000000"/>
                      </a:solidFill>
                      <a:prstDash val="solid"/>
                      <a:round/>
                      <a:headEnd type="none" w="med" len="med"/>
                      <a:tailEnd type="none" w="med" len="med"/>
                    </a:lnB>
                  </a:tcPr>
                </a:tc>
                <a:tc hMerge="1">
                  <a:tcPr>
                    <a:lnL w="12700" cmpd="sng">
                      <a:noFill/>
                      <a:prstDash val="solid"/>
                    </a:lnL>
                    <a:lnT w="12700" cmpd="sng">
                      <a:noFill/>
                      <a:prstDash val="solid"/>
                    </a:lnT>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en-US" dirty="0"/>
              <a:t>稳健性检验：</a:t>
            </a:r>
            <a:r>
              <a:rPr lang="zh-CN" altLang="zh-CN" dirty="0"/>
              <a:t>剔除部分样本</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矩形 14"/>
          <p:cNvSpPr/>
          <p:nvPr/>
        </p:nvSpPr>
        <p:spPr>
          <a:xfrm>
            <a:off x="452705" y="1215431"/>
            <a:ext cx="3585600" cy="4975200"/>
          </a:xfrm>
          <a:prstGeom prst="rect">
            <a:avLst/>
          </a:prstGeom>
        </p:spPr>
        <p:txBody>
          <a:bodyPr wrap="square">
            <a:spAutoFit/>
          </a:bodyPr>
          <a:lstStyle/>
          <a:p>
            <a:pPr>
              <a:lnSpc>
                <a:spcPts val="4000"/>
              </a:lnSpc>
            </a:pPr>
            <a:r>
              <a:rPr lang="zh-CN" altLang="zh-CN" sz="2000" dirty="0"/>
              <a:t>分别剔除了北京、天津、上海、重庆</a:t>
            </a:r>
            <a:r>
              <a:rPr lang="zh-CN" altLang="en-US" sz="2000" b="1" dirty="0"/>
              <a:t>四</a:t>
            </a:r>
            <a:r>
              <a:rPr lang="zh-CN" altLang="zh-CN" sz="2000" b="1" dirty="0"/>
              <a:t>大直辖市</a:t>
            </a:r>
            <a:r>
              <a:rPr lang="zh-CN" altLang="zh-CN" sz="2000" dirty="0"/>
              <a:t>和京津翼城市群、珠三角城市群、长三角城市群、长江中游城市群、成渝城市群</a:t>
            </a:r>
            <a:r>
              <a:rPr lang="zh-CN" altLang="zh-CN" sz="2000" b="1" dirty="0"/>
              <a:t>五大城市群</a:t>
            </a:r>
            <a:r>
              <a:rPr lang="zh-CN" altLang="zh-CN" sz="2000" dirty="0"/>
              <a:t>的家庭样本，然后重新回归。</a:t>
            </a:r>
            <a:r>
              <a:rPr lang="zh-CN" altLang="zh-CN" sz="2000" b="1" dirty="0"/>
              <a:t>核心结论没有改变</a:t>
            </a:r>
            <a:r>
              <a:rPr lang="zh-CN" altLang="en-US" sz="2000" b="1" dirty="0"/>
              <a:t>。</a:t>
            </a:r>
            <a:endParaRPr lang="zh-CN" altLang="zh-CN" sz="2000" b="1" dirty="0"/>
          </a:p>
        </p:txBody>
      </p:sp>
      <p:graphicFrame>
        <p:nvGraphicFramePr>
          <p:cNvPr id="19" name="表格 18"/>
          <p:cNvGraphicFramePr>
            <a:graphicFrameLocks noGrp="1"/>
          </p:cNvGraphicFramePr>
          <p:nvPr/>
        </p:nvGraphicFramePr>
        <p:xfrm>
          <a:off x="4123996" y="824188"/>
          <a:ext cx="7635598" cy="5317200"/>
        </p:xfrm>
        <a:graphic>
          <a:graphicData uri="http://schemas.openxmlformats.org/drawingml/2006/table">
            <a:tbl>
              <a:tblPr firstRow="1" firstCol="1" bandRow="1"/>
              <a:tblGrid>
                <a:gridCol w="1232298"/>
                <a:gridCol w="1600825"/>
                <a:gridCol w="1600825"/>
                <a:gridCol w="1600825"/>
                <a:gridCol w="1600825"/>
              </a:tblGrid>
              <a:tr h="531720">
                <a:tc gridSpan="5">
                  <a:txBody>
                    <a:bodyPr/>
                    <a:lstStyle/>
                    <a:p>
                      <a:pPr indent="228600" algn="ctr"/>
                      <a:r>
                        <a:rPr lang="zh-CN"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6   </a:t>
                      </a:r>
                      <a:r>
                        <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数字金融发展与家庭金融资产组合有效性：剔除部分样本</a:t>
                      </a:r>
                      <a:endPar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r h="531720">
                <a:tc rowSpan="3">
                  <a:txBody>
                    <a:bodyPr/>
                    <a:lstStyle/>
                    <a:p>
                      <a:pPr algn="l"/>
                      <a:endParaRPr lang="zh-CN" sz="1600" dirty="0">
                        <a:effectLst/>
                        <a:latin typeface="Calibri" panose="020F0502020204030204" pitchFamily="34" charset="0"/>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1720">
                <a:tc v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剔除四个直辖市的样本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剔除五大城市群的样本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531720">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城市</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城市</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1720">
                <a:tc rowSpan="2">
                  <a:txBody>
                    <a:bodyPr/>
                    <a:lstStyle/>
                    <a:p>
                      <a:pPr algn="l"/>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数字金融发展水平</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0.010</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0.026</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0.009</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0.019</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531720">
                <a:tc vMerge="1">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0.003</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0.005</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5317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5317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5317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3,671</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5,492</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2,523</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3,305</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531720">
                <a:tc>
                  <a:txBody>
                    <a:bodyPr/>
                    <a:lstStyle/>
                    <a:p>
                      <a:pPr algn="l"/>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0.003</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0.088</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zh-CN" dirty="0"/>
              <a:t>异质性讨论</a:t>
            </a:r>
            <a:r>
              <a:rPr lang="zh-CN" altLang="en-US" dirty="0"/>
              <a:t>：</a:t>
            </a:r>
            <a:r>
              <a:rPr lang="zh-CN" altLang="zh-CN" dirty="0"/>
              <a:t>基于一级数字鸿沟差异</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graphicFrame>
        <p:nvGraphicFramePr>
          <p:cNvPr id="19" name="表格 18"/>
          <p:cNvGraphicFramePr>
            <a:graphicFrameLocks noGrp="1"/>
          </p:cNvGraphicFramePr>
          <p:nvPr/>
        </p:nvGraphicFramePr>
        <p:xfrm>
          <a:off x="4104546" y="825736"/>
          <a:ext cx="7635599" cy="5315736"/>
        </p:xfrm>
        <a:graphic>
          <a:graphicData uri="http://schemas.openxmlformats.org/drawingml/2006/table">
            <a:tbl>
              <a:tblPr firstRow="1" firstCol="1" bandRow="1"/>
              <a:tblGrid>
                <a:gridCol w="1511391"/>
                <a:gridCol w="1531052"/>
                <a:gridCol w="1531052"/>
                <a:gridCol w="1531052"/>
                <a:gridCol w="1531052"/>
              </a:tblGrid>
              <a:tr h="385285">
                <a:tc gridSpan="5">
                  <a:txBody>
                    <a:bodyPr/>
                    <a:lstStyle/>
                    <a:p>
                      <a:pPr indent="228600" algn="ctr"/>
                      <a:r>
                        <a:rPr lang="zh-CN"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7   </a:t>
                      </a:r>
                      <a:r>
                        <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基于一级</a:t>
                      </a:r>
                      <a:r>
                        <a:rPr lang="zh-CN" altLang="en-US" sz="16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数字鸿沟差异的异质性讨论</a:t>
                      </a:r>
                      <a:r>
                        <a:rPr lang="en-US" sz="1600" kern="0" dirty="0">
                          <a:solidFill>
                            <a:srgbClr val="000000"/>
                          </a:solidFill>
                          <a:effectLst/>
                          <a:latin typeface="宋体" panose="02010600030101010101" pitchFamily="2" charset="-122"/>
                          <a:ea typeface="宋体" panose="02010600030101010101" pitchFamily="2" charset="-122"/>
                        </a:rPr>
                        <a:t> </a:t>
                      </a:r>
                      <a:endParaRPr lang="zh-CN" altLang="en-US" sz="1800" kern="100" dirty="0">
                        <a:effectLst/>
                        <a:latin typeface="Calibri" panose="020F0502020204030204" pitchFamily="34" charset="0"/>
                        <a:ea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r h="419339">
                <a:tc rowSpan="3">
                  <a:txBody>
                    <a:bodyPr/>
                    <a:lstStyle/>
                    <a:p>
                      <a:pPr algn="ctr"/>
                      <a:endParaRPr lang="zh-CN" sz="1600" dirty="0">
                        <a:effectLst/>
                        <a:latin typeface="Times New Roman" panose="02020603050405020304" pitchFamily="18" charset="0"/>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7890">
                <a:tc v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面临一级数字鸿沟</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未面临一级数字鸿沟</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407890">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7870">
                <a:tc rowSpan="2">
                  <a:txBody>
                    <a:bodyPr/>
                    <a:lstStyle/>
                    <a:p>
                      <a:pPr algn="just"/>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-0.002</a:t>
                      </a:r>
                      <a:endParaRPr lang="zh-CN" sz="18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endParaRPr lang="zh-CN" sz="18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0.015</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0.037</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97870">
                <a:tc vMerge="1">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0.003</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0.005</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0.005</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4036">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4036">
                <a:tc>
                  <a:txBody>
                    <a:bodyPr/>
                    <a:lstStyle/>
                    <a:p>
                      <a:pPr algn="just"/>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789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1,577</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1,172</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2,410</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5,953</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789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0.823</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0.001</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r>
              <a:tr h="39787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0.002</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hMerge="1">
                  <a:tcPr/>
                </a:tc>
                <a:tc>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9787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8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8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r>
            </a:tbl>
          </a:graphicData>
        </a:graphic>
      </p:graphicFrame>
      <p:sp>
        <p:nvSpPr>
          <p:cNvPr id="21" name="文本框 20"/>
          <p:cNvSpPr txBox="1"/>
          <p:nvPr/>
        </p:nvSpPr>
        <p:spPr>
          <a:xfrm>
            <a:off x="447789" y="1052760"/>
            <a:ext cx="3585600" cy="4975200"/>
          </a:xfrm>
          <a:prstGeom prst="rect">
            <a:avLst/>
          </a:prstGeom>
          <a:noFill/>
        </p:spPr>
        <p:txBody>
          <a:bodyPr wrap="square">
            <a:spAutoFit/>
          </a:bodyPr>
          <a:lstStyle/>
          <a:p>
            <a:pPr algn="just">
              <a:lnSpc>
                <a:spcPts val="4000"/>
              </a:lnSpc>
            </a:pPr>
            <a:r>
              <a:rPr lang="zh-CN" altLang="zh-CN" sz="2000" dirty="0"/>
              <a:t>接触到互联网</a:t>
            </a:r>
            <a:r>
              <a:rPr lang="zh-CN" altLang="zh-CN" sz="2000" b="1" dirty="0"/>
              <a:t>是</a:t>
            </a:r>
            <a:r>
              <a:rPr lang="zh-CN" altLang="en-US" sz="2000" b="1" dirty="0"/>
              <a:t>城乡家庭</a:t>
            </a:r>
            <a:r>
              <a:rPr lang="zh-CN" altLang="zh-CN" sz="2000" dirty="0"/>
              <a:t>藉由数字金融发展提高金融资产组合有效性的门槛。</a:t>
            </a:r>
            <a:endParaRPr lang="en-US" altLang="zh-CN" sz="2000" dirty="0"/>
          </a:p>
          <a:p>
            <a:pPr algn="just">
              <a:lnSpc>
                <a:spcPts val="4000"/>
              </a:lnSpc>
            </a:pPr>
            <a:endParaRPr lang="en-US" altLang="zh-CN" sz="2000" dirty="0"/>
          </a:p>
          <a:p>
            <a:pPr algn="just">
              <a:lnSpc>
                <a:spcPts val="4000"/>
              </a:lnSpc>
            </a:pPr>
            <a:r>
              <a:rPr lang="zh-CN" altLang="zh-CN" sz="2000" dirty="0"/>
              <a:t>在城乡家庭都接入数字设备的情况下，</a:t>
            </a:r>
            <a:r>
              <a:rPr lang="zh-CN" altLang="zh-CN" sz="2000" b="1" dirty="0"/>
              <a:t>数字金融发展所带来的经济效应复制了现有社会的不平等，助推了城乡金融资产组合有效性差距扩大</a:t>
            </a:r>
            <a:r>
              <a:rPr lang="zh-CN" altLang="en-US" sz="2000" dirty="0"/>
              <a:t>。</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zh-CN" dirty="0"/>
              <a:t>异质性讨论</a:t>
            </a:r>
            <a:r>
              <a:rPr lang="zh-CN" altLang="en-US" dirty="0"/>
              <a:t>：</a:t>
            </a:r>
            <a:r>
              <a:rPr lang="zh-CN" altLang="zh-CN" dirty="0"/>
              <a:t>基于</a:t>
            </a:r>
            <a:r>
              <a:rPr lang="zh-CN" altLang="en-US" dirty="0"/>
              <a:t>二</a:t>
            </a:r>
            <a:r>
              <a:rPr lang="zh-CN" altLang="zh-CN" dirty="0"/>
              <a:t>级数字鸿沟差异</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1" name="文本框 20"/>
          <p:cNvSpPr txBox="1"/>
          <p:nvPr/>
        </p:nvSpPr>
        <p:spPr>
          <a:xfrm>
            <a:off x="472016" y="1192711"/>
            <a:ext cx="3585600" cy="4974695"/>
          </a:xfrm>
          <a:prstGeom prst="rect">
            <a:avLst/>
          </a:prstGeom>
          <a:noFill/>
        </p:spPr>
        <p:txBody>
          <a:bodyPr wrap="square">
            <a:spAutoFit/>
          </a:bodyPr>
          <a:lstStyle/>
          <a:p>
            <a:pPr>
              <a:lnSpc>
                <a:spcPts val="3200"/>
              </a:lnSpc>
            </a:pPr>
            <a:r>
              <a:rPr lang="zh-CN" altLang="en-US" sz="2000" dirty="0"/>
              <a:t>能够自如使用数字金融程序同样是数字金融发展促进城乡家庭金融资产组合有效性提高的重要条件。</a:t>
            </a:r>
            <a:endParaRPr lang="en-US" altLang="zh-CN" sz="2000" dirty="0"/>
          </a:p>
          <a:p>
            <a:pPr>
              <a:lnSpc>
                <a:spcPts val="3200"/>
              </a:lnSpc>
            </a:pPr>
            <a:endParaRPr lang="en-US" altLang="zh-CN" sz="2000" dirty="0"/>
          </a:p>
          <a:p>
            <a:pPr>
              <a:lnSpc>
                <a:spcPts val="3200"/>
              </a:lnSpc>
            </a:pPr>
            <a:r>
              <a:rPr lang="zh-CN" altLang="en-US" sz="2000" dirty="0"/>
              <a:t>跨越二级数字鸿沟后，数字金融发展还是会拉大城乡居民家庭金融资产组合有效性差距，可能是因为</a:t>
            </a:r>
            <a:r>
              <a:rPr lang="zh-CN" altLang="en-US" sz="2000" b="1" dirty="0"/>
              <a:t>农村地区总体金融知识水平较城镇地区低，</a:t>
            </a:r>
            <a:r>
              <a:rPr lang="zh-CN" altLang="en-US" sz="2000" dirty="0"/>
              <a:t>不能将数字金融对家庭金融资产组合的优化作用完全发挥出来。</a:t>
            </a:r>
            <a:endParaRPr lang="zh-CN" altLang="en-US" sz="2000" dirty="0"/>
          </a:p>
        </p:txBody>
      </p:sp>
      <p:graphicFrame>
        <p:nvGraphicFramePr>
          <p:cNvPr id="23" name="表格 22"/>
          <p:cNvGraphicFramePr>
            <a:graphicFrameLocks noGrp="1"/>
          </p:cNvGraphicFramePr>
          <p:nvPr/>
        </p:nvGraphicFramePr>
        <p:xfrm>
          <a:off x="4075987" y="843548"/>
          <a:ext cx="7635601" cy="5317198"/>
        </p:xfrm>
        <a:graphic>
          <a:graphicData uri="http://schemas.openxmlformats.org/drawingml/2006/table">
            <a:tbl>
              <a:tblPr firstRow="1" firstCol="1" bandRow="1"/>
              <a:tblGrid>
                <a:gridCol w="1638600"/>
                <a:gridCol w="1499632"/>
                <a:gridCol w="1499632"/>
                <a:gridCol w="1499632"/>
                <a:gridCol w="1498105"/>
              </a:tblGrid>
              <a:tr h="416784">
                <a:tc gridSpan="5">
                  <a:txBody>
                    <a:bodyPr/>
                    <a:lstStyle/>
                    <a:p>
                      <a:pPr indent="228600" algn="ctr"/>
                      <a:r>
                        <a:rPr lang="zh-CN"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8   </a:t>
                      </a:r>
                      <a:r>
                        <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基于二级数字鸿沟差异的异质性讨论</a:t>
                      </a:r>
                      <a:endPar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r h="416784">
                <a:tc rowSpan="3">
                  <a:txBody>
                    <a:bodyPr/>
                    <a:lstStyle/>
                    <a:p>
                      <a:pPr algn="ctr"/>
                      <a:endParaRPr lang="zh-CN" sz="1600" dirty="0">
                        <a:effectLst/>
                        <a:latin typeface="Times New Roman" panose="02020603050405020304" pitchFamily="18" charset="0"/>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404">
                <a:tc vMerge="1">
                  <a:tcPr/>
                </a:tc>
                <a:tc gridSpan="2">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面临二级数字鸿沟</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未面临二级数字鸿沟</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405404">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5448">
                <a:tc rowSpan="2">
                  <a:txBody>
                    <a:bodyPr/>
                    <a:lstStyle/>
                    <a:p>
                      <a:pPr algn="just"/>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0.005</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0.014</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0.022</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0.060</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95448">
                <a:tc vMerge="1">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0.011</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0.009</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0111">
                <a:tc>
                  <a:txBody>
                    <a:bodyPr/>
                    <a:lstStyle/>
                    <a:p>
                      <a:pPr algn="just"/>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0111">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5404">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860</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2930</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1550</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3023</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5404">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0.135</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en-US" sz="1600" kern="0" baseline="300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r>
              <a:tr h="395448">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0.060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hMerge="1">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95448">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zh-CN" dirty="0"/>
              <a:t>异质性讨论</a:t>
            </a:r>
            <a:r>
              <a:rPr lang="zh-CN" altLang="en-US" dirty="0"/>
              <a:t>：</a:t>
            </a:r>
            <a:r>
              <a:rPr lang="zh-CN" altLang="zh-CN" dirty="0"/>
              <a:t>基于数字</a:t>
            </a:r>
            <a:r>
              <a:rPr lang="zh-CN" altLang="en-US" dirty="0"/>
              <a:t>信贷</a:t>
            </a:r>
            <a:r>
              <a:rPr lang="zh-CN" altLang="zh-CN" dirty="0"/>
              <a:t>鸿沟差异</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graphicFrame>
        <p:nvGraphicFramePr>
          <p:cNvPr id="19" name="表格 18"/>
          <p:cNvGraphicFramePr>
            <a:graphicFrameLocks noGrp="1"/>
          </p:cNvGraphicFramePr>
          <p:nvPr/>
        </p:nvGraphicFramePr>
        <p:xfrm>
          <a:off x="4068360" y="836906"/>
          <a:ext cx="7635208" cy="5317199"/>
        </p:xfrm>
        <a:graphic>
          <a:graphicData uri="http://schemas.openxmlformats.org/drawingml/2006/table">
            <a:tbl>
              <a:tblPr firstRow="1" firstCol="1" bandRow="1"/>
              <a:tblGrid>
                <a:gridCol w="1638515"/>
                <a:gridCol w="1499555"/>
                <a:gridCol w="1499555"/>
                <a:gridCol w="1499555"/>
                <a:gridCol w="1498028"/>
              </a:tblGrid>
              <a:tr h="408555">
                <a:tc gridSpan="5">
                  <a:txBody>
                    <a:bodyPr/>
                    <a:lstStyle/>
                    <a:p>
                      <a:pPr indent="228600" algn="ctr"/>
                      <a:r>
                        <a:rPr lang="zh-CN"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9   </a:t>
                      </a:r>
                      <a:r>
                        <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基于数字信贷鸿沟差异的异质性讨论</a:t>
                      </a:r>
                      <a:endPar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r h="408555">
                <a:tc rowSpan="3">
                  <a:txBody>
                    <a:bodyPr/>
                    <a:lstStyle/>
                    <a:p>
                      <a:pPr algn="ctr"/>
                      <a:endParaRPr lang="zh-CN" sz="1600">
                        <a:effectLst/>
                        <a:latin typeface="Times New Roman" panose="02020603050405020304" pitchFamily="18" charset="0"/>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387">
                <a:tc v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面临二级信贷鸿沟</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未面临二级信贷鸿沟</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397400">
                <a:tc vMerge="1">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7639">
                <a:tc rowSpan="2">
                  <a:txBody>
                    <a:bodyPr/>
                    <a:lstStyle/>
                    <a:p>
                      <a:pPr algn="just"/>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0.008</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-0.014</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0.015</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0.040</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87639">
                <a:tc vMerge="1">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0.016</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0.017</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0.005</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27473">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27473">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9740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159</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168</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2,251</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5,785</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97400">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2">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0.326</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0.001</a:t>
                      </a:r>
                      <a:r>
                        <a:rPr lang="en-US" sz="1600" kern="0" baseline="300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r>
              <a:tr h="387639">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3">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0.937</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hMerge="1">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87639">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r>
            </a:tbl>
          </a:graphicData>
        </a:graphic>
      </p:graphicFrame>
      <p:sp>
        <p:nvSpPr>
          <p:cNvPr id="21" name="文本框 20"/>
          <p:cNvSpPr txBox="1"/>
          <p:nvPr/>
        </p:nvSpPr>
        <p:spPr>
          <a:xfrm>
            <a:off x="455412" y="1109121"/>
            <a:ext cx="3585600" cy="4975200"/>
          </a:xfrm>
          <a:prstGeom prst="rect">
            <a:avLst/>
          </a:prstGeom>
          <a:noFill/>
        </p:spPr>
        <p:txBody>
          <a:bodyPr wrap="square">
            <a:spAutoFit/>
          </a:bodyPr>
          <a:lstStyle/>
          <a:p>
            <a:pPr algn="just">
              <a:lnSpc>
                <a:spcPts val="3300"/>
              </a:lnSpc>
            </a:pPr>
            <a:r>
              <a:rPr lang="zh-CN" altLang="zh-CN" sz="2000" dirty="0"/>
              <a:t>对于</a:t>
            </a:r>
            <a:r>
              <a:rPr lang="zh-CN" altLang="zh-CN" sz="2000" b="1" dirty="0"/>
              <a:t>农村家庭</a:t>
            </a:r>
            <a:r>
              <a:rPr lang="zh-CN" altLang="zh-CN" sz="2000" dirty="0"/>
              <a:t>而言，是否会使用数字信贷相关程序同家庭是否会利用数字金融优化家庭金融资产组合关系不大，但这对于</a:t>
            </a:r>
            <a:r>
              <a:rPr lang="zh-CN" altLang="zh-CN" sz="2000" b="1" dirty="0"/>
              <a:t>城镇家庭</a:t>
            </a:r>
            <a:r>
              <a:rPr lang="zh-CN" altLang="zh-CN" sz="2000" dirty="0"/>
              <a:t>而言是受益于数字金融发展的契机。</a:t>
            </a:r>
            <a:endParaRPr lang="en-US" altLang="zh-CN" sz="2000" dirty="0"/>
          </a:p>
          <a:p>
            <a:pPr algn="just">
              <a:lnSpc>
                <a:spcPts val="3300"/>
              </a:lnSpc>
            </a:pPr>
            <a:r>
              <a:rPr lang="en-US" altLang="zh-CN" sz="2000" dirty="0"/>
              <a:t>   </a:t>
            </a:r>
            <a:endParaRPr lang="en-US" altLang="zh-CN" sz="2000" dirty="0"/>
          </a:p>
          <a:p>
            <a:pPr algn="just">
              <a:lnSpc>
                <a:spcPts val="3300"/>
              </a:lnSpc>
            </a:pPr>
            <a:r>
              <a:rPr lang="zh-CN" altLang="zh-CN" sz="2000" dirty="0"/>
              <a:t>在家庭未面临数字信贷鸿沟时，数字金融发展依然更大程度地提升了城镇家庭金融资产组合有效性。</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2016" y="873061"/>
            <a:ext cx="3555829" cy="5279933"/>
          </a:xfrm>
          <a:prstGeom prst="rect">
            <a:avLst/>
          </a:prstGeom>
          <a:solidFill>
            <a:schemeClr val="tx1">
              <a:lumMod val="50000"/>
              <a:lumOff val="50000"/>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tx1"/>
              </a:solidFill>
            </a:endParaRPr>
          </a:p>
        </p:txBody>
      </p:sp>
      <p:sp>
        <p:nvSpPr>
          <p:cNvPr id="2" name="标题 1"/>
          <p:cNvSpPr>
            <a:spLocks noGrp="1"/>
          </p:cNvSpPr>
          <p:nvPr>
            <p:ph type="title"/>
          </p:nvPr>
        </p:nvSpPr>
        <p:spPr>
          <a:xfrm>
            <a:off x="1060449" y="323240"/>
            <a:ext cx="9673811" cy="480131"/>
          </a:xfrm>
        </p:spPr>
        <p:txBody>
          <a:bodyPr/>
          <a:lstStyle/>
          <a:p>
            <a:r>
              <a:rPr lang="zh-CN" altLang="zh-CN" dirty="0"/>
              <a:t>异质性讨论</a:t>
            </a:r>
            <a:r>
              <a:rPr lang="zh-CN" altLang="en-US" dirty="0"/>
              <a:t>：</a:t>
            </a:r>
            <a:r>
              <a:rPr lang="zh-CN" altLang="zh-CN" dirty="0"/>
              <a:t>基于数字</a:t>
            </a:r>
            <a:r>
              <a:rPr lang="zh-CN" altLang="en-US" dirty="0"/>
              <a:t>理财</a:t>
            </a:r>
            <a:r>
              <a:rPr lang="zh-CN" altLang="zh-CN" dirty="0"/>
              <a:t>鸿沟差异</a:t>
            </a:r>
            <a:endParaRPr lang="zh-CN" altLang="en-US" dirty="0"/>
          </a:p>
        </p:txBody>
      </p:sp>
      <p:sp>
        <p:nvSpPr>
          <p:cNvPr id="3" name="矩形 2"/>
          <p:cNvSpPr/>
          <p:nvPr/>
        </p:nvSpPr>
        <p:spPr>
          <a:xfrm>
            <a:off x="7321539" y="6386682"/>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639165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758739"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8453255" y="6277349"/>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文本框 19"/>
          <p:cNvSpPr txBox="1"/>
          <p:nvPr/>
        </p:nvSpPr>
        <p:spPr>
          <a:xfrm>
            <a:off x="426851" y="1109121"/>
            <a:ext cx="3585600" cy="4975200"/>
          </a:xfrm>
          <a:prstGeom prst="rect">
            <a:avLst/>
          </a:prstGeom>
          <a:noFill/>
        </p:spPr>
        <p:txBody>
          <a:bodyPr wrap="square">
            <a:spAutoFit/>
          </a:bodyPr>
          <a:lstStyle/>
          <a:p>
            <a:pPr algn="just">
              <a:lnSpc>
                <a:spcPts val="3900"/>
              </a:lnSpc>
            </a:pPr>
            <a:r>
              <a:rPr lang="zh-CN" altLang="en-US" sz="2000" dirty="0"/>
              <a:t>无论是城镇家庭还是农村家庭，</a:t>
            </a:r>
            <a:r>
              <a:rPr lang="zh-CN" altLang="en-US" sz="2000" b="1" dirty="0"/>
              <a:t>会使用数字理财相关程序均是</a:t>
            </a:r>
            <a:r>
              <a:rPr lang="zh-CN" altLang="en-US" sz="2000" dirty="0"/>
              <a:t>数字金融发展优化家庭金融资产组合有效性的重要条件。</a:t>
            </a:r>
            <a:endParaRPr lang="en-US" altLang="zh-CN" sz="2000" dirty="0"/>
          </a:p>
          <a:p>
            <a:pPr algn="just">
              <a:lnSpc>
                <a:spcPts val="3900"/>
              </a:lnSpc>
            </a:pPr>
            <a:endParaRPr lang="en-US" altLang="zh-CN" sz="2000" dirty="0"/>
          </a:p>
          <a:p>
            <a:pPr algn="just">
              <a:lnSpc>
                <a:spcPts val="3900"/>
              </a:lnSpc>
            </a:pPr>
            <a:r>
              <a:rPr lang="zh-CN" altLang="en-US" sz="2000" dirty="0"/>
              <a:t>在家庭未面临数字理财鸿沟时，数字金融发展依然更大程度地提升了城镇家庭金融资产组合有效性。</a:t>
            </a:r>
            <a:endParaRPr lang="en-US" altLang="zh-CN" sz="2000" dirty="0"/>
          </a:p>
        </p:txBody>
      </p:sp>
      <p:graphicFrame>
        <p:nvGraphicFramePr>
          <p:cNvPr id="22" name="表格 21"/>
          <p:cNvGraphicFramePr>
            <a:graphicFrameLocks noGrp="1"/>
          </p:cNvGraphicFramePr>
          <p:nvPr/>
        </p:nvGraphicFramePr>
        <p:xfrm>
          <a:off x="4093605" y="836577"/>
          <a:ext cx="7635600" cy="5317196"/>
        </p:xfrm>
        <a:graphic>
          <a:graphicData uri="http://schemas.openxmlformats.org/drawingml/2006/table">
            <a:tbl>
              <a:tblPr firstRow="1" firstCol="1" bandRow="1"/>
              <a:tblGrid>
                <a:gridCol w="1563458"/>
                <a:gridCol w="1518422"/>
                <a:gridCol w="1518422"/>
                <a:gridCol w="1518422"/>
                <a:gridCol w="1516876"/>
              </a:tblGrid>
              <a:tr h="416784">
                <a:tc gridSpan="5">
                  <a:txBody>
                    <a:bodyPr/>
                    <a:lstStyle/>
                    <a:p>
                      <a:pPr indent="228600" algn="ctr"/>
                      <a:r>
                        <a:rPr lang="zh-CN"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表</a:t>
                      </a:r>
                      <a:r>
                        <a:rPr 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10   </a:t>
                      </a:r>
                      <a:r>
                        <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rPr>
                        <a:t>基于数字理财差异的异质性讨论</a:t>
                      </a:r>
                      <a:endParaRPr lang="zh-CN" altLang="en-US" sz="1600" kern="100" dirty="0">
                        <a:solidFill>
                          <a:srgbClr val="000000"/>
                        </a:solidFill>
                        <a:effectLst/>
                        <a:latin typeface="Calibri" panose="020F0502020204030204" pitchFamily="34" charset="0"/>
                        <a:ea typeface="黑体" panose="02010609060101010101" pitchFamily="49" charset="-122"/>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c hMerge="1">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r h="416784">
                <a:tc rowSpan="3">
                  <a:txBody>
                    <a:bodyPr/>
                    <a:lstStyle/>
                    <a:p>
                      <a:pPr algn="ctr"/>
                      <a:endParaRPr lang="zh-CN" sz="1600">
                        <a:effectLst/>
                        <a:latin typeface="Times New Roman" panose="02020603050405020304" pitchFamily="18" charset="0"/>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404">
                <a:tc vMerge="1">
                  <a:tcPr/>
                </a:tc>
                <a:tc gridSpan="2">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面临二级理财鸿沟</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未面临二级理财鸿沟</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r>
              <a:tr h="405404">
                <a:tc vMerge="1">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农村样本</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城镇样本</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5447">
                <a:tc rowSpan="2">
                  <a:txBody>
                    <a:bodyPr/>
                    <a:lstStyle/>
                    <a:p>
                      <a:pPr algn="just"/>
                      <a:r>
                        <a:rPr lang="zh-CN" sz="1600" b="1"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数字金融发展</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0.017</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0.022</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b="1"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0.056</a:t>
                      </a:r>
                      <a:r>
                        <a:rPr lang="en-US" sz="1600" b="1"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b="1"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95447">
                <a:tc vMerge="1">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0.004</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0.006</a:t>
                      </a: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0.010</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0.009</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0112">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控制户主特征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640112">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控制家庭特征</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是</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5404">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观测值</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1504</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2,867</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906</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3,086</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405404">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0.027</a:t>
                      </a:r>
                      <a:r>
                        <a:rPr lang="en-US" sz="1600" kern="0" baseline="300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gridSpan="2">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0.010</a:t>
                      </a:r>
                      <a:r>
                        <a:rPr lang="en-US" sz="1600" kern="0" baseline="300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r>
              <a:tr h="395447">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2</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gridSpan="3">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0.000</a:t>
                      </a:r>
                      <a:r>
                        <a:rPr lang="en-US" sz="1600" kern="0" baseline="300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c hMerge="1">
                  <a:tcPr/>
                </a:tc>
                <a:tc hMerge="1">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a:noFill/>
                    </a:lnB>
                  </a:tcPr>
                </a:tc>
              </a:tr>
              <a:tr h="395447">
                <a:tc>
                  <a:txBody>
                    <a:bodyPr/>
                    <a:lstStyle/>
                    <a:p>
                      <a:pPr algn="just"/>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经验</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p</a:t>
                      </a:r>
                      <a:r>
                        <a:rPr lang="zh-CN"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值</a:t>
                      </a: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3</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600" kern="10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gridSpan="3">
                  <a:txBody>
                    <a:bodyPr/>
                    <a:lstStyle/>
                    <a:p>
                      <a:pPr algn="ctr"/>
                      <a:r>
                        <a:rPr lang="en-US" sz="1600" kern="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0.037</a:t>
                      </a:r>
                      <a:r>
                        <a:rPr lang="en-US" sz="1600" kern="0" baseline="30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600" kern="100" dirty="0">
                        <a:effectLst/>
                        <a:latin typeface="Calibri" panose="020F0502020204030204" pitchFamily="34" charset="0"/>
                        <a:ea typeface="宋体" panose="02010600030101010101" pitchFamily="2"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hMerge="1">
                  <a:tcPr/>
                </a:tc>
                <a:tc h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83652" y="3373079"/>
            <a:ext cx="11403871" cy="2749425"/>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60450" y="323240"/>
            <a:ext cx="7890690" cy="480131"/>
          </a:xfrm>
        </p:spPr>
        <p:txBody>
          <a:bodyPr/>
          <a:lstStyle/>
          <a:p>
            <a:r>
              <a:rPr lang="zh-CN" altLang="en-US" dirty="0"/>
              <a:t>研究结论与启示</a:t>
            </a:r>
            <a:endParaRPr lang="zh-CN" altLang="en-US" dirty="0"/>
          </a:p>
        </p:txBody>
      </p:sp>
      <p:sp>
        <p:nvSpPr>
          <p:cNvPr id="3" name="矩形 2"/>
          <p:cNvSpPr/>
          <p:nvPr/>
        </p:nvSpPr>
        <p:spPr>
          <a:xfrm>
            <a:off x="9758737" y="6390860"/>
            <a:ext cx="2437200" cy="46713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p:cNvSpPr/>
          <p:nvPr/>
        </p:nvSpPr>
        <p:spPr>
          <a:xfrm>
            <a:off x="24372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744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31160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6390861"/>
            <a:ext cx="2437200" cy="467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7521" y="6439764"/>
            <a:ext cx="2262158" cy="369332"/>
          </a:xfrm>
          <a:prstGeom prst="rect">
            <a:avLst/>
          </a:prstGeom>
        </p:spPr>
        <p:txBody>
          <a:bodyPr wrap="none">
            <a:spAutoFit/>
          </a:bodyPr>
          <a:lstStyle/>
          <a:p>
            <a:r>
              <a:rPr lang="zh-CN" altLang="en-US" dirty="0">
                <a:solidFill>
                  <a:schemeClr val="bg1"/>
                </a:solidFill>
              </a:rPr>
              <a:t>研究背景与问题提出</a:t>
            </a:r>
            <a:endParaRPr lang="zh-CN" altLang="en-US" dirty="0">
              <a:solidFill>
                <a:schemeClr val="bg1"/>
              </a:solidFill>
            </a:endParaRPr>
          </a:p>
        </p:txBody>
      </p:sp>
      <p:sp>
        <p:nvSpPr>
          <p:cNvPr id="9" name="矩形 8"/>
          <p:cNvSpPr/>
          <p:nvPr/>
        </p:nvSpPr>
        <p:spPr>
          <a:xfrm>
            <a:off x="25247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理论分析与研究假说</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nvSpPr>
        <p:spPr>
          <a:xfrm>
            <a:off x="4961921" y="6439764"/>
            <a:ext cx="2262158"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数据选取与模型构建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nvSpPr>
        <p:spPr>
          <a:xfrm>
            <a:off x="7745370" y="6439764"/>
            <a:ext cx="1569660" cy="369332"/>
          </a:xfrm>
          <a:prstGeom prst="rect">
            <a:avLst/>
          </a:prstGeom>
        </p:spPr>
        <p:txBody>
          <a:bodyPr wrap="none">
            <a:spAutoFit/>
          </a:bodyPr>
          <a:lstStyle/>
          <a:p>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实证结果分析</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10077091" y="6445525"/>
            <a:ext cx="1800493" cy="369332"/>
          </a:xfrm>
          <a:prstGeom prst="rect">
            <a:avLst/>
          </a:prstGeom>
        </p:spPr>
        <p:txBody>
          <a:bodyPr wrap="none">
            <a:spAutoFit/>
          </a:bodyPr>
          <a:lstStyle/>
          <a:p>
            <a:pPr lvl="0"/>
            <a:r>
              <a:rPr lang="zh-CN" altLang="en-US" dirty="0">
                <a:solidFill>
                  <a:schemeClr val="bg1"/>
                </a:solidFill>
                <a:latin typeface="Arial" panose="020B0604020202020204" pitchFamily="34" charset="0"/>
                <a:ea typeface="微软雅黑" panose="020B0503020204020204" charset="-122"/>
                <a:sym typeface="Arial" panose="020B0604020202020204" pitchFamily="34" charset="0"/>
              </a:rPr>
              <a:t>研究结论与启示</a:t>
            </a:r>
            <a:endParaRPr lang="zh-CN" altLang="en-US"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13" name="等腰三角形 12"/>
          <p:cNvSpPr/>
          <p:nvPr/>
        </p:nvSpPr>
        <p:spPr>
          <a:xfrm>
            <a:off x="10900392" y="6261650"/>
            <a:ext cx="153889" cy="129209"/>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矩形 13"/>
          <p:cNvSpPr/>
          <p:nvPr/>
        </p:nvSpPr>
        <p:spPr>
          <a:xfrm>
            <a:off x="473711" y="1063639"/>
            <a:ext cx="11403871" cy="2139047"/>
          </a:xfrm>
          <a:prstGeom prst="rect">
            <a:avLst/>
          </a:prstGeom>
        </p:spPr>
        <p:txBody>
          <a:bodyPr wrap="square">
            <a:spAutoFit/>
          </a:bodyPr>
          <a:lstStyle/>
          <a:p>
            <a:pPr>
              <a:spcAft>
                <a:spcPts val="600"/>
              </a:spcAft>
            </a:pPr>
            <a:r>
              <a:rPr lang="zh-CN" altLang="en-US" sz="2000" b="1" dirty="0">
                <a:solidFill>
                  <a:schemeClr val="accent1"/>
                </a:solidFill>
              </a:rPr>
              <a:t>研究结论</a:t>
            </a:r>
            <a:endParaRPr lang="en-US" altLang="zh-CN" sz="2000" b="1" dirty="0">
              <a:solidFill>
                <a:schemeClr val="accent1"/>
              </a:solidFill>
            </a:endParaRPr>
          </a:p>
          <a:p>
            <a:r>
              <a:rPr lang="zh-CN" altLang="en-US" b="1" dirty="0"/>
              <a:t>第一，</a:t>
            </a:r>
            <a:r>
              <a:rPr lang="zh-CN" altLang="zh-CN" dirty="0"/>
              <a:t>数字金融发展</a:t>
            </a:r>
            <a:r>
              <a:rPr lang="zh-CN" altLang="zh-CN" b="1" dirty="0"/>
              <a:t>显著提升了我国城乡家庭金融资产组合有效性</a:t>
            </a:r>
            <a:r>
              <a:rPr lang="zh-CN" altLang="zh-CN" dirty="0"/>
              <a:t>，上述结论在三个子维度层面进行检验时依旧成立；</a:t>
            </a:r>
            <a:endParaRPr lang="en-US" altLang="zh-CN" dirty="0"/>
          </a:p>
          <a:p>
            <a:r>
              <a:rPr lang="zh-CN" altLang="en-US" b="1" dirty="0"/>
              <a:t>第二，</a:t>
            </a:r>
            <a:r>
              <a:rPr lang="zh-CN" altLang="zh-CN" dirty="0"/>
              <a:t>数字金融发展虽明显提升了农村家庭金融资产组合有效性，但其发展更多提高城镇家庭金融资产组合有效性，总体上</a:t>
            </a:r>
            <a:r>
              <a:rPr lang="zh-CN" altLang="zh-CN" b="1" dirty="0"/>
              <a:t>扩大了家庭金融资产组合有效性的城乡差距</a:t>
            </a:r>
            <a:endParaRPr lang="en-US" altLang="zh-CN" b="1" dirty="0"/>
          </a:p>
          <a:p>
            <a:r>
              <a:rPr lang="zh-CN" altLang="en-US" b="1" dirty="0"/>
              <a:t>第三，</a:t>
            </a:r>
            <a:r>
              <a:rPr lang="zh-CN" altLang="zh-CN" dirty="0"/>
              <a:t>异质性分析表明，数字金融发展的</a:t>
            </a:r>
            <a:r>
              <a:rPr lang="zh-CN" altLang="zh-CN" b="1" dirty="0"/>
              <a:t>主要受惠者是能够接入和更好使用数字金融的家庭</a:t>
            </a:r>
            <a:r>
              <a:rPr lang="zh-CN" altLang="zh-CN" dirty="0"/>
              <a:t>，在</a:t>
            </a:r>
            <a:r>
              <a:rPr lang="zh-CN" altLang="en-US" dirty="0"/>
              <a:t>在逐步逾越各级数字鸿沟后，数字金融发展还是会扩大城乡金融资产组合有效性差距。</a:t>
            </a:r>
            <a:endParaRPr lang="zh-CN" altLang="zh-CN" dirty="0"/>
          </a:p>
        </p:txBody>
      </p:sp>
      <p:sp>
        <p:nvSpPr>
          <p:cNvPr id="15" name="矩形 14"/>
          <p:cNvSpPr/>
          <p:nvPr/>
        </p:nvSpPr>
        <p:spPr>
          <a:xfrm>
            <a:off x="483652" y="3455129"/>
            <a:ext cx="11403872" cy="2539157"/>
          </a:xfrm>
          <a:prstGeom prst="rect">
            <a:avLst/>
          </a:prstGeom>
        </p:spPr>
        <p:txBody>
          <a:bodyPr wrap="square">
            <a:spAutoFit/>
          </a:bodyPr>
          <a:lstStyle/>
          <a:p>
            <a:pPr>
              <a:spcAft>
                <a:spcPts val="600"/>
              </a:spcAft>
            </a:pPr>
            <a:r>
              <a:rPr lang="zh-CN" altLang="en-US" sz="2000" b="1" dirty="0">
                <a:solidFill>
                  <a:schemeClr val="accent1"/>
                </a:solidFill>
              </a:rPr>
              <a:t>政策含义</a:t>
            </a:r>
            <a:endParaRPr lang="en-US" altLang="zh-CN" sz="2000" b="1" dirty="0">
              <a:solidFill>
                <a:schemeClr val="accent1"/>
              </a:solidFill>
            </a:endParaRPr>
          </a:p>
          <a:p>
            <a:pPr>
              <a:spcAft>
                <a:spcPts val="1200"/>
              </a:spcAft>
            </a:pPr>
            <a:r>
              <a:rPr lang="zh-CN" altLang="en-US" sz="2000" dirty="0"/>
              <a:t>      </a:t>
            </a:r>
            <a:r>
              <a:rPr lang="en-US" altLang="zh-CN" sz="2000" dirty="0"/>
              <a:t> </a:t>
            </a:r>
            <a:r>
              <a:rPr lang="zh-CN" altLang="en-US" sz="2000" dirty="0"/>
              <a:t>欲在整体优化我国家庭金融资产组合有效性的同时缩小城乡家庭金融资产有效性差距，需要</a:t>
            </a:r>
            <a:r>
              <a:rPr lang="zh-CN" altLang="en-US" sz="2000" b="1" dirty="0"/>
              <a:t>更大程度地提高农村数字普惠金融发展水平，填补城乡数字金融“生态鸿沟”和“知识沟”，以更多提高农村居民的家庭金融资产组合有效性</a:t>
            </a:r>
            <a:r>
              <a:rPr lang="zh-CN" altLang="en-US" dirty="0"/>
              <a:t>。</a:t>
            </a:r>
            <a:endParaRPr lang="en-US" altLang="zh-CN" b="1" dirty="0"/>
          </a:p>
          <a:p>
            <a:pPr>
              <a:spcAft>
                <a:spcPts val="1200"/>
              </a:spcAft>
            </a:pPr>
            <a:r>
              <a:rPr lang="zh-CN" altLang="zh-CN" b="1" dirty="0"/>
              <a:t>第一，</a:t>
            </a:r>
            <a:r>
              <a:rPr lang="zh-CN" altLang="zh-CN" dirty="0"/>
              <a:t>加快建设新型数字基础设施，实现数字化转型。</a:t>
            </a:r>
            <a:endParaRPr lang="en-US" altLang="zh-CN" dirty="0"/>
          </a:p>
          <a:p>
            <a:pPr>
              <a:spcAft>
                <a:spcPts val="1200"/>
              </a:spcAft>
            </a:pPr>
            <a:r>
              <a:rPr lang="zh-CN" altLang="zh-CN" b="1" dirty="0"/>
              <a:t>第二，充分激发农民通过数字金融使用实现优化金融资产组合的“内生动能”，打破农民“不敢用、不会用”数字金融的思想樊笼。</a:t>
            </a:r>
            <a:endParaRPr lang="en-US" altLang="zh-CN"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占位符 44" descr="图片包含 天空, 树, 户外, 道路&#10;&#10;自动生成的说明"/>
          <p:cNvPicPr>
            <a:picLocks noGrp="1" noChangeAspect="1"/>
          </p:cNvPicPr>
          <p:nvPr>
            <p:ph type="pic" sz="quarter" idx="11"/>
          </p:nvPr>
        </p:nvPicPr>
        <p:blipFill>
          <a:blip r:embed="rId1">
            <a:extLst>
              <a:ext uri="{BEBA8EAE-BF5A-486C-A8C5-ECC9F3942E4B}">
                <a14:imgProps xmlns:a14="http://schemas.microsoft.com/office/drawing/2010/main">
                  <a14:imgLayer r:embed="rId2">
                    <a14:imgEffect>
                      <a14:brightnessContrast bright="20000" contrast="-20000"/>
                    </a14:imgEffect>
                  </a14:imgLayer>
                </a14:imgProps>
              </a:ext>
              <a:ext uri="{28A0092B-C50C-407E-A947-70E740481C1C}">
                <a14:useLocalDpi xmlns:a14="http://schemas.microsoft.com/office/drawing/2010/main" val="0"/>
              </a:ext>
            </a:extLst>
          </a:blip>
          <a:srcRect l="2855" r="2855"/>
          <a:stretch>
            <a:fillRect/>
          </a:stretch>
        </p:blipFill>
        <p:spPr/>
      </p:pic>
      <p:sp>
        <p:nvSpPr>
          <p:cNvPr id="4" name="标题 3"/>
          <p:cNvSpPr>
            <a:spLocks noGrp="1"/>
          </p:cNvSpPr>
          <p:nvPr>
            <p:ph type="title"/>
          </p:nvPr>
        </p:nvSpPr>
        <p:spPr>
          <a:xfrm>
            <a:off x="600104" y="2071136"/>
            <a:ext cx="6847664" cy="1880879"/>
          </a:xfrm>
        </p:spPr>
        <p:txBody>
          <a:bodyPr>
            <a:normAutofit fontScale="90000"/>
          </a:bodyPr>
          <a:lstStyle/>
          <a:p>
            <a:r>
              <a:rPr lang="zh-CN" altLang="en-US" b="1" dirty="0"/>
              <a:t>感谢观看</a:t>
            </a:r>
            <a:br>
              <a:rPr lang="zh-CN" altLang="en-US" b="1" dirty="0"/>
            </a:br>
            <a:r>
              <a:rPr lang="zh-CN" altLang="en-US" b="1" dirty="0"/>
              <a:t>请各位老师批评指正！</a:t>
            </a:r>
            <a:endParaRPr lang="zh-CN" altLang="en-US" b="1" dirty="0"/>
          </a:p>
        </p:txBody>
      </p:sp>
      <p:sp>
        <p:nvSpPr>
          <p:cNvPr id="52" name="文本占位符 51"/>
          <p:cNvSpPr>
            <a:spLocks noGrp="1"/>
          </p:cNvSpPr>
          <p:nvPr>
            <p:ph type="body" idx="1"/>
          </p:nvPr>
        </p:nvSpPr>
        <p:spPr/>
        <p:txBody>
          <a:bodyPr>
            <a:normAutofit fontScale="65000" lnSpcReduction="20000"/>
          </a:bodyPr>
          <a:lstStyle/>
          <a:p>
            <a:r>
              <a:rPr lang="zh-CN" altLang="en-US" dirty="0"/>
              <a:t>汇报人：</a:t>
            </a:r>
            <a:r>
              <a:rPr lang="en-US" altLang="zh-CN" dirty="0"/>
              <a:t>xxx</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KSO_WPP_MARK_KEY" val="2ae74f47-2df7-4732-8c85-906f7c48a829"/>
  <p:tag name="COMMONDATA" val="eyJoZGlkIjoiZWZjZmFhMTI4YjdmNTBkYjJkMDA3MDViOTcxYzYwYjYifQ=="/>
</p:tagLst>
</file>

<file path=ppt/theme/theme1.xml><?xml version="1.0" encoding="utf-8"?>
<a:theme xmlns:a="http://schemas.openxmlformats.org/drawingml/2006/main" name="Office 主题​​">
  <a:themeElements>
    <a:clrScheme name="西南大学专用">
      <a:dk1>
        <a:sysClr val="windowText" lastClr="000000"/>
      </a:dk1>
      <a:lt1>
        <a:sysClr val="window" lastClr="FFFFFF"/>
      </a:lt1>
      <a:dk2>
        <a:srgbClr val="44546A"/>
      </a:dk2>
      <a:lt2>
        <a:srgbClr val="E7E6E6"/>
      </a:lt2>
      <a:accent1>
        <a:srgbClr val="1D2974"/>
      </a:accent1>
      <a:accent2>
        <a:srgbClr val="26379A"/>
      </a:accent2>
      <a:accent3>
        <a:srgbClr val="8A97E2"/>
      </a:accent3>
      <a:accent4>
        <a:srgbClr val="AA71E2"/>
      </a:accent4>
      <a:accent5>
        <a:srgbClr val="84C4D7"/>
      </a:accent5>
      <a:accent6>
        <a:srgbClr val="FFE483"/>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西南大学专用">
    <a:dk1>
      <a:sysClr val="windowText" lastClr="000000"/>
    </a:dk1>
    <a:lt1>
      <a:sysClr val="window" lastClr="FFFFFF"/>
    </a:lt1>
    <a:dk2>
      <a:srgbClr val="44546A"/>
    </a:dk2>
    <a:lt2>
      <a:srgbClr val="E7E6E6"/>
    </a:lt2>
    <a:accent1>
      <a:srgbClr val="1D2974"/>
    </a:accent1>
    <a:accent2>
      <a:srgbClr val="26379A"/>
    </a:accent2>
    <a:accent3>
      <a:srgbClr val="8A97E2"/>
    </a:accent3>
    <a:accent4>
      <a:srgbClr val="AA71E2"/>
    </a:accent4>
    <a:accent5>
      <a:srgbClr val="84C4D7"/>
    </a:accent5>
    <a:accent6>
      <a:srgbClr val="FFE483"/>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7986</Words>
  <Application>WPS 演示</Application>
  <PresentationFormat>宽屏</PresentationFormat>
  <Paragraphs>1512</Paragraphs>
  <Slides>21</Slides>
  <Notes>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21</vt:i4>
      </vt:variant>
    </vt:vector>
  </HeadingPairs>
  <TitlesOfParts>
    <vt:vector size="37" baseType="lpstr">
      <vt:lpstr>Arial</vt:lpstr>
      <vt:lpstr>宋体</vt:lpstr>
      <vt:lpstr>Wingdings</vt:lpstr>
      <vt:lpstr>Segoe UI</vt:lpstr>
      <vt:lpstr>微软雅黑</vt:lpstr>
      <vt:lpstr>等线</vt:lpstr>
      <vt:lpstr>Cambria Math</vt:lpstr>
      <vt:lpstr>Cambria Math</vt:lpstr>
      <vt:lpstr>Times New Roman</vt:lpstr>
      <vt:lpstr>黑体</vt:lpstr>
      <vt:lpstr>Arial Black</vt:lpstr>
      <vt:lpstr>Arial Unicode MS</vt:lpstr>
      <vt:lpstr>Calibri</vt:lpstr>
      <vt:lpstr>BatangChe</vt:lpstr>
      <vt:lpstr>Segoe Print</vt:lpstr>
      <vt:lpstr>Office 主题​​</vt:lpstr>
      <vt:lpstr>数字金融发展与城乡居民家庭金融资产组合有效性差异 ——来自中国家庭金融调查（CHFS2019）的证据</vt:lpstr>
      <vt:lpstr>PowerPoint 演示文稿</vt:lpstr>
      <vt:lpstr>研究背景</vt:lpstr>
      <vt:lpstr>问题提出</vt:lpstr>
      <vt:lpstr>文献回顾与述评</vt:lpstr>
      <vt:lpstr>研究假说</vt:lpstr>
      <vt:lpstr>研究假说</vt:lpstr>
      <vt:lpstr>数据来源和变量设置</vt:lpstr>
      <vt:lpstr>描述性统计</vt:lpstr>
      <vt:lpstr>模型选择</vt:lpstr>
      <vt:lpstr>基准结果分析</vt:lpstr>
      <vt:lpstr>基准结果分析</vt:lpstr>
      <vt:lpstr>内生性讨论：工具变量法</vt:lpstr>
      <vt:lpstr>稳健性检验：替换被解释变量</vt:lpstr>
      <vt:lpstr>稳健性检验：剔除部分样本</vt:lpstr>
      <vt:lpstr>异质性讨论：基于一级数字鸿沟差异</vt:lpstr>
      <vt:lpstr>异质性讨论：基于二级数字鸿沟差异</vt:lpstr>
      <vt:lpstr>异质性讨论：基于数字信贷鸿沟差异</vt:lpstr>
      <vt:lpstr>异质性讨论：基于数字理财鸿沟差异</vt:lpstr>
      <vt:lpstr>研究结论与启示</vt:lpstr>
      <vt:lpstr>感谢观看 请各位老师批评指正！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潭 李</dc:creator>
  <cp:lastModifiedBy>WPS_1478658564</cp:lastModifiedBy>
  <cp:revision>610</cp:revision>
  <dcterms:created xsi:type="dcterms:W3CDTF">2019-01-23T02:51:00Z</dcterms:created>
  <dcterms:modified xsi:type="dcterms:W3CDTF">2022-11-30T09:47:13Z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363335639C8B4D2F95AFA503F208758E</vt:lpwstr>
  </property>
  <property fmtid="{D5CDD505-2E9C-101B-9397-08002B2CF9AE}" pid="3" name="KSOProductBuildVer">
    <vt:lpwstr>2052-11.1.0.12763</vt:lpwstr>
  </property>
</Properties>
</file>