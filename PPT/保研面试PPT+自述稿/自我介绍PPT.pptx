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omments/modernComment_11B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337" r:id="rId2"/>
    <p:sldId id="282" r:id="rId3"/>
    <p:sldId id="283" r:id="rId4"/>
    <p:sldId id="284" r:id="rId5"/>
    <p:sldId id="322" r:id="rId6"/>
    <p:sldId id="334" r:id="rId7"/>
    <p:sldId id="323" r:id="rId8"/>
    <p:sldId id="335" r:id="rId9"/>
    <p:sldId id="338" r:id="rId10"/>
    <p:sldId id="339" r:id="rId11"/>
    <p:sldId id="340" r:id="rId12"/>
    <p:sldId id="341" r:id="rId13"/>
    <p:sldId id="329" r:id="rId14"/>
    <p:sldId id="336" r:id="rId15"/>
    <p:sldId id="331" r:id="rId16"/>
    <p:sldId id="332" r:id="rId17"/>
    <p:sldId id="333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3F3A873-5E73-AF47-5168-60E826C34ABE}" name="Administrator" initials="A" userId="Administrato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4288"/>
    <a:srgbClr val="FFFFFF"/>
    <a:srgbClr val="323337"/>
    <a:srgbClr val="0082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133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omments/modernComment_11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603BF5F-4A4B-4A13-BBC4-91E19D54B46E}" authorId="{13F3A873-5E73-AF47-5168-60E826C34ABE}" created="2025-06-30T10:34:23.56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83"/>
      <ac:spMk id="57"/>
    </ac:deMkLst>
    <p188:txBody>
      <a:bodyPr/>
      <a:lstStyle/>
      <a:p>
        <a:r>
          <a:rPr lang="zh-CN" altLang="en-US"/>
          <a:t>创作时间:2023.6;出售渠道:b站-玄风风兮,闲鱼-卡酷星和气的青蒿,微信-zszf0529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D709D3-6F9E-4648-AB9D-46357153C093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496F1-F346-4D51-9981-BB3563A0C19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7"/>
          <p:cNvSpPr/>
          <p:nvPr userDrawn="1"/>
        </p:nvSpPr>
        <p:spPr bwMode="auto">
          <a:xfrm>
            <a:off x="336" y="6286938"/>
            <a:ext cx="12191331" cy="273949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</a:ln>
        </p:spPr>
        <p:txBody>
          <a:bodyPr vert="horz" wrap="square" lIns="121913" tIns="60956" rIns="121913" bIns="60956" numCol="1" anchor="t" anchorCtr="0" compatLnSpc="1"/>
          <a:lstStyle/>
          <a:p>
            <a:endParaRPr lang="zh-CN" altLang="en-US" sz="1330"/>
          </a:p>
        </p:txBody>
      </p:sp>
      <p:sp>
        <p:nvSpPr>
          <p:cNvPr id="4" name="任意多边形 3"/>
          <p:cNvSpPr/>
          <p:nvPr userDrawn="1"/>
        </p:nvSpPr>
        <p:spPr>
          <a:xfrm>
            <a:off x="337" y="6416828"/>
            <a:ext cx="12191331" cy="441172"/>
          </a:xfrm>
          <a:custGeom>
            <a:avLst/>
            <a:gdLst>
              <a:gd name="connsiteX0" fmla="*/ 1932824 w 12191331"/>
              <a:gd name="connsiteY0" fmla="*/ 0 h 441172"/>
              <a:gd name="connsiteX1" fmla="*/ 2383959 w 12191331"/>
              <a:gd name="connsiteY1" fmla="*/ 0 h 441172"/>
              <a:gd name="connsiteX2" fmla="*/ 2730328 w 12191331"/>
              <a:gd name="connsiteY2" fmla="*/ 0 h 441172"/>
              <a:gd name="connsiteX3" fmla="*/ 3053178 w 12191331"/>
              <a:gd name="connsiteY3" fmla="*/ 1391 h 441172"/>
              <a:gd name="connsiteX4" fmla="*/ 3354647 w 12191331"/>
              <a:gd name="connsiteY4" fmla="*/ 1391 h 441172"/>
              <a:gd name="connsiteX5" fmla="*/ 3630460 w 12191331"/>
              <a:gd name="connsiteY5" fmla="*/ 2781 h 441172"/>
              <a:gd name="connsiteX6" fmla="*/ 3882753 w 12191331"/>
              <a:gd name="connsiteY6" fmla="*/ 4172 h 441172"/>
              <a:gd name="connsiteX7" fmla="*/ 4109389 w 12191331"/>
              <a:gd name="connsiteY7" fmla="*/ 4867 h 441172"/>
              <a:gd name="connsiteX8" fmla="*/ 4314645 w 12191331"/>
              <a:gd name="connsiteY8" fmla="*/ 7649 h 441172"/>
              <a:gd name="connsiteX9" fmla="*/ 4494244 w 12191331"/>
              <a:gd name="connsiteY9" fmla="*/ 9734 h 441172"/>
              <a:gd name="connsiteX10" fmla="*/ 4705914 w 12191331"/>
              <a:gd name="connsiteY10" fmla="*/ 13906 h 441172"/>
              <a:gd name="connsiteX11" fmla="*/ 4902617 w 12191331"/>
              <a:gd name="connsiteY11" fmla="*/ 22250 h 441172"/>
              <a:gd name="connsiteX12" fmla="*/ 5077940 w 12191331"/>
              <a:gd name="connsiteY12" fmla="*/ 31984 h 441172"/>
              <a:gd name="connsiteX13" fmla="*/ 5242572 w 12191331"/>
              <a:gd name="connsiteY13" fmla="*/ 43804 h 441172"/>
              <a:gd name="connsiteX14" fmla="*/ 5383685 w 12191331"/>
              <a:gd name="connsiteY14" fmla="*/ 58405 h 441172"/>
              <a:gd name="connsiteX15" fmla="*/ 5514108 w 12191331"/>
              <a:gd name="connsiteY15" fmla="*/ 74397 h 441172"/>
              <a:gd name="connsiteX16" fmla="*/ 5629564 w 12191331"/>
              <a:gd name="connsiteY16" fmla="*/ 91085 h 441172"/>
              <a:gd name="connsiteX17" fmla="*/ 5730054 w 12191331"/>
              <a:gd name="connsiteY17" fmla="*/ 109162 h 441172"/>
              <a:gd name="connsiteX18" fmla="*/ 5819853 w 12191331"/>
              <a:gd name="connsiteY18" fmla="*/ 128631 h 441172"/>
              <a:gd name="connsiteX19" fmla="*/ 5892548 w 12191331"/>
              <a:gd name="connsiteY19" fmla="*/ 148099 h 441172"/>
              <a:gd name="connsiteX20" fmla="*/ 5960967 w 12191331"/>
              <a:gd name="connsiteY20" fmla="*/ 167568 h 441172"/>
              <a:gd name="connsiteX21" fmla="*/ 6012281 w 12191331"/>
              <a:gd name="connsiteY21" fmla="*/ 187036 h 441172"/>
              <a:gd name="connsiteX22" fmla="*/ 6061456 w 12191331"/>
              <a:gd name="connsiteY22" fmla="*/ 205114 h 441172"/>
              <a:gd name="connsiteX23" fmla="*/ 6097804 w 12191331"/>
              <a:gd name="connsiteY23" fmla="*/ 221801 h 441172"/>
              <a:gd name="connsiteX24" fmla="*/ 6132013 w 12191331"/>
              <a:gd name="connsiteY24" fmla="*/ 205114 h 441172"/>
              <a:gd name="connsiteX25" fmla="*/ 6181189 w 12191331"/>
              <a:gd name="connsiteY25" fmla="*/ 187036 h 441172"/>
              <a:gd name="connsiteX26" fmla="*/ 6232503 w 12191331"/>
              <a:gd name="connsiteY26" fmla="*/ 167568 h 441172"/>
              <a:gd name="connsiteX27" fmla="*/ 6298783 w 12191331"/>
              <a:gd name="connsiteY27" fmla="*/ 148099 h 441172"/>
              <a:gd name="connsiteX28" fmla="*/ 6373616 w 12191331"/>
              <a:gd name="connsiteY28" fmla="*/ 128631 h 441172"/>
              <a:gd name="connsiteX29" fmla="*/ 6463415 w 12191331"/>
              <a:gd name="connsiteY29" fmla="*/ 109162 h 441172"/>
              <a:gd name="connsiteX30" fmla="*/ 6563905 w 12191331"/>
              <a:gd name="connsiteY30" fmla="*/ 91085 h 441172"/>
              <a:gd name="connsiteX31" fmla="*/ 6679362 w 12191331"/>
              <a:gd name="connsiteY31" fmla="*/ 74397 h 441172"/>
              <a:gd name="connsiteX32" fmla="*/ 6809784 w 12191331"/>
              <a:gd name="connsiteY32" fmla="*/ 58405 h 441172"/>
              <a:gd name="connsiteX33" fmla="*/ 6955174 w 12191331"/>
              <a:gd name="connsiteY33" fmla="*/ 43804 h 441172"/>
              <a:gd name="connsiteX34" fmla="*/ 7115530 w 12191331"/>
              <a:gd name="connsiteY34" fmla="*/ 31984 h 441172"/>
              <a:gd name="connsiteX35" fmla="*/ 7288714 w 12191331"/>
              <a:gd name="connsiteY35" fmla="*/ 22250 h 441172"/>
              <a:gd name="connsiteX36" fmla="*/ 7487556 w 12191331"/>
              <a:gd name="connsiteY36" fmla="*/ 13906 h 441172"/>
              <a:gd name="connsiteX37" fmla="*/ 7699226 w 12191331"/>
              <a:gd name="connsiteY37" fmla="*/ 9734 h 441172"/>
              <a:gd name="connsiteX38" fmla="*/ 7876686 w 12191331"/>
              <a:gd name="connsiteY38" fmla="*/ 7649 h 441172"/>
              <a:gd name="connsiteX39" fmla="*/ 8081942 w 12191331"/>
              <a:gd name="connsiteY39" fmla="*/ 4867 h 441172"/>
              <a:gd name="connsiteX40" fmla="*/ 8308578 w 12191331"/>
              <a:gd name="connsiteY40" fmla="*/ 4172 h 441172"/>
              <a:gd name="connsiteX41" fmla="*/ 8563010 w 12191331"/>
              <a:gd name="connsiteY41" fmla="*/ 2781 h 441172"/>
              <a:gd name="connsiteX42" fmla="*/ 8838822 w 12191331"/>
              <a:gd name="connsiteY42" fmla="*/ 1391 h 441172"/>
              <a:gd name="connsiteX43" fmla="*/ 9140291 w 12191331"/>
              <a:gd name="connsiteY43" fmla="*/ 1391 h 441172"/>
              <a:gd name="connsiteX44" fmla="*/ 9463141 w 12191331"/>
              <a:gd name="connsiteY44" fmla="*/ 0 h 441172"/>
              <a:gd name="connsiteX45" fmla="*/ 9809510 w 12191331"/>
              <a:gd name="connsiteY45" fmla="*/ 0 h 441172"/>
              <a:gd name="connsiteX46" fmla="*/ 10260645 w 12191331"/>
              <a:gd name="connsiteY46" fmla="*/ 0 h 441172"/>
              <a:gd name="connsiteX47" fmla="*/ 10688261 w 12191331"/>
              <a:gd name="connsiteY47" fmla="*/ 1391 h 441172"/>
              <a:gd name="connsiteX48" fmla="*/ 11094496 w 12191331"/>
              <a:gd name="connsiteY48" fmla="*/ 2781 h 441172"/>
              <a:gd name="connsiteX49" fmla="*/ 11477212 w 12191331"/>
              <a:gd name="connsiteY49" fmla="*/ 4172 h 441172"/>
              <a:gd name="connsiteX50" fmla="*/ 11847100 w 12191331"/>
              <a:gd name="connsiteY50" fmla="*/ 4867 h 441172"/>
              <a:gd name="connsiteX51" fmla="*/ 12191331 w 12191331"/>
              <a:gd name="connsiteY51" fmla="*/ 6258 h 441172"/>
              <a:gd name="connsiteX52" fmla="*/ 12191331 w 12191331"/>
              <a:gd name="connsiteY52" fmla="*/ 441172 h 441172"/>
              <a:gd name="connsiteX53" fmla="*/ 0 w 12191331"/>
              <a:gd name="connsiteY53" fmla="*/ 441172 h 441172"/>
              <a:gd name="connsiteX54" fmla="*/ 0 w 12191331"/>
              <a:gd name="connsiteY54" fmla="*/ 6258 h 441172"/>
              <a:gd name="connsiteX55" fmla="*/ 350645 w 12191331"/>
              <a:gd name="connsiteY55" fmla="*/ 4867 h 441172"/>
              <a:gd name="connsiteX56" fmla="*/ 716257 w 12191331"/>
              <a:gd name="connsiteY56" fmla="*/ 4172 h 441172"/>
              <a:gd name="connsiteX57" fmla="*/ 1098973 w 12191331"/>
              <a:gd name="connsiteY57" fmla="*/ 2781 h 441172"/>
              <a:gd name="connsiteX58" fmla="*/ 1505208 w 12191331"/>
              <a:gd name="connsiteY58" fmla="*/ 1391 h 441172"/>
              <a:gd name="connsiteX59" fmla="*/ 1932824 w 12191331"/>
              <a:gd name="connsiteY59" fmla="*/ 0 h 441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2191331" h="441172">
                <a:moveTo>
                  <a:pt x="1932824" y="0"/>
                </a:moveTo>
                <a:lnTo>
                  <a:pt x="2383959" y="0"/>
                </a:lnTo>
                <a:lnTo>
                  <a:pt x="2730328" y="0"/>
                </a:lnTo>
                <a:lnTo>
                  <a:pt x="3053178" y="1391"/>
                </a:lnTo>
                <a:lnTo>
                  <a:pt x="3354647" y="1391"/>
                </a:lnTo>
                <a:lnTo>
                  <a:pt x="3630460" y="2781"/>
                </a:lnTo>
                <a:lnTo>
                  <a:pt x="3882753" y="4172"/>
                </a:lnTo>
                <a:lnTo>
                  <a:pt x="4109389" y="4867"/>
                </a:lnTo>
                <a:lnTo>
                  <a:pt x="4314645" y="7649"/>
                </a:lnTo>
                <a:lnTo>
                  <a:pt x="4494244" y="9734"/>
                </a:lnTo>
                <a:lnTo>
                  <a:pt x="4705914" y="13906"/>
                </a:lnTo>
                <a:lnTo>
                  <a:pt x="4902617" y="22250"/>
                </a:lnTo>
                <a:lnTo>
                  <a:pt x="5077940" y="31984"/>
                </a:lnTo>
                <a:lnTo>
                  <a:pt x="5242572" y="43804"/>
                </a:lnTo>
                <a:lnTo>
                  <a:pt x="5383685" y="58405"/>
                </a:lnTo>
                <a:lnTo>
                  <a:pt x="5514108" y="74397"/>
                </a:lnTo>
                <a:lnTo>
                  <a:pt x="5629564" y="91085"/>
                </a:lnTo>
                <a:lnTo>
                  <a:pt x="5730054" y="109162"/>
                </a:lnTo>
                <a:lnTo>
                  <a:pt x="5819853" y="128631"/>
                </a:lnTo>
                <a:lnTo>
                  <a:pt x="5892548" y="148099"/>
                </a:lnTo>
                <a:lnTo>
                  <a:pt x="5960967" y="167568"/>
                </a:lnTo>
                <a:lnTo>
                  <a:pt x="6012281" y="187036"/>
                </a:lnTo>
                <a:lnTo>
                  <a:pt x="6061456" y="205114"/>
                </a:lnTo>
                <a:lnTo>
                  <a:pt x="6097804" y="221801"/>
                </a:lnTo>
                <a:lnTo>
                  <a:pt x="6132013" y="205114"/>
                </a:lnTo>
                <a:lnTo>
                  <a:pt x="6181189" y="187036"/>
                </a:lnTo>
                <a:lnTo>
                  <a:pt x="6232503" y="167568"/>
                </a:lnTo>
                <a:lnTo>
                  <a:pt x="6298783" y="148099"/>
                </a:lnTo>
                <a:lnTo>
                  <a:pt x="6373616" y="128631"/>
                </a:lnTo>
                <a:lnTo>
                  <a:pt x="6463415" y="109162"/>
                </a:lnTo>
                <a:lnTo>
                  <a:pt x="6563905" y="91085"/>
                </a:lnTo>
                <a:lnTo>
                  <a:pt x="6679362" y="74397"/>
                </a:lnTo>
                <a:lnTo>
                  <a:pt x="6809784" y="58405"/>
                </a:lnTo>
                <a:lnTo>
                  <a:pt x="6955174" y="43804"/>
                </a:lnTo>
                <a:lnTo>
                  <a:pt x="7115530" y="31984"/>
                </a:lnTo>
                <a:lnTo>
                  <a:pt x="7288714" y="22250"/>
                </a:lnTo>
                <a:lnTo>
                  <a:pt x="7487556" y="13906"/>
                </a:lnTo>
                <a:lnTo>
                  <a:pt x="7699226" y="9734"/>
                </a:lnTo>
                <a:lnTo>
                  <a:pt x="7876686" y="7649"/>
                </a:lnTo>
                <a:lnTo>
                  <a:pt x="8081942" y="4867"/>
                </a:lnTo>
                <a:lnTo>
                  <a:pt x="8308578" y="4172"/>
                </a:lnTo>
                <a:lnTo>
                  <a:pt x="8563010" y="2781"/>
                </a:lnTo>
                <a:lnTo>
                  <a:pt x="8838822" y="1391"/>
                </a:lnTo>
                <a:lnTo>
                  <a:pt x="9140291" y="1391"/>
                </a:lnTo>
                <a:lnTo>
                  <a:pt x="9463141" y="0"/>
                </a:lnTo>
                <a:lnTo>
                  <a:pt x="9809510" y="0"/>
                </a:lnTo>
                <a:lnTo>
                  <a:pt x="10260645" y="0"/>
                </a:lnTo>
                <a:lnTo>
                  <a:pt x="10688261" y="1391"/>
                </a:lnTo>
                <a:lnTo>
                  <a:pt x="11094496" y="2781"/>
                </a:lnTo>
                <a:lnTo>
                  <a:pt x="11477212" y="4172"/>
                </a:lnTo>
                <a:lnTo>
                  <a:pt x="11847100" y="4867"/>
                </a:lnTo>
                <a:lnTo>
                  <a:pt x="12191331" y="6258"/>
                </a:lnTo>
                <a:lnTo>
                  <a:pt x="12191331" y="441172"/>
                </a:lnTo>
                <a:lnTo>
                  <a:pt x="0" y="441172"/>
                </a:lnTo>
                <a:lnTo>
                  <a:pt x="0" y="6258"/>
                </a:lnTo>
                <a:lnTo>
                  <a:pt x="350645" y="4867"/>
                </a:lnTo>
                <a:lnTo>
                  <a:pt x="716257" y="4172"/>
                </a:lnTo>
                <a:lnTo>
                  <a:pt x="1098973" y="2781"/>
                </a:lnTo>
                <a:lnTo>
                  <a:pt x="1505208" y="1391"/>
                </a:lnTo>
                <a:lnTo>
                  <a:pt x="193282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 userDrawn="1"/>
        </p:nvSpPr>
        <p:spPr>
          <a:xfrm>
            <a:off x="-63120" y="6750278"/>
            <a:ext cx="704565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">
                <a:solidFill>
                  <a:schemeClr val="tx1">
                    <a:alpha val="0"/>
                  </a:schemeClr>
                </a:solidFill>
              </a:rPr>
              <a:t>创作时间:2023.6;出售渠道:b站-玄风风兮,闲鱼-卡酷星和气的青蒿,微信-zszf0529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2CBE5-A25C-4545-B3C1-FE6D0D0B4711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B_0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0"/>
            <a:ext cx="6193301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83086" y="0"/>
            <a:ext cx="60089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0"/>
            <a:ext cx="6183085" cy="6858000"/>
          </a:xfrm>
          <a:prstGeom prst="rect">
            <a:avLst/>
          </a:prstGeom>
          <a:solidFill>
            <a:srgbClr val="074288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5500" y="839878"/>
            <a:ext cx="10541000" cy="5436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889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Freeform 8"/>
          <p:cNvSpPr>
            <a:spLocks noEditPoints="1"/>
          </p:cNvSpPr>
          <p:nvPr/>
        </p:nvSpPr>
        <p:spPr bwMode="auto">
          <a:xfrm>
            <a:off x="7776707" y="5522669"/>
            <a:ext cx="399281" cy="289300"/>
          </a:xfrm>
          <a:custGeom>
            <a:avLst/>
            <a:gdLst>
              <a:gd name="T0" fmla="*/ 269 w 322"/>
              <a:gd name="T1" fmla="*/ 0 h 233"/>
              <a:gd name="T2" fmla="*/ 53 w 322"/>
              <a:gd name="T3" fmla="*/ 0 h 233"/>
              <a:gd name="T4" fmla="*/ 0 w 322"/>
              <a:gd name="T5" fmla="*/ 52 h 233"/>
              <a:gd name="T6" fmla="*/ 0 w 322"/>
              <a:gd name="T7" fmla="*/ 181 h 233"/>
              <a:gd name="T8" fmla="*/ 53 w 322"/>
              <a:gd name="T9" fmla="*/ 233 h 233"/>
              <a:gd name="T10" fmla="*/ 269 w 322"/>
              <a:gd name="T11" fmla="*/ 233 h 233"/>
              <a:gd name="T12" fmla="*/ 322 w 322"/>
              <a:gd name="T13" fmla="*/ 181 h 233"/>
              <a:gd name="T14" fmla="*/ 322 w 322"/>
              <a:gd name="T15" fmla="*/ 52 h 233"/>
              <a:gd name="T16" fmla="*/ 269 w 322"/>
              <a:gd name="T17" fmla="*/ 0 h 233"/>
              <a:gd name="T18" fmla="*/ 101 w 322"/>
              <a:gd name="T19" fmla="*/ 101 h 233"/>
              <a:gd name="T20" fmla="*/ 124 w 322"/>
              <a:gd name="T21" fmla="*/ 78 h 233"/>
              <a:gd name="T22" fmla="*/ 101 w 322"/>
              <a:gd name="T23" fmla="*/ 55 h 233"/>
              <a:gd name="T24" fmla="*/ 78 w 322"/>
              <a:gd name="T25" fmla="*/ 78 h 233"/>
              <a:gd name="T26" fmla="*/ 101 w 322"/>
              <a:gd name="T27" fmla="*/ 101 h 233"/>
              <a:gd name="T28" fmla="*/ 141 w 322"/>
              <a:gd name="T29" fmla="*/ 166 h 233"/>
              <a:gd name="T30" fmla="*/ 144 w 322"/>
              <a:gd name="T31" fmla="*/ 128 h 233"/>
              <a:gd name="T32" fmla="*/ 121 w 322"/>
              <a:gd name="T33" fmla="*/ 108 h 233"/>
              <a:gd name="T34" fmla="*/ 109 w 322"/>
              <a:gd name="T35" fmla="*/ 108 h 233"/>
              <a:gd name="T36" fmla="*/ 106 w 322"/>
              <a:gd name="T37" fmla="*/ 117 h 233"/>
              <a:gd name="T38" fmla="*/ 109 w 322"/>
              <a:gd name="T39" fmla="*/ 151 h 233"/>
              <a:gd name="T40" fmla="*/ 100 w 322"/>
              <a:gd name="T41" fmla="*/ 163 h 233"/>
              <a:gd name="T42" fmla="*/ 92 w 322"/>
              <a:gd name="T43" fmla="*/ 151 h 233"/>
              <a:gd name="T44" fmla="*/ 97 w 322"/>
              <a:gd name="T45" fmla="*/ 117 h 233"/>
              <a:gd name="T46" fmla="*/ 94 w 322"/>
              <a:gd name="T47" fmla="*/ 108 h 233"/>
              <a:gd name="T48" fmla="*/ 80 w 322"/>
              <a:gd name="T49" fmla="*/ 108 h 233"/>
              <a:gd name="T50" fmla="*/ 57 w 322"/>
              <a:gd name="T51" fmla="*/ 129 h 233"/>
              <a:gd name="T52" fmla="*/ 60 w 322"/>
              <a:gd name="T53" fmla="*/ 166 h 233"/>
              <a:gd name="T54" fmla="*/ 101 w 322"/>
              <a:gd name="T55" fmla="*/ 176 h 233"/>
              <a:gd name="T56" fmla="*/ 141 w 322"/>
              <a:gd name="T57" fmla="*/ 166 h 233"/>
              <a:gd name="T58" fmla="*/ 165 w 322"/>
              <a:gd name="T59" fmla="*/ 191 h 233"/>
              <a:gd name="T60" fmla="*/ 165 w 322"/>
              <a:gd name="T61" fmla="*/ 191 h 233"/>
              <a:gd name="T62" fmla="*/ 36 w 322"/>
              <a:gd name="T63" fmla="*/ 191 h 233"/>
              <a:gd name="T64" fmla="*/ 36 w 322"/>
              <a:gd name="T65" fmla="*/ 42 h 233"/>
              <a:gd name="T66" fmla="*/ 165 w 322"/>
              <a:gd name="T67" fmla="*/ 42 h 233"/>
              <a:gd name="T68" fmla="*/ 165 w 322"/>
              <a:gd name="T69" fmla="*/ 191 h 233"/>
              <a:gd name="T70" fmla="*/ 249 w 322"/>
              <a:gd name="T71" fmla="*/ 73 h 233"/>
              <a:gd name="T72" fmla="*/ 249 w 322"/>
              <a:gd name="T73" fmla="*/ 73 h 233"/>
              <a:gd name="T74" fmla="*/ 193 w 322"/>
              <a:gd name="T75" fmla="*/ 73 h 233"/>
              <a:gd name="T76" fmla="*/ 181 w 322"/>
              <a:gd name="T77" fmla="*/ 60 h 233"/>
              <a:gd name="T78" fmla="*/ 193 w 322"/>
              <a:gd name="T79" fmla="*/ 48 h 233"/>
              <a:gd name="T80" fmla="*/ 249 w 322"/>
              <a:gd name="T81" fmla="*/ 48 h 233"/>
              <a:gd name="T82" fmla="*/ 261 w 322"/>
              <a:gd name="T83" fmla="*/ 60 h 233"/>
              <a:gd name="T84" fmla="*/ 249 w 322"/>
              <a:gd name="T85" fmla="*/ 73 h 233"/>
              <a:gd name="T86" fmla="*/ 302 w 322"/>
              <a:gd name="T87" fmla="*/ 123 h 233"/>
              <a:gd name="T88" fmla="*/ 302 w 322"/>
              <a:gd name="T89" fmla="*/ 123 h 233"/>
              <a:gd name="T90" fmla="*/ 292 w 322"/>
              <a:gd name="T91" fmla="*/ 133 h 233"/>
              <a:gd name="T92" fmla="*/ 191 w 322"/>
              <a:gd name="T93" fmla="*/ 133 h 233"/>
              <a:gd name="T94" fmla="*/ 181 w 322"/>
              <a:gd name="T95" fmla="*/ 123 h 233"/>
              <a:gd name="T96" fmla="*/ 191 w 322"/>
              <a:gd name="T97" fmla="*/ 113 h 233"/>
              <a:gd name="T98" fmla="*/ 292 w 322"/>
              <a:gd name="T99" fmla="*/ 113 h 233"/>
              <a:gd name="T100" fmla="*/ 302 w 322"/>
              <a:gd name="T101" fmla="*/ 123 h 233"/>
              <a:gd name="T102" fmla="*/ 302 w 322"/>
              <a:gd name="T103" fmla="*/ 163 h 233"/>
              <a:gd name="T104" fmla="*/ 302 w 322"/>
              <a:gd name="T105" fmla="*/ 163 h 233"/>
              <a:gd name="T106" fmla="*/ 292 w 322"/>
              <a:gd name="T107" fmla="*/ 173 h 233"/>
              <a:gd name="T108" fmla="*/ 191 w 322"/>
              <a:gd name="T109" fmla="*/ 173 h 233"/>
              <a:gd name="T110" fmla="*/ 181 w 322"/>
              <a:gd name="T111" fmla="*/ 163 h 233"/>
              <a:gd name="T112" fmla="*/ 191 w 322"/>
              <a:gd name="T113" fmla="*/ 153 h 233"/>
              <a:gd name="T114" fmla="*/ 292 w 322"/>
              <a:gd name="T115" fmla="*/ 153 h 233"/>
              <a:gd name="T116" fmla="*/ 302 w 322"/>
              <a:gd name="T117" fmla="*/ 163 h 2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22" h="233">
                <a:moveTo>
                  <a:pt x="269" y="0"/>
                </a:moveTo>
                <a:lnTo>
                  <a:pt x="53" y="0"/>
                </a:lnTo>
                <a:cubicBezTo>
                  <a:pt x="24" y="0"/>
                  <a:pt x="0" y="23"/>
                  <a:pt x="0" y="52"/>
                </a:cubicBezTo>
                <a:lnTo>
                  <a:pt x="0" y="181"/>
                </a:lnTo>
                <a:cubicBezTo>
                  <a:pt x="0" y="210"/>
                  <a:pt x="24" y="233"/>
                  <a:pt x="53" y="233"/>
                </a:cubicBezTo>
                <a:lnTo>
                  <a:pt x="269" y="233"/>
                </a:lnTo>
                <a:cubicBezTo>
                  <a:pt x="298" y="233"/>
                  <a:pt x="322" y="210"/>
                  <a:pt x="322" y="181"/>
                </a:cubicBezTo>
                <a:lnTo>
                  <a:pt x="322" y="52"/>
                </a:lnTo>
                <a:cubicBezTo>
                  <a:pt x="322" y="23"/>
                  <a:pt x="298" y="0"/>
                  <a:pt x="269" y="0"/>
                </a:cubicBezTo>
                <a:close/>
                <a:moveTo>
                  <a:pt x="101" y="101"/>
                </a:moveTo>
                <a:cubicBezTo>
                  <a:pt x="113" y="101"/>
                  <a:pt x="124" y="91"/>
                  <a:pt x="124" y="78"/>
                </a:cubicBezTo>
                <a:cubicBezTo>
                  <a:pt x="124" y="65"/>
                  <a:pt x="113" y="55"/>
                  <a:pt x="101" y="55"/>
                </a:cubicBezTo>
                <a:cubicBezTo>
                  <a:pt x="88" y="55"/>
                  <a:pt x="78" y="65"/>
                  <a:pt x="78" y="78"/>
                </a:cubicBezTo>
                <a:cubicBezTo>
                  <a:pt x="78" y="91"/>
                  <a:pt x="88" y="101"/>
                  <a:pt x="101" y="101"/>
                </a:cubicBezTo>
                <a:close/>
                <a:moveTo>
                  <a:pt x="141" y="166"/>
                </a:moveTo>
                <a:lnTo>
                  <a:pt x="144" y="128"/>
                </a:lnTo>
                <a:cubicBezTo>
                  <a:pt x="145" y="117"/>
                  <a:pt x="134" y="108"/>
                  <a:pt x="121" y="108"/>
                </a:cubicBezTo>
                <a:lnTo>
                  <a:pt x="109" y="108"/>
                </a:lnTo>
                <a:cubicBezTo>
                  <a:pt x="109" y="109"/>
                  <a:pt x="109" y="114"/>
                  <a:pt x="106" y="117"/>
                </a:cubicBezTo>
                <a:cubicBezTo>
                  <a:pt x="106" y="117"/>
                  <a:pt x="111" y="142"/>
                  <a:pt x="109" y="151"/>
                </a:cubicBezTo>
                <a:cubicBezTo>
                  <a:pt x="108" y="154"/>
                  <a:pt x="104" y="163"/>
                  <a:pt x="100" y="163"/>
                </a:cubicBezTo>
                <a:cubicBezTo>
                  <a:pt x="96" y="163"/>
                  <a:pt x="93" y="154"/>
                  <a:pt x="92" y="151"/>
                </a:cubicBezTo>
                <a:cubicBezTo>
                  <a:pt x="91" y="142"/>
                  <a:pt x="97" y="117"/>
                  <a:pt x="97" y="117"/>
                </a:cubicBezTo>
                <a:cubicBezTo>
                  <a:pt x="96" y="116"/>
                  <a:pt x="94" y="115"/>
                  <a:pt x="94" y="108"/>
                </a:cubicBezTo>
                <a:lnTo>
                  <a:pt x="80" y="108"/>
                </a:lnTo>
                <a:cubicBezTo>
                  <a:pt x="68" y="108"/>
                  <a:pt x="56" y="117"/>
                  <a:pt x="57" y="129"/>
                </a:cubicBezTo>
                <a:lnTo>
                  <a:pt x="60" y="166"/>
                </a:lnTo>
                <a:cubicBezTo>
                  <a:pt x="70" y="176"/>
                  <a:pt x="86" y="176"/>
                  <a:pt x="101" y="176"/>
                </a:cubicBezTo>
                <a:cubicBezTo>
                  <a:pt x="115" y="176"/>
                  <a:pt x="132" y="175"/>
                  <a:pt x="141" y="166"/>
                </a:cubicBezTo>
                <a:close/>
                <a:moveTo>
                  <a:pt x="165" y="191"/>
                </a:moveTo>
                <a:lnTo>
                  <a:pt x="165" y="191"/>
                </a:lnTo>
                <a:lnTo>
                  <a:pt x="36" y="191"/>
                </a:lnTo>
                <a:lnTo>
                  <a:pt x="36" y="42"/>
                </a:lnTo>
                <a:lnTo>
                  <a:pt x="165" y="42"/>
                </a:lnTo>
                <a:lnTo>
                  <a:pt x="165" y="191"/>
                </a:lnTo>
                <a:close/>
                <a:moveTo>
                  <a:pt x="249" y="73"/>
                </a:moveTo>
                <a:lnTo>
                  <a:pt x="249" y="73"/>
                </a:lnTo>
                <a:lnTo>
                  <a:pt x="193" y="73"/>
                </a:lnTo>
                <a:cubicBezTo>
                  <a:pt x="186" y="73"/>
                  <a:pt x="181" y="67"/>
                  <a:pt x="181" y="60"/>
                </a:cubicBezTo>
                <a:cubicBezTo>
                  <a:pt x="181" y="54"/>
                  <a:pt x="186" y="48"/>
                  <a:pt x="193" y="48"/>
                </a:cubicBezTo>
                <a:lnTo>
                  <a:pt x="249" y="48"/>
                </a:lnTo>
                <a:cubicBezTo>
                  <a:pt x="256" y="48"/>
                  <a:pt x="261" y="54"/>
                  <a:pt x="261" y="60"/>
                </a:cubicBezTo>
                <a:cubicBezTo>
                  <a:pt x="261" y="67"/>
                  <a:pt x="256" y="73"/>
                  <a:pt x="249" y="73"/>
                </a:cubicBezTo>
                <a:close/>
                <a:moveTo>
                  <a:pt x="302" y="123"/>
                </a:moveTo>
                <a:lnTo>
                  <a:pt x="302" y="123"/>
                </a:lnTo>
                <a:cubicBezTo>
                  <a:pt x="302" y="128"/>
                  <a:pt x="297" y="133"/>
                  <a:pt x="292" y="133"/>
                </a:cubicBezTo>
                <a:lnTo>
                  <a:pt x="191" y="133"/>
                </a:lnTo>
                <a:cubicBezTo>
                  <a:pt x="186" y="133"/>
                  <a:pt x="181" y="128"/>
                  <a:pt x="181" y="123"/>
                </a:cubicBezTo>
                <a:cubicBezTo>
                  <a:pt x="181" y="117"/>
                  <a:pt x="186" y="113"/>
                  <a:pt x="191" y="113"/>
                </a:cubicBezTo>
                <a:lnTo>
                  <a:pt x="292" y="113"/>
                </a:lnTo>
                <a:cubicBezTo>
                  <a:pt x="297" y="113"/>
                  <a:pt x="302" y="117"/>
                  <a:pt x="302" y="123"/>
                </a:cubicBezTo>
                <a:close/>
                <a:moveTo>
                  <a:pt x="302" y="163"/>
                </a:moveTo>
                <a:lnTo>
                  <a:pt x="302" y="163"/>
                </a:lnTo>
                <a:cubicBezTo>
                  <a:pt x="302" y="169"/>
                  <a:pt x="297" y="173"/>
                  <a:pt x="292" y="173"/>
                </a:cubicBezTo>
                <a:lnTo>
                  <a:pt x="191" y="173"/>
                </a:lnTo>
                <a:cubicBezTo>
                  <a:pt x="186" y="173"/>
                  <a:pt x="181" y="169"/>
                  <a:pt x="181" y="163"/>
                </a:cubicBezTo>
                <a:cubicBezTo>
                  <a:pt x="181" y="157"/>
                  <a:pt x="186" y="153"/>
                  <a:pt x="191" y="153"/>
                </a:cubicBezTo>
                <a:lnTo>
                  <a:pt x="292" y="153"/>
                </a:lnTo>
                <a:cubicBezTo>
                  <a:pt x="297" y="153"/>
                  <a:pt x="302" y="157"/>
                  <a:pt x="302" y="1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82"/>
          <p:cNvSpPr txBox="1"/>
          <p:nvPr/>
        </p:nvSpPr>
        <p:spPr>
          <a:xfrm>
            <a:off x="8256443" y="5430334"/>
            <a:ext cx="3113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学校：山西大学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TextBox 82"/>
          <p:cNvSpPr txBox="1"/>
          <p:nvPr/>
        </p:nvSpPr>
        <p:spPr>
          <a:xfrm>
            <a:off x="5252534" y="5430335"/>
            <a:ext cx="2513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姓名：马宇佩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Freeform 10"/>
          <p:cNvSpPr>
            <a:spLocks noEditPoints="1"/>
          </p:cNvSpPr>
          <p:nvPr/>
        </p:nvSpPr>
        <p:spPr bwMode="auto">
          <a:xfrm>
            <a:off x="4883984" y="5476503"/>
            <a:ext cx="346762" cy="369331"/>
          </a:xfrm>
          <a:custGeom>
            <a:avLst/>
            <a:gdLst>
              <a:gd name="T0" fmla="*/ 163 w 327"/>
              <a:gd name="T1" fmla="*/ 331 h 347"/>
              <a:gd name="T2" fmla="*/ 164 w 327"/>
              <a:gd name="T3" fmla="*/ 192 h 347"/>
              <a:gd name="T4" fmla="*/ 261 w 327"/>
              <a:gd name="T5" fmla="*/ 174 h 347"/>
              <a:gd name="T6" fmla="*/ 200 w 327"/>
              <a:gd name="T7" fmla="*/ 198 h 347"/>
              <a:gd name="T8" fmla="*/ 55 w 327"/>
              <a:gd name="T9" fmla="*/ 124 h 347"/>
              <a:gd name="T10" fmla="*/ 73 w 327"/>
              <a:gd name="T11" fmla="*/ 126 h 347"/>
              <a:gd name="T12" fmla="*/ 96 w 327"/>
              <a:gd name="T13" fmla="*/ 128 h 347"/>
              <a:gd name="T14" fmla="*/ 96 w 327"/>
              <a:gd name="T15" fmla="*/ 113 h 347"/>
              <a:gd name="T16" fmla="*/ 163 w 327"/>
              <a:gd name="T17" fmla="*/ 175 h 347"/>
              <a:gd name="T18" fmla="*/ 238 w 327"/>
              <a:gd name="T19" fmla="*/ 121 h 347"/>
              <a:gd name="T20" fmla="*/ 254 w 327"/>
              <a:gd name="T21" fmla="*/ 118 h 347"/>
              <a:gd name="T22" fmla="*/ 264 w 327"/>
              <a:gd name="T23" fmla="*/ 122 h 347"/>
              <a:gd name="T24" fmla="*/ 240 w 327"/>
              <a:gd name="T25" fmla="*/ 148 h 347"/>
              <a:gd name="T26" fmla="*/ 282 w 327"/>
              <a:gd name="T27" fmla="*/ 197 h 347"/>
              <a:gd name="T28" fmla="*/ 269 w 327"/>
              <a:gd name="T29" fmla="*/ 152 h 347"/>
              <a:gd name="T30" fmla="*/ 269 w 327"/>
              <a:gd name="T31" fmla="*/ 289 h 347"/>
              <a:gd name="T32" fmla="*/ 284 w 327"/>
              <a:gd name="T33" fmla="*/ 285 h 347"/>
              <a:gd name="T34" fmla="*/ 178 w 327"/>
              <a:gd name="T35" fmla="*/ 343 h 347"/>
              <a:gd name="T36" fmla="*/ 164 w 327"/>
              <a:gd name="T37" fmla="*/ 346 h 347"/>
              <a:gd name="T38" fmla="*/ 43 w 327"/>
              <a:gd name="T39" fmla="*/ 285 h 347"/>
              <a:gd name="T40" fmla="*/ 58 w 327"/>
              <a:gd name="T41" fmla="*/ 289 h 347"/>
              <a:gd name="T42" fmla="*/ 58 w 327"/>
              <a:gd name="T43" fmla="*/ 152 h 347"/>
              <a:gd name="T44" fmla="*/ 46 w 327"/>
              <a:gd name="T45" fmla="*/ 197 h 347"/>
              <a:gd name="T46" fmla="*/ 82 w 327"/>
              <a:gd name="T47" fmla="*/ 145 h 347"/>
              <a:gd name="T48" fmla="*/ 36 w 327"/>
              <a:gd name="T49" fmla="*/ 231 h 347"/>
              <a:gd name="T50" fmla="*/ 42 w 327"/>
              <a:gd name="T51" fmla="*/ 244 h 347"/>
              <a:gd name="T52" fmla="*/ 49 w 327"/>
              <a:gd name="T53" fmla="*/ 257 h 347"/>
              <a:gd name="T54" fmla="*/ 26 w 327"/>
              <a:gd name="T55" fmla="*/ 274 h 347"/>
              <a:gd name="T56" fmla="*/ 16 w 327"/>
              <a:gd name="T57" fmla="*/ 217 h 347"/>
              <a:gd name="T58" fmla="*/ 31 w 327"/>
              <a:gd name="T59" fmla="*/ 192 h 347"/>
              <a:gd name="T60" fmla="*/ 272 w 327"/>
              <a:gd name="T61" fmla="*/ 220 h 347"/>
              <a:gd name="T62" fmla="*/ 267 w 327"/>
              <a:gd name="T63" fmla="*/ 234 h 347"/>
              <a:gd name="T64" fmla="*/ 262 w 327"/>
              <a:gd name="T65" fmla="*/ 249 h 347"/>
              <a:gd name="T66" fmla="*/ 259 w 327"/>
              <a:gd name="T67" fmla="*/ 260 h 347"/>
              <a:gd name="T68" fmla="*/ 277 w 327"/>
              <a:gd name="T69" fmla="*/ 210 h 347"/>
              <a:gd name="T70" fmla="*/ 296 w 327"/>
              <a:gd name="T71" fmla="*/ 208 h 347"/>
              <a:gd name="T72" fmla="*/ 162 w 327"/>
              <a:gd name="T73" fmla="*/ 0 h 347"/>
              <a:gd name="T74" fmla="*/ 241 w 327"/>
              <a:gd name="T75" fmla="*/ 62 h 347"/>
              <a:gd name="T76" fmla="*/ 227 w 327"/>
              <a:gd name="T77" fmla="*/ 103 h 347"/>
              <a:gd name="T78" fmla="*/ 210 w 327"/>
              <a:gd name="T79" fmla="*/ 47 h 347"/>
              <a:gd name="T80" fmla="*/ 112 w 327"/>
              <a:gd name="T81" fmla="*/ 106 h 347"/>
              <a:gd name="T82" fmla="*/ 88 w 327"/>
              <a:gd name="T83" fmla="*/ 89 h 347"/>
              <a:gd name="T84" fmla="*/ 114 w 327"/>
              <a:gd name="T85" fmla="*/ 24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27" h="347">
                <a:moveTo>
                  <a:pt x="153" y="191"/>
                </a:moveTo>
                <a:lnTo>
                  <a:pt x="153" y="329"/>
                </a:lnTo>
                <a:cubicBezTo>
                  <a:pt x="156" y="331"/>
                  <a:pt x="160" y="331"/>
                  <a:pt x="163" y="331"/>
                </a:cubicBezTo>
                <a:cubicBezTo>
                  <a:pt x="167" y="331"/>
                  <a:pt x="171" y="330"/>
                  <a:pt x="174" y="329"/>
                </a:cubicBezTo>
                <a:lnTo>
                  <a:pt x="174" y="191"/>
                </a:lnTo>
                <a:cubicBezTo>
                  <a:pt x="171" y="192"/>
                  <a:pt x="167" y="192"/>
                  <a:pt x="164" y="192"/>
                </a:cubicBezTo>
                <a:cubicBezTo>
                  <a:pt x="160" y="192"/>
                  <a:pt x="157" y="192"/>
                  <a:pt x="153" y="191"/>
                </a:cubicBezTo>
                <a:close/>
                <a:moveTo>
                  <a:pt x="200" y="198"/>
                </a:moveTo>
                <a:lnTo>
                  <a:pt x="261" y="174"/>
                </a:lnTo>
                <a:lnTo>
                  <a:pt x="261" y="199"/>
                </a:lnTo>
                <a:lnTo>
                  <a:pt x="200" y="223"/>
                </a:lnTo>
                <a:lnTo>
                  <a:pt x="200" y="198"/>
                </a:lnTo>
                <a:close/>
                <a:moveTo>
                  <a:pt x="82" y="145"/>
                </a:moveTo>
                <a:lnTo>
                  <a:pt x="57" y="131"/>
                </a:lnTo>
                <a:cubicBezTo>
                  <a:pt x="54" y="130"/>
                  <a:pt x="53" y="126"/>
                  <a:pt x="55" y="124"/>
                </a:cubicBezTo>
                <a:cubicBezTo>
                  <a:pt x="56" y="121"/>
                  <a:pt x="60" y="120"/>
                  <a:pt x="62" y="122"/>
                </a:cubicBezTo>
                <a:lnTo>
                  <a:pt x="86" y="135"/>
                </a:lnTo>
                <a:lnTo>
                  <a:pt x="73" y="126"/>
                </a:lnTo>
                <a:cubicBezTo>
                  <a:pt x="70" y="124"/>
                  <a:pt x="70" y="120"/>
                  <a:pt x="72" y="118"/>
                </a:cubicBezTo>
                <a:cubicBezTo>
                  <a:pt x="73" y="115"/>
                  <a:pt x="77" y="115"/>
                  <a:pt x="80" y="117"/>
                </a:cubicBezTo>
                <a:lnTo>
                  <a:pt x="96" y="128"/>
                </a:lnTo>
                <a:lnTo>
                  <a:pt x="88" y="121"/>
                </a:lnTo>
                <a:cubicBezTo>
                  <a:pt x="86" y="119"/>
                  <a:pt x="86" y="115"/>
                  <a:pt x="88" y="113"/>
                </a:cubicBezTo>
                <a:cubicBezTo>
                  <a:pt x="90" y="111"/>
                  <a:pt x="94" y="110"/>
                  <a:pt x="96" y="113"/>
                </a:cubicBezTo>
                <a:lnTo>
                  <a:pt x="162" y="175"/>
                </a:lnTo>
                <a:cubicBezTo>
                  <a:pt x="163" y="175"/>
                  <a:pt x="163" y="175"/>
                  <a:pt x="163" y="175"/>
                </a:cubicBezTo>
                <a:cubicBezTo>
                  <a:pt x="163" y="175"/>
                  <a:pt x="163" y="175"/>
                  <a:pt x="163" y="175"/>
                </a:cubicBezTo>
                <a:lnTo>
                  <a:pt x="230" y="113"/>
                </a:lnTo>
                <a:cubicBezTo>
                  <a:pt x="232" y="110"/>
                  <a:pt x="236" y="111"/>
                  <a:pt x="238" y="113"/>
                </a:cubicBezTo>
                <a:cubicBezTo>
                  <a:pt x="240" y="115"/>
                  <a:pt x="240" y="119"/>
                  <a:pt x="238" y="121"/>
                </a:cubicBezTo>
                <a:lnTo>
                  <a:pt x="229" y="128"/>
                </a:lnTo>
                <a:lnTo>
                  <a:pt x="246" y="117"/>
                </a:lnTo>
                <a:cubicBezTo>
                  <a:pt x="249" y="115"/>
                  <a:pt x="252" y="115"/>
                  <a:pt x="254" y="118"/>
                </a:cubicBezTo>
                <a:cubicBezTo>
                  <a:pt x="256" y="120"/>
                  <a:pt x="255" y="124"/>
                  <a:pt x="253" y="126"/>
                </a:cubicBezTo>
                <a:lnTo>
                  <a:pt x="240" y="135"/>
                </a:lnTo>
                <a:lnTo>
                  <a:pt x="264" y="122"/>
                </a:lnTo>
                <a:cubicBezTo>
                  <a:pt x="266" y="120"/>
                  <a:pt x="270" y="121"/>
                  <a:pt x="271" y="124"/>
                </a:cubicBezTo>
                <a:cubicBezTo>
                  <a:pt x="273" y="127"/>
                  <a:pt x="272" y="130"/>
                  <a:pt x="269" y="131"/>
                </a:cubicBezTo>
                <a:lnTo>
                  <a:pt x="240" y="148"/>
                </a:lnTo>
                <a:lnTo>
                  <a:pt x="284" y="129"/>
                </a:lnTo>
                <a:lnTo>
                  <a:pt x="284" y="197"/>
                </a:lnTo>
                <a:cubicBezTo>
                  <a:pt x="283" y="197"/>
                  <a:pt x="283" y="197"/>
                  <a:pt x="282" y="197"/>
                </a:cubicBezTo>
                <a:lnTo>
                  <a:pt x="273" y="196"/>
                </a:lnTo>
                <a:lnTo>
                  <a:pt x="269" y="203"/>
                </a:lnTo>
                <a:lnTo>
                  <a:pt x="269" y="152"/>
                </a:lnTo>
                <a:lnTo>
                  <a:pt x="190" y="186"/>
                </a:lnTo>
                <a:lnTo>
                  <a:pt x="190" y="322"/>
                </a:lnTo>
                <a:lnTo>
                  <a:pt x="269" y="289"/>
                </a:lnTo>
                <a:lnTo>
                  <a:pt x="269" y="279"/>
                </a:lnTo>
                <a:cubicBezTo>
                  <a:pt x="272" y="280"/>
                  <a:pt x="275" y="282"/>
                  <a:pt x="277" y="283"/>
                </a:cubicBezTo>
                <a:cubicBezTo>
                  <a:pt x="280" y="284"/>
                  <a:pt x="282" y="284"/>
                  <a:pt x="284" y="285"/>
                </a:cubicBezTo>
                <a:lnTo>
                  <a:pt x="284" y="299"/>
                </a:lnTo>
                <a:lnTo>
                  <a:pt x="185" y="341"/>
                </a:lnTo>
                <a:cubicBezTo>
                  <a:pt x="183" y="342"/>
                  <a:pt x="181" y="343"/>
                  <a:pt x="178" y="343"/>
                </a:cubicBezTo>
                <a:lnTo>
                  <a:pt x="174" y="345"/>
                </a:lnTo>
                <a:lnTo>
                  <a:pt x="174" y="345"/>
                </a:lnTo>
                <a:cubicBezTo>
                  <a:pt x="171" y="346"/>
                  <a:pt x="167" y="346"/>
                  <a:pt x="164" y="346"/>
                </a:cubicBezTo>
                <a:cubicBezTo>
                  <a:pt x="156" y="347"/>
                  <a:pt x="149" y="345"/>
                  <a:pt x="142" y="340"/>
                </a:cubicBezTo>
                <a:lnTo>
                  <a:pt x="43" y="299"/>
                </a:lnTo>
                <a:lnTo>
                  <a:pt x="43" y="285"/>
                </a:lnTo>
                <a:cubicBezTo>
                  <a:pt x="45" y="284"/>
                  <a:pt x="48" y="284"/>
                  <a:pt x="50" y="283"/>
                </a:cubicBezTo>
                <a:cubicBezTo>
                  <a:pt x="53" y="282"/>
                  <a:pt x="55" y="280"/>
                  <a:pt x="58" y="279"/>
                </a:cubicBezTo>
                <a:lnTo>
                  <a:pt x="58" y="289"/>
                </a:lnTo>
                <a:lnTo>
                  <a:pt x="138" y="322"/>
                </a:lnTo>
                <a:lnTo>
                  <a:pt x="138" y="186"/>
                </a:lnTo>
                <a:lnTo>
                  <a:pt x="58" y="152"/>
                </a:lnTo>
                <a:lnTo>
                  <a:pt x="58" y="203"/>
                </a:lnTo>
                <a:lnTo>
                  <a:pt x="55" y="196"/>
                </a:lnTo>
                <a:lnTo>
                  <a:pt x="46" y="197"/>
                </a:lnTo>
                <a:cubicBezTo>
                  <a:pt x="45" y="197"/>
                  <a:pt x="44" y="197"/>
                  <a:pt x="43" y="197"/>
                </a:cubicBezTo>
                <a:lnTo>
                  <a:pt x="43" y="129"/>
                </a:lnTo>
                <a:lnTo>
                  <a:pt x="82" y="145"/>
                </a:lnTo>
                <a:close/>
                <a:moveTo>
                  <a:pt x="49" y="210"/>
                </a:moveTo>
                <a:cubicBezTo>
                  <a:pt x="51" y="213"/>
                  <a:pt x="53" y="216"/>
                  <a:pt x="54" y="220"/>
                </a:cubicBezTo>
                <a:lnTo>
                  <a:pt x="36" y="231"/>
                </a:lnTo>
                <a:lnTo>
                  <a:pt x="56" y="223"/>
                </a:lnTo>
                <a:cubicBezTo>
                  <a:pt x="57" y="227"/>
                  <a:pt x="58" y="230"/>
                  <a:pt x="60" y="234"/>
                </a:cubicBezTo>
                <a:lnTo>
                  <a:pt x="42" y="244"/>
                </a:lnTo>
                <a:lnTo>
                  <a:pt x="61" y="237"/>
                </a:lnTo>
                <a:cubicBezTo>
                  <a:pt x="62" y="241"/>
                  <a:pt x="63" y="245"/>
                  <a:pt x="65" y="249"/>
                </a:cubicBezTo>
                <a:lnTo>
                  <a:pt x="49" y="257"/>
                </a:lnTo>
                <a:lnTo>
                  <a:pt x="65" y="251"/>
                </a:lnTo>
                <a:cubicBezTo>
                  <a:pt x="66" y="254"/>
                  <a:pt x="67" y="257"/>
                  <a:pt x="67" y="260"/>
                </a:cubicBezTo>
                <a:cubicBezTo>
                  <a:pt x="64" y="262"/>
                  <a:pt x="38" y="279"/>
                  <a:pt x="26" y="274"/>
                </a:cubicBezTo>
                <a:cubicBezTo>
                  <a:pt x="13" y="269"/>
                  <a:pt x="1" y="252"/>
                  <a:pt x="0" y="236"/>
                </a:cubicBezTo>
                <a:cubicBezTo>
                  <a:pt x="0" y="221"/>
                  <a:pt x="40" y="211"/>
                  <a:pt x="49" y="210"/>
                </a:cubicBezTo>
                <a:close/>
                <a:moveTo>
                  <a:pt x="16" y="217"/>
                </a:moveTo>
                <a:lnTo>
                  <a:pt x="26" y="213"/>
                </a:lnTo>
                <a:lnTo>
                  <a:pt x="31" y="208"/>
                </a:lnTo>
                <a:lnTo>
                  <a:pt x="31" y="192"/>
                </a:lnTo>
                <a:cubicBezTo>
                  <a:pt x="22" y="196"/>
                  <a:pt x="18" y="206"/>
                  <a:pt x="16" y="217"/>
                </a:cubicBezTo>
                <a:close/>
                <a:moveTo>
                  <a:pt x="277" y="210"/>
                </a:moveTo>
                <a:cubicBezTo>
                  <a:pt x="276" y="213"/>
                  <a:pt x="274" y="216"/>
                  <a:pt x="272" y="220"/>
                </a:cubicBezTo>
                <a:lnTo>
                  <a:pt x="291" y="231"/>
                </a:lnTo>
                <a:lnTo>
                  <a:pt x="271" y="223"/>
                </a:lnTo>
                <a:cubicBezTo>
                  <a:pt x="269" y="227"/>
                  <a:pt x="268" y="230"/>
                  <a:pt x="267" y="234"/>
                </a:cubicBezTo>
                <a:lnTo>
                  <a:pt x="284" y="244"/>
                </a:lnTo>
                <a:lnTo>
                  <a:pt x="266" y="237"/>
                </a:lnTo>
                <a:cubicBezTo>
                  <a:pt x="264" y="241"/>
                  <a:pt x="263" y="245"/>
                  <a:pt x="262" y="249"/>
                </a:cubicBezTo>
                <a:lnTo>
                  <a:pt x="278" y="257"/>
                </a:lnTo>
                <a:lnTo>
                  <a:pt x="261" y="251"/>
                </a:lnTo>
                <a:cubicBezTo>
                  <a:pt x="261" y="254"/>
                  <a:pt x="260" y="257"/>
                  <a:pt x="259" y="260"/>
                </a:cubicBezTo>
                <a:cubicBezTo>
                  <a:pt x="263" y="262"/>
                  <a:pt x="289" y="279"/>
                  <a:pt x="301" y="274"/>
                </a:cubicBezTo>
                <a:cubicBezTo>
                  <a:pt x="313" y="269"/>
                  <a:pt x="326" y="252"/>
                  <a:pt x="326" y="236"/>
                </a:cubicBezTo>
                <a:cubicBezTo>
                  <a:pt x="327" y="221"/>
                  <a:pt x="286" y="211"/>
                  <a:pt x="277" y="210"/>
                </a:cubicBezTo>
                <a:close/>
                <a:moveTo>
                  <a:pt x="311" y="217"/>
                </a:moveTo>
                <a:lnTo>
                  <a:pt x="300" y="213"/>
                </a:lnTo>
                <a:lnTo>
                  <a:pt x="296" y="208"/>
                </a:lnTo>
                <a:lnTo>
                  <a:pt x="295" y="192"/>
                </a:lnTo>
                <a:cubicBezTo>
                  <a:pt x="305" y="196"/>
                  <a:pt x="309" y="206"/>
                  <a:pt x="311" y="217"/>
                </a:cubicBezTo>
                <a:close/>
                <a:moveTo>
                  <a:pt x="162" y="0"/>
                </a:moveTo>
                <a:cubicBezTo>
                  <a:pt x="181" y="0"/>
                  <a:pt x="198" y="10"/>
                  <a:pt x="210" y="24"/>
                </a:cubicBezTo>
                <a:cubicBezTo>
                  <a:pt x="218" y="34"/>
                  <a:pt x="224" y="45"/>
                  <a:pt x="228" y="59"/>
                </a:cubicBezTo>
                <a:cubicBezTo>
                  <a:pt x="232" y="58"/>
                  <a:pt x="239" y="57"/>
                  <a:pt x="241" y="62"/>
                </a:cubicBezTo>
                <a:cubicBezTo>
                  <a:pt x="244" y="70"/>
                  <a:pt x="242" y="87"/>
                  <a:pt x="237" y="89"/>
                </a:cubicBezTo>
                <a:cubicBezTo>
                  <a:pt x="235" y="90"/>
                  <a:pt x="232" y="90"/>
                  <a:pt x="229" y="90"/>
                </a:cubicBezTo>
                <a:cubicBezTo>
                  <a:pt x="229" y="94"/>
                  <a:pt x="228" y="99"/>
                  <a:pt x="227" y="103"/>
                </a:cubicBezTo>
                <a:cubicBezTo>
                  <a:pt x="222" y="104"/>
                  <a:pt x="217" y="105"/>
                  <a:pt x="213" y="106"/>
                </a:cubicBezTo>
                <a:cubicBezTo>
                  <a:pt x="216" y="98"/>
                  <a:pt x="217" y="89"/>
                  <a:pt x="217" y="80"/>
                </a:cubicBezTo>
                <a:cubicBezTo>
                  <a:pt x="217" y="68"/>
                  <a:pt x="215" y="57"/>
                  <a:pt x="210" y="47"/>
                </a:cubicBezTo>
                <a:cubicBezTo>
                  <a:pt x="173" y="76"/>
                  <a:pt x="125" y="55"/>
                  <a:pt x="113" y="50"/>
                </a:cubicBezTo>
                <a:cubicBezTo>
                  <a:pt x="109" y="59"/>
                  <a:pt x="107" y="69"/>
                  <a:pt x="107" y="80"/>
                </a:cubicBezTo>
                <a:cubicBezTo>
                  <a:pt x="107" y="89"/>
                  <a:pt x="109" y="98"/>
                  <a:pt x="112" y="106"/>
                </a:cubicBezTo>
                <a:cubicBezTo>
                  <a:pt x="107" y="105"/>
                  <a:pt x="103" y="104"/>
                  <a:pt x="98" y="103"/>
                </a:cubicBezTo>
                <a:cubicBezTo>
                  <a:pt x="97" y="99"/>
                  <a:pt x="96" y="94"/>
                  <a:pt x="95" y="90"/>
                </a:cubicBezTo>
                <a:cubicBezTo>
                  <a:pt x="93" y="90"/>
                  <a:pt x="90" y="90"/>
                  <a:pt x="88" y="89"/>
                </a:cubicBezTo>
                <a:cubicBezTo>
                  <a:pt x="82" y="87"/>
                  <a:pt x="81" y="70"/>
                  <a:pt x="84" y="62"/>
                </a:cubicBezTo>
                <a:cubicBezTo>
                  <a:pt x="86" y="57"/>
                  <a:pt x="92" y="58"/>
                  <a:pt x="97" y="59"/>
                </a:cubicBezTo>
                <a:cubicBezTo>
                  <a:pt x="100" y="45"/>
                  <a:pt x="106" y="34"/>
                  <a:pt x="114" y="24"/>
                </a:cubicBezTo>
                <a:cubicBezTo>
                  <a:pt x="126" y="10"/>
                  <a:pt x="143" y="0"/>
                  <a:pt x="1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-866924" y="3876472"/>
            <a:ext cx="8821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spc="600" dirty="0">
                <a:solidFill>
                  <a:schemeClr val="accent1"/>
                </a:solidFill>
                <a:cs typeface="+mn-ea"/>
                <a:sym typeface="+mn-lt"/>
              </a:rPr>
              <a:t>夏令营个人展示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9885" y="1236592"/>
            <a:ext cx="5486400" cy="103022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503494" y="6734889"/>
            <a:ext cx="643125" cy="1231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">
                <a:solidFill>
                  <a:srgbClr val="FFFFFF"/>
                </a:solidFill>
              </a:rPr>
              <a:t>创作时间</a:t>
            </a:r>
            <a:r>
              <a:rPr lang="en-US" altLang="zh-CN" sz="100">
                <a:solidFill>
                  <a:srgbClr val="FFFFFF"/>
                </a:solidFill>
              </a:rPr>
              <a:t>:2023.6;</a:t>
            </a:r>
            <a:r>
              <a:rPr lang="zh-CN" altLang="en-US" sz="100">
                <a:solidFill>
                  <a:srgbClr val="FFFFFF"/>
                </a:solidFill>
              </a:rPr>
              <a:t>出售渠道</a:t>
            </a:r>
            <a:r>
              <a:rPr lang="en-US" altLang="zh-CN" sz="100">
                <a:solidFill>
                  <a:srgbClr val="FFFFFF"/>
                </a:solidFill>
              </a:rPr>
              <a:t>:b</a:t>
            </a:r>
            <a:r>
              <a:rPr lang="zh-CN" altLang="en-US" sz="100">
                <a:solidFill>
                  <a:srgbClr val="FFFFFF"/>
                </a:solidFill>
              </a:rPr>
              <a:t>站</a:t>
            </a:r>
            <a:r>
              <a:rPr lang="en-US" altLang="zh-CN" sz="100">
                <a:solidFill>
                  <a:srgbClr val="FFFFFF"/>
                </a:solidFill>
              </a:rPr>
              <a:t>-</a:t>
            </a:r>
            <a:r>
              <a:rPr lang="zh-CN" altLang="en-US" sz="100">
                <a:solidFill>
                  <a:srgbClr val="FFFFFF"/>
                </a:solidFill>
              </a:rPr>
              <a:t>玄风风兮</a:t>
            </a:r>
            <a:r>
              <a:rPr lang="en-US" altLang="zh-CN" sz="100">
                <a:solidFill>
                  <a:srgbClr val="FFFFFF"/>
                </a:solidFill>
              </a:rPr>
              <a:t>,</a:t>
            </a:r>
            <a:r>
              <a:rPr lang="zh-CN" altLang="en-US" sz="100">
                <a:solidFill>
                  <a:srgbClr val="FFFFFF"/>
                </a:solidFill>
              </a:rPr>
              <a:t>闲鱼</a:t>
            </a:r>
            <a:r>
              <a:rPr lang="en-US" altLang="zh-CN" sz="100">
                <a:solidFill>
                  <a:srgbClr val="FFFFFF"/>
                </a:solidFill>
              </a:rPr>
              <a:t>-</a:t>
            </a:r>
            <a:r>
              <a:rPr lang="zh-CN" altLang="en-US" sz="100">
                <a:solidFill>
                  <a:srgbClr val="FFFFFF"/>
                </a:solidFill>
              </a:rPr>
              <a:t>卡酷星和气的青蒿</a:t>
            </a:r>
            <a:r>
              <a:rPr lang="en-US" altLang="zh-CN" sz="100">
                <a:solidFill>
                  <a:srgbClr val="FFFFFF"/>
                </a:solidFill>
              </a:rPr>
              <a:t>,</a:t>
            </a:r>
            <a:r>
              <a:rPr lang="zh-CN" altLang="en-US" sz="100">
                <a:solidFill>
                  <a:srgbClr val="FFFFFF"/>
                </a:solidFill>
              </a:rPr>
              <a:t>微信</a:t>
            </a:r>
            <a:r>
              <a:rPr lang="en-US" altLang="zh-CN" sz="100">
                <a:solidFill>
                  <a:srgbClr val="FFFFFF"/>
                </a:solidFill>
              </a:rPr>
              <a:t>-zszf0529</a:t>
            </a:r>
          </a:p>
          <a:p>
            <a:endParaRPr lang="zh-CN" altLang="en-US" sz="100">
              <a:solidFill>
                <a:srgbClr val="FFFFFF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17559" y="2558494"/>
            <a:ext cx="81759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spc="120" dirty="0">
                <a:solidFill>
                  <a:srgbClr val="074288"/>
                </a:solidFill>
                <a:latin typeface="喜鹊招牌体" panose="00000500000000000000" pitchFamily="2" charset="-122"/>
                <a:ea typeface="喜鹊招牌体" panose="00000500000000000000" pitchFamily="2" charset="-122"/>
              </a:rPr>
              <a:t>生如逆旅，一苇以航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201944" y="3781138"/>
            <a:ext cx="7982712" cy="0"/>
          </a:xfrm>
          <a:prstGeom prst="line">
            <a:avLst/>
          </a:prstGeom>
          <a:ln w="19050">
            <a:solidFill>
              <a:srgbClr val="0742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191729" y="2631512"/>
            <a:ext cx="7982712" cy="0"/>
          </a:xfrm>
          <a:prstGeom prst="line">
            <a:avLst/>
          </a:prstGeom>
          <a:ln w="19050">
            <a:solidFill>
              <a:srgbClr val="0742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/>
        </p:nvSpPr>
        <p:spPr>
          <a:xfrm rot="5400000">
            <a:off x="-1642435" y="2447920"/>
            <a:ext cx="540538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spc="600" dirty="0">
                <a:solidFill>
                  <a:schemeClr val="accent1">
                    <a:alpha val="72000"/>
                  </a:schemeClr>
                </a:solidFill>
                <a:cs typeface="+mn-ea"/>
                <a:sym typeface="+mn-lt"/>
              </a:rPr>
              <a:t>CONTENT</a:t>
            </a:r>
            <a:endParaRPr lang="zh-CN" altLang="en-US" sz="6600" spc="600" dirty="0">
              <a:solidFill>
                <a:schemeClr val="accent1">
                  <a:alpha val="72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1880755" y="833937"/>
            <a:ext cx="0" cy="1597536"/>
          </a:xfrm>
          <a:prstGeom prst="line">
            <a:avLst/>
          </a:prstGeom>
          <a:ln w="25400">
            <a:solidFill>
              <a:srgbClr val="0742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/>
          <p:cNvGrpSpPr/>
          <p:nvPr/>
        </p:nvGrpSpPr>
        <p:grpSpPr>
          <a:xfrm>
            <a:off x="2525134" y="3472847"/>
            <a:ext cx="8546809" cy="1048957"/>
            <a:chOff x="2529900" y="954839"/>
            <a:chExt cx="8546809" cy="1048957"/>
          </a:xfrm>
        </p:grpSpPr>
        <p:sp>
          <p:nvSpPr>
            <p:cNvPr id="19" name="ïşļíḋê"/>
            <p:cNvSpPr/>
            <p:nvPr/>
          </p:nvSpPr>
          <p:spPr>
            <a:xfrm>
              <a:off x="2529900" y="1024911"/>
              <a:ext cx="683776" cy="683776"/>
            </a:xfrm>
            <a:custGeom>
              <a:avLst/>
              <a:gdLst>
                <a:gd name="connsiteX0" fmla="*/ 274320 w 548640"/>
                <a:gd name="connsiteY0" fmla="*/ 0 h 548640"/>
                <a:gd name="connsiteX1" fmla="*/ 548640 w 548640"/>
                <a:gd name="connsiteY1" fmla="*/ 274320 h 548640"/>
                <a:gd name="connsiteX2" fmla="*/ 274320 w 548640"/>
                <a:gd name="connsiteY2" fmla="*/ 548640 h 548640"/>
                <a:gd name="connsiteX3" fmla="*/ 0 w 548640"/>
                <a:gd name="connsiteY3" fmla="*/ 274320 h 548640"/>
                <a:gd name="connsiteX4" fmla="*/ 274320 w 548640"/>
                <a:gd name="connsiteY4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" h="548640">
                  <a:moveTo>
                    <a:pt x="274320" y="0"/>
                  </a:moveTo>
                  <a:cubicBezTo>
                    <a:pt x="425823" y="0"/>
                    <a:pt x="548640" y="122817"/>
                    <a:pt x="548640" y="274320"/>
                  </a:cubicBezTo>
                  <a:cubicBezTo>
                    <a:pt x="548640" y="425823"/>
                    <a:pt x="425823" y="548640"/>
                    <a:pt x="274320" y="548640"/>
                  </a:cubicBezTo>
                  <a:cubicBezTo>
                    <a:pt x="122817" y="548640"/>
                    <a:pt x="0" y="425823"/>
                    <a:pt x="0" y="274320"/>
                  </a:cubicBezTo>
                  <a:cubicBezTo>
                    <a:pt x="0" y="122817"/>
                    <a:pt x="122817" y="0"/>
                    <a:pt x="274320" y="0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286413" y="954839"/>
              <a:ext cx="77902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竞赛实践</a:t>
              </a:r>
              <a:r>
                <a:rPr lang="en-US" altLang="zh-CN" sz="3200" b="1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——</a:t>
              </a:r>
              <a:r>
                <a:rPr lang="zh-CN" altLang="en-US" sz="3200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知行合一，笃行致远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286413" y="1634464"/>
              <a:ext cx="3512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Practice Activities</a:t>
              </a:r>
              <a:endParaRPr lang="zh-CN" altLang="en-US" dirty="0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435928" y="1570787"/>
              <a:ext cx="1707572" cy="0"/>
            </a:xfrm>
            <a:prstGeom prst="line">
              <a:avLst/>
            </a:prstGeom>
            <a:ln w="25400">
              <a:solidFill>
                <a:srgbClr val="0742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>
            <a:off x="2525134" y="2290043"/>
            <a:ext cx="8546809" cy="1048957"/>
            <a:chOff x="2529900" y="954839"/>
            <a:chExt cx="8546809" cy="1048957"/>
          </a:xfrm>
        </p:grpSpPr>
        <p:sp>
          <p:nvSpPr>
            <p:cNvPr id="30" name="ïşļíḋê"/>
            <p:cNvSpPr/>
            <p:nvPr/>
          </p:nvSpPr>
          <p:spPr>
            <a:xfrm>
              <a:off x="2529900" y="1024911"/>
              <a:ext cx="683776" cy="683776"/>
            </a:xfrm>
            <a:custGeom>
              <a:avLst/>
              <a:gdLst>
                <a:gd name="connsiteX0" fmla="*/ 274320 w 548640"/>
                <a:gd name="connsiteY0" fmla="*/ 0 h 548640"/>
                <a:gd name="connsiteX1" fmla="*/ 548640 w 548640"/>
                <a:gd name="connsiteY1" fmla="*/ 274320 h 548640"/>
                <a:gd name="connsiteX2" fmla="*/ 274320 w 548640"/>
                <a:gd name="connsiteY2" fmla="*/ 548640 h 548640"/>
                <a:gd name="connsiteX3" fmla="*/ 0 w 548640"/>
                <a:gd name="connsiteY3" fmla="*/ 274320 h 548640"/>
                <a:gd name="connsiteX4" fmla="*/ 274320 w 548640"/>
                <a:gd name="connsiteY4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" h="548640">
                  <a:moveTo>
                    <a:pt x="274320" y="0"/>
                  </a:moveTo>
                  <a:cubicBezTo>
                    <a:pt x="425823" y="0"/>
                    <a:pt x="548640" y="122817"/>
                    <a:pt x="548640" y="274320"/>
                  </a:cubicBezTo>
                  <a:cubicBezTo>
                    <a:pt x="548640" y="425823"/>
                    <a:pt x="425823" y="548640"/>
                    <a:pt x="274320" y="548640"/>
                  </a:cubicBezTo>
                  <a:cubicBezTo>
                    <a:pt x="122817" y="548640"/>
                    <a:pt x="0" y="425823"/>
                    <a:pt x="0" y="274320"/>
                  </a:cubicBezTo>
                  <a:cubicBezTo>
                    <a:pt x="0" y="122817"/>
                    <a:pt x="122817" y="0"/>
                    <a:pt x="274320" y="0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3286413" y="954839"/>
              <a:ext cx="77902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科研经历</a:t>
              </a:r>
              <a:r>
                <a:rPr lang="en-US" altLang="zh-CN" sz="3200" b="1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——</a:t>
              </a:r>
              <a:r>
                <a:rPr lang="zh-CN" altLang="en-US" sz="3200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独立思考，精益求精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3286413" y="1634464"/>
              <a:ext cx="3512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Research And competitions</a:t>
              </a:r>
              <a:endParaRPr lang="zh-CN" altLang="en-US" dirty="0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  <p:cxnSp>
          <p:nvCxnSpPr>
            <p:cNvPr id="35" name="直接连接符 34"/>
            <p:cNvCxnSpPr/>
            <p:nvPr/>
          </p:nvCxnSpPr>
          <p:spPr>
            <a:xfrm>
              <a:off x="3435928" y="1570787"/>
              <a:ext cx="1707572" cy="0"/>
            </a:xfrm>
            <a:prstGeom prst="line">
              <a:avLst/>
            </a:prstGeom>
            <a:ln w="25400">
              <a:solidFill>
                <a:srgbClr val="0742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35"/>
          <p:cNvGrpSpPr/>
          <p:nvPr/>
        </p:nvGrpSpPr>
        <p:grpSpPr>
          <a:xfrm>
            <a:off x="2525134" y="1107239"/>
            <a:ext cx="8546809" cy="1048957"/>
            <a:chOff x="2529900" y="954839"/>
            <a:chExt cx="8546809" cy="1048957"/>
          </a:xfrm>
        </p:grpSpPr>
        <p:sp>
          <p:nvSpPr>
            <p:cNvPr id="50" name="ïşļíḋê"/>
            <p:cNvSpPr/>
            <p:nvPr/>
          </p:nvSpPr>
          <p:spPr>
            <a:xfrm>
              <a:off x="2529900" y="1024911"/>
              <a:ext cx="683776" cy="683776"/>
            </a:xfrm>
            <a:custGeom>
              <a:avLst/>
              <a:gdLst>
                <a:gd name="connsiteX0" fmla="*/ 274320 w 548640"/>
                <a:gd name="connsiteY0" fmla="*/ 0 h 548640"/>
                <a:gd name="connsiteX1" fmla="*/ 548640 w 548640"/>
                <a:gd name="connsiteY1" fmla="*/ 274320 h 548640"/>
                <a:gd name="connsiteX2" fmla="*/ 274320 w 548640"/>
                <a:gd name="connsiteY2" fmla="*/ 548640 h 548640"/>
                <a:gd name="connsiteX3" fmla="*/ 0 w 548640"/>
                <a:gd name="connsiteY3" fmla="*/ 274320 h 548640"/>
                <a:gd name="connsiteX4" fmla="*/ 274320 w 548640"/>
                <a:gd name="connsiteY4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" h="548640">
                  <a:moveTo>
                    <a:pt x="274320" y="0"/>
                  </a:moveTo>
                  <a:cubicBezTo>
                    <a:pt x="425823" y="0"/>
                    <a:pt x="548640" y="122817"/>
                    <a:pt x="548640" y="274320"/>
                  </a:cubicBezTo>
                  <a:cubicBezTo>
                    <a:pt x="548640" y="425823"/>
                    <a:pt x="425823" y="548640"/>
                    <a:pt x="274320" y="548640"/>
                  </a:cubicBezTo>
                  <a:cubicBezTo>
                    <a:pt x="122817" y="548640"/>
                    <a:pt x="0" y="425823"/>
                    <a:pt x="0" y="274320"/>
                  </a:cubicBezTo>
                  <a:cubicBezTo>
                    <a:pt x="0" y="122817"/>
                    <a:pt x="122817" y="0"/>
                    <a:pt x="274320" y="0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3286413" y="954839"/>
              <a:ext cx="77902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学术背景</a:t>
              </a:r>
              <a:r>
                <a:rPr lang="en-US" altLang="zh-CN" sz="3200" b="1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——</a:t>
              </a:r>
              <a:r>
                <a:rPr lang="zh-CN" altLang="en-US" sz="3200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脚踏实地，刻苦钻研</a:t>
              </a: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3286413" y="1634464"/>
              <a:ext cx="3512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Academic Background</a:t>
              </a:r>
              <a:endParaRPr lang="zh-CN" altLang="en-US" dirty="0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>
            <a:xfrm>
              <a:off x="3435928" y="1570787"/>
              <a:ext cx="1707572" cy="0"/>
            </a:xfrm>
            <a:prstGeom prst="line">
              <a:avLst/>
            </a:prstGeom>
            <a:ln w="25400">
              <a:solidFill>
                <a:srgbClr val="0742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组合 53"/>
          <p:cNvGrpSpPr/>
          <p:nvPr/>
        </p:nvGrpSpPr>
        <p:grpSpPr>
          <a:xfrm>
            <a:off x="2525134" y="4655652"/>
            <a:ext cx="8546809" cy="1048957"/>
            <a:chOff x="2529900" y="954839"/>
            <a:chExt cx="8546809" cy="1048957"/>
          </a:xfrm>
        </p:grpSpPr>
        <p:sp>
          <p:nvSpPr>
            <p:cNvPr id="55" name="ïşļíḋê"/>
            <p:cNvSpPr/>
            <p:nvPr/>
          </p:nvSpPr>
          <p:spPr>
            <a:xfrm>
              <a:off x="2529900" y="1024911"/>
              <a:ext cx="683776" cy="683776"/>
            </a:xfrm>
            <a:custGeom>
              <a:avLst/>
              <a:gdLst>
                <a:gd name="connsiteX0" fmla="*/ 274320 w 548640"/>
                <a:gd name="connsiteY0" fmla="*/ 0 h 548640"/>
                <a:gd name="connsiteX1" fmla="*/ 548640 w 548640"/>
                <a:gd name="connsiteY1" fmla="*/ 274320 h 548640"/>
                <a:gd name="connsiteX2" fmla="*/ 274320 w 548640"/>
                <a:gd name="connsiteY2" fmla="*/ 548640 h 548640"/>
                <a:gd name="connsiteX3" fmla="*/ 0 w 548640"/>
                <a:gd name="connsiteY3" fmla="*/ 274320 h 548640"/>
                <a:gd name="connsiteX4" fmla="*/ 274320 w 548640"/>
                <a:gd name="connsiteY4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" h="548640">
                  <a:moveTo>
                    <a:pt x="274320" y="0"/>
                  </a:moveTo>
                  <a:cubicBezTo>
                    <a:pt x="425823" y="0"/>
                    <a:pt x="548640" y="122817"/>
                    <a:pt x="548640" y="274320"/>
                  </a:cubicBezTo>
                  <a:cubicBezTo>
                    <a:pt x="548640" y="425823"/>
                    <a:pt x="425823" y="548640"/>
                    <a:pt x="274320" y="548640"/>
                  </a:cubicBezTo>
                  <a:cubicBezTo>
                    <a:pt x="122817" y="548640"/>
                    <a:pt x="0" y="425823"/>
                    <a:pt x="0" y="274320"/>
                  </a:cubicBezTo>
                  <a:cubicBezTo>
                    <a:pt x="0" y="122817"/>
                    <a:pt x="122817" y="0"/>
                    <a:pt x="274320" y="0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cs typeface="+mn-ea"/>
                  <a:sym typeface="+mn-lt"/>
                </a:rPr>
                <a:t>04</a:t>
              </a: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3286413" y="954839"/>
              <a:ext cx="77902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未来规划</a:t>
              </a:r>
              <a:r>
                <a:rPr lang="en-US" altLang="zh-CN" sz="3200" b="1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——</a:t>
              </a:r>
              <a:r>
                <a:rPr lang="zh-CN" altLang="en-US" sz="3200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志存高远，逐梦远航</a:t>
              </a: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3286413" y="1634464"/>
              <a:ext cx="3512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Future Plans</a:t>
              </a:r>
              <a:endParaRPr lang="zh-CN" altLang="en-US" dirty="0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  <p:cxnSp>
          <p:nvCxnSpPr>
            <p:cNvPr id="58" name="直接连接符 57"/>
            <p:cNvCxnSpPr/>
            <p:nvPr/>
          </p:nvCxnSpPr>
          <p:spPr>
            <a:xfrm>
              <a:off x="3435928" y="1570787"/>
              <a:ext cx="1707572" cy="0"/>
            </a:xfrm>
            <a:prstGeom prst="line">
              <a:avLst/>
            </a:prstGeom>
            <a:ln w="25400">
              <a:solidFill>
                <a:srgbClr val="0742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/>
          <p:cNvSpPr txBox="1"/>
          <p:nvPr/>
        </p:nvSpPr>
        <p:spPr>
          <a:xfrm>
            <a:off x="5765288" y="2519984"/>
            <a:ext cx="38670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学术背景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01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5920344" y="3565116"/>
            <a:ext cx="3566556" cy="0"/>
          </a:xfrm>
          <a:prstGeom prst="line">
            <a:avLst/>
          </a:prstGeom>
          <a:ln w="25400">
            <a:solidFill>
              <a:srgbClr val="0742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5847608" y="3594586"/>
            <a:ext cx="60942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74288"/>
                </a:solidFill>
              </a:rPr>
              <a:t>脚踏实地，刻苦钻研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4387850" y="1662112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Basic personal information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850602" y="1454544"/>
            <a:ext cx="4490797" cy="0"/>
            <a:chOff x="3893464" y="1130139"/>
            <a:chExt cx="4490797" cy="0"/>
          </a:xfrm>
        </p:grpSpPr>
        <p:cxnSp>
          <p:nvCxnSpPr>
            <p:cNvPr id="36" name="直接箭头连接符 25"/>
            <p:cNvCxnSpPr/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/>
            <p:cNvCxnSpPr/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4387850" y="1662112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Basic personal information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66816" y="1200447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>
                <a:solidFill>
                  <a:schemeClr val="accent1"/>
                </a:solidFill>
                <a:cs typeface="+mn-ea"/>
                <a:sym typeface="+mn-lt"/>
              </a:rPr>
              <a:t>个人基本信息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850602" y="1454544"/>
            <a:ext cx="4490797" cy="0"/>
            <a:chOff x="3893464" y="1130139"/>
            <a:chExt cx="4490797" cy="0"/>
          </a:xfrm>
        </p:grpSpPr>
        <p:cxnSp>
          <p:nvCxnSpPr>
            <p:cNvPr id="6" name="直接箭头连接符 25"/>
            <p:cNvCxnSpPr/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25"/>
            <p:cNvCxnSpPr/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矩形 7"/>
          <p:cNvSpPr/>
          <p:nvPr/>
        </p:nvSpPr>
        <p:spPr>
          <a:xfrm>
            <a:off x="4092136" y="2354609"/>
            <a:ext cx="3004855" cy="1730730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GPA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3.72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 /4.5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专业排名：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/69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</a:pP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5658" y="5956149"/>
            <a:ext cx="2569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spc="300" dirty="0">
                <a:solidFill>
                  <a:schemeClr val="accent1"/>
                </a:solidFill>
                <a:cs typeface="+mn-ea"/>
                <a:sym typeface="+mn-lt"/>
              </a:rPr>
              <a:t>姓名：马宇佩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579124" y="5465396"/>
            <a:ext cx="7189355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自动控制原理（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90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）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	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单片机原理及应用（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95.8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）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模拟电子技术（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93.4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）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	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信号与系统（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97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）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156041" y="5243053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核心课程成绩</a:t>
            </a:r>
          </a:p>
        </p:txBody>
      </p:sp>
      <p:cxnSp>
        <p:nvCxnSpPr>
          <p:cNvPr id="16" name="直接连接符 15"/>
          <p:cNvCxnSpPr>
            <a:cxnSpLocks/>
          </p:cNvCxnSpPr>
          <p:nvPr/>
        </p:nvCxnSpPr>
        <p:spPr>
          <a:xfrm>
            <a:off x="7086601" y="2576480"/>
            <a:ext cx="0" cy="974496"/>
          </a:xfrm>
          <a:prstGeom prst="line">
            <a:avLst/>
          </a:prstGeom>
          <a:ln w="31750">
            <a:solidFill>
              <a:srgbClr val="0742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cxnSpLocks/>
          </p:cNvCxnSpPr>
          <p:nvPr/>
        </p:nvCxnSpPr>
        <p:spPr>
          <a:xfrm>
            <a:off x="4189512" y="5155876"/>
            <a:ext cx="6332833" cy="0"/>
          </a:xfrm>
          <a:prstGeom prst="line">
            <a:avLst/>
          </a:prstGeom>
          <a:ln w="31750">
            <a:solidFill>
              <a:srgbClr val="0742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7199018" y="2351161"/>
            <a:ext cx="3851603" cy="1115177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本科院校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：山西大学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本科专业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：测控技术与仪器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0" y="79214"/>
            <a:ext cx="12192000" cy="764997"/>
            <a:chOff x="0" y="79214"/>
            <a:chExt cx="12192000" cy="764997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0" y="844211"/>
              <a:ext cx="12192000" cy="0"/>
            </a:xfrm>
            <a:prstGeom prst="line">
              <a:avLst/>
            </a:prstGeom>
            <a:ln w="57150">
              <a:solidFill>
                <a:srgbClr val="0742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ïşļíḋê"/>
            <p:cNvSpPr/>
            <p:nvPr/>
          </p:nvSpPr>
          <p:spPr>
            <a:xfrm>
              <a:off x="92175" y="79214"/>
              <a:ext cx="683776" cy="683776"/>
            </a:xfrm>
            <a:custGeom>
              <a:avLst/>
              <a:gdLst>
                <a:gd name="connsiteX0" fmla="*/ 274320 w 548640"/>
                <a:gd name="connsiteY0" fmla="*/ 0 h 548640"/>
                <a:gd name="connsiteX1" fmla="*/ 548640 w 548640"/>
                <a:gd name="connsiteY1" fmla="*/ 274320 h 548640"/>
                <a:gd name="connsiteX2" fmla="*/ 274320 w 548640"/>
                <a:gd name="connsiteY2" fmla="*/ 548640 h 548640"/>
                <a:gd name="connsiteX3" fmla="*/ 0 w 548640"/>
                <a:gd name="connsiteY3" fmla="*/ 274320 h 548640"/>
                <a:gd name="connsiteX4" fmla="*/ 274320 w 548640"/>
                <a:gd name="connsiteY4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" h="548640">
                  <a:moveTo>
                    <a:pt x="274320" y="0"/>
                  </a:moveTo>
                  <a:cubicBezTo>
                    <a:pt x="425823" y="0"/>
                    <a:pt x="548640" y="122817"/>
                    <a:pt x="548640" y="274320"/>
                  </a:cubicBezTo>
                  <a:cubicBezTo>
                    <a:pt x="548640" y="425823"/>
                    <a:pt x="425823" y="548640"/>
                    <a:pt x="274320" y="548640"/>
                  </a:cubicBezTo>
                  <a:cubicBezTo>
                    <a:pt x="122817" y="548640"/>
                    <a:pt x="0" y="425823"/>
                    <a:pt x="0" y="274320"/>
                  </a:cubicBezTo>
                  <a:cubicBezTo>
                    <a:pt x="0" y="122817"/>
                    <a:pt x="122817" y="0"/>
                    <a:pt x="274320" y="0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75951" y="124154"/>
              <a:ext cx="77902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学术背景</a:t>
              </a:r>
              <a:r>
                <a:rPr lang="en-US" altLang="zh-CN" sz="3200" b="1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——</a:t>
              </a:r>
              <a:r>
                <a:rPr lang="zh-CN" altLang="en-US" sz="3200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脚踏实地，刻苦钻研</a:t>
              </a:r>
            </a:p>
          </p:txBody>
        </p:sp>
      </p:grpSp>
      <p:cxnSp>
        <p:nvCxnSpPr>
          <p:cNvPr id="13" name="直接连接符 12"/>
          <p:cNvCxnSpPr>
            <a:cxnSpLocks/>
          </p:cNvCxnSpPr>
          <p:nvPr/>
        </p:nvCxnSpPr>
        <p:spPr>
          <a:xfrm>
            <a:off x="4189512" y="6479369"/>
            <a:ext cx="6332833" cy="0"/>
          </a:xfrm>
          <a:prstGeom prst="line">
            <a:avLst/>
          </a:prstGeom>
          <a:ln w="31750">
            <a:solidFill>
              <a:srgbClr val="0742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1586100" y="25900"/>
            <a:ext cx="643125" cy="1231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">
                <a:solidFill>
                  <a:srgbClr val="FFFFFF"/>
                </a:solidFill>
              </a:rPr>
              <a:t>创作时间</a:t>
            </a:r>
            <a:r>
              <a:rPr lang="en-US" altLang="zh-CN" sz="100">
                <a:solidFill>
                  <a:srgbClr val="FFFFFF"/>
                </a:solidFill>
              </a:rPr>
              <a:t>:2023.6;</a:t>
            </a:r>
            <a:r>
              <a:rPr lang="zh-CN" altLang="en-US" sz="100">
                <a:solidFill>
                  <a:srgbClr val="FFFFFF"/>
                </a:solidFill>
              </a:rPr>
              <a:t>出售渠道</a:t>
            </a:r>
            <a:r>
              <a:rPr lang="en-US" altLang="zh-CN" sz="100">
                <a:solidFill>
                  <a:srgbClr val="FFFFFF"/>
                </a:solidFill>
              </a:rPr>
              <a:t>:b</a:t>
            </a:r>
            <a:r>
              <a:rPr lang="zh-CN" altLang="en-US" sz="100">
                <a:solidFill>
                  <a:srgbClr val="FFFFFF"/>
                </a:solidFill>
              </a:rPr>
              <a:t>站</a:t>
            </a:r>
            <a:r>
              <a:rPr lang="en-US" altLang="zh-CN" sz="100">
                <a:solidFill>
                  <a:srgbClr val="FFFFFF"/>
                </a:solidFill>
              </a:rPr>
              <a:t>-</a:t>
            </a:r>
            <a:r>
              <a:rPr lang="zh-CN" altLang="en-US" sz="100">
                <a:solidFill>
                  <a:srgbClr val="FFFFFF"/>
                </a:solidFill>
              </a:rPr>
              <a:t>玄风风兮</a:t>
            </a:r>
            <a:r>
              <a:rPr lang="en-US" altLang="zh-CN" sz="100">
                <a:solidFill>
                  <a:srgbClr val="FFFFFF"/>
                </a:solidFill>
              </a:rPr>
              <a:t>,</a:t>
            </a:r>
            <a:r>
              <a:rPr lang="zh-CN" altLang="en-US" sz="100">
                <a:solidFill>
                  <a:srgbClr val="FFFFFF"/>
                </a:solidFill>
              </a:rPr>
              <a:t>闲鱼</a:t>
            </a:r>
            <a:r>
              <a:rPr lang="en-US" altLang="zh-CN" sz="100">
                <a:solidFill>
                  <a:srgbClr val="FFFFFF"/>
                </a:solidFill>
              </a:rPr>
              <a:t>-</a:t>
            </a:r>
            <a:r>
              <a:rPr lang="zh-CN" altLang="en-US" sz="100">
                <a:solidFill>
                  <a:srgbClr val="FFFFFF"/>
                </a:solidFill>
              </a:rPr>
              <a:t>卡酷星和气的青蒿</a:t>
            </a:r>
            <a:r>
              <a:rPr lang="en-US" altLang="zh-CN" sz="100">
                <a:solidFill>
                  <a:srgbClr val="FFFFFF"/>
                </a:solidFill>
              </a:rPr>
              <a:t>,</a:t>
            </a:r>
            <a:r>
              <a:rPr lang="zh-CN" altLang="en-US" sz="100">
                <a:solidFill>
                  <a:srgbClr val="FFFFFF"/>
                </a:solidFill>
              </a:rPr>
              <a:t>微信</a:t>
            </a:r>
            <a:r>
              <a:rPr lang="en-US" altLang="zh-CN" sz="100">
                <a:solidFill>
                  <a:srgbClr val="FFFFFF"/>
                </a:solidFill>
              </a:rPr>
              <a:t>-zszf0529</a:t>
            </a:r>
          </a:p>
          <a:p>
            <a:endParaRPr lang="zh-CN" altLang="en-US" sz="100">
              <a:solidFill>
                <a:srgbClr val="FFFFFF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7E3FC4-D456-E5CC-4126-E1A59B2BAE33}"/>
              </a:ext>
            </a:extLst>
          </p:cNvPr>
          <p:cNvSpPr/>
          <p:nvPr/>
        </p:nvSpPr>
        <p:spPr>
          <a:xfrm>
            <a:off x="775950" y="2447848"/>
            <a:ext cx="2249351" cy="28050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5CD77DA-1E35-95E2-6596-66B670756865}"/>
              </a:ext>
            </a:extLst>
          </p:cNvPr>
          <p:cNvSpPr/>
          <p:nvPr/>
        </p:nvSpPr>
        <p:spPr>
          <a:xfrm>
            <a:off x="4092136" y="4135239"/>
            <a:ext cx="6027871" cy="961289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荣誉及奖励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: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国家励志奖学金、山西大学一等学业奖学金、山西大学三好学生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7DECF12-FD0A-D7FD-14B1-A5846D2D25F5}"/>
              </a:ext>
            </a:extLst>
          </p:cNvPr>
          <p:cNvSpPr/>
          <p:nvPr/>
        </p:nvSpPr>
        <p:spPr>
          <a:xfrm>
            <a:off x="4092136" y="3550976"/>
            <a:ext cx="6027871" cy="499624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已通过英语四六级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35AB25AB-1A30-87FA-05D2-2AACC1C2A215}"/>
              </a:ext>
            </a:extLst>
          </p:cNvPr>
          <p:cNvCxnSpPr>
            <a:cxnSpLocks/>
          </p:cNvCxnSpPr>
          <p:nvPr/>
        </p:nvCxnSpPr>
        <p:spPr>
          <a:xfrm>
            <a:off x="4189512" y="3550976"/>
            <a:ext cx="6332833" cy="0"/>
          </a:xfrm>
          <a:prstGeom prst="line">
            <a:avLst/>
          </a:prstGeom>
          <a:ln w="31750">
            <a:solidFill>
              <a:srgbClr val="0742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/>
          <p:cNvSpPr txBox="1"/>
          <p:nvPr/>
        </p:nvSpPr>
        <p:spPr>
          <a:xfrm>
            <a:off x="5765288" y="2519984"/>
            <a:ext cx="38670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科研经历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02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5920344" y="3565116"/>
            <a:ext cx="3566556" cy="0"/>
          </a:xfrm>
          <a:prstGeom prst="line">
            <a:avLst/>
          </a:prstGeom>
          <a:ln w="25400">
            <a:solidFill>
              <a:srgbClr val="0742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5847608" y="3594586"/>
            <a:ext cx="60942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74288"/>
                </a:solidFill>
              </a:rPr>
              <a:t>独立思考，精益求精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/>
          <p:cNvSpPr/>
          <p:nvPr/>
        </p:nvSpPr>
        <p:spPr>
          <a:xfrm>
            <a:off x="893416" y="2286000"/>
            <a:ext cx="1543437" cy="514299"/>
          </a:xfrm>
          <a:prstGeom prst="roundRect">
            <a:avLst>
              <a:gd name="adj" fmla="val 925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167450" y="1015035"/>
            <a:ext cx="11834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cs typeface="+mn-ea"/>
                <a:sym typeface="+mn-lt"/>
              </a:rPr>
              <a:t>2.1 《</a:t>
            </a:r>
            <a:r>
              <a:rPr lang="en-US" altLang="zh-CN" sz="2400" b="1" dirty="0">
                <a:solidFill>
                  <a:schemeClr val="accent1"/>
                </a:solidFill>
                <a:cs typeface="+mn-ea"/>
              </a:rPr>
              <a:t>PGA-STGCN</a:t>
            </a:r>
            <a:r>
              <a:rPr lang="zh-CN" altLang="zh-CN" sz="2400" b="1" dirty="0">
                <a:solidFill>
                  <a:schemeClr val="accent1"/>
                </a:solidFill>
                <a:cs typeface="+mn-ea"/>
              </a:rPr>
              <a:t>：基于物理先验与门控注意力的地铁车厢级客流预测网络</a:t>
            </a:r>
            <a:r>
              <a:rPr lang="en-US" altLang="zh-CN" sz="2400" b="1" dirty="0">
                <a:solidFill>
                  <a:schemeClr val="accent1"/>
                </a:solidFill>
                <a:cs typeface="+mn-ea"/>
                <a:sym typeface="+mn-lt"/>
              </a:rPr>
              <a:t>》</a:t>
            </a:r>
            <a:endParaRPr lang="zh-CN" altLang="en-US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60026" y="1915210"/>
            <a:ext cx="2497499" cy="3000309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3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bg1"/>
                </a:solidFill>
                <a:cs typeface="+mn-ea"/>
                <a:sym typeface="+mn-lt"/>
              </a:rPr>
              <a:t>研究目的</a:t>
            </a:r>
            <a:endParaRPr lang="en-US" altLang="zh-CN" sz="2000" b="1">
              <a:solidFill>
                <a:schemeClr val="bg1"/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3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负责工作</a:t>
            </a: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3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成果与收获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0" y="79214"/>
            <a:ext cx="12192000" cy="764997"/>
            <a:chOff x="0" y="79214"/>
            <a:chExt cx="12192000" cy="76499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0" y="844211"/>
              <a:ext cx="12192000" cy="0"/>
            </a:xfrm>
            <a:prstGeom prst="line">
              <a:avLst/>
            </a:prstGeom>
            <a:ln w="57150">
              <a:solidFill>
                <a:srgbClr val="0742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ïşļíḋê"/>
            <p:cNvSpPr/>
            <p:nvPr/>
          </p:nvSpPr>
          <p:spPr>
            <a:xfrm>
              <a:off x="92175" y="79214"/>
              <a:ext cx="683776" cy="683776"/>
            </a:xfrm>
            <a:custGeom>
              <a:avLst/>
              <a:gdLst>
                <a:gd name="connsiteX0" fmla="*/ 274320 w 548640"/>
                <a:gd name="connsiteY0" fmla="*/ 0 h 548640"/>
                <a:gd name="connsiteX1" fmla="*/ 548640 w 548640"/>
                <a:gd name="connsiteY1" fmla="*/ 274320 h 548640"/>
                <a:gd name="connsiteX2" fmla="*/ 274320 w 548640"/>
                <a:gd name="connsiteY2" fmla="*/ 548640 h 548640"/>
                <a:gd name="connsiteX3" fmla="*/ 0 w 548640"/>
                <a:gd name="connsiteY3" fmla="*/ 274320 h 548640"/>
                <a:gd name="connsiteX4" fmla="*/ 274320 w 548640"/>
                <a:gd name="connsiteY4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" h="548640">
                  <a:moveTo>
                    <a:pt x="274320" y="0"/>
                  </a:moveTo>
                  <a:cubicBezTo>
                    <a:pt x="425823" y="0"/>
                    <a:pt x="548640" y="122817"/>
                    <a:pt x="548640" y="274320"/>
                  </a:cubicBezTo>
                  <a:cubicBezTo>
                    <a:pt x="548640" y="425823"/>
                    <a:pt x="425823" y="548640"/>
                    <a:pt x="274320" y="548640"/>
                  </a:cubicBezTo>
                  <a:cubicBezTo>
                    <a:pt x="122817" y="548640"/>
                    <a:pt x="0" y="425823"/>
                    <a:pt x="0" y="274320"/>
                  </a:cubicBezTo>
                  <a:cubicBezTo>
                    <a:pt x="0" y="122817"/>
                    <a:pt x="122817" y="0"/>
                    <a:pt x="274320" y="0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sz="2400" b="1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en-US" sz="2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75951" y="124154"/>
              <a:ext cx="77902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科研经历</a:t>
              </a:r>
              <a:r>
                <a:rPr lang="en-US" altLang="zh-CN" sz="3200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——</a:t>
              </a:r>
              <a:r>
                <a:rPr lang="zh-CN" altLang="en-US" sz="3200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独立思考，精益求精</a:t>
              </a: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3656921" y="1839010"/>
            <a:ext cx="2636827" cy="3251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该项目旨在开发一个能够实时识别和追踪多个人物姿态的系统。这种系统可以广泛应用于安防监控、体育分析、动作捕捉、健康照护等领域。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3094947" y="1839010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7025831" y="1970066"/>
            <a:ext cx="4511579" cy="29897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zh-CN" altLang="en-US" sz="2400"/>
              <a:t>可插入相关证书、照片、证明材料等，并适当调整比例和大小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/>
          <p:cNvSpPr/>
          <p:nvPr/>
        </p:nvSpPr>
        <p:spPr>
          <a:xfrm>
            <a:off x="893416" y="3358214"/>
            <a:ext cx="1543437" cy="514299"/>
          </a:xfrm>
          <a:prstGeom prst="roundRect">
            <a:avLst>
              <a:gd name="adj" fmla="val 925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60026" y="1915210"/>
            <a:ext cx="2497499" cy="3000309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3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研究目的</a:t>
            </a: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3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bg1"/>
                </a:solidFill>
                <a:cs typeface="+mn-ea"/>
                <a:sym typeface="+mn-lt"/>
              </a:rPr>
              <a:t>负责工作</a:t>
            </a:r>
            <a:endParaRPr lang="en-US" altLang="zh-CN" sz="2000" b="1">
              <a:solidFill>
                <a:schemeClr val="bg1"/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3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成果与收获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0" y="79214"/>
            <a:ext cx="12192000" cy="764997"/>
            <a:chOff x="0" y="79214"/>
            <a:chExt cx="12192000" cy="76499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0" y="844211"/>
              <a:ext cx="12192000" cy="0"/>
            </a:xfrm>
            <a:prstGeom prst="line">
              <a:avLst/>
            </a:prstGeom>
            <a:ln w="57150">
              <a:solidFill>
                <a:srgbClr val="0742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ïşļíḋê"/>
            <p:cNvSpPr/>
            <p:nvPr/>
          </p:nvSpPr>
          <p:spPr>
            <a:xfrm>
              <a:off x="92175" y="79214"/>
              <a:ext cx="683776" cy="683776"/>
            </a:xfrm>
            <a:custGeom>
              <a:avLst/>
              <a:gdLst>
                <a:gd name="connsiteX0" fmla="*/ 274320 w 548640"/>
                <a:gd name="connsiteY0" fmla="*/ 0 h 548640"/>
                <a:gd name="connsiteX1" fmla="*/ 548640 w 548640"/>
                <a:gd name="connsiteY1" fmla="*/ 274320 h 548640"/>
                <a:gd name="connsiteX2" fmla="*/ 274320 w 548640"/>
                <a:gd name="connsiteY2" fmla="*/ 548640 h 548640"/>
                <a:gd name="connsiteX3" fmla="*/ 0 w 548640"/>
                <a:gd name="connsiteY3" fmla="*/ 274320 h 548640"/>
                <a:gd name="connsiteX4" fmla="*/ 274320 w 548640"/>
                <a:gd name="connsiteY4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" h="548640">
                  <a:moveTo>
                    <a:pt x="274320" y="0"/>
                  </a:moveTo>
                  <a:cubicBezTo>
                    <a:pt x="425823" y="0"/>
                    <a:pt x="548640" y="122817"/>
                    <a:pt x="548640" y="274320"/>
                  </a:cubicBezTo>
                  <a:cubicBezTo>
                    <a:pt x="548640" y="425823"/>
                    <a:pt x="425823" y="548640"/>
                    <a:pt x="274320" y="548640"/>
                  </a:cubicBezTo>
                  <a:cubicBezTo>
                    <a:pt x="122817" y="548640"/>
                    <a:pt x="0" y="425823"/>
                    <a:pt x="0" y="274320"/>
                  </a:cubicBezTo>
                  <a:cubicBezTo>
                    <a:pt x="0" y="122817"/>
                    <a:pt x="122817" y="0"/>
                    <a:pt x="274320" y="0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sz="2400" b="1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en-US" sz="2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75951" y="124154"/>
              <a:ext cx="77902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科研经历</a:t>
              </a:r>
              <a:r>
                <a:rPr lang="en-US" altLang="zh-CN" sz="3200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——</a:t>
              </a:r>
              <a:r>
                <a:rPr lang="zh-CN" altLang="en-US" sz="3200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独立思考，精益求精</a:t>
              </a: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3228135" y="1731260"/>
            <a:ext cx="4841645" cy="4597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主要任务：选择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合适的计算机视觉模型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来实现多人姿态估计，并对这些模型进行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训练和调优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研究和比较现有的姿态估计技术，以选择最适合我们项目需求的框架。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将使用像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COCO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MPII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这样的公开数据集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来训练和验证选定的模型。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在模型训练过程中，我还需要不断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调整超参数，以优化模型的性能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，确保它既准确又能高效地处理实时数据。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探索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迁移学习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等技术，以加快训练进程并提高模型对新环境的适应能力。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3094947" y="1839010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67450" y="1015035"/>
            <a:ext cx="11834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cs typeface="+mn-ea"/>
                <a:sym typeface="+mn-lt"/>
              </a:rPr>
              <a:t>2.1 《</a:t>
            </a:r>
            <a:r>
              <a:rPr lang="en-US" altLang="zh-CN" sz="2400" b="1" dirty="0">
                <a:solidFill>
                  <a:schemeClr val="accent1"/>
                </a:solidFill>
                <a:cs typeface="+mn-ea"/>
              </a:rPr>
              <a:t>PGA-STGCN</a:t>
            </a:r>
            <a:r>
              <a:rPr lang="zh-CN" altLang="zh-CN" sz="2400" b="1" dirty="0">
                <a:solidFill>
                  <a:schemeClr val="accent1"/>
                </a:solidFill>
                <a:cs typeface="+mn-ea"/>
              </a:rPr>
              <a:t>：基于物理先验与门控注意力的地铁车厢级客流预测网络</a:t>
            </a:r>
            <a:r>
              <a:rPr lang="en-US" altLang="zh-CN" sz="2400" b="1" dirty="0">
                <a:solidFill>
                  <a:schemeClr val="accent1"/>
                </a:solidFill>
                <a:cs typeface="+mn-ea"/>
                <a:sym typeface="+mn-lt"/>
              </a:rPr>
              <a:t>》</a:t>
            </a:r>
            <a:endParaRPr lang="zh-CN" altLang="en-US" sz="2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202968" y="1839010"/>
            <a:ext cx="3798531" cy="36779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zh-CN" altLang="en-US" sz="2400"/>
              <a:t>可插入相关证书、照片、证明材料等，并适当调整比例和大小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/>
          <p:cNvSpPr/>
          <p:nvPr/>
        </p:nvSpPr>
        <p:spPr>
          <a:xfrm>
            <a:off x="893416" y="4401220"/>
            <a:ext cx="1543437" cy="514299"/>
          </a:xfrm>
          <a:prstGeom prst="roundRect">
            <a:avLst>
              <a:gd name="adj" fmla="val 925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167450" y="1015035"/>
            <a:ext cx="11834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cs typeface="+mn-ea"/>
                <a:sym typeface="+mn-lt"/>
              </a:rPr>
              <a:t>2.1 《</a:t>
            </a:r>
            <a:r>
              <a:rPr lang="en-US" altLang="zh-CN" sz="2400" b="1" dirty="0">
                <a:solidFill>
                  <a:schemeClr val="accent1"/>
                </a:solidFill>
                <a:cs typeface="+mn-ea"/>
              </a:rPr>
              <a:t>PGA-STGCN</a:t>
            </a:r>
            <a:r>
              <a:rPr lang="zh-CN" altLang="zh-CN" sz="2400" b="1" dirty="0">
                <a:solidFill>
                  <a:schemeClr val="accent1"/>
                </a:solidFill>
                <a:cs typeface="+mn-ea"/>
              </a:rPr>
              <a:t>：基于物理先验与门控注意力的地铁车厢级客流预测网络</a:t>
            </a:r>
            <a:r>
              <a:rPr lang="en-US" altLang="zh-CN" sz="2400" b="1" dirty="0">
                <a:solidFill>
                  <a:schemeClr val="accent1"/>
                </a:solidFill>
                <a:cs typeface="+mn-ea"/>
                <a:sym typeface="+mn-lt"/>
              </a:rPr>
              <a:t>》</a:t>
            </a:r>
            <a:endParaRPr lang="zh-CN" altLang="en-US" sz="2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60026" y="1915210"/>
            <a:ext cx="2497499" cy="3000309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3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研究目的</a:t>
            </a: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3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负责工作</a:t>
            </a: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3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bg1"/>
                </a:solidFill>
                <a:cs typeface="+mn-ea"/>
                <a:sym typeface="+mn-lt"/>
              </a:rPr>
              <a:t>成果与收获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0" y="79214"/>
            <a:ext cx="12192000" cy="764997"/>
            <a:chOff x="0" y="79214"/>
            <a:chExt cx="12192000" cy="76499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0" y="844211"/>
              <a:ext cx="12192000" cy="0"/>
            </a:xfrm>
            <a:prstGeom prst="line">
              <a:avLst/>
            </a:prstGeom>
            <a:ln w="57150">
              <a:solidFill>
                <a:srgbClr val="0742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ïşļíḋê"/>
            <p:cNvSpPr/>
            <p:nvPr/>
          </p:nvSpPr>
          <p:spPr>
            <a:xfrm>
              <a:off x="92175" y="79214"/>
              <a:ext cx="683776" cy="683776"/>
            </a:xfrm>
            <a:custGeom>
              <a:avLst/>
              <a:gdLst>
                <a:gd name="connsiteX0" fmla="*/ 274320 w 548640"/>
                <a:gd name="connsiteY0" fmla="*/ 0 h 548640"/>
                <a:gd name="connsiteX1" fmla="*/ 548640 w 548640"/>
                <a:gd name="connsiteY1" fmla="*/ 274320 h 548640"/>
                <a:gd name="connsiteX2" fmla="*/ 274320 w 548640"/>
                <a:gd name="connsiteY2" fmla="*/ 548640 h 548640"/>
                <a:gd name="connsiteX3" fmla="*/ 0 w 548640"/>
                <a:gd name="connsiteY3" fmla="*/ 274320 h 548640"/>
                <a:gd name="connsiteX4" fmla="*/ 274320 w 548640"/>
                <a:gd name="connsiteY4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" h="548640">
                  <a:moveTo>
                    <a:pt x="274320" y="0"/>
                  </a:moveTo>
                  <a:cubicBezTo>
                    <a:pt x="425823" y="0"/>
                    <a:pt x="548640" y="122817"/>
                    <a:pt x="548640" y="274320"/>
                  </a:cubicBezTo>
                  <a:cubicBezTo>
                    <a:pt x="548640" y="425823"/>
                    <a:pt x="425823" y="548640"/>
                    <a:pt x="274320" y="548640"/>
                  </a:cubicBezTo>
                  <a:cubicBezTo>
                    <a:pt x="122817" y="548640"/>
                    <a:pt x="0" y="425823"/>
                    <a:pt x="0" y="274320"/>
                  </a:cubicBezTo>
                  <a:cubicBezTo>
                    <a:pt x="0" y="122817"/>
                    <a:pt x="122817" y="0"/>
                    <a:pt x="274320" y="0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sz="2400" b="1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en-US" sz="2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75951" y="124154"/>
              <a:ext cx="77902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科研经历</a:t>
              </a:r>
              <a:r>
                <a:rPr lang="en-US" altLang="zh-CN" sz="3200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——</a:t>
              </a:r>
              <a:r>
                <a:rPr lang="zh-CN" altLang="en-US" sz="3200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独立思考，精益求精</a:t>
              </a: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3715619" y="4393623"/>
            <a:ext cx="7641663" cy="1866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构建了一个能够在多种环境下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准确识别多人姿态的实时系统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准确率（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mAP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）：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92.5%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召回率：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92.9%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精确度：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94.2%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3094947" y="1839010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678196" y="1839010"/>
            <a:ext cx="7747363" cy="25622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zh-CN" altLang="en-US" sz="2400"/>
              <a:t>可插入相关证书、照片、证明材料等，并适当调整比例和大小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276F1-62D4-7BC2-EC4B-A63496F7F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23F3543-1189-51C3-288E-CB6722D4E691}"/>
              </a:ext>
            </a:extLst>
          </p:cNvPr>
          <p:cNvSpPr/>
          <p:nvPr/>
        </p:nvSpPr>
        <p:spPr>
          <a:xfrm>
            <a:off x="893416" y="2286000"/>
            <a:ext cx="1543437" cy="514299"/>
          </a:xfrm>
          <a:prstGeom prst="roundRect">
            <a:avLst>
              <a:gd name="adj" fmla="val 925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931B081-4A2C-9C99-9203-E032FC14F254}"/>
              </a:ext>
            </a:extLst>
          </p:cNvPr>
          <p:cNvSpPr txBox="1"/>
          <p:nvPr/>
        </p:nvSpPr>
        <p:spPr>
          <a:xfrm>
            <a:off x="167450" y="1015035"/>
            <a:ext cx="11834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cs typeface="+mn-ea"/>
                <a:sym typeface="+mn-lt"/>
              </a:rPr>
              <a:t>2.2 《</a:t>
            </a:r>
            <a:r>
              <a:rPr lang="zh-CN" altLang="zh-CN" sz="2400" b="1" dirty="0">
                <a:solidFill>
                  <a:schemeClr val="accent1"/>
                </a:solidFill>
                <a:cs typeface="+mn-ea"/>
              </a:rPr>
              <a:t>智轨慧乘——基于深度学习的车厢级乘降分布式预测系统</a:t>
            </a:r>
            <a:r>
              <a:rPr lang="en-US" altLang="zh-CN" sz="2400" b="1" dirty="0">
                <a:solidFill>
                  <a:schemeClr val="accent1"/>
                </a:solidFill>
                <a:cs typeface="+mn-ea"/>
              </a:rPr>
              <a:t>》 </a:t>
            </a:r>
            <a:endParaRPr lang="zh-CN" altLang="en-US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72A609-696B-A4C2-AE7A-953B94E892E3}"/>
              </a:ext>
            </a:extLst>
          </p:cNvPr>
          <p:cNvSpPr/>
          <p:nvPr/>
        </p:nvSpPr>
        <p:spPr>
          <a:xfrm>
            <a:off x="560026" y="1915210"/>
            <a:ext cx="2497499" cy="3000309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3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bg1"/>
                </a:solidFill>
                <a:cs typeface="+mn-ea"/>
                <a:sym typeface="+mn-lt"/>
              </a:rPr>
              <a:t>研究目的</a:t>
            </a:r>
            <a:endParaRPr lang="en-US" altLang="zh-CN" sz="2000" b="1">
              <a:solidFill>
                <a:schemeClr val="bg1"/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3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负责工作</a:t>
            </a: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3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成果与收获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0151A69-4D9E-4806-D9EF-3159F084DE0A}"/>
              </a:ext>
            </a:extLst>
          </p:cNvPr>
          <p:cNvGrpSpPr/>
          <p:nvPr/>
        </p:nvGrpSpPr>
        <p:grpSpPr>
          <a:xfrm>
            <a:off x="0" y="79214"/>
            <a:ext cx="12192000" cy="764997"/>
            <a:chOff x="0" y="79214"/>
            <a:chExt cx="12192000" cy="764997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AEA9EA66-6341-3659-EA79-B7BA5AB3CAC9}"/>
                </a:ext>
              </a:extLst>
            </p:cNvPr>
            <p:cNvCxnSpPr/>
            <p:nvPr/>
          </p:nvCxnSpPr>
          <p:spPr>
            <a:xfrm>
              <a:off x="0" y="844211"/>
              <a:ext cx="12192000" cy="0"/>
            </a:xfrm>
            <a:prstGeom prst="line">
              <a:avLst/>
            </a:prstGeom>
            <a:ln w="57150">
              <a:solidFill>
                <a:srgbClr val="0742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ïşļíḋê">
              <a:extLst>
                <a:ext uri="{FF2B5EF4-FFF2-40B4-BE49-F238E27FC236}">
                  <a16:creationId xmlns:a16="http://schemas.microsoft.com/office/drawing/2014/main" id="{4EACCBC3-C293-178F-33A5-D98BA469B743}"/>
                </a:ext>
              </a:extLst>
            </p:cNvPr>
            <p:cNvSpPr/>
            <p:nvPr/>
          </p:nvSpPr>
          <p:spPr>
            <a:xfrm>
              <a:off x="92175" y="79214"/>
              <a:ext cx="683776" cy="683776"/>
            </a:xfrm>
            <a:custGeom>
              <a:avLst/>
              <a:gdLst>
                <a:gd name="connsiteX0" fmla="*/ 274320 w 548640"/>
                <a:gd name="connsiteY0" fmla="*/ 0 h 548640"/>
                <a:gd name="connsiteX1" fmla="*/ 548640 w 548640"/>
                <a:gd name="connsiteY1" fmla="*/ 274320 h 548640"/>
                <a:gd name="connsiteX2" fmla="*/ 274320 w 548640"/>
                <a:gd name="connsiteY2" fmla="*/ 548640 h 548640"/>
                <a:gd name="connsiteX3" fmla="*/ 0 w 548640"/>
                <a:gd name="connsiteY3" fmla="*/ 274320 h 548640"/>
                <a:gd name="connsiteX4" fmla="*/ 274320 w 548640"/>
                <a:gd name="connsiteY4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" h="548640">
                  <a:moveTo>
                    <a:pt x="274320" y="0"/>
                  </a:moveTo>
                  <a:cubicBezTo>
                    <a:pt x="425823" y="0"/>
                    <a:pt x="548640" y="122817"/>
                    <a:pt x="548640" y="274320"/>
                  </a:cubicBezTo>
                  <a:cubicBezTo>
                    <a:pt x="548640" y="425823"/>
                    <a:pt x="425823" y="548640"/>
                    <a:pt x="274320" y="548640"/>
                  </a:cubicBezTo>
                  <a:cubicBezTo>
                    <a:pt x="122817" y="548640"/>
                    <a:pt x="0" y="425823"/>
                    <a:pt x="0" y="274320"/>
                  </a:cubicBezTo>
                  <a:cubicBezTo>
                    <a:pt x="0" y="122817"/>
                    <a:pt x="122817" y="0"/>
                    <a:pt x="274320" y="0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sz="2400" b="1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en-US" sz="2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3E85CED-9C1A-3F5C-7253-3ABEF736B87A}"/>
                </a:ext>
              </a:extLst>
            </p:cNvPr>
            <p:cNvSpPr txBox="1"/>
            <p:nvPr/>
          </p:nvSpPr>
          <p:spPr>
            <a:xfrm>
              <a:off x="775951" y="124154"/>
              <a:ext cx="77902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科研经历</a:t>
              </a:r>
              <a:r>
                <a:rPr lang="en-US" altLang="zh-CN" sz="3200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——</a:t>
              </a:r>
              <a:r>
                <a:rPr lang="zh-CN" altLang="en-US" sz="3200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独立思考，精益求精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7587D752-0BD9-8ACC-7CC8-9274BAEFB0E1}"/>
              </a:ext>
            </a:extLst>
          </p:cNvPr>
          <p:cNvSpPr txBox="1"/>
          <p:nvPr/>
        </p:nvSpPr>
        <p:spPr>
          <a:xfrm>
            <a:off x="3656921" y="1839010"/>
            <a:ext cx="2636827" cy="3251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该项目旨在开发一个能够实时识别和追踪多个人物姿态的系统。这种系统可以广泛应用于安防监控、体育分析、动作捕捉、健康照护等领域。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54E401E-7BA1-F561-CE07-8928AF49F759}"/>
              </a:ext>
            </a:extLst>
          </p:cNvPr>
          <p:cNvCxnSpPr/>
          <p:nvPr/>
        </p:nvCxnSpPr>
        <p:spPr>
          <a:xfrm>
            <a:off x="3094947" y="1839010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85A9663C-D083-4D9F-8266-38AEA9818E9E}"/>
              </a:ext>
            </a:extLst>
          </p:cNvPr>
          <p:cNvSpPr/>
          <p:nvPr/>
        </p:nvSpPr>
        <p:spPr>
          <a:xfrm>
            <a:off x="7025831" y="1970066"/>
            <a:ext cx="4511579" cy="29897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zh-CN" altLang="en-US" sz="2400"/>
              <a:t>可插入相关证书、照片、证明材料等，并适当调整比例和大小</a:t>
            </a:r>
          </a:p>
        </p:txBody>
      </p:sp>
    </p:spTree>
    <p:extLst>
      <p:ext uri="{BB962C8B-B14F-4D97-AF65-F5344CB8AC3E}">
        <p14:creationId xmlns:p14="http://schemas.microsoft.com/office/powerpoint/2010/main" val="1191772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7EDC3-64E9-32C5-D605-42945ABD6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42BC7CC-6B72-FC14-F032-F5AD2BA04A1D}"/>
              </a:ext>
            </a:extLst>
          </p:cNvPr>
          <p:cNvSpPr/>
          <p:nvPr/>
        </p:nvSpPr>
        <p:spPr>
          <a:xfrm>
            <a:off x="893416" y="3358214"/>
            <a:ext cx="1543437" cy="514299"/>
          </a:xfrm>
          <a:prstGeom prst="roundRect">
            <a:avLst>
              <a:gd name="adj" fmla="val 925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A7DB7-F009-0A80-3C69-E3E0A12E8E83}"/>
              </a:ext>
            </a:extLst>
          </p:cNvPr>
          <p:cNvSpPr/>
          <p:nvPr/>
        </p:nvSpPr>
        <p:spPr>
          <a:xfrm>
            <a:off x="560026" y="1915210"/>
            <a:ext cx="2497499" cy="3000309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3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研究目的</a:t>
            </a: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3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bg1"/>
                </a:solidFill>
                <a:cs typeface="+mn-ea"/>
                <a:sym typeface="+mn-lt"/>
              </a:rPr>
              <a:t>负责工作</a:t>
            </a:r>
            <a:endParaRPr lang="en-US" altLang="zh-CN" sz="2000" b="1">
              <a:solidFill>
                <a:schemeClr val="bg1"/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3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成果与收获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5A28C3A-81F6-D502-1429-AF1AE29BD840}"/>
              </a:ext>
            </a:extLst>
          </p:cNvPr>
          <p:cNvGrpSpPr/>
          <p:nvPr/>
        </p:nvGrpSpPr>
        <p:grpSpPr>
          <a:xfrm>
            <a:off x="0" y="79214"/>
            <a:ext cx="12192000" cy="764997"/>
            <a:chOff x="0" y="79214"/>
            <a:chExt cx="12192000" cy="764997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3854F1F3-FFE9-5D52-7D74-FF4353179C81}"/>
                </a:ext>
              </a:extLst>
            </p:cNvPr>
            <p:cNvCxnSpPr/>
            <p:nvPr/>
          </p:nvCxnSpPr>
          <p:spPr>
            <a:xfrm>
              <a:off x="0" y="844211"/>
              <a:ext cx="12192000" cy="0"/>
            </a:xfrm>
            <a:prstGeom prst="line">
              <a:avLst/>
            </a:prstGeom>
            <a:ln w="57150">
              <a:solidFill>
                <a:srgbClr val="0742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ïşļíḋê">
              <a:extLst>
                <a:ext uri="{FF2B5EF4-FFF2-40B4-BE49-F238E27FC236}">
                  <a16:creationId xmlns:a16="http://schemas.microsoft.com/office/drawing/2014/main" id="{F82BF575-0702-1352-6AED-807C4519B0AE}"/>
                </a:ext>
              </a:extLst>
            </p:cNvPr>
            <p:cNvSpPr/>
            <p:nvPr/>
          </p:nvSpPr>
          <p:spPr>
            <a:xfrm>
              <a:off x="92175" y="79214"/>
              <a:ext cx="683776" cy="683776"/>
            </a:xfrm>
            <a:custGeom>
              <a:avLst/>
              <a:gdLst>
                <a:gd name="connsiteX0" fmla="*/ 274320 w 548640"/>
                <a:gd name="connsiteY0" fmla="*/ 0 h 548640"/>
                <a:gd name="connsiteX1" fmla="*/ 548640 w 548640"/>
                <a:gd name="connsiteY1" fmla="*/ 274320 h 548640"/>
                <a:gd name="connsiteX2" fmla="*/ 274320 w 548640"/>
                <a:gd name="connsiteY2" fmla="*/ 548640 h 548640"/>
                <a:gd name="connsiteX3" fmla="*/ 0 w 548640"/>
                <a:gd name="connsiteY3" fmla="*/ 274320 h 548640"/>
                <a:gd name="connsiteX4" fmla="*/ 274320 w 548640"/>
                <a:gd name="connsiteY4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" h="548640">
                  <a:moveTo>
                    <a:pt x="274320" y="0"/>
                  </a:moveTo>
                  <a:cubicBezTo>
                    <a:pt x="425823" y="0"/>
                    <a:pt x="548640" y="122817"/>
                    <a:pt x="548640" y="274320"/>
                  </a:cubicBezTo>
                  <a:cubicBezTo>
                    <a:pt x="548640" y="425823"/>
                    <a:pt x="425823" y="548640"/>
                    <a:pt x="274320" y="548640"/>
                  </a:cubicBezTo>
                  <a:cubicBezTo>
                    <a:pt x="122817" y="548640"/>
                    <a:pt x="0" y="425823"/>
                    <a:pt x="0" y="274320"/>
                  </a:cubicBezTo>
                  <a:cubicBezTo>
                    <a:pt x="0" y="122817"/>
                    <a:pt x="122817" y="0"/>
                    <a:pt x="274320" y="0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sz="2400" b="1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en-US" sz="2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8314BAB-1A2D-C745-39E6-BBC65EB4A2FF}"/>
                </a:ext>
              </a:extLst>
            </p:cNvPr>
            <p:cNvSpPr txBox="1"/>
            <p:nvPr/>
          </p:nvSpPr>
          <p:spPr>
            <a:xfrm>
              <a:off x="775951" y="124154"/>
              <a:ext cx="77902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科研经历</a:t>
              </a:r>
              <a:r>
                <a:rPr lang="en-US" altLang="zh-CN" sz="3200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——</a:t>
              </a:r>
              <a:r>
                <a:rPr lang="zh-CN" altLang="en-US" sz="3200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独立思考，精益求精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B86D6608-42D4-926B-3E18-02C399502C4F}"/>
              </a:ext>
            </a:extLst>
          </p:cNvPr>
          <p:cNvSpPr txBox="1"/>
          <p:nvPr/>
        </p:nvSpPr>
        <p:spPr>
          <a:xfrm>
            <a:off x="3228135" y="1731260"/>
            <a:ext cx="4841645" cy="4597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主要任务：选择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合适的计算机视觉模型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来实现多人姿态估计，并对这些模型进行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训练和调优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研究和比较现有的姿态估计技术，以选择最适合我们项目需求的框架。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将使用像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COCO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MPII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这样的公开数据集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来训练和验证选定的模型。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在模型训练过程中，我还需要不断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调整超参数，以优化模型的性能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，确保它既准确又能高效地处理实时数据。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探索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迁移学习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等技术，以加快训练进程并提高模型对新环境的适应能力。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ADD08AF-83D1-0859-5788-BFA42DE14D74}"/>
              </a:ext>
            </a:extLst>
          </p:cNvPr>
          <p:cNvCxnSpPr/>
          <p:nvPr/>
        </p:nvCxnSpPr>
        <p:spPr>
          <a:xfrm>
            <a:off x="3094947" y="1839010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EF9D1358-5948-F004-8769-7663B3CB16BE}"/>
              </a:ext>
            </a:extLst>
          </p:cNvPr>
          <p:cNvSpPr txBox="1"/>
          <p:nvPr/>
        </p:nvSpPr>
        <p:spPr>
          <a:xfrm>
            <a:off x="167450" y="1015035"/>
            <a:ext cx="11834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cs typeface="+mn-ea"/>
                <a:sym typeface="+mn-lt"/>
              </a:rPr>
              <a:t>2.2 《</a:t>
            </a:r>
            <a:r>
              <a:rPr lang="zh-CN" altLang="zh-CN" sz="2400" b="1" dirty="0">
                <a:solidFill>
                  <a:schemeClr val="accent1"/>
                </a:solidFill>
                <a:cs typeface="+mn-ea"/>
              </a:rPr>
              <a:t>智轨慧乘——基于深度学习的车厢级乘降分布式预测系统</a:t>
            </a:r>
            <a:r>
              <a:rPr lang="en-US" altLang="zh-CN" sz="2400" b="1" dirty="0">
                <a:solidFill>
                  <a:schemeClr val="accent1"/>
                </a:solidFill>
                <a:cs typeface="+mn-ea"/>
              </a:rPr>
              <a:t>》</a:t>
            </a:r>
            <a:endParaRPr lang="zh-CN" altLang="en-US" sz="2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3D4D08-6460-B009-9855-9C368BF99FBA}"/>
              </a:ext>
            </a:extLst>
          </p:cNvPr>
          <p:cNvSpPr/>
          <p:nvPr/>
        </p:nvSpPr>
        <p:spPr>
          <a:xfrm>
            <a:off x="8202968" y="1839010"/>
            <a:ext cx="3798531" cy="36779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zh-CN" altLang="en-US" sz="2400"/>
              <a:t>可插入相关证书、照片、证明材料等，并适当调整比例和大小</a:t>
            </a:r>
          </a:p>
        </p:txBody>
      </p:sp>
    </p:spTree>
    <p:extLst>
      <p:ext uri="{BB962C8B-B14F-4D97-AF65-F5344CB8AC3E}">
        <p14:creationId xmlns:p14="http://schemas.microsoft.com/office/powerpoint/2010/main" val="1765381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0056F-BEE6-63FC-0334-3A9AC201D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0494DDB-04E2-7B7B-D736-44BEB0EBA94D}"/>
              </a:ext>
            </a:extLst>
          </p:cNvPr>
          <p:cNvSpPr/>
          <p:nvPr/>
        </p:nvSpPr>
        <p:spPr>
          <a:xfrm>
            <a:off x="893416" y="4401220"/>
            <a:ext cx="1543437" cy="514299"/>
          </a:xfrm>
          <a:prstGeom prst="roundRect">
            <a:avLst>
              <a:gd name="adj" fmla="val 925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5E15F25-A5FC-96A2-8C67-D309B284C0B3}"/>
              </a:ext>
            </a:extLst>
          </p:cNvPr>
          <p:cNvSpPr txBox="1"/>
          <p:nvPr/>
        </p:nvSpPr>
        <p:spPr>
          <a:xfrm>
            <a:off x="167450" y="1015035"/>
            <a:ext cx="11834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cs typeface="+mn-ea"/>
                <a:sym typeface="+mn-lt"/>
              </a:rPr>
              <a:t>2.2 《</a:t>
            </a:r>
            <a:r>
              <a:rPr lang="zh-CN" altLang="zh-CN" sz="2400" b="1" dirty="0">
                <a:solidFill>
                  <a:schemeClr val="accent1"/>
                </a:solidFill>
                <a:cs typeface="+mn-ea"/>
              </a:rPr>
              <a:t>智轨慧乘——基于深度学习的车厢级乘降分布式预测系统</a:t>
            </a:r>
            <a:r>
              <a:rPr lang="en-US" altLang="zh-CN" sz="2400" b="1" dirty="0">
                <a:solidFill>
                  <a:schemeClr val="accent1"/>
                </a:solidFill>
                <a:cs typeface="+mn-ea"/>
              </a:rPr>
              <a:t>》</a:t>
            </a:r>
            <a:endParaRPr lang="zh-CN" altLang="en-US" sz="2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5695E2-3FD5-CA3E-E236-BE9110E97940}"/>
              </a:ext>
            </a:extLst>
          </p:cNvPr>
          <p:cNvSpPr/>
          <p:nvPr/>
        </p:nvSpPr>
        <p:spPr>
          <a:xfrm>
            <a:off x="560026" y="1915210"/>
            <a:ext cx="2497499" cy="3000309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3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研究目的</a:t>
            </a: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3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负责工作</a:t>
            </a: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3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bg1"/>
                </a:solidFill>
                <a:cs typeface="+mn-ea"/>
                <a:sym typeface="+mn-lt"/>
              </a:rPr>
              <a:t>成果与收获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1EE4A0B-ADDB-760A-B822-9074FA78F82D}"/>
              </a:ext>
            </a:extLst>
          </p:cNvPr>
          <p:cNvGrpSpPr/>
          <p:nvPr/>
        </p:nvGrpSpPr>
        <p:grpSpPr>
          <a:xfrm>
            <a:off x="0" y="79214"/>
            <a:ext cx="12192000" cy="764997"/>
            <a:chOff x="0" y="79214"/>
            <a:chExt cx="12192000" cy="764997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8FFF732E-1910-9F8E-1D6C-B35F39D6A3CA}"/>
                </a:ext>
              </a:extLst>
            </p:cNvPr>
            <p:cNvCxnSpPr/>
            <p:nvPr/>
          </p:nvCxnSpPr>
          <p:spPr>
            <a:xfrm>
              <a:off x="0" y="844211"/>
              <a:ext cx="12192000" cy="0"/>
            </a:xfrm>
            <a:prstGeom prst="line">
              <a:avLst/>
            </a:prstGeom>
            <a:ln w="57150">
              <a:solidFill>
                <a:srgbClr val="0742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ïşļíḋê">
              <a:extLst>
                <a:ext uri="{FF2B5EF4-FFF2-40B4-BE49-F238E27FC236}">
                  <a16:creationId xmlns:a16="http://schemas.microsoft.com/office/drawing/2014/main" id="{1996CE2C-04CA-223C-7AD3-A8E16D02354A}"/>
                </a:ext>
              </a:extLst>
            </p:cNvPr>
            <p:cNvSpPr/>
            <p:nvPr/>
          </p:nvSpPr>
          <p:spPr>
            <a:xfrm>
              <a:off x="92175" y="79214"/>
              <a:ext cx="683776" cy="683776"/>
            </a:xfrm>
            <a:custGeom>
              <a:avLst/>
              <a:gdLst>
                <a:gd name="connsiteX0" fmla="*/ 274320 w 548640"/>
                <a:gd name="connsiteY0" fmla="*/ 0 h 548640"/>
                <a:gd name="connsiteX1" fmla="*/ 548640 w 548640"/>
                <a:gd name="connsiteY1" fmla="*/ 274320 h 548640"/>
                <a:gd name="connsiteX2" fmla="*/ 274320 w 548640"/>
                <a:gd name="connsiteY2" fmla="*/ 548640 h 548640"/>
                <a:gd name="connsiteX3" fmla="*/ 0 w 548640"/>
                <a:gd name="connsiteY3" fmla="*/ 274320 h 548640"/>
                <a:gd name="connsiteX4" fmla="*/ 274320 w 548640"/>
                <a:gd name="connsiteY4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" h="548640">
                  <a:moveTo>
                    <a:pt x="274320" y="0"/>
                  </a:moveTo>
                  <a:cubicBezTo>
                    <a:pt x="425823" y="0"/>
                    <a:pt x="548640" y="122817"/>
                    <a:pt x="548640" y="274320"/>
                  </a:cubicBezTo>
                  <a:cubicBezTo>
                    <a:pt x="548640" y="425823"/>
                    <a:pt x="425823" y="548640"/>
                    <a:pt x="274320" y="548640"/>
                  </a:cubicBezTo>
                  <a:cubicBezTo>
                    <a:pt x="122817" y="548640"/>
                    <a:pt x="0" y="425823"/>
                    <a:pt x="0" y="274320"/>
                  </a:cubicBezTo>
                  <a:cubicBezTo>
                    <a:pt x="0" y="122817"/>
                    <a:pt x="122817" y="0"/>
                    <a:pt x="274320" y="0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sz="2400" b="1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en-US" sz="2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FFA67EA-380E-10D3-355B-C926B9A99619}"/>
                </a:ext>
              </a:extLst>
            </p:cNvPr>
            <p:cNvSpPr txBox="1"/>
            <p:nvPr/>
          </p:nvSpPr>
          <p:spPr>
            <a:xfrm>
              <a:off x="775951" y="124154"/>
              <a:ext cx="77902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科研经历</a:t>
              </a:r>
              <a:r>
                <a:rPr lang="en-US" altLang="zh-CN" sz="3200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——</a:t>
              </a:r>
              <a:r>
                <a:rPr lang="zh-CN" altLang="en-US" sz="3200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独立思考，精益求精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76485199-9C9F-FABA-7C2E-BFE697C5EAEB}"/>
              </a:ext>
            </a:extLst>
          </p:cNvPr>
          <p:cNvSpPr txBox="1"/>
          <p:nvPr/>
        </p:nvSpPr>
        <p:spPr>
          <a:xfrm>
            <a:off x="3715619" y="4393623"/>
            <a:ext cx="7641663" cy="1866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构建了一个能够在多种环境下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准确识别多人姿态的实时系统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准确率（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mAP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）：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92.5%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召回率：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92.9%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精确度：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94.2%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D6B1276-41A9-C2E1-20AF-7629310CD2F9}"/>
              </a:ext>
            </a:extLst>
          </p:cNvPr>
          <p:cNvCxnSpPr/>
          <p:nvPr/>
        </p:nvCxnSpPr>
        <p:spPr>
          <a:xfrm>
            <a:off x="3094947" y="1839010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AE992456-7BAC-63D3-7A09-7507C6089677}"/>
              </a:ext>
            </a:extLst>
          </p:cNvPr>
          <p:cNvSpPr/>
          <p:nvPr/>
        </p:nvSpPr>
        <p:spPr>
          <a:xfrm>
            <a:off x="3678196" y="1839010"/>
            <a:ext cx="7747363" cy="25622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zh-CN" altLang="en-US" sz="2400"/>
              <a:t>可插入相关证书、照片、证明材料等，并适当调整比例和大小</a:t>
            </a:r>
          </a:p>
        </p:txBody>
      </p:sp>
    </p:spTree>
    <p:extLst>
      <p:ext uri="{BB962C8B-B14F-4D97-AF65-F5344CB8AC3E}">
        <p14:creationId xmlns:p14="http://schemas.microsoft.com/office/powerpoint/2010/main" val="2169984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AB912-BF24-4B01-D5FE-FE20D3A11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7B16718-8CF5-4D7D-DE2D-8CE102E296FB}"/>
              </a:ext>
            </a:extLst>
          </p:cNvPr>
          <p:cNvSpPr/>
          <p:nvPr/>
        </p:nvSpPr>
        <p:spPr>
          <a:xfrm>
            <a:off x="893416" y="2286000"/>
            <a:ext cx="1543437" cy="514299"/>
          </a:xfrm>
          <a:prstGeom prst="roundRect">
            <a:avLst>
              <a:gd name="adj" fmla="val 925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938E9BE-603F-DBFA-86AD-F34437A0BDBE}"/>
              </a:ext>
            </a:extLst>
          </p:cNvPr>
          <p:cNvSpPr txBox="1"/>
          <p:nvPr/>
        </p:nvSpPr>
        <p:spPr>
          <a:xfrm>
            <a:off x="167450" y="1015035"/>
            <a:ext cx="11834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cs typeface="+mn-ea"/>
                <a:sym typeface="+mn-lt"/>
              </a:rPr>
              <a:t>2.3 《</a:t>
            </a:r>
            <a:r>
              <a:rPr lang="zh-CN" altLang="en-US" sz="2400" b="1" dirty="0">
                <a:solidFill>
                  <a:schemeClr val="accent1"/>
                </a:solidFill>
                <a:cs typeface="+mn-ea"/>
              </a:rPr>
              <a:t>视觉感知驱动的多科目多题型智能自动评卷系统 </a:t>
            </a:r>
            <a:r>
              <a:rPr lang="en-US" altLang="zh-CN" sz="2400" b="1" dirty="0">
                <a:solidFill>
                  <a:schemeClr val="accent1"/>
                </a:solidFill>
                <a:cs typeface="+mn-ea"/>
              </a:rPr>
              <a:t>》</a:t>
            </a:r>
            <a:endParaRPr lang="zh-CN" altLang="en-US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A0DEB9-E4DF-303F-D25A-529F1C392931}"/>
              </a:ext>
            </a:extLst>
          </p:cNvPr>
          <p:cNvSpPr/>
          <p:nvPr/>
        </p:nvSpPr>
        <p:spPr>
          <a:xfrm>
            <a:off x="560026" y="1915210"/>
            <a:ext cx="2497499" cy="3000309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3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bg1"/>
                </a:solidFill>
                <a:cs typeface="+mn-ea"/>
                <a:sym typeface="+mn-lt"/>
              </a:rPr>
              <a:t>研究目的</a:t>
            </a:r>
            <a:endParaRPr lang="en-US" altLang="zh-CN" sz="2000" b="1">
              <a:solidFill>
                <a:schemeClr val="bg1"/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3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负责工作</a:t>
            </a: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3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成果与收获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49ADA4E-AC26-7723-4D56-A234851C13F6}"/>
              </a:ext>
            </a:extLst>
          </p:cNvPr>
          <p:cNvGrpSpPr/>
          <p:nvPr/>
        </p:nvGrpSpPr>
        <p:grpSpPr>
          <a:xfrm>
            <a:off x="0" y="79214"/>
            <a:ext cx="12192000" cy="764997"/>
            <a:chOff x="0" y="79214"/>
            <a:chExt cx="12192000" cy="764997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58424194-364E-BCCB-C37D-798B5E3F1FAD}"/>
                </a:ext>
              </a:extLst>
            </p:cNvPr>
            <p:cNvCxnSpPr/>
            <p:nvPr/>
          </p:nvCxnSpPr>
          <p:spPr>
            <a:xfrm>
              <a:off x="0" y="844211"/>
              <a:ext cx="12192000" cy="0"/>
            </a:xfrm>
            <a:prstGeom prst="line">
              <a:avLst/>
            </a:prstGeom>
            <a:ln w="57150">
              <a:solidFill>
                <a:srgbClr val="0742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ïşļíḋê">
              <a:extLst>
                <a:ext uri="{FF2B5EF4-FFF2-40B4-BE49-F238E27FC236}">
                  <a16:creationId xmlns:a16="http://schemas.microsoft.com/office/drawing/2014/main" id="{BA6698A1-F4F5-19D9-9F74-72F75A268D29}"/>
                </a:ext>
              </a:extLst>
            </p:cNvPr>
            <p:cNvSpPr/>
            <p:nvPr/>
          </p:nvSpPr>
          <p:spPr>
            <a:xfrm>
              <a:off x="92175" y="79214"/>
              <a:ext cx="683776" cy="683776"/>
            </a:xfrm>
            <a:custGeom>
              <a:avLst/>
              <a:gdLst>
                <a:gd name="connsiteX0" fmla="*/ 274320 w 548640"/>
                <a:gd name="connsiteY0" fmla="*/ 0 h 548640"/>
                <a:gd name="connsiteX1" fmla="*/ 548640 w 548640"/>
                <a:gd name="connsiteY1" fmla="*/ 274320 h 548640"/>
                <a:gd name="connsiteX2" fmla="*/ 274320 w 548640"/>
                <a:gd name="connsiteY2" fmla="*/ 548640 h 548640"/>
                <a:gd name="connsiteX3" fmla="*/ 0 w 548640"/>
                <a:gd name="connsiteY3" fmla="*/ 274320 h 548640"/>
                <a:gd name="connsiteX4" fmla="*/ 274320 w 548640"/>
                <a:gd name="connsiteY4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" h="548640">
                  <a:moveTo>
                    <a:pt x="274320" y="0"/>
                  </a:moveTo>
                  <a:cubicBezTo>
                    <a:pt x="425823" y="0"/>
                    <a:pt x="548640" y="122817"/>
                    <a:pt x="548640" y="274320"/>
                  </a:cubicBezTo>
                  <a:cubicBezTo>
                    <a:pt x="548640" y="425823"/>
                    <a:pt x="425823" y="548640"/>
                    <a:pt x="274320" y="548640"/>
                  </a:cubicBezTo>
                  <a:cubicBezTo>
                    <a:pt x="122817" y="548640"/>
                    <a:pt x="0" y="425823"/>
                    <a:pt x="0" y="274320"/>
                  </a:cubicBezTo>
                  <a:cubicBezTo>
                    <a:pt x="0" y="122817"/>
                    <a:pt x="122817" y="0"/>
                    <a:pt x="274320" y="0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sz="2400" b="1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en-US" sz="2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EB99760-719A-261E-7744-76BA419D34AE}"/>
                </a:ext>
              </a:extLst>
            </p:cNvPr>
            <p:cNvSpPr txBox="1"/>
            <p:nvPr/>
          </p:nvSpPr>
          <p:spPr>
            <a:xfrm>
              <a:off x="775951" y="124154"/>
              <a:ext cx="77902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科研经历</a:t>
              </a:r>
              <a:r>
                <a:rPr lang="en-US" altLang="zh-CN" sz="3200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——</a:t>
              </a:r>
              <a:r>
                <a:rPr lang="zh-CN" altLang="en-US" sz="3200" dirty="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独立思考，精益求精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D5853E71-27E9-4833-380F-69159D0F0CFE}"/>
              </a:ext>
            </a:extLst>
          </p:cNvPr>
          <p:cNvSpPr txBox="1"/>
          <p:nvPr/>
        </p:nvSpPr>
        <p:spPr>
          <a:xfrm>
            <a:off x="3656921" y="1839010"/>
            <a:ext cx="2636827" cy="3251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该项目旨在开发一个能够实时识别和追踪多个人物姿态的系统。这种系统可以广泛应用于安防监控、体育分析、动作捕捉、健康照护等领域。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BD902ED-2AD4-08F3-6AF6-4B42DE76A9EB}"/>
              </a:ext>
            </a:extLst>
          </p:cNvPr>
          <p:cNvCxnSpPr/>
          <p:nvPr/>
        </p:nvCxnSpPr>
        <p:spPr>
          <a:xfrm>
            <a:off x="3094947" y="1839010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E4BF4652-D0BE-080D-B6E4-A36E1A061515}"/>
              </a:ext>
            </a:extLst>
          </p:cNvPr>
          <p:cNvSpPr/>
          <p:nvPr/>
        </p:nvSpPr>
        <p:spPr>
          <a:xfrm>
            <a:off x="7025831" y="1970066"/>
            <a:ext cx="4511579" cy="29897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zh-CN" altLang="en-US" sz="2400"/>
              <a:t>可插入相关证书、照片、证明材料等，并适当调整比例和大小</a:t>
            </a:r>
          </a:p>
        </p:txBody>
      </p:sp>
    </p:spTree>
    <p:extLst>
      <p:ext uri="{BB962C8B-B14F-4D97-AF65-F5344CB8AC3E}">
        <p14:creationId xmlns:p14="http://schemas.microsoft.com/office/powerpoint/2010/main" val="2847132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/>
          <p:cNvSpPr txBox="1"/>
          <p:nvPr/>
        </p:nvSpPr>
        <p:spPr>
          <a:xfrm>
            <a:off x="5765288" y="2519984"/>
            <a:ext cx="38670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竞赛实践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03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5920344" y="3565116"/>
            <a:ext cx="3566556" cy="0"/>
          </a:xfrm>
          <a:prstGeom prst="line">
            <a:avLst/>
          </a:prstGeom>
          <a:ln w="25400">
            <a:solidFill>
              <a:srgbClr val="0742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5847608" y="3594586"/>
            <a:ext cx="60942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74288"/>
                </a:solidFill>
              </a:rPr>
              <a:t>知行合一，笃行致远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/>
        </p:nvSpPr>
        <p:spPr>
          <a:xfrm>
            <a:off x="278265" y="995477"/>
            <a:ext cx="116354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b="1" spc="600">
                <a:solidFill>
                  <a:schemeClr val="accent1"/>
                </a:solidFill>
                <a:cs typeface="+mn-ea"/>
                <a:sym typeface="+mn-lt"/>
              </a:rPr>
              <a:t>2023-2024</a:t>
            </a:r>
            <a:r>
              <a:rPr lang="zh-CN" altLang="en-US" sz="2800" b="1" spc="600">
                <a:solidFill>
                  <a:schemeClr val="accent1"/>
                </a:solidFill>
                <a:cs typeface="+mn-ea"/>
                <a:sym typeface="+mn-lt"/>
              </a:rPr>
              <a:t>学年 担任校科协执行主席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5923872" y="1810252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419853" y="2101970"/>
            <a:ext cx="4943468" cy="4346831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主要负责工作：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统筹协调组织内各项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事务、全校科协会员登记和学会、协会会员统计工作，协助二级学院举办学术会议和学术交流活动</a:t>
            </a: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团队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协作能力</a:t>
            </a: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交流沟通能力</a:t>
            </a: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抗压能力</a:t>
            </a: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0" y="79214"/>
            <a:ext cx="12192000" cy="764997"/>
            <a:chOff x="0" y="79214"/>
            <a:chExt cx="12192000" cy="764997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0" y="844211"/>
              <a:ext cx="12192000" cy="0"/>
            </a:xfrm>
            <a:prstGeom prst="line">
              <a:avLst/>
            </a:prstGeom>
            <a:ln w="57150">
              <a:solidFill>
                <a:srgbClr val="0742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ïşļíḋê"/>
            <p:cNvSpPr/>
            <p:nvPr/>
          </p:nvSpPr>
          <p:spPr>
            <a:xfrm>
              <a:off x="92175" y="79214"/>
              <a:ext cx="683776" cy="683776"/>
            </a:xfrm>
            <a:custGeom>
              <a:avLst/>
              <a:gdLst>
                <a:gd name="connsiteX0" fmla="*/ 274320 w 548640"/>
                <a:gd name="connsiteY0" fmla="*/ 0 h 548640"/>
                <a:gd name="connsiteX1" fmla="*/ 548640 w 548640"/>
                <a:gd name="connsiteY1" fmla="*/ 274320 h 548640"/>
                <a:gd name="connsiteX2" fmla="*/ 274320 w 548640"/>
                <a:gd name="connsiteY2" fmla="*/ 548640 h 548640"/>
                <a:gd name="connsiteX3" fmla="*/ 0 w 548640"/>
                <a:gd name="connsiteY3" fmla="*/ 274320 h 548640"/>
                <a:gd name="connsiteX4" fmla="*/ 274320 w 548640"/>
                <a:gd name="connsiteY4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" h="548640">
                  <a:moveTo>
                    <a:pt x="274320" y="0"/>
                  </a:moveTo>
                  <a:cubicBezTo>
                    <a:pt x="425823" y="0"/>
                    <a:pt x="548640" y="122817"/>
                    <a:pt x="548640" y="274320"/>
                  </a:cubicBezTo>
                  <a:cubicBezTo>
                    <a:pt x="548640" y="425823"/>
                    <a:pt x="425823" y="548640"/>
                    <a:pt x="274320" y="548640"/>
                  </a:cubicBezTo>
                  <a:cubicBezTo>
                    <a:pt x="122817" y="548640"/>
                    <a:pt x="0" y="425823"/>
                    <a:pt x="0" y="274320"/>
                  </a:cubicBezTo>
                  <a:cubicBezTo>
                    <a:pt x="0" y="122817"/>
                    <a:pt x="122817" y="0"/>
                    <a:pt x="274320" y="0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sz="2400" b="1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  <a:endParaRPr lang="en-US" sz="2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75951" y="124154"/>
              <a:ext cx="77902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实践经历</a:t>
              </a:r>
              <a:r>
                <a:rPr lang="en-US" altLang="zh-CN" sz="320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——</a:t>
              </a:r>
              <a:r>
                <a:rPr lang="zh-CN" altLang="en-US" sz="3200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知行合一，笃行致远</a:t>
              </a:r>
              <a:endParaRPr lang="zh-CN" altLang="en-US" sz="3200" dirty="0">
                <a:solidFill>
                  <a:srgbClr val="074288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278265" y="1874521"/>
            <a:ext cx="5421199" cy="39880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zh-CN" altLang="en-US" sz="2400"/>
              <a:t>可插入相关证书、照片、证明材料等，并适当调整比例和大小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/>
          <p:cNvSpPr txBox="1"/>
          <p:nvPr/>
        </p:nvSpPr>
        <p:spPr>
          <a:xfrm>
            <a:off x="5765288" y="2519984"/>
            <a:ext cx="38670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未来规划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04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5920344" y="3565116"/>
            <a:ext cx="3566556" cy="0"/>
          </a:xfrm>
          <a:prstGeom prst="line">
            <a:avLst/>
          </a:prstGeom>
          <a:ln w="25400">
            <a:solidFill>
              <a:srgbClr val="0742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5847608" y="3594586"/>
            <a:ext cx="60942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74288"/>
                </a:solidFill>
              </a:rPr>
              <a:t>志存高远，逐梦远航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/>
        </p:nvCxnSpPr>
        <p:spPr>
          <a:xfrm>
            <a:off x="7733622" y="1724527"/>
            <a:ext cx="0" cy="32400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1152525" y="1286377"/>
          <a:ext cx="9886950" cy="4545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529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计划内容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54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/>
                        <a:t>大四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dirty="0"/>
                        <a:t>1.</a:t>
                      </a:r>
                      <a:r>
                        <a:rPr lang="zh-CN" altLang="en-US" dirty="0"/>
                        <a:t>踏实完成本科阶段学业，保持阅读文献的习惯。</a:t>
                      </a:r>
                      <a:endParaRPr lang="en-US" altLang="zh-CN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dirty="0"/>
                        <a:t>2.</a:t>
                      </a:r>
                      <a:r>
                        <a:rPr lang="zh-CN" altLang="en-US" dirty="0"/>
                        <a:t>认真完成毕业论文，提高科研能力。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92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/>
                        <a:t>研一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zh-CN" alt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致力于巩固机械工程领域的基础知识。</a:t>
                      </a:r>
                      <a:endParaRPr lang="en-US" altLang="zh-CN" sz="18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zh-CN" alt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密切关注人工智能领域的前沿动态，广泛涉猎导师的研究领域，不断拓展视野，提升科研能力。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715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/>
                        <a:t>研二、研三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zh-CN" alt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跟随导师深入开展课题研究，全身心投入到科研项目中。</a:t>
                      </a:r>
                      <a:endParaRPr lang="en-US" altLang="zh-CN" sz="18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zh-CN" alt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注重理论与实践相结合，借助新前沿科技进展，争取发表优质论文、取得高质量的学术成果。</a:t>
                      </a:r>
                      <a:endParaRPr lang="en-US" altLang="zh-CN" sz="18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0" y="79214"/>
            <a:ext cx="12192000" cy="764997"/>
            <a:chOff x="0" y="79214"/>
            <a:chExt cx="12192000" cy="764997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0" y="844211"/>
              <a:ext cx="12192000" cy="0"/>
            </a:xfrm>
            <a:prstGeom prst="line">
              <a:avLst/>
            </a:prstGeom>
            <a:ln w="57150">
              <a:solidFill>
                <a:srgbClr val="0742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ïşļíḋê"/>
            <p:cNvSpPr/>
            <p:nvPr/>
          </p:nvSpPr>
          <p:spPr>
            <a:xfrm>
              <a:off x="92175" y="79214"/>
              <a:ext cx="683776" cy="683776"/>
            </a:xfrm>
            <a:custGeom>
              <a:avLst/>
              <a:gdLst>
                <a:gd name="connsiteX0" fmla="*/ 274320 w 548640"/>
                <a:gd name="connsiteY0" fmla="*/ 0 h 548640"/>
                <a:gd name="connsiteX1" fmla="*/ 548640 w 548640"/>
                <a:gd name="connsiteY1" fmla="*/ 274320 h 548640"/>
                <a:gd name="connsiteX2" fmla="*/ 274320 w 548640"/>
                <a:gd name="connsiteY2" fmla="*/ 548640 h 548640"/>
                <a:gd name="connsiteX3" fmla="*/ 0 w 548640"/>
                <a:gd name="connsiteY3" fmla="*/ 274320 h 548640"/>
                <a:gd name="connsiteX4" fmla="*/ 274320 w 548640"/>
                <a:gd name="connsiteY4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" h="548640">
                  <a:moveTo>
                    <a:pt x="274320" y="0"/>
                  </a:moveTo>
                  <a:cubicBezTo>
                    <a:pt x="425823" y="0"/>
                    <a:pt x="548640" y="122817"/>
                    <a:pt x="548640" y="274320"/>
                  </a:cubicBezTo>
                  <a:cubicBezTo>
                    <a:pt x="548640" y="425823"/>
                    <a:pt x="425823" y="548640"/>
                    <a:pt x="274320" y="548640"/>
                  </a:cubicBezTo>
                  <a:cubicBezTo>
                    <a:pt x="122817" y="548640"/>
                    <a:pt x="0" y="425823"/>
                    <a:pt x="0" y="274320"/>
                  </a:cubicBezTo>
                  <a:cubicBezTo>
                    <a:pt x="0" y="122817"/>
                    <a:pt x="122817" y="0"/>
                    <a:pt x="274320" y="0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sz="2400" b="1">
                  <a:solidFill>
                    <a:schemeClr val="bg1"/>
                  </a:solidFill>
                  <a:cs typeface="+mn-ea"/>
                  <a:sym typeface="+mn-lt"/>
                </a:rPr>
                <a:t>04</a:t>
              </a:r>
              <a:endParaRPr lang="en-US" sz="2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75951" y="124154"/>
              <a:ext cx="77902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未来规划</a:t>
              </a:r>
              <a:r>
                <a:rPr lang="en-US" altLang="zh-CN" sz="3200" b="1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——</a:t>
              </a:r>
              <a:r>
                <a:rPr lang="zh-CN" altLang="en-US" sz="3200" b="1">
                  <a:solidFill>
                    <a:srgbClr val="0742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志存高远，逐梦远航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0"/>
            <a:ext cx="6193301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83086" y="0"/>
            <a:ext cx="60089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0"/>
            <a:ext cx="6183085" cy="6858000"/>
          </a:xfrm>
          <a:prstGeom prst="rect">
            <a:avLst/>
          </a:prstGeom>
          <a:solidFill>
            <a:srgbClr val="074288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5500" y="839878"/>
            <a:ext cx="10541000" cy="5436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889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Freeform 8"/>
          <p:cNvSpPr>
            <a:spLocks noEditPoints="1"/>
          </p:cNvSpPr>
          <p:nvPr/>
        </p:nvSpPr>
        <p:spPr bwMode="auto">
          <a:xfrm>
            <a:off x="7781246" y="5828582"/>
            <a:ext cx="501788" cy="289300"/>
          </a:xfrm>
          <a:custGeom>
            <a:avLst/>
            <a:gdLst>
              <a:gd name="T0" fmla="*/ 269 w 322"/>
              <a:gd name="T1" fmla="*/ 0 h 233"/>
              <a:gd name="T2" fmla="*/ 53 w 322"/>
              <a:gd name="T3" fmla="*/ 0 h 233"/>
              <a:gd name="T4" fmla="*/ 0 w 322"/>
              <a:gd name="T5" fmla="*/ 52 h 233"/>
              <a:gd name="T6" fmla="*/ 0 w 322"/>
              <a:gd name="T7" fmla="*/ 181 h 233"/>
              <a:gd name="T8" fmla="*/ 53 w 322"/>
              <a:gd name="T9" fmla="*/ 233 h 233"/>
              <a:gd name="T10" fmla="*/ 269 w 322"/>
              <a:gd name="T11" fmla="*/ 233 h 233"/>
              <a:gd name="T12" fmla="*/ 322 w 322"/>
              <a:gd name="T13" fmla="*/ 181 h 233"/>
              <a:gd name="T14" fmla="*/ 322 w 322"/>
              <a:gd name="T15" fmla="*/ 52 h 233"/>
              <a:gd name="T16" fmla="*/ 269 w 322"/>
              <a:gd name="T17" fmla="*/ 0 h 233"/>
              <a:gd name="T18" fmla="*/ 101 w 322"/>
              <a:gd name="T19" fmla="*/ 101 h 233"/>
              <a:gd name="T20" fmla="*/ 124 w 322"/>
              <a:gd name="T21" fmla="*/ 78 h 233"/>
              <a:gd name="T22" fmla="*/ 101 w 322"/>
              <a:gd name="T23" fmla="*/ 55 h 233"/>
              <a:gd name="T24" fmla="*/ 78 w 322"/>
              <a:gd name="T25" fmla="*/ 78 h 233"/>
              <a:gd name="T26" fmla="*/ 101 w 322"/>
              <a:gd name="T27" fmla="*/ 101 h 233"/>
              <a:gd name="T28" fmla="*/ 141 w 322"/>
              <a:gd name="T29" fmla="*/ 166 h 233"/>
              <a:gd name="T30" fmla="*/ 144 w 322"/>
              <a:gd name="T31" fmla="*/ 128 h 233"/>
              <a:gd name="T32" fmla="*/ 121 w 322"/>
              <a:gd name="T33" fmla="*/ 108 h 233"/>
              <a:gd name="T34" fmla="*/ 109 w 322"/>
              <a:gd name="T35" fmla="*/ 108 h 233"/>
              <a:gd name="T36" fmla="*/ 106 w 322"/>
              <a:gd name="T37" fmla="*/ 117 h 233"/>
              <a:gd name="T38" fmla="*/ 109 w 322"/>
              <a:gd name="T39" fmla="*/ 151 h 233"/>
              <a:gd name="T40" fmla="*/ 100 w 322"/>
              <a:gd name="T41" fmla="*/ 163 h 233"/>
              <a:gd name="T42" fmla="*/ 92 w 322"/>
              <a:gd name="T43" fmla="*/ 151 h 233"/>
              <a:gd name="T44" fmla="*/ 97 w 322"/>
              <a:gd name="T45" fmla="*/ 117 h 233"/>
              <a:gd name="T46" fmla="*/ 94 w 322"/>
              <a:gd name="T47" fmla="*/ 108 h 233"/>
              <a:gd name="T48" fmla="*/ 80 w 322"/>
              <a:gd name="T49" fmla="*/ 108 h 233"/>
              <a:gd name="T50" fmla="*/ 57 w 322"/>
              <a:gd name="T51" fmla="*/ 129 h 233"/>
              <a:gd name="T52" fmla="*/ 60 w 322"/>
              <a:gd name="T53" fmla="*/ 166 h 233"/>
              <a:gd name="T54" fmla="*/ 101 w 322"/>
              <a:gd name="T55" fmla="*/ 176 h 233"/>
              <a:gd name="T56" fmla="*/ 141 w 322"/>
              <a:gd name="T57" fmla="*/ 166 h 233"/>
              <a:gd name="T58" fmla="*/ 165 w 322"/>
              <a:gd name="T59" fmla="*/ 191 h 233"/>
              <a:gd name="T60" fmla="*/ 165 w 322"/>
              <a:gd name="T61" fmla="*/ 191 h 233"/>
              <a:gd name="T62" fmla="*/ 36 w 322"/>
              <a:gd name="T63" fmla="*/ 191 h 233"/>
              <a:gd name="T64" fmla="*/ 36 w 322"/>
              <a:gd name="T65" fmla="*/ 42 h 233"/>
              <a:gd name="T66" fmla="*/ 165 w 322"/>
              <a:gd name="T67" fmla="*/ 42 h 233"/>
              <a:gd name="T68" fmla="*/ 165 w 322"/>
              <a:gd name="T69" fmla="*/ 191 h 233"/>
              <a:gd name="T70" fmla="*/ 249 w 322"/>
              <a:gd name="T71" fmla="*/ 73 h 233"/>
              <a:gd name="T72" fmla="*/ 249 w 322"/>
              <a:gd name="T73" fmla="*/ 73 h 233"/>
              <a:gd name="T74" fmla="*/ 193 w 322"/>
              <a:gd name="T75" fmla="*/ 73 h 233"/>
              <a:gd name="T76" fmla="*/ 181 w 322"/>
              <a:gd name="T77" fmla="*/ 60 h 233"/>
              <a:gd name="T78" fmla="*/ 193 w 322"/>
              <a:gd name="T79" fmla="*/ 48 h 233"/>
              <a:gd name="T80" fmla="*/ 249 w 322"/>
              <a:gd name="T81" fmla="*/ 48 h 233"/>
              <a:gd name="T82" fmla="*/ 261 w 322"/>
              <a:gd name="T83" fmla="*/ 60 h 233"/>
              <a:gd name="T84" fmla="*/ 249 w 322"/>
              <a:gd name="T85" fmla="*/ 73 h 233"/>
              <a:gd name="T86" fmla="*/ 302 w 322"/>
              <a:gd name="T87" fmla="*/ 123 h 233"/>
              <a:gd name="T88" fmla="*/ 302 w 322"/>
              <a:gd name="T89" fmla="*/ 123 h 233"/>
              <a:gd name="T90" fmla="*/ 292 w 322"/>
              <a:gd name="T91" fmla="*/ 133 h 233"/>
              <a:gd name="T92" fmla="*/ 191 w 322"/>
              <a:gd name="T93" fmla="*/ 133 h 233"/>
              <a:gd name="T94" fmla="*/ 181 w 322"/>
              <a:gd name="T95" fmla="*/ 123 h 233"/>
              <a:gd name="T96" fmla="*/ 191 w 322"/>
              <a:gd name="T97" fmla="*/ 113 h 233"/>
              <a:gd name="T98" fmla="*/ 292 w 322"/>
              <a:gd name="T99" fmla="*/ 113 h 233"/>
              <a:gd name="T100" fmla="*/ 302 w 322"/>
              <a:gd name="T101" fmla="*/ 123 h 233"/>
              <a:gd name="T102" fmla="*/ 302 w 322"/>
              <a:gd name="T103" fmla="*/ 163 h 233"/>
              <a:gd name="T104" fmla="*/ 302 w 322"/>
              <a:gd name="T105" fmla="*/ 163 h 233"/>
              <a:gd name="T106" fmla="*/ 292 w 322"/>
              <a:gd name="T107" fmla="*/ 173 h 233"/>
              <a:gd name="T108" fmla="*/ 191 w 322"/>
              <a:gd name="T109" fmla="*/ 173 h 233"/>
              <a:gd name="T110" fmla="*/ 181 w 322"/>
              <a:gd name="T111" fmla="*/ 163 h 233"/>
              <a:gd name="T112" fmla="*/ 191 w 322"/>
              <a:gd name="T113" fmla="*/ 153 h 233"/>
              <a:gd name="T114" fmla="*/ 292 w 322"/>
              <a:gd name="T115" fmla="*/ 153 h 233"/>
              <a:gd name="T116" fmla="*/ 302 w 322"/>
              <a:gd name="T117" fmla="*/ 163 h 2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22" h="233">
                <a:moveTo>
                  <a:pt x="269" y="0"/>
                </a:moveTo>
                <a:lnTo>
                  <a:pt x="53" y="0"/>
                </a:lnTo>
                <a:cubicBezTo>
                  <a:pt x="24" y="0"/>
                  <a:pt x="0" y="23"/>
                  <a:pt x="0" y="52"/>
                </a:cubicBezTo>
                <a:lnTo>
                  <a:pt x="0" y="181"/>
                </a:lnTo>
                <a:cubicBezTo>
                  <a:pt x="0" y="210"/>
                  <a:pt x="24" y="233"/>
                  <a:pt x="53" y="233"/>
                </a:cubicBezTo>
                <a:lnTo>
                  <a:pt x="269" y="233"/>
                </a:lnTo>
                <a:cubicBezTo>
                  <a:pt x="298" y="233"/>
                  <a:pt x="322" y="210"/>
                  <a:pt x="322" y="181"/>
                </a:cubicBezTo>
                <a:lnTo>
                  <a:pt x="322" y="52"/>
                </a:lnTo>
                <a:cubicBezTo>
                  <a:pt x="322" y="23"/>
                  <a:pt x="298" y="0"/>
                  <a:pt x="269" y="0"/>
                </a:cubicBezTo>
                <a:close/>
                <a:moveTo>
                  <a:pt x="101" y="101"/>
                </a:moveTo>
                <a:cubicBezTo>
                  <a:pt x="113" y="101"/>
                  <a:pt x="124" y="91"/>
                  <a:pt x="124" y="78"/>
                </a:cubicBezTo>
                <a:cubicBezTo>
                  <a:pt x="124" y="65"/>
                  <a:pt x="113" y="55"/>
                  <a:pt x="101" y="55"/>
                </a:cubicBezTo>
                <a:cubicBezTo>
                  <a:pt x="88" y="55"/>
                  <a:pt x="78" y="65"/>
                  <a:pt x="78" y="78"/>
                </a:cubicBezTo>
                <a:cubicBezTo>
                  <a:pt x="78" y="91"/>
                  <a:pt x="88" y="101"/>
                  <a:pt x="101" y="101"/>
                </a:cubicBezTo>
                <a:close/>
                <a:moveTo>
                  <a:pt x="141" y="166"/>
                </a:moveTo>
                <a:lnTo>
                  <a:pt x="144" y="128"/>
                </a:lnTo>
                <a:cubicBezTo>
                  <a:pt x="145" y="117"/>
                  <a:pt x="134" y="108"/>
                  <a:pt x="121" y="108"/>
                </a:cubicBezTo>
                <a:lnTo>
                  <a:pt x="109" y="108"/>
                </a:lnTo>
                <a:cubicBezTo>
                  <a:pt x="109" y="109"/>
                  <a:pt x="109" y="114"/>
                  <a:pt x="106" y="117"/>
                </a:cubicBezTo>
                <a:cubicBezTo>
                  <a:pt x="106" y="117"/>
                  <a:pt x="111" y="142"/>
                  <a:pt x="109" y="151"/>
                </a:cubicBezTo>
                <a:cubicBezTo>
                  <a:pt x="108" y="154"/>
                  <a:pt x="104" y="163"/>
                  <a:pt x="100" y="163"/>
                </a:cubicBezTo>
                <a:cubicBezTo>
                  <a:pt x="96" y="163"/>
                  <a:pt x="93" y="154"/>
                  <a:pt x="92" y="151"/>
                </a:cubicBezTo>
                <a:cubicBezTo>
                  <a:pt x="91" y="142"/>
                  <a:pt x="97" y="117"/>
                  <a:pt x="97" y="117"/>
                </a:cubicBezTo>
                <a:cubicBezTo>
                  <a:pt x="96" y="116"/>
                  <a:pt x="94" y="115"/>
                  <a:pt x="94" y="108"/>
                </a:cubicBezTo>
                <a:lnTo>
                  <a:pt x="80" y="108"/>
                </a:lnTo>
                <a:cubicBezTo>
                  <a:pt x="68" y="108"/>
                  <a:pt x="56" y="117"/>
                  <a:pt x="57" y="129"/>
                </a:cubicBezTo>
                <a:lnTo>
                  <a:pt x="60" y="166"/>
                </a:lnTo>
                <a:cubicBezTo>
                  <a:pt x="70" y="176"/>
                  <a:pt x="86" y="176"/>
                  <a:pt x="101" y="176"/>
                </a:cubicBezTo>
                <a:cubicBezTo>
                  <a:pt x="115" y="176"/>
                  <a:pt x="132" y="175"/>
                  <a:pt x="141" y="166"/>
                </a:cubicBezTo>
                <a:close/>
                <a:moveTo>
                  <a:pt x="165" y="191"/>
                </a:moveTo>
                <a:lnTo>
                  <a:pt x="165" y="191"/>
                </a:lnTo>
                <a:lnTo>
                  <a:pt x="36" y="191"/>
                </a:lnTo>
                <a:lnTo>
                  <a:pt x="36" y="42"/>
                </a:lnTo>
                <a:lnTo>
                  <a:pt x="165" y="42"/>
                </a:lnTo>
                <a:lnTo>
                  <a:pt x="165" y="191"/>
                </a:lnTo>
                <a:close/>
                <a:moveTo>
                  <a:pt x="249" y="73"/>
                </a:moveTo>
                <a:lnTo>
                  <a:pt x="249" y="73"/>
                </a:lnTo>
                <a:lnTo>
                  <a:pt x="193" y="73"/>
                </a:lnTo>
                <a:cubicBezTo>
                  <a:pt x="186" y="73"/>
                  <a:pt x="181" y="67"/>
                  <a:pt x="181" y="60"/>
                </a:cubicBezTo>
                <a:cubicBezTo>
                  <a:pt x="181" y="54"/>
                  <a:pt x="186" y="48"/>
                  <a:pt x="193" y="48"/>
                </a:cubicBezTo>
                <a:lnTo>
                  <a:pt x="249" y="48"/>
                </a:lnTo>
                <a:cubicBezTo>
                  <a:pt x="256" y="48"/>
                  <a:pt x="261" y="54"/>
                  <a:pt x="261" y="60"/>
                </a:cubicBezTo>
                <a:cubicBezTo>
                  <a:pt x="261" y="67"/>
                  <a:pt x="256" y="73"/>
                  <a:pt x="249" y="73"/>
                </a:cubicBezTo>
                <a:close/>
                <a:moveTo>
                  <a:pt x="302" y="123"/>
                </a:moveTo>
                <a:lnTo>
                  <a:pt x="302" y="123"/>
                </a:lnTo>
                <a:cubicBezTo>
                  <a:pt x="302" y="128"/>
                  <a:pt x="297" y="133"/>
                  <a:pt x="292" y="133"/>
                </a:cubicBezTo>
                <a:lnTo>
                  <a:pt x="191" y="133"/>
                </a:lnTo>
                <a:cubicBezTo>
                  <a:pt x="186" y="133"/>
                  <a:pt x="181" y="128"/>
                  <a:pt x="181" y="123"/>
                </a:cubicBezTo>
                <a:cubicBezTo>
                  <a:pt x="181" y="117"/>
                  <a:pt x="186" y="113"/>
                  <a:pt x="191" y="113"/>
                </a:cubicBezTo>
                <a:lnTo>
                  <a:pt x="292" y="113"/>
                </a:lnTo>
                <a:cubicBezTo>
                  <a:pt x="297" y="113"/>
                  <a:pt x="302" y="117"/>
                  <a:pt x="302" y="123"/>
                </a:cubicBezTo>
                <a:close/>
                <a:moveTo>
                  <a:pt x="302" y="163"/>
                </a:moveTo>
                <a:lnTo>
                  <a:pt x="302" y="163"/>
                </a:lnTo>
                <a:cubicBezTo>
                  <a:pt x="302" y="169"/>
                  <a:pt x="297" y="173"/>
                  <a:pt x="292" y="173"/>
                </a:cubicBezTo>
                <a:lnTo>
                  <a:pt x="191" y="173"/>
                </a:lnTo>
                <a:cubicBezTo>
                  <a:pt x="186" y="173"/>
                  <a:pt x="181" y="169"/>
                  <a:pt x="181" y="163"/>
                </a:cubicBezTo>
                <a:cubicBezTo>
                  <a:pt x="181" y="157"/>
                  <a:pt x="186" y="153"/>
                  <a:pt x="191" y="153"/>
                </a:cubicBezTo>
                <a:lnTo>
                  <a:pt x="292" y="153"/>
                </a:lnTo>
                <a:cubicBezTo>
                  <a:pt x="297" y="153"/>
                  <a:pt x="302" y="157"/>
                  <a:pt x="302" y="1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82"/>
          <p:cNvSpPr txBox="1"/>
          <p:nvPr/>
        </p:nvSpPr>
        <p:spPr>
          <a:xfrm>
            <a:off x="8384145" y="5736247"/>
            <a:ext cx="2982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学校：山西大学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TextBox 82"/>
          <p:cNvSpPr txBox="1"/>
          <p:nvPr/>
        </p:nvSpPr>
        <p:spPr>
          <a:xfrm>
            <a:off x="5354998" y="5720852"/>
            <a:ext cx="2780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姓名：马宇佩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Freeform 10"/>
          <p:cNvSpPr>
            <a:spLocks noEditPoints="1"/>
          </p:cNvSpPr>
          <p:nvPr/>
        </p:nvSpPr>
        <p:spPr bwMode="auto">
          <a:xfrm>
            <a:off x="4953327" y="5774677"/>
            <a:ext cx="435786" cy="369331"/>
          </a:xfrm>
          <a:custGeom>
            <a:avLst/>
            <a:gdLst>
              <a:gd name="T0" fmla="*/ 163 w 327"/>
              <a:gd name="T1" fmla="*/ 331 h 347"/>
              <a:gd name="T2" fmla="*/ 164 w 327"/>
              <a:gd name="T3" fmla="*/ 192 h 347"/>
              <a:gd name="T4" fmla="*/ 261 w 327"/>
              <a:gd name="T5" fmla="*/ 174 h 347"/>
              <a:gd name="T6" fmla="*/ 200 w 327"/>
              <a:gd name="T7" fmla="*/ 198 h 347"/>
              <a:gd name="T8" fmla="*/ 55 w 327"/>
              <a:gd name="T9" fmla="*/ 124 h 347"/>
              <a:gd name="T10" fmla="*/ 73 w 327"/>
              <a:gd name="T11" fmla="*/ 126 h 347"/>
              <a:gd name="T12" fmla="*/ 96 w 327"/>
              <a:gd name="T13" fmla="*/ 128 h 347"/>
              <a:gd name="T14" fmla="*/ 96 w 327"/>
              <a:gd name="T15" fmla="*/ 113 h 347"/>
              <a:gd name="T16" fmla="*/ 163 w 327"/>
              <a:gd name="T17" fmla="*/ 175 h 347"/>
              <a:gd name="T18" fmla="*/ 238 w 327"/>
              <a:gd name="T19" fmla="*/ 121 h 347"/>
              <a:gd name="T20" fmla="*/ 254 w 327"/>
              <a:gd name="T21" fmla="*/ 118 h 347"/>
              <a:gd name="T22" fmla="*/ 264 w 327"/>
              <a:gd name="T23" fmla="*/ 122 h 347"/>
              <a:gd name="T24" fmla="*/ 240 w 327"/>
              <a:gd name="T25" fmla="*/ 148 h 347"/>
              <a:gd name="T26" fmla="*/ 282 w 327"/>
              <a:gd name="T27" fmla="*/ 197 h 347"/>
              <a:gd name="T28" fmla="*/ 269 w 327"/>
              <a:gd name="T29" fmla="*/ 152 h 347"/>
              <a:gd name="T30" fmla="*/ 269 w 327"/>
              <a:gd name="T31" fmla="*/ 289 h 347"/>
              <a:gd name="T32" fmla="*/ 284 w 327"/>
              <a:gd name="T33" fmla="*/ 285 h 347"/>
              <a:gd name="T34" fmla="*/ 178 w 327"/>
              <a:gd name="T35" fmla="*/ 343 h 347"/>
              <a:gd name="T36" fmla="*/ 164 w 327"/>
              <a:gd name="T37" fmla="*/ 346 h 347"/>
              <a:gd name="T38" fmla="*/ 43 w 327"/>
              <a:gd name="T39" fmla="*/ 285 h 347"/>
              <a:gd name="T40" fmla="*/ 58 w 327"/>
              <a:gd name="T41" fmla="*/ 289 h 347"/>
              <a:gd name="T42" fmla="*/ 58 w 327"/>
              <a:gd name="T43" fmla="*/ 152 h 347"/>
              <a:gd name="T44" fmla="*/ 46 w 327"/>
              <a:gd name="T45" fmla="*/ 197 h 347"/>
              <a:gd name="T46" fmla="*/ 82 w 327"/>
              <a:gd name="T47" fmla="*/ 145 h 347"/>
              <a:gd name="T48" fmla="*/ 36 w 327"/>
              <a:gd name="T49" fmla="*/ 231 h 347"/>
              <a:gd name="T50" fmla="*/ 42 w 327"/>
              <a:gd name="T51" fmla="*/ 244 h 347"/>
              <a:gd name="T52" fmla="*/ 49 w 327"/>
              <a:gd name="T53" fmla="*/ 257 h 347"/>
              <a:gd name="T54" fmla="*/ 26 w 327"/>
              <a:gd name="T55" fmla="*/ 274 h 347"/>
              <a:gd name="T56" fmla="*/ 16 w 327"/>
              <a:gd name="T57" fmla="*/ 217 h 347"/>
              <a:gd name="T58" fmla="*/ 31 w 327"/>
              <a:gd name="T59" fmla="*/ 192 h 347"/>
              <a:gd name="T60" fmla="*/ 272 w 327"/>
              <a:gd name="T61" fmla="*/ 220 h 347"/>
              <a:gd name="T62" fmla="*/ 267 w 327"/>
              <a:gd name="T63" fmla="*/ 234 h 347"/>
              <a:gd name="T64" fmla="*/ 262 w 327"/>
              <a:gd name="T65" fmla="*/ 249 h 347"/>
              <a:gd name="T66" fmla="*/ 259 w 327"/>
              <a:gd name="T67" fmla="*/ 260 h 347"/>
              <a:gd name="T68" fmla="*/ 277 w 327"/>
              <a:gd name="T69" fmla="*/ 210 h 347"/>
              <a:gd name="T70" fmla="*/ 296 w 327"/>
              <a:gd name="T71" fmla="*/ 208 h 347"/>
              <a:gd name="T72" fmla="*/ 162 w 327"/>
              <a:gd name="T73" fmla="*/ 0 h 347"/>
              <a:gd name="T74" fmla="*/ 241 w 327"/>
              <a:gd name="T75" fmla="*/ 62 h 347"/>
              <a:gd name="T76" fmla="*/ 227 w 327"/>
              <a:gd name="T77" fmla="*/ 103 h 347"/>
              <a:gd name="T78" fmla="*/ 210 w 327"/>
              <a:gd name="T79" fmla="*/ 47 h 347"/>
              <a:gd name="T80" fmla="*/ 112 w 327"/>
              <a:gd name="T81" fmla="*/ 106 h 347"/>
              <a:gd name="T82" fmla="*/ 88 w 327"/>
              <a:gd name="T83" fmla="*/ 89 h 347"/>
              <a:gd name="T84" fmla="*/ 114 w 327"/>
              <a:gd name="T85" fmla="*/ 24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27" h="347">
                <a:moveTo>
                  <a:pt x="153" y="191"/>
                </a:moveTo>
                <a:lnTo>
                  <a:pt x="153" y="329"/>
                </a:lnTo>
                <a:cubicBezTo>
                  <a:pt x="156" y="331"/>
                  <a:pt x="160" y="331"/>
                  <a:pt x="163" y="331"/>
                </a:cubicBezTo>
                <a:cubicBezTo>
                  <a:pt x="167" y="331"/>
                  <a:pt x="171" y="330"/>
                  <a:pt x="174" y="329"/>
                </a:cubicBezTo>
                <a:lnTo>
                  <a:pt x="174" y="191"/>
                </a:lnTo>
                <a:cubicBezTo>
                  <a:pt x="171" y="192"/>
                  <a:pt x="167" y="192"/>
                  <a:pt x="164" y="192"/>
                </a:cubicBezTo>
                <a:cubicBezTo>
                  <a:pt x="160" y="192"/>
                  <a:pt x="157" y="192"/>
                  <a:pt x="153" y="191"/>
                </a:cubicBezTo>
                <a:close/>
                <a:moveTo>
                  <a:pt x="200" y="198"/>
                </a:moveTo>
                <a:lnTo>
                  <a:pt x="261" y="174"/>
                </a:lnTo>
                <a:lnTo>
                  <a:pt x="261" y="199"/>
                </a:lnTo>
                <a:lnTo>
                  <a:pt x="200" y="223"/>
                </a:lnTo>
                <a:lnTo>
                  <a:pt x="200" y="198"/>
                </a:lnTo>
                <a:close/>
                <a:moveTo>
                  <a:pt x="82" y="145"/>
                </a:moveTo>
                <a:lnTo>
                  <a:pt x="57" y="131"/>
                </a:lnTo>
                <a:cubicBezTo>
                  <a:pt x="54" y="130"/>
                  <a:pt x="53" y="126"/>
                  <a:pt x="55" y="124"/>
                </a:cubicBezTo>
                <a:cubicBezTo>
                  <a:pt x="56" y="121"/>
                  <a:pt x="60" y="120"/>
                  <a:pt x="62" y="122"/>
                </a:cubicBezTo>
                <a:lnTo>
                  <a:pt x="86" y="135"/>
                </a:lnTo>
                <a:lnTo>
                  <a:pt x="73" y="126"/>
                </a:lnTo>
                <a:cubicBezTo>
                  <a:pt x="70" y="124"/>
                  <a:pt x="70" y="120"/>
                  <a:pt x="72" y="118"/>
                </a:cubicBezTo>
                <a:cubicBezTo>
                  <a:pt x="73" y="115"/>
                  <a:pt x="77" y="115"/>
                  <a:pt x="80" y="117"/>
                </a:cubicBezTo>
                <a:lnTo>
                  <a:pt x="96" y="128"/>
                </a:lnTo>
                <a:lnTo>
                  <a:pt x="88" y="121"/>
                </a:lnTo>
                <a:cubicBezTo>
                  <a:pt x="86" y="119"/>
                  <a:pt x="86" y="115"/>
                  <a:pt x="88" y="113"/>
                </a:cubicBezTo>
                <a:cubicBezTo>
                  <a:pt x="90" y="111"/>
                  <a:pt x="94" y="110"/>
                  <a:pt x="96" y="113"/>
                </a:cubicBezTo>
                <a:lnTo>
                  <a:pt x="162" y="175"/>
                </a:lnTo>
                <a:cubicBezTo>
                  <a:pt x="163" y="175"/>
                  <a:pt x="163" y="175"/>
                  <a:pt x="163" y="175"/>
                </a:cubicBezTo>
                <a:cubicBezTo>
                  <a:pt x="163" y="175"/>
                  <a:pt x="163" y="175"/>
                  <a:pt x="163" y="175"/>
                </a:cubicBezTo>
                <a:lnTo>
                  <a:pt x="230" y="113"/>
                </a:lnTo>
                <a:cubicBezTo>
                  <a:pt x="232" y="110"/>
                  <a:pt x="236" y="111"/>
                  <a:pt x="238" y="113"/>
                </a:cubicBezTo>
                <a:cubicBezTo>
                  <a:pt x="240" y="115"/>
                  <a:pt x="240" y="119"/>
                  <a:pt x="238" y="121"/>
                </a:cubicBezTo>
                <a:lnTo>
                  <a:pt x="229" y="128"/>
                </a:lnTo>
                <a:lnTo>
                  <a:pt x="246" y="117"/>
                </a:lnTo>
                <a:cubicBezTo>
                  <a:pt x="249" y="115"/>
                  <a:pt x="252" y="115"/>
                  <a:pt x="254" y="118"/>
                </a:cubicBezTo>
                <a:cubicBezTo>
                  <a:pt x="256" y="120"/>
                  <a:pt x="255" y="124"/>
                  <a:pt x="253" y="126"/>
                </a:cubicBezTo>
                <a:lnTo>
                  <a:pt x="240" y="135"/>
                </a:lnTo>
                <a:lnTo>
                  <a:pt x="264" y="122"/>
                </a:lnTo>
                <a:cubicBezTo>
                  <a:pt x="266" y="120"/>
                  <a:pt x="270" y="121"/>
                  <a:pt x="271" y="124"/>
                </a:cubicBezTo>
                <a:cubicBezTo>
                  <a:pt x="273" y="127"/>
                  <a:pt x="272" y="130"/>
                  <a:pt x="269" y="131"/>
                </a:cubicBezTo>
                <a:lnTo>
                  <a:pt x="240" y="148"/>
                </a:lnTo>
                <a:lnTo>
                  <a:pt x="284" y="129"/>
                </a:lnTo>
                <a:lnTo>
                  <a:pt x="284" y="197"/>
                </a:lnTo>
                <a:cubicBezTo>
                  <a:pt x="283" y="197"/>
                  <a:pt x="283" y="197"/>
                  <a:pt x="282" y="197"/>
                </a:cubicBezTo>
                <a:lnTo>
                  <a:pt x="273" y="196"/>
                </a:lnTo>
                <a:lnTo>
                  <a:pt x="269" y="203"/>
                </a:lnTo>
                <a:lnTo>
                  <a:pt x="269" y="152"/>
                </a:lnTo>
                <a:lnTo>
                  <a:pt x="190" y="186"/>
                </a:lnTo>
                <a:lnTo>
                  <a:pt x="190" y="322"/>
                </a:lnTo>
                <a:lnTo>
                  <a:pt x="269" y="289"/>
                </a:lnTo>
                <a:lnTo>
                  <a:pt x="269" y="279"/>
                </a:lnTo>
                <a:cubicBezTo>
                  <a:pt x="272" y="280"/>
                  <a:pt x="275" y="282"/>
                  <a:pt x="277" y="283"/>
                </a:cubicBezTo>
                <a:cubicBezTo>
                  <a:pt x="280" y="284"/>
                  <a:pt x="282" y="284"/>
                  <a:pt x="284" y="285"/>
                </a:cubicBezTo>
                <a:lnTo>
                  <a:pt x="284" y="299"/>
                </a:lnTo>
                <a:lnTo>
                  <a:pt x="185" y="341"/>
                </a:lnTo>
                <a:cubicBezTo>
                  <a:pt x="183" y="342"/>
                  <a:pt x="181" y="343"/>
                  <a:pt x="178" y="343"/>
                </a:cubicBezTo>
                <a:lnTo>
                  <a:pt x="174" y="345"/>
                </a:lnTo>
                <a:lnTo>
                  <a:pt x="174" y="345"/>
                </a:lnTo>
                <a:cubicBezTo>
                  <a:pt x="171" y="346"/>
                  <a:pt x="167" y="346"/>
                  <a:pt x="164" y="346"/>
                </a:cubicBezTo>
                <a:cubicBezTo>
                  <a:pt x="156" y="347"/>
                  <a:pt x="149" y="345"/>
                  <a:pt x="142" y="340"/>
                </a:cubicBezTo>
                <a:lnTo>
                  <a:pt x="43" y="299"/>
                </a:lnTo>
                <a:lnTo>
                  <a:pt x="43" y="285"/>
                </a:lnTo>
                <a:cubicBezTo>
                  <a:pt x="45" y="284"/>
                  <a:pt x="48" y="284"/>
                  <a:pt x="50" y="283"/>
                </a:cubicBezTo>
                <a:cubicBezTo>
                  <a:pt x="53" y="282"/>
                  <a:pt x="55" y="280"/>
                  <a:pt x="58" y="279"/>
                </a:cubicBezTo>
                <a:lnTo>
                  <a:pt x="58" y="289"/>
                </a:lnTo>
                <a:lnTo>
                  <a:pt x="138" y="322"/>
                </a:lnTo>
                <a:lnTo>
                  <a:pt x="138" y="186"/>
                </a:lnTo>
                <a:lnTo>
                  <a:pt x="58" y="152"/>
                </a:lnTo>
                <a:lnTo>
                  <a:pt x="58" y="203"/>
                </a:lnTo>
                <a:lnTo>
                  <a:pt x="55" y="196"/>
                </a:lnTo>
                <a:lnTo>
                  <a:pt x="46" y="197"/>
                </a:lnTo>
                <a:cubicBezTo>
                  <a:pt x="45" y="197"/>
                  <a:pt x="44" y="197"/>
                  <a:pt x="43" y="197"/>
                </a:cubicBezTo>
                <a:lnTo>
                  <a:pt x="43" y="129"/>
                </a:lnTo>
                <a:lnTo>
                  <a:pt x="82" y="145"/>
                </a:lnTo>
                <a:close/>
                <a:moveTo>
                  <a:pt x="49" y="210"/>
                </a:moveTo>
                <a:cubicBezTo>
                  <a:pt x="51" y="213"/>
                  <a:pt x="53" y="216"/>
                  <a:pt x="54" y="220"/>
                </a:cubicBezTo>
                <a:lnTo>
                  <a:pt x="36" y="231"/>
                </a:lnTo>
                <a:lnTo>
                  <a:pt x="56" y="223"/>
                </a:lnTo>
                <a:cubicBezTo>
                  <a:pt x="57" y="227"/>
                  <a:pt x="58" y="230"/>
                  <a:pt x="60" y="234"/>
                </a:cubicBezTo>
                <a:lnTo>
                  <a:pt x="42" y="244"/>
                </a:lnTo>
                <a:lnTo>
                  <a:pt x="61" y="237"/>
                </a:lnTo>
                <a:cubicBezTo>
                  <a:pt x="62" y="241"/>
                  <a:pt x="63" y="245"/>
                  <a:pt x="65" y="249"/>
                </a:cubicBezTo>
                <a:lnTo>
                  <a:pt x="49" y="257"/>
                </a:lnTo>
                <a:lnTo>
                  <a:pt x="65" y="251"/>
                </a:lnTo>
                <a:cubicBezTo>
                  <a:pt x="66" y="254"/>
                  <a:pt x="67" y="257"/>
                  <a:pt x="67" y="260"/>
                </a:cubicBezTo>
                <a:cubicBezTo>
                  <a:pt x="64" y="262"/>
                  <a:pt x="38" y="279"/>
                  <a:pt x="26" y="274"/>
                </a:cubicBezTo>
                <a:cubicBezTo>
                  <a:pt x="13" y="269"/>
                  <a:pt x="1" y="252"/>
                  <a:pt x="0" y="236"/>
                </a:cubicBezTo>
                <a:cubicBezTo>
                  <a:pt x="0" y="221"/>
                  <a:pt x="40" y="211"/>
                  <a:pt x="49" y="210"/>
                </a:cubicBezTo>
                <a:close/>
                <a:moveTo>
                  <a:pt x="16" y="217"/>
                </a:moveTo>
                <a:lnTo>
                  <a:pt x="26" y="213"/>
                </a:lnTo>
                <a:lnTo>
                  <a:pt x="31" y="208"/>
                </a:lnTo>
                <a:lnTo>
                  <a:pt x="31" y="192"/>
                </a:lnTo>
                <a:cubicBezTo>
                  <a:pt x="22" y="196"/>
                  <a:pt x="18" y="206"/>
                  <a:pt x="16" y="217"/>
                </a:cubicBezTo>
                <a:close/>
                <a:moveTo>
                  <a:pt x="277" y="210"/>
                </a:moveTo>
                <a:cubicBezTo>
                  <a:pt x="276" y="213"/>
                  <a:pt x="274" y="216"/>
                  <a:pt x="272" y="220"/>
                </a:cubicBezTo>
                <a:lnTo>
                  <a:pt x="291" y="231"/>
                </a:lnTo>
                <a:lnTo>
                  <a:pt x="271" y="223"/>
                </a:lnTo>
                <a:cubicBezTo>
                  <a:pt x="269" y="227"/>
                  <a:pt x="268" y="230"/>
                  <a:pt x="267" y="234"/>
                </a:cubicBezTo>
                <a:lnTo>
                  <a:pt x="284" y="244"/>
                </a:lnTo>
                <a:lnTo>
                  <a:pt x="266" y="237"/>
                </a:lnTo>
                <a:cubicBezTo>
                  <a:pt x="264" y="241"/>
                  <a:pt x="263" y="245"/>
                  <a:pt x="262" y="249"/>
                </a:cubicBezTo>
                <a:lnTo>
                  <a:pt x="278" y="257"/>
                </a:lnTo>
                <a:lnTo>
                  <a:pt x="261" y="251"/>
                </a:lnTo>
                <a:cubicBezTo>
                  <a:pt x="261" y="254"/>
                  <a:pt x="260" y="257"/>
                  <a:pt x="259" y="260"/>
                </a:cubicBezTo>
                <a:cubicBezTo>
                  <a:pt x="263" y="262"/>
                  <a:pt x="289" y="279"/>
                  <a:pt x="301" y="274"/>
                </a:cubicBezTo>
                <a:cubicBezTo>
                  <a:pt x="313" y="269"/>
                  <a:pt x="326" y="252"/>
                  <a:pt x="326" y="236"/>
                </a:cubicBezTo>
                <a:cubicBezTo>
                  <a:pt x="327" y="221"/>
                  <a:pt x="286" y="211"/>
                  <a:pt x="277" y="210"/>
                </a:cubicBezTo>
                <a:close/>
                <a:moveTo>
                  <a:pt x="311" y="217"/>
                </a:moveTo>
                <a:lnTo>
                  <a:pt x="300" y="213"/>
                </a:lnTo>
                <a:lnTo>
                  <a:pt x="296" y="208"/>
                </a:lnTo>
                <a:lnTo>
                  <a:pt x="295" y="192"/>
                </a:lnTo>
                <a:cubicBezTo>
                  <a:pt x="305" y="196"/>
                  <a:pt x="309" y="206"/>
                  <a:pt x="311" y="217"/>
                </a:cubicBezTo>
                <a:close/>
                <a:moveTo>
                  <a:pt x="162" y="0"/>
                </a:moveTo>
                <a:cubicBezTo>
                  <a:pt x="181" y="0"/>
                  <a:pt x="198" y="10"/>
                  <a:pt x="210" y="24"/>
                </a:cubicBezTo>
                <a:cubicBezTo>
                  <a:pt x="218" y="34"/>
                  <a:pt x="224" y="45"/>
                  <a:pt x="228" y="59"/>
                </a:cubicBezTo>
                <a:cubicBezTo>
                  <a:pt x="232" y="58"/>
                  <a:pt x="239" y="57"/>
                  <a:pt x="241" y="62"/>
                </a:cubicBezTo>
                <a:cubicBezTo>
                  <a:pt x="244" y="70"/>
                  <a:pt x="242" y="87"/>
                  <a:pt x="237" y="89"/>
                </a:cubicBezTo>
                <a:cubicBezTo>
                  <a:pt x="235" y="90"/>
                  <a:pt x="232" y="90"/>
                  <a:pt x="229" y="90"/>
                </a:cubicBezTo>
                <a:cubicBezTo>
                  <a:pt x="229" y="94"/>
                  <a:pt x="228" y="99"/>
                  <a:pt x="227" y="103"/>
                </a:cubicBezTo>
                <a:cubicBezTo>
                  <a:pt x="222" y="104"/>
                  <a:pt x="217" y="105"/>
                  <a:pt x="213" y="106"/>
                </a:cubicBezTo>
                <a:cubicBezTo>
                  <a:pt x="216" y="98"/>
                  <a:pt x="217" y="89"/>
                  <a:pt x="217" y="80"/>
                </a:cubicBezTo>
                <a:cubicBezTo>
                  <a:pt x="217" y="68"/>
                  <a:pt x="215" y="57"/>
                  <a:pt x="210" y="47"/>
                </a:cubicBezTo>
                <a:cubicBezTo>
                  <a:pt x="173" y="76"/>
                  <a:pt x="125" y="55"/>
                  <a:pt x="113" y="50"/>
                </a:cubicBezTo>
                <a:cubicBezTo>
                  <a:pt x="109" y="59"/>
                  <a:pt x="107" y="69"/>
                  <a:pt x="107" y="80"/>
                </a:cubicBezTo>
                <a:cubicBezTo>
                  <a:pt x="107" y="89"/>
                  <a:pt x="109" y="98"/>
                  <a:pt x="112" y="106"/>
                </a:cubicBezTo>
                <a:cubicBezTo>
                  <a:pt x="107" y="105"/>
                  <a:pt x="103" y="104"/>
                  <a:pt x="98" y="103"/>
                </a:cubicBezTo>
                <a:cubicBezTo>
                  <a:pt x="97" y="99"/>
                  <a:pt x="96" y="94"/>
                  <a:pt x="95" y="90"/>
                </a:cubicBezTo>
                <a:cubicBezTo>
                  <a:pt x="93" y="90"/>
                  <a:pt x="90" y="90"/>
                  <a:pt x="88" y="89"/>
                </a:cubicBezTo>
                <a:cubicBezTo>
                  <a:pt x="82" y="87"/>
                  <a:pt x="81" y="70"/>
                  <a:pt x="84" y="62"/>
                </a:cubicBezTo>
                <a:cubicBezTo>
                  <a:pt x="86" y="57"/>
                  <a:pt x="92" y="58"/>
                  <a:pt x="97" y="59"/>
                </a:cubicBezTo>
                <a:cubicBezTo>
                  <a:pt x="100" y="45"/>
                  <a:pt x="106" y="34"/>
                  <a:pt x="114" y="24"/>
                </a:cubicBezTo>
                <a:cubicBezTo>
                  <a:pt x="126" y="10"/>
                  <a:pt x="143" y="0"/>
                  <a:pt x="1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4363" y="2594931"/>
            <a:ext cx="5017443" cy="192650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088" y="1208603"/>
            <a:ext cx="5435824" cy="10207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主题">
  <a:themeElements>
    <a:clrScheme name="1华南理工大学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074288"/>
      </a:accent1>
      <a:accent2>
        <a:srgbClr val="074288"/>
      </a:accent2>
      <a:accent3>
        <a:srgbClr val="074288"/>
      </a:accent3>
      <a:accent4>
        <a:srgbClr val="074288"/>
      </a:accent4>
      <a:accent5>
        <a:srgbClr val="595959"/>
      </a:accent5>
      <a:accent6>
        <a:srgbClr val="595959"/>
      </a:accent6>
      <a:hlink>
        <a:srgbClr val="595959"/>
      </a:hlink>
      <a:folHlink>
        <a:srgbClr val="595959"/>
      </a:folHlink>
    </a:clrScheme>
    <a:fontScheme name="Temp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1141</Words>
  <Application>Microsoft Office PowerPoint</Application>
  <PresentationFormat>宽屏</PresentationFormat>
  <Paragraphs>139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等线</vt:lpstr>
      <vt:lpstr>黑体</vt:lpstr>
      <vt:lpstr>宋体</vt:lpstr>
      <vt:lpstr>微软雅黑</vt:lpstr>
      <vt:lpstr>喜鹊招牌体</vt:lpstr>
      <vt:lpstr>Arial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创作时间:2023.6;出售渠道:b站-玄风风兮,闲鱼-卡酷星和气的青蒿,微信-zszf0529</dc:title>
  <dc:creator>b站-玄风风兮,闲鱼-卡酷星和气的青蒿,微信-zszf0529</dc:creator>
  <cp:lastModifiedBy>宇佩 马</cp:lastModifiedBy>
  <cp:revision>80</cp:revision>
  <dcterms:created xsi:type="dcterms:W3CDTF">2022-07-06T02:37:00Z</dcterms:created>
  <dcterms:modified xsi:type="dcterms:W3CDTF">2026-03-22T07:34:55Z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59E53F8C78094BA1A8BF736DB1E730F8_12</vt:lpwstr>
  </property>
  <property fmtid="{D5CDD505-2E9C-101B-9397-08002B2CF9AE}" pid="3" name="KSOProductBuildVer">
    <vt:lpwstr>2052-12.1.0.22529</vt:lpwstr>
  </property>
</Properties>
</file>