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61" r:id="rId2"/>
    <p:sldId id="296" r:id="rId3"/>
    <p:sldId id="302" r:id="rId4"/>
    <p:sldId id="303" r:id="rId5"/>
    <p:sldId id="304" r:id="rId6"/>
    <p:sldId id="305" r:id="rId7"/>
    <p:sldId id="307" r:id="rId8"/>
    <p:sldId id="308" r:id="rId9"/>
    <p:sldId id="309" r:id="rId10"/>
    <p:sldId id="310" r:id="rId11"/>
    <p:sldId id="311" r:id="rId12"/>
    <p:sldId id="312" r:id="rId13"/>
    <p:sldId id="316" r:id="rId14"/>
    <p:sldId id="317" r:id="rId15"/>
    <p:sldId id="318" r:id="rId16"/>
    <p:sldId id="319" r:id="rId17"/>
    <p:sldId id="321" r:id="rId18"/>
    <p:sldId id="323" r:id="rId19"/>
    <p:sldId id="325" r:id="rId20"/>
    <p:sldId id="258" r:id="rId21"/>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54">
          <p15:clr>
            <a:srgbClr val="A4A3A4"/>
          </p15:clr>
        </p15:guide>
        <p15:guide id="2" orient="horz" pos="1979">
          <p15:clr>
            <a:srgbClr val="A4A3A4"/>
          </p15:clr>
        </p15:guide>
        <p15:guide id="3" pos="869">
          <p15:clr>
            <a:srgbClr val="A4A3A4"/>
          </p15:clr>
        </p15:guide>
        <p15:guide id="4" pos="622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01" autoAdjust="0"/>
    <p:restoredTop sz="94660"/>
  </p:normalViewPr>
  <p:slideViewPr>
    <p:cSldViewPr snapToGrid="0" showGuides="1">
      <p:cViewPr varScale="1">
        <p:scale>
          <a:sx n="110" d="100"/>
          <a:sy n="110" d="100"/>
        </p:scale>
        <p:origin x="510" y="108"/>
      </p:cViewPr>
      <p:guideLst>
        <p:guide orient="horz" pos="754"/>
        <p:guide orient="horz" pos="1979"/>
        <p:guide pos="869"/>
        <p:guide pos="6221"/>
      </p:guideLst>
    </p:cSldViewPr>
  </p:slideViewPr>
  <p:notesTextViewPr>
    <p:cViewPr>
      <p:scale>
        <a:sx n="1" d="1"/>
        <a:sy n="1" d="1"/>
      </p:scale>
      <p:origin x="0" y="0"/>
    </p:cViewPr>
  </p:notesTextViewPr>
  <p:sorterViewPr>
    <p:cViewPr varScale="1">
      <p:scale>
        <a:sx n="1" d="1"/>
        <a:sy n="1" d="1"/>
      </p:scale>
      <p:origin x="0" y="-15090"/>
    </p:cViewPr>
  </p:sorterViewPr>
  <p:notesViewPr>
    <p:cSldViewPr snapToGrid="0">
      <p:cViewPr varScale="1">
        <p:scale>
          <a:sx n="52" d="100"/>
          <a:sy n="52" d="100"/>
        </p:scale>
        <p:origin x="2680"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AC5235-D026-46CF-A71B-93F0B23D54FB}" type="datetimeFigureOut">
              <a:rPr lang="zh-CN" altLang="en-US" smtClean="0"/>
              <a:t>2026/3/14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8DEEC-5D81-46A3-9935-FF96FF36E35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过渡页">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544006"/>
            <a:ext cx="9144000" cy="813556"/>
          </a:xfrm>
        </p:spPr>
        <p:txBody>
          <a:bodyPr anchor="b">
            <a:normAutofit/>
          </a:bodyPr>
          <a:lstStyle>
            <a:lvl1pPr algn="ctr">
              <a:defRPr sz="40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9A0741C5-8F5C-4213-BB69-8C2D02590C1C}" type="datetimeFigureOut">
              <a:rPr lang="zh-CN" altLang="en-US" smtClean="0"/>
              <a:t>2026/3/14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8893EA9-123D-489F-8313-43A8A4AC4565}" type="slidenum">
              <a:rPr lang="zh-CN" altLang="en-US" smtClean="0"/>
              <a:t>‹#›</a:t>
            </a:fld>
            <a:endParaRPr lang="zh-CN" altLang="en-US"/>
          </a:p>
        </p:txBody>
      </p:sp>
      <p:sp>
        <p:nvSpPr>
          <p:cNvPr id="7" name="Freeform 5"/>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研究概述_需换右下角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2026/3/14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7" name="文本框 6"/>
          <p:cNvSpPr txBox="1"/>
          <p:nvPr userDrawn="1"/>
        </p:nvSpPr>
        <p:spPr>
          <a:xfrm>
            <a:off x="1302657" y="859160"/>
            <a:ext cx="2373993" cy="307777"/>
          </a:xfrm>
          <a:prstGeom prst="rect">
            <a:avLst/>
          </a:prstGeom>
          <a:noFill/>
        </p:spPr>
        <p:txBody>
          <a:bodyPr wrap="square" rtlCol="0">
            <a:spAutoFit/>
          </a:bodyPr>
          <a:lstStyle/>
          <a:p>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Research overview</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userDrawn="1"/>
        </p:nvPicPr>
        <p:blipFill>
          <a:blip r:embed="rId2"/>
          <a:stretch>
            <a:fillRect/>
          </a:stretch>
        </p:blipFill>
        <p:spPr>
          <a:xfrm>
            <a:off x="10997756" y="5566054"/>
            <a:ext cx="813253" cy="815696"/>
          </a:xfrm>
          <a:prstGeom prst="rect">
            <a:avLst/>
          </a:prstGeom>
        </p:spPr>
      </p:pic>
      <p:sp>
        <p:nvSpPr>
          <p:cNvPr id="10" name="等腰三角形 9"/>
          <p:cNvSpPr/>
          <p:nvPr userDrawn="1"/>
        </p:nvSpPr>
        <p:spPr>
          <a:xfrm rot="16200000">
            <a:off x="10400553" y="1196661"/>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框 10"/>
          <p:cNvSpPr txBox="1"/>
          <p:nvPr userDrawn="1"/>
        </p:nvSpPr>
        <p:spPr>
          <a:xfrm>
            <a:off x="10711051" y="1070015"/>
            <a:ext cx="1386662"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研究背景</a:t>
            </a:r>
          </a:p>
        </p:txBody>
      </p:sp>
      <p:sp>
        <p:nvSpPr>
          <p:cNvPr id="12" name="文本框 11"/>
          <p:cNvSpPr txBox="1"/>
          <p:nvPr userDrawn="1"/>
        </p:nvSpPr>
        <p:spPr>
          <a:xfrm>
            <a:off x="10711051" y="1858061"/>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理论模型</a:t>
            </a:r>
          </a:p>
        </p:txBody>
      </p:sp>
      <p:sp>
        <p:nvSpPr>
          <p:cNvPr id="13" name="文本框 12"/>
          <p:cNvSpPr txBox="1"/>
          <p:nvPr userDrawn="1"/>
        </p:nvSpPr>
        <p:spPr>
          <a:xfrm>
            <a:off x="10711051" y="2646107"/>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实证分析</a:t>
            </a:r>
          </a:p>
        </p:txBody>
      </p:sp>
      <p:sp>
        <p:nvSpPr>
          <p:cNvPr id="14" name="文本框 13"/>
          <p:cNvSpPr txBox="1"/>
          <p:nvPr userDrawn="1"/>
        </p:nvSpPr>
        <p:spPr>
          <a:xfrm>
            <a:off x="10711051" y="3434153"/>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结论建议</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研究方法_需换右下角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2026/3/14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7" name="文本框 6"/>
          <p:cNvSpPr txBox="1"/>
          <p:nvPr userDrawn="1"/>
        </p:nvSpPr>
        <p:spPr>
          <a:xfrm>
            <a:off x="1302657" y="859160"/>
            <a:ext cx="2373993" cy="307777"/>
          </a:xfrm>
          <a:prstGeom prst="rect">
            <a:avLst/>
          </a:prstGeom>
          <a:noFill/>
        </p:spPr>
        <p:txBody>
          <a:bodyPr wrap="square" rtlCol="0">
            <a:spAutoFit/>
          </a:bodyPr>
          <a:lstStyle/>
          <a:p>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Theoretical Model</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userDrawn="1"/>
        </p:nvPicPr>
        <p:blipFill>
          <a:blip r:embed="rId2"/>
          <a:stretch>
            <a:fillRect/>
          </a:stretch>
        </p:blipFill>
        <p:spPr>
          <a:xfrm>
            <a:off x="10997756" y="5566054"/>
            <a:ext cx="813253" cy="815696"/>
          </a:xfrm>
          <a:prstGeom prst="rect">
            <a:avLst/>
          </a:prstGeom>
        </p:spPr>
      </p:pic>
      <p:sp>
        <p:nvSpPr>
          <p:cNvPr id="10" name="等腰三角形 9"/>
          <p:cNvSpPr/>
          <p:nvPr userDrawn="1"/>
        </p:nvSpPr>
        <p:spPr>
          <a:xfrm rot="16200000">
            <a:off x="10400553" y="1989540"/>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框 10"/>
          <p:cNvSpPr txBox="1"/>
          <p:nvPr userDrawn="1"/>
        </p:nvSpPr>
        <p:spPr>
          <a:xfrm>
            <a:off x="10711051" y="1070015"/>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研究背景</a:t>
            </a:r>
          </a:p>
        </p:txBody>
      </p:sp>
      <p:sp>
        <p:nvSpPr>
          <p:cNvPr id="12" name="文本框 11"/>
          <p:cNvSpPr txBox="1"/>
          <p:nvPr userDrawn="1"/>
        </p:nvSpPr>
        <p:spPr>
          <a:xfrm>
            <a:off x="10711051" y="1858061"/>
            <a:ext cx="1386662"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理论模型</a:t>
            </a:r>
          </a:p>
        </p:txBody>
      </p:sp>
      <p:sp>
        <p:nvSpPr>
          <p:cNvPr id="13" name="文本框 12"/>
          <p:cNvSpPr txBox="1"/>
          <p:nvPr userDrawn="1"/>
        </p:nvSpPr>
        <p:spPr>
          <a:xfrm>
            <a:off x="10711051" y="2646107"/>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实证分析</a:t>
            </a:r>
          </a:p>
        </p:txBody>
      </p:sp>
      <p:sp>
        <p:nvSpPr>
          <p:cNvPr id="14" name="文本框 13"/>
          <p:cNvSpPr txBox="1"/>
          <p:nvPr userDrawn="1"/>
        </p:nvSpPr>
        <p:spPr>
          <a:xfrm>
            <a:off x="10711051" y="3434153"/>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结论建议</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研究过程_需换右下角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2026/3/14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7" name="文本框 6"/>
          <p:cNvSpPr txBox="1"/>
          <p:nvPr userDrawn="1"/>
        </p:nvSpPr>
        <p:spPr>
          <a:xfrm>
            <a:off x="1302657" y="859160"/>
            <a:ext cx="2373993" cy="307777"/>
          </a:xfrm>
          <a:prstGeom prst="rect">
            <a:avLst/>
          </a:prstGeom>
          <a:noFill/>
        </p:spPr>
        <p:txBody>
          <a:bodyPr wrap="square" rtlCol="0">
            <a:spAutoFit/>
          </a:bodyPr>
          <a:lstStyle/>
          <a:p>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Empirical Analysis</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userDrawn="1"/>
        </p:nvPicPr>
        <p:blipFill>
          <a:blip r:embed="rId2"/>
          <a:stretch>
            <a:fillRect/>
          </a:stretch>
        </p:blipFill>
        <p:spPr>
          <a:xfrm>
            <a:off x="10997756" y="5566054"/>
            <a:ext cx="813253" cy="815696"/>
          </a:xfrm>
          <a:prstGeom prst="rect">
            <a:avLst/>
          </a:prstGeom>
        </p:spPr>
      </p:pic>
      <p:sp>
        <p:nvSpPr>
          <p:cNvPr id="10" name="等腰三角形 9"/>
          <p:cNvSpPr/>
          <p:nvPr userDrawn="1"/>
        </p:nvSpPr>
        <p:spPr>
          <a:xfrm rot="16200000">
            <a:off x="10400553" y="2770847"/>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框 10"/>
          <p:cNvSpPr txBox="1"/>
          <p:nvPr userDrawn="1"/>
        </p:nvSpPr>
        <p:spPr>
          <a:xfrm>
            <a:off x="10711051" y="1070015"/>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研究背景</a:t>
            </a:r>
          </a:p>
        </p:txBody>
      </p:sp>
      <p:sp>
        <p:nvSpPr>
          <p:cNvPr id="12" name="文本框 11"/>
          <p:cNvSpPr txBox="1"/>
          <p:nvPr userDrawn="1"/>
        </p:nvSpPr>
        <p:spPr>
          <a:xfrm>
            <a:off x="10711051" y="1858061"/>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理论模型</a:t>
            </a:r>
          </a:p>
        </p:txBody>
      </p:sp>
      <p:sp>
        <p:nvSpPr>
          <p:cNvPr id="13" name="文本框 12"/>
          <p:cNvSpPr txBox="1"/>
          <p:nvPr userDrawn="1"/>
        </p:nvSpPr>
        <p:spPr>
          <a:xfrm>
            <a:off x="10711051" y="2646107"/>
            <a:ext cx="1386662"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实证分析</a:t>
            </a:r>
          </a:p>
        </p:txBody>
      </p:sp>
      <p:sp>
        <p:nvSpPr>
          <p:cNvPr id="14" name="文本框 13"/>
          <p:cNvSpPr txBox="1"/>
          <p:nvPr userDrawn="1"/>
        </p:nvSpPr>
        <p:spPr>
          <a:xfrm>
            <a:off x="10711051" y="3434153"/>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结论建议</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研究成果_需换右下角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2026/3/14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7" name="文本框 6"/>
          <p:cNvSpPr txBox="1"/>
          <p:nvPr userDrawn="1"/>
        </p:nvSpPr>
        <p:spPr>
          <a:xfrm>
            <a:off x="1302657" y="859160"/>
            <a:ext cx="3103088" cy="307777"/>
          </a:xfrm>
          <a:prstGeom prst="rect">
            <a:avLst/>
          </a:prstGeom>
          <a:noFill/>
        </p:spPr>
        <p:txBody>
          <a:bodyPr wrap="square" rtlCol="0">
            <a:spAutoFit/>
          </a:bodyPr>
          <a:lstStyle/>
          <a:p>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Conclusions &amp; Suggestions</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userDrawn="1"/>
        </p:nvPicPr>
        <p:blipFill>
          <a:blip r:embed="rId2"/>
          <a:stretch>
            <a:fillRect/>
          </a:stretch>
        </p:blipFill>
        <p:spPr>
          <a:xfrm>
            <a:off x="10997756" y="5566054"/>
            <a:ext cx="813253" cy="815696"/>
          </a:xfrm>
          <a:prstGeom prst="rect">
            <a:avLst/>
          </a:prstGeom>
        </p:spPr>
      </p:pic>
      <p:sp>
        <p:nvSpPr>
          <p:cNvPr id="10" name="等腰三角形 9"/>
          <p:cNvSpPr/>
          <p:nvPr userDrawn="1"/>
        </p:nvSpPr>
        <p:spPr>
          <a:xfrm rot="16200000">
            <a:off x="10400553" y="3561024"/>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框 10"/>
          <p:cNvSpPr txBox="1"/>
          <p:nvPr userDrawn="1"/>
        </p:nvSpPr>
        <p:spPr>
          <a:xfrm>
            <a:off x="10711051" y="1070015"/>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研究背景</a:t>
            </a:r>
          </a:p>
        </p:txBody>
      </p:sp>
      <p:sp>
        <p:nvSpPr>
          <p:cNvPr id="12" name="文本框 11"/>
          <p:cNvSpPr txBox="1"/>
          <p:nvPr userDrawn="1"/>
        </p:nvSpPr>
        <p:spPr>
          <a:xfrm>
            <a:off x="10711051" y="1858061"/>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理论模型</a:t>
            </a:r>
          </a:p>
        </p:txBody>
      </p:sp>
      <p:sp>
        <p:nvSpPr>
          <p:cNvPr id="13" name="文本框 12"/>
          <p:cNvSpPr txBox="1"/>
          <p:nvPr userDrawn="1"/>
        </p:nvSpPr>
        <p:spPr>
          <a:xfrm>
            <a:off x="10711051" y="2646107"/>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实证分析</a:t>
            </a:r>
          </a:p>
        </p:txBody>
      </p:sp>
      <p:sp>
        <p:nvSpPr>
          <p:cNvPr id="14" name="文本框 13"/>
          <p:cNvSpPr txBox="1"/>
          <p:nvPr userDrawn="1"/>
        </p:nvSpPr>
        <p:spPr>
          <a:xfrm>
            <a:off x="10711051" y="3434153"/>
            <a:ext cx="1386662"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结论建议</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结论建议_需换右下角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2026/3/14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7" name="文本框 6"/>
          <p:cNvSpPr txBox="1"/>
          <p:nvPr userDrawn="1"/>
        </p:nvSpPr>
        <p:spPr>
          <a:xfrm>
            <a:off x="1302657" y="859160"/>
            <a:ext cx="2373993" cy="307777"/>
          </a:xfrm>
          <a:prstGeom prst="rect">
            <a:avLst/>
          </a:prstGeom>
          <a:noFill/>
        </p:spPr>
        <p:txBody>
          <a:bodyPr wrap="square" rtlCol="0">
            <a:spAutoFit/>
          </a:bodyPr>
          <a:lstStyle/>
          <a:p>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MORESHI POWERPOINT</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userDrawn="1"/>
        </p:nvPicPr>
        <p:blipFill>
          <a:blip r:embed="rId2"/>
          <a:stretch>
            <a:fillRect/>
          </a:stretch>
        </p:blipFill>
        <p:spPr>
          <a:xfrm>
            <a:off x="10997756" y="5566054"/>
            <a:ext cx="813253" cy="815696"/>
          </a:xfrm>
          <a:prstGeom prst="rect">
            <a:avLst/>
          </a:prstGeom>
        </p:spPr>
      </p:pic>
      <p:sp>
        <p:nvSpPr>
          <p:cNvPr id="10" name="等腰三角形 9"/>
          <p:cNvSpPr/>
          <p:nvPr userDrawn="1"/>
        </p:nvSpPr>
        <p:spPr>
          <a:xfrm rot="16200000">
            <a:off x="10400553" y="4353678"/>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框 10"/>
          <p:cNvSpPr txBox="1"/>
          <p:nvPr userDrawn="1"/>
        </p:nvSpPr>
        <p:spPr>
          <a:xfrm>
            <a:off x="10711051" y="1070015"/>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研究概述</a:t>
            </a:r>
          </a:p>
        </p:txBody>
      </p:sp>
      <p:sp>
        <p:nvSpPr>
          <p:cNvPr id="12" name="文本框 11"/>
          <p:cNvSpPr txBox="1"/>
          <p:nvPr userDrawn="1"/>
        </p:nvSpPr>
        <p:spPr>
          <a:xfrm>
            <a:off x="10711051" y="1858061"/>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研究方法</a:t>
            </a:r>
          </a:p>
        </p:txBody>
      </p:sp>
      <p:sp>
        <p:nvSpPr>
          <p:cNvPr id="13" name="文本框 12"/>
          <p:cNvSpPr txBox="1"/>
          <p:nvPr userDrawn="1"/>
        </p:nvSpPr>
        <p:spPr>
          <a:xfrm>
            <a:off x="10711051" y="2646107"/>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研究过程</a:t>
            </a:r>
          </a:p>
        </p:txBody>
      </p:sp>
      <p:sp>
        <p:nvSpPr>
          <p:cNvPr id="14" name="文本框 13"/>
          <p:cNvSpPr txBox="1"/>
          <p:nvPr userDrawn="1"/>
        </p:nvSpPr>
        <p:spPr>
          <a:xfrm>
            <a:off x="10711051" y="3434153"/>
            <a:ext cx="1386662" cy="400110"/>
          </a:xfrm>
          <a:prstGeom prst="rect">
            <a:avLst/>
          </a:prstGeom>
          <a:noFill/>
        </p:spPr>
        <p:txBody>
          <a:bodyPr wrap="square" rtlCol="0">
            <a:spAutoFit/>
          </a:bodyPr>
          <a:lstStyle/>
          <a:p>
            <a:pPr algn="ct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研究成果</a:t>
            </a:r>
          </a:p>
        </p:txBody>
      </p:sp>
      <p:sp>
        <p:nvSpPr>
          <p:cNvPr id="15" name="文本框 14"/>
          <p:cNvSpPr txBox="1"/>
          <p:nvPr userDrawn="1"/>
        </p:nvSpPr>
        <p:spPr>
          <a:xfrm>
            <a:off x="10711051" y="4222199"/>
            <a:ext cx="1386662"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结论建议</a:t>
            </a: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内容版式_右下角通用LOGO">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2026/3/14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7" name="文本框 6"/>
          <p:cNvSpPr txBox="1"/>
          <p:nvPr userDrawn="1"/>
        </p:nvSpPr>
        <p:spPr>
          <a:xfrm>
            <a:off x="1302657" y="859160"/>
            <a:ext cx="2373993" cy="307777"/>
          </a:xfrm>
          <a:prstGeom prst="rect">
            <a:avLst/>
          </a:prstGeom>
          <a:noFill/>
        </p:spPr>
        <p:txBody>
          <a:bodyPr wrap="square" rtlCol="0">
            <a:spAutoFit/>
          </a:bodyPr>
          <a:lstStyle/>
          <a:p>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MORESHI POWERPOINT</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8" name="矩形 7"/>
          <p:cNvSpPr/>
          <p:nvPr userDrawn="1"/>
        </p:nvSpPr>
        <p:spPr>
          <a:xfrm>
            <a:off x="10616765" y="0"/>
            <a:ext cx="15752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userDrawn="1"/>
        </p:nvGrpSpPr>
        <p:grpSpPr>
          <a:xfrm>
            <a:off x="11046201" y="5566054"/>
            <a:ext cx="716362" cy="845938"/>
            <a:chOff x="8367154" y="5203814"/>
            <a:chExt cx="1890395" cy="2232329"/>
          </a:xfrm>
        </p:grpSpPr>
        <p:sp>
          <p:nvSpPr>
            <p:cNvPr id="11" name="Freeform 145"/>
            <p:cNvSpPr/>
            <p:nvPr/>
          </p:nvSpPr>
          <p:spPr bwMode="auto">
            <a:xfrm>
              <a:off x="8367154" y="5203814"/>
              <a:ext cx="1890395" cy="2232329"/>
            </a:xfrm>
            <a:custGeom>
              <a:avLst/>
              <a:gdLst>
                <a:gd name="T0" fmla="*/ 758 w 777"/>
                <a:gd name="T1" fmla="*/ 204 h 918"/>
                <a:gd name="T2" fmla="*/ 389 w 777"/>
                <a:gd name="T3" fmla="*/ 0 h 918"/>
                <a:gd name="T4" fmla="*/ 19 w 777"/>
                <a:gd name="T5" fmla="*/ 204 h 918"/>
                <a:gd name="T6" fmla="*/ 271 w 777"/>
                <a:gd name="T7" fmla="*/ 833 h 918"/>
                <a:gd name="T8" fmla="*/ 389 w 777"/>
                <a:gd name="T9" fmla="*/ 918 h 918"/>
                <a:gd name="T10" fmla="*/ 506 w 777"/>
                <a:gd name="T11" fmla="*/ 832 h 918"/>
                <a:gd name="T12" fmla="*/ 758 w 777"/>
                <a:gd name="T13" fmla="*/ 204 h 918"/>
              </a:gdLst>
              <a:ahLst/>
              <a:cxnLst>
                <a:cxn ang="0">
                  <a:pos x="T0" y="T1"/>
                </a:cxn>
                <a:cxn ang="0">
                  <a:pos x="T2" y="T3"/>
                </a:cxn>
                <a:cxn ang="0">
                  <a:pos x="T4" y="T5"/>
                </a:cxn>
                <a:cxn ang="0">
                  <a:pos x="T6" y="T7"/>
                </a:cxn>
                <a:cxn ang="0">
                  <a:pos x="T8" y="T9"/>
                </a:cxn>
                <a:cxn ang="0">
                  <a:pos x="T10" y="T11"/>
                </a:cxn>
                <a:cxn ang="0">
                  <a:pos x="T12" y="T13"/>
                </a:cxn>
              </a:cxnLst>
              <a:rect l="0" t="0" r="r" b="b"/>
              <a:pathLst>
                <a:path w="777" h="918">
                  <a:moveTo>
                    <a:pt x="758" y="204"/>
                  </a:moveTo>
                  <a:cubicBezTo>
                    <a:pt x="389" y="0"/>
                    <a:pt x="389" y="0"/>
                    <a:pt x="389" y="0"/>
                  </a:cubicBezTo>
                  <a:cubicBezTo>
                    <a:pt x="19" y="204"/>
                    <a:pt x="19" y="204"/>
                    <a:pt x="19" y="204"/>
                  </a:cubicBezTo>
                  <a:cubicBezTo>
                    <a:pt x="19" y="204"/>
                    <a:pt x="0" y="622"/>
                    <a:pt x="271" y="833"/>
                  </a:cubicBezTo>
                  <a:cubicBezTo>
                    <a:pt x="306" y="864"/>
                    <a:pt x="344" y="893"/>
                    <a:pt x="389" y="918"/>
                  </a:cubicBezTo>
                  <a:cubicBezTo>
                    <a:pt x="433" y="893"/>
                    <a:pt x="472" y="864"/>
                    <a:pt x="506" y="832"/>
                  </a:cubicBezTo>
                  <a:cubicBezTo>
                    <a:pt x="777" y="622"/>
                    <a:pt x="758" y="204"/>
                    <a:pt x="758" y="204"/>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12" name="Freeform 146"/>
            <p:cNvSpPr>
              <a:spLocks noEditPoints="1"/>
            </p:cNvSpPr>
            <p:nvPr/>
          </p:nvSpPr>
          <p:spPr bwMode="auto">
            <a:xfrm>
              <a:off x="8530421" y="5338329"/>
              <a:ext cx="1564890" cy="1962273"/>
            </a:xfrm>
            <a:custGeom>
              <a:avLst/>
              <a:gdLst>
                <a:gd name="T0" fmla="*/ 322 w 643"/>
                <a:gd name="T1" fmla="*/ 807 h 807"/>
                <a:gd name="T2" fmla="*/ 317 w 643"/>
                <a:gd name="T3" fmla="*/ 804 h 807"/>
                <a:gd name="T4" fmla="*/ 237 w 643"/>
                <a:gd name="T5" fmla="*/ 742 h 807"/>
                <a:gd name="T6" fmla="*/ 234 w 643"/>
                <a:gd name="T7" fmla="*/ 739 h 807"/>
                <a:gd name="T8" fmla="*/ 0 w 643"/>
                <a:gd name="T9" fmla="*/ 183 h 807"/>
                <a:gd name="T10" fmla="*/ 0 w 643"/>
                <a:gd name="T11" fmla="*/ 178 h 807"/>
                <a:gd name="T12" fmla="*/ 322 w 643"/>
                <a:gd name="T13" fmla="*/ 0 h 807"/>
                <a:gd name="T14" fmla="*/ 643 w 643"/>
                <a:gd name="T15" fmla="*/ 178 h 807"/>
                <a:gd name="T16" fmla="*/ 643 w 643"/>
                <a:gd name="T17" fmla="*/ 183 h 807"/>
                <a:gd name="T18" fmla="*/ 409 w 643"/>
                <a:gd name="T19" fmla="*/ 739 h 807"/>
                <a:gd name="T20" fmla="*/ 406 w 643"/>
                <a:gd name="T21" fmla="*/ 742 h 807"/>
                <a:gd name="T22" fmla="*/ 326 w 643"/>
                <a:gd name="T23" fmla="*/ 804 h 807"/>
                <a:gd name="T24" fmla="*/ 322 w 643"/>
                <a:gd name="T25" fmla="*/ 807 h 807"/>
                <a:gd name="T26" fmla="*/ 18 w 643"/>
                <a:gd name="T27" fmla="*/ 187 h 807"/>
                <a:gd name="T28" fmla="*/ 244 w 643"/>
                <a:gd name="T29" fmla="*/ 726 h 807"/>
                <a:gd name="T30" fmla="*/ 248 w 643"/>
                <a:gd name="T31" fmla="*/ 729 h 807"/>
                <a:gd name="T32" fmla="*/ 322 w 643"/>
                <a:gd name="T33" fmla="*/ 787 h 807"/>
                <a:gd name="T34" fmla="*/ 395 w 643"/>
                <a:gd name="T35" fmla="*/ 729 h 807"/>
                <a:gd name="T36" fmla="*/ 399 w 643"/>
                <a:gd name="T37" fmla="*/ 726 h 807"/>
                <a:gd name="T38" fmla="*/ 625 w 643"/>
                <a:gd name="T39" fmla="*/ 187 h 807"/>
                <a:gd name="T40" fmla="*/ 322 w 643"/>
                <a:gd name="T41" fmla="*/ 19 h 807"/>
                <a:gd name="T42" fmla="*/ 18 w 643"/>
                <a:gd name="T43" fmla="*/ 187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3" h="807">
                  <a:moveTo>
                    <a:pt x="322" y="807"/>
                  </a:moveTo>
                  <a:cubicBezTo>
                    <a:pt x="317" y="804"/>
                    <a:pt x="317" y="804"/>
                    <a:pt x="317" y="804"/>
                  </a:cubicBezTo>
                  <a:cubicBezTo>
                    <a:pt x="289" y="785"/>
                    <a:pt x="262" y="765"/>
                    <a:pt x="237" y="742"/>
                  </a:cubicBezTo>
                  <a:cubicBezTo>
                    <a:pt x="236" y="741"/>
                    <a:pt x="235" y="740"/>
                    <a:pt x="234" y="739"/>
                  </a:cubicBezTo>
                  <a:cubicBezTo>
                    <a:pt x="26" y="578"/>
                    <a:pt x="3" y="273"/>
                    <a:pt x="0" y="183"/>
                  </a:cubicBezTo>
                  <a:cubicBezTo>
                    <a:pt x="0" y="178"/>
                    <a:pt x="0" y="178"/>
                    <a:pt x="0" y="178"/>
                  </a:cubicBezTo>
                  <a:cubicBezTo>
                    <a:pt x="322" y="0"/>
                    <a:pt x="322" y="0"/>
                    <a:pt x="322" y="0"/>
                  </a:cubicBezTo>
                  <a:cubicBezTo>
                    <a:pt x="643" y="178"/>
                    <a:pt x="643" y="178"/>
                    <a:pt x="643" y="178"/>
                  </a:cubicBezTo>
                  <a:cubicBezTo>
                    <a:pt x="643" y="183"/>
                    <a:pt x="643" y="183"/>
                    <a:pt x="643" y="183"/>
                  </a:cubicBezTo>
                  <a:cubicBezTo>
                    <a:pt x="640" y="273"/>
                    <a:pt x="617" y="578"/>
                    <a:pt x="409" y="739"/>
                  </a:cubicBezTo>
                  <a:cubicBezTo>
                    <a:pt x="408" y="740"/>
                    <a:pt x="407" y="741"/>
                    <a:pt x="406" y="742"/>
                  </a:cubicBezTo>
                  <a:cubicBezTo>
                    <a:pt x="382" y="764"/>
                    <a:pt x="355" y="785"/>
                    <a:pt x="326" y="804"/>
                  </a:cubicBezTo>
                  <a:lnTo>
                    <a:pt x="322" y="807"/>
                  </a:lnTo>
                  <a:close/>
                  <a:moveTo>
                    <a:pt x="18" y="187"/>
                  </a:moveTo>
                  <a:cubicBezTo>
                    <a:pt x="21" y="281"/>
                    <a:pt x="46" y="572"/>
                    <a:pt x="244" y="726"/>
                  </a:cubicBezTo>
                  <a:cubicBezTo>
                    <a:pt x="246" y="727"/>
                    <a:pt x="247" y="728"/>
                    <a:pt x="248" y="729"/>
                  </a:cubicBezTo>
                  <a:cubicBezTo>
                    <a:pt x="271" y="750"/>
                    <a:pt x="296" y="769"/>
                    <a:pt x="322" y="787"/>
                  </a:cubicBezTo>
                  <a:cubicBezTo>
                    <a:pt x="347" y="769"/>
                    <a:pt x="372" y="750"/>
                    <a:pt x="395" y="729"/>
                  </a:cubicBezTo>
                  <a:cubicBezTo>
                    <a:pt x="396" y="728"/>
                    <a:pt x="397" y="727"/>
                    <a:pt x="399" y="726"/>
                  </a:cubicBezTo>
                  <a:cubicBezTo>
                    <a:pt x="597" y="572"/>
                    <a:pt x="623" y="281"/>
                    <a:pt x="625" y="187"/>
                  </a:cubicBezTo>
                  <a:cubicBezTo>
                    <a:pt x="322" y="19"/>
                    <a:pt x="322" y="19"/>
                    <a:pt x="322" y="19"/>
                  </a:cubicBezTo>
                  <a:lnTo>
                    <a:pt x="18" y="187"/>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3" name="Freeform 147"/>
            <p:cNvSpPr>
              <a:spLocks noEditPoints="1"/>
            </p:cNvSpPr>
            <p:nvPr/>
          </p:nvSpPr>
          <p:spPr bwMode="auto">
            <a:xfrm>
              <a:off x="8462650" y="5260290"/>
              <a:ext cx="1700431" cy="2120404"/>
            </a:xfrm>
            <a:custGeom>
              <a:avLst/>
              <a:gdLst>
                <a:gd name="T0" fmla="*/ 350 w 699"/>
                <a:gd name="T1" fmla="*/ 872 h 872"/>
                <a:gd name="T2" fmla="*/ 348 w 699"/>
                <a:gd name="T3" fmla="*/ 871 h 872"/>
                <a:gd name="T4" fmla="*/ 246 w 699"/>
                <a:gd name="T5" fmla="*/ 795 h 872"/>
                <a:gd name="T6" fmla="*/ 245 w 699"/>
                <a:gd name="T7" fmla="*/ 794 h 872"/>
                <a:gd name="T8" fmla="*/ 0 w 699"/>
                <a:gd name="T9" fmla="*/ 195 h 872"/>
                <a:gd name="T10" fmla="*/ 0 w 699"/>
                <a:gd name="T11" fmla="*/ 193 h 872"/>
                <a:gd name="T12" fmla="*/ 350 w 699"/>
                <a:gd name="T13" fmla="*/ 0 h 872"/>
                <a:gd name="T14" fmla="*/ 699 w 699"/>
                <a:gd name="T15" fmla="*/ 193 h 872"/>
                <a:gd name="T16" fmla="*/ 699 w 699"/>
                <a:gd name="T17" fmla="*/ 195 h 872"/>
                <a:gd name="T18" fmla="*/ 455 w 699"/>
                <a:gd name="T19" fmla="*/ 794 h 872"/>
                <a:gd name="T20" fmla="*/ 453 w 699"/>
                <a:gd name="T21" fmla="*/ 795 h 872"/>
                <a:gd name="T22" fmla="*/ 351 w 699"/>
                <a:gd name="T23" fmla="*/ 871 h 872"/>
                <a:gd name="T24" fmla="*/ 350 w 699"/>
                <a:gd name="T25" fmla="*/ 872 h 872"/>
                <a:gd name="T26" fmla="*/ 6 w 699"/>
                <a:gd name="T27" fmla="*/ 196 h 872"/>
                <a:gd name="T28" fmla="*/ 248 w 699"/>
                <a:gd name="T29" fmla="*/ 789 h 872"/>
                <a:gd name="T30" fmla="*/ 250 w 699"/>
                <a:gd name="T31" fmla="*/ 791 h 872"/>
                <a:gd name="T32" fmla="*/ 350 w 699"/>
                <a:gd name="T33" fmla="*/ 866 h 872"/>
                <a:gd name="T34" fmla="*/ 450 w 699"/>
                <a:gd name="T35" fmla="*/ 791 h 872"/>
                <a:gd name="T36" fmla="*/ 451 w 699"/>
                <a:gd name="T37" fmla="*/ 789 h 872"/>
                <a:gd name="T38" fmla="*/ 694 w 699"/>
                <a:gd name="T39" fmla="*/ 196 h 872"/>
                <a:gd name="T40" fmla="*/ 350 w 699"/>
                <a:gd name="T41" fmla="*/ 6 h 872"/>
                <a:gd name="T42" fmla="*/ 6 w 699"/>
                <a:gd name="T43" fmla="*/ 196 h 8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99" h="872">
                  <a:moveTo>
                    <a:pt x="350" y="872"/>
                  </a:moveTo>
                  <a:cubicBezTo>
                    <a:pt x="348" y="871"/>
                    <a:pt x="348" y="871"/>
                    <a:pt x="348" y="871"/>
                  </a:cubicBezTo>
                  <a:cubicBezTo>
                    <a:pt x="312" y="849"/>
                    <a:pt x="277" y="823"/>
                    <a:pt x="246" y="795"/>
                  </a:cubicBezTo>
                  <a:cubicBezTo>
                    <a:pt x="245" y="795"/>
                    <a:pt x="245" y="794"/>
                    <a:pt x="245" y="794"/>
                  </a:cubicBezTo>
                  <a:cubicBezTo>
                    <a:pt x="11" y="612"/>
                    <a:pt x="0" y="263"/>
                    <a:pt x="0" y="195"/>
                  </a:cubicBezTo>
                  <a:cubicBezTo>
                    <a:pt x="0" y="193"/>
                    <a:pt x="0" y="193"/>
                    <a:pt x="0" y="193"/>
                  </a:cubicBezTo>
                  <a:cubicBezTo>
                    <a:pt x="350" y="0"/>
                    <a:pt x="350" y="0"/>
                    <a:pt x="350" y="0"/>
                  </a:cubicBezTo>
                  <a:cubicBezTo>
                    <a:pt x="699" y="193"/>
                    <a:pt x="699" y="193"/>
                    <a:pt x="699" y="193"/>
                  </a:cubicBezTo>
                  <a:cubicBezTo>
                    <a:pt x="699" y="195"/>
                    <a:pt x="699" y="195"/>
                    <a:pt x="699" y="195"/>
                  </a:cubicBezTo>
                  <a:cubicBezTo>
                    <a:pt x="699" y="263"/>
                    <a:pt x="689" y="612"/>
                    <a:pt x="455" y="794"/>
                  </a:cubicBezTo>
                  <a:cubicBezTo>
                    <a:pt x="454" y="794"/>
                    <a:pt x="454" y="794"/>
                    <a:pt x="453" y="795"/>
                  </a:cubicBezTo>
                  <a:cubicBezTo>
                    <a:pt x="422" y="823"/>
                    <a:pt x="388" y="849"/>
                    <a:pt x="351" y="871"/>
                  </a:cubicBezTo>
                  <a:lnTo>
                    <a:pt x="350" y="872"/>
                  </a:lnTo>
                  <a:close/>
                  <a:moveTo>
                    <a:pt x="6" y="196"/>
                  </a:moveTo>
                  <a:cubicBezTo>
                    <a:pt x="6" y="268"/>
                    <a:pt x="18" y="611"/>
                    <a:pt x="248" y="789"/>
                  </a:cubicBezTo>
                  <a:cubicBezTo>
                    <a:pt x="249" y="790"/>
                    <a:pt x="249" y="790"/>
                    <a:pt x="250" y="791"/>
                  </a:cubicBezTo>
                  <a:cubicBezTo>
                    <a:pt x="280" y="819"/>
                    <a:pt x="314" y="844"/>
                    <a:pt x="350" y="866"/>
                  </a:cubicBezTo>
                  <a:cubicBezTo>
                    <a:pt x="385" y="844"/>
                    <a:pt x="419" y="819"/>
                    <a:pt x="450" y="791"/>
                  </a:cubicBezTo>
                  <a:cubicBezTo>
                    <a:pt x="450" y="790"/>
                    <a:pt x="451" y="790"/>
                    <a:pt x="451" y="789"/>
                  </a:cubicBezTo>
                  <a:cubicBezTo>
                    <a:pt x="681" y="611"/>
                    <a:pt x="694" y="268"/>
                    <a:pt x="694" y="196"/>
                  </a:cubicBezTo>
                  <a:cubicBezTo>
                    <a:pt x="350" y="6"/>
                    <a:pt x="350" y="6"/>
                    <a:pt x="350" y="6"/>
                  </a:cubicBezTo>
                  <a:lnTo>
                    <a:pt x="6" y="196"/>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4" name="Freeform 261"/>
            <p:cNvSpPr>
              <a:spLocks noEditPoints="1"/>
            </p:cNvSpPr>
            <p:nvPr/>
          </p:nvSpPr>
          <p:spPr bwMode="auto">
            <a:xfrm>
              <a:off x="9015085" y="5797322"/>
              <a:ext cx="595562" cy="853296"/>
            </a:xfrm>
            <a:custGeom>
              <a:avLst/>
              <a:gdLst>
                <a:gd name="T0" fmla="*/ 580 w 580"/>
                <a:gd name="T1" fmla="*/ 831 h 831"/>
                <a:gd name="T2" fmla="*/ 0 w 580"/>
                <a:gd name="T3" fmla="*/ 831 h 831"/>
                <a:gd name="T4" fmla="*/ 0 w 580"/>
                <a:gd name="T5" fmla="*/ 611 h 831"/>
                <a:gd name="T6" fmla="*/ 61 w 580"/>
                <a:gd name="T7" fmla="*/ 611 h 831"/>
                <a:gd name="T8" fmla="*/ 61 w 580"/>
                <a:gd name="T9" fmla="*/ 220 h 831"/>
                <a:gd name="T10" fmla="*/ 0 w 580"/>
                <a:gd name="T11" fmla="*/ 220 h 831"/>
                <a:gd name="T12" fmla="*/ 0 w 580"/>
                <a:gd name="T13" fmla="*/ 0 h 831"/>
                <a:gd name="T14" fmla="*/ 367 w 580"/>
                <a:gd name="T15" fmla="*/ 0 h 831"/>
                <a:gd name="T16" fmla="*/ 367 w 580"/>
                <a:gd name="T17" fmla="*/ 220 h 831"/>
                <a:gd name="T18" fmla="*/ 289 w 580"/>
                <a:gd name="T19" fmla="*/ 220 h 831"/>
                <a:gd name="T20" fmla="*/ 289 w 580"/>
                <a:gd name="T21" fmla="*/ 611 h 831"/>
                <a:gd name="T22" fmla="*/ 360 w 580"/>
                <a:gd name="T23" fmla="*/ 611 h 831"/>
                <a:gd name="T24" fmla="*/ 360 w 580"/>
                <a:gd name="T25" fmla="*/ 516 h 831"/>
                <a:gd name="T26" fmla="*/ 580 w 580"/>
                <a:gd name="T27" fmla="*/ 516 h 831"/>
                <a:gd name="T28" fmla="*/ 580 w 580"/>
                <a:gd name="T29" fmla="*/ 831 h 831"/>
                <a:gd name="T30" fmla="*/ 568 w 580"/>
                <a:gd name="T31" fmla="*/ 817 h 831"/>
                <a:gd name="T32" fmla="*/ 568 w 580"/>
                <a:gd name="T33" fmla="*/ 528 h 831"/>
                <a:gd name="T34" fmla="*/ 372 w 580"/>
                <a:gd name="T35" fmla="*/ 528 h 831"/>
                <a:gd name="T36" fmla="*/ 372 w 580"/>
                <a:gd name="T37" fmla="*/ 623 h 831"/>
                <a:gd name="T38" fmla="*/ 277 w 580"/>
                <a:gd name="T39" fmla="*/ 623 h 831"/>
                <a:gd name="T40" fmla="*/ 277 w 580"/>
                <a:gd name="T41" fmla="*/ 208 h 831"/>
                <a:gd name="T42" fmla="*/ 357 w 580"/>
                <a:gd name="T43" fmla="*/ 208 h 831"/>
                <a:gd name="T44" fmla="*/ 357 w 580"/>
                <a:gd name="T45" fmla="*/ 14 h 831"/>
                <a:gd name="T46" fmla="*/ 12 w 580"/>
                <a:gd name="T47" fmla="*/ 14 h 831"/>
                <a:gd name="T48" fmla="*/ 12 w 580"/>
                <a:gd name="T49" fmla="*/ 208 h 831"/>
                <a:gd name="T50" fmla="*/ 75 w 580"/>
                <a:gd name="T51" fmla="*/ 208 h 831"/>
                <a:gd name="T52" fmla="*/ 75 w 580"/>
                <a:gd name="T53" fmla="*/ 623 h 831"/>
                <a:gd name="T54" fmla="*/ 12 w 580"/>
                <a:gd name="T55" fmla="*/ 623 h 831"/>
                <a:gd name="T56" fmla="*/ 12 w 580"/>
                <a:gd name="T57" fmla="*/ 817 h 831"/>
                <a:gd name="T58" fmla="*/ 568 w 580"/>
                <a:gd name="T59" fmla="*/ 817 h 831"/>
                <a:gd name="T60" fmla="*/ 530 w 580"/>
                <a:gd name="T61" fmla="*/ 779 h 831"/>
                <a:gd name="T62" fmla="*/ 52 w 580"/>
                <a:gd name="T63" fmla="*/ 779 h 831"/>
                <a:gd name="T64" fmla="*/ 52 w 580"/>
                <a:gd name="T65" fmla="*/ 663 h 831"/>
                <a:gd name="T66" fmla="*/ 113 w 580"/>
                <a:gd name="T67" fmla="*/ 663 h 831"/>
                <a:gd name="T68" fmla="*/ 113 w 580"/>
                <a:gd name="T69" fmla="*/ 168 h 831"/>
                <a:gd name="T70" fmla="*/ 52 w 580"/>
                <a:gd name="T71" fmla="*/ 168 h 831"/>
                <a:gd name="T72" fmla="*/ 52 w 580"/>
                <a:gd name="T73" fmla="*/ 52 h 831"/>
                <a:gd name="T74" fmla="*/ 317 w 580"/>
                <a:gd name="T75" fmla="*/ 52 h 831"/>
                <a:gd name="T76" fmla="*/ 317 w 580"/>
                <a:gd name="T77" fmla="*/ 168 h 831"/>
                <a:gd name="T78" fmla="*/ 237 w 580"/>
                <a:gd name="T79" fmla="*/ 168 h 831"/>
                <a:gd name="T80" fmla="*/ 237 w 580"/>
                <a:gd name="T81" fmla="*/ 663 h 831"/>
                <a:gd name="T82" fmla="*/ 410 w 580"/>
                <a:gd name="T83" fmla="*/ 663 h 831"/>
                <a:gd name="T84" fmla="*/ 410 w 580"/>
                <a:gd name="T85" fmla="*/ 566 h 831"/>
                <a:gd name="T86" fmla="*/ 530 w 580"/>
                <a:gd name="T87" fmla="*/ 566 h 831"/>
                <a:gd name="T88" fmla="*/ 530 w 580"/>
                <a:gd name="T89" fmla="*/ 779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80" h="831">
                  <a:moveTo>
                    <a:pt x="580" y="831"/>
                  </a:moveTo>
                  <a:lnTo>
                    <a:pt x="0" y="831"/>
                  </a:lnTo>
                  <a:lnTo>
                    <a:pt x="0" y="611"/>
                  </a:lnTo>
                  <a:lnTo>
                    <a:pt x="61" y="611"/>
                  </a:lnTo>
                  <a:lnTo>
                    <a:pt x="61" y="220"/>
                  </a:lnTo>
                  <a:lnTo>
                    <a:pt x="0" y="220"/>
                  </a:lnTo>
                  <a:lnTo>
                    <a:pt x="0" y="0"/>
                  </a:lnTo>
                  <a:lnTo>
                    <a:pt x="367" y="0"/>
                  </a:lnTo>
                  <a:lnTo>
                    <a:pt x="367" y="220"/>
                  </a:lnTo>
                  <a:lnTo>
                    <a:pt x="289" y="220"/>
                  </a:lnTo>
                  <a:lnTo>
                    <a:pt x="289" y="611"/>
                  </a:lnTo>
                  <a:lnTo>
                    <a:pt x="360" y="611"/>
                  </a:lnTo>
                  <a:lnTo>
                    <a:pt x="360" y="516"/>
                  </a:lnTo>
                  <a:lnTo>
                    <a:pt x="580" y="516"/>
                  </a:lnTo>
                  <a:lnTo>
                    <a:pt x="580" y="831"/>
                  </a:lnTo>
                  <a:close/>
                  <a:moveTo>
                    <a:pt x="568" y="817"/>
                  </a:moveTo>
                  <a:lnTo>
                    <a:pt x="568" y="528"/>
                  </a:lnTo>
                  <a:lnTo>
                    <a:pt x="372" y="528"/>
                  </a:lnTo>
                  <a:lnTo>
                    <a:pt x="372" y="623"/>
                  </a:lnTo>
                  <a:lnTo>
                    <a:pt x="277" y="623"/>
                  </a:lnTo>
                  <a:lnTo>
                    <a:pt x="277" y="208"/>
                  </a:lnTo>
                  <a:lnTo>
                    <a:pt x="357" y="208"/>
                  </a:lnTo>
                  <a:lnTo>
                    <a:pt x="357" y="14"/>
                  </a:lnTo>
                  <a:lnTo>
                    <a:pt x="12" y="14"/>
                  </a:lnTo>
                  <a:lnTo>
                    <a:pt x="12" y="208"/>
                  </a:lnTo>
                  <a:lnTo>
                    <a:pt x="75" y="208"/>
                  </a:lnTo>
                  <a:lnTo>
                    <a:pt x="75" y="623"/>
                  </a:lnTo>
                  <a:lnTo>
                    <a:pt x="12" y="623"/>
                  </a:lnTo>
                  <a:lnTo>
                    <a:pt x="12" y="817"/>
                  </a:lnTo>
                  <a:lnTo>
                    <a:pt x="568" y="817"/>
                  </a:lnTo>
                  <a:close/>
                  <a:moveTo>
                    <a:pt x="530" y="779"/>
                  </a:moveTo>
                  <a:lnTo>
                    <a:pt x="52" y="779"/>
                  </a:lnTo>
                  <a:lnTo>
                    <a:pt x="52" y="663"/>
                  </a:lnTo>
                  <a:lnTo>
                    <a:pt x="113" y="663"/>
                  </a:lnTo>
                  <a:lnTo>
                    <a:pt x="113" y="168"/>
                  </a:lnTo>
                  <a:lnTo>
                    <a:pt x="52" y="168"/>
                  </a:lnTo>
                  <a:lnTo>
                    <a:pt x="52" y="52"/>
                  </a:lnTo>
                  <a:lnTo>
                    <a:pt x="317" y="52"/>
                  </a:lnTo>
                  <a:lnTo>
                    <a:pt x="317" y="168"/>
                  </a:lnTo>
                  <a:lnTo>
                    <a:pt x="237" y="168"/>
                  </a:lnTo>
                  <a:lnTo>
                    <a:pt x="237" y="663"/>
                  </a:lnTo>
                  <a:lnTo>
                    <a:pt x="410" y="663"/>
                  </a:lnTo>
                  <a:lnTo>
                    <a:pt x="410" y="566"/>
                  </a:lnTo>
                  <a:lnTo>
                    <a:pt x="530" y="566"/>
                  </a:lnTo>
                  <a:lnTo>
                    <a:pt x="530" y="779"/>
                  </a:lnTo>
                  <a:close/>
                </a:path>
              </a:pathLst>
            </a:custGeom>
            <a:solidFill>
              <a:schemeClr val="accent2"/>
            </a:solidFill>
            <a:ln>
              <a:solidFill>
                <a:schemeClr val="accent1"/>
              </a:solidFill>
            </a:ln>
          </p:spPr>
          <p:txBody>
            <a:bodyPr vert="horz" wrap="square" lIns="91440" tIns="45720" rIns="91440" bIns="45720" numCol="1" anchor="t" anchorCtr="0" compatLnSpc="1"/>
            <a:lstStyle/>
            <a:p>
              <a:endParaRPr lang="zh-CN" altLang="en-US"/>
            </a:p>
          </p:txBody>
        </p:sp>
      </p:gr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0741C5-8F5C-4213-BB69-8C2D02590C1C}" type="datetimeFigureOut">
              <a:rPr lang="zh-CN" altLang="en-US" smtClean="0"/>
              <a:t>2026/3/14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8893EA9-123D-489F-8313-43A8A4AC4565}" type="slidenum">
              <a:rPr lang="zh-CN" altLang="en-US" smtClean="0"/>
              <a:t>‹#›</a:t>
            </a:fld>
            <a:endParaRPr lang="zh-CN" alt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使用说明">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9A0741C5-8F5C-4213-BB69-8C2D02590C1C}" type="datetimeFigureOut">
              <a:rPr lang="zh-CN" altLang="en-US" smtClean="0"/>
              <a:t>2026/3/14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chemeClr val="tx1">
                    <a:lumMod val="60000"/>
                    <a:lumOff val="40000"/>
                  </a:schemeClr>
                </a:solidFill>
                <a:latin typeface="+mn-lt"/>
              </a:defRPr>
            </a:lvl1pPr>
          </a:lstStyle>
          <a:p>
            <a:r>
              <a:rPr lang="en-US" altLang="zh-CN" dirty="0"/>
              <a:t>P</a:t>
            </a:r>
            <a:fld id="{38893EA9-123D-489F-8313-43A8A4AC4565}" type="slidenum">
              <a:rPr lang="zh-CN" altLang="en-US" dirty="0" smtClean="0"/>
              <a:t>‹#›</a:t>
            </a:fld>
            <a:endParaRPr lang="zh-CN" altLang="en-US" dirty="0"/>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7" name="文本框 6"/>
          <p:cNvSpPr txBox="1"/>
          <p:nvPr userDrawn="1"/>
        </p:nvSpPr>
        <p:spPr>
          <a:xfrm>
            <a:off x="1302657" y="859160"/>
            <a:ext cx="2373993" cy="307777"/>
          </a:xfrm>
          <a:prstGeom prst="rect">
            <a:avLst/>
          </a:prstGeom>
          <a:noFill/>
        </p:spPr>
        <p:txBody>
          <a:bodyPr wrap="square" rtlCol="0">
            <a:spAutoFit/>
          </a:bodyPr>
          <a:lstStyle/>
          <a:p>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MORESHI POWERPOINT</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0741C5-8F5C-4213-BB69-8C2D02590C1C}" type="datetimeFigureOut">
              <a:rPr lang="zh-CN" altLang="en-US" smtClean="0"/>
              <a:t>2026/3/14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93EA9-123D-489F-8313-43A8A4AC456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 Id="rId5" Type="http://schemas.openxmlformats.org/officeDocument/2006/relationships/image" Target="../media/image36.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矩形 44"/>
          <p:cNvSpPr/>
          <p:nvPr/>
        </p:nvSpPr>
        <p:spPr>
          <a:xfrm>
            <a:off x="0" y="1625600"/>
            <a:ext cx="12192000" cy="32076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5"/>
          <p:cNvSpPr>
            <a:spLocks noEditPoints="1"/>
          </p:cNvSpPr>
          <p:nvPr/>
        </p:nvSpPr>
        <p:spPr bwMode="auto">
          <a:xfrm>
            <a:off x="8599210" y="5440828"/>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5" name="文本框 34"/>
          <p:cNvSpPr txBox="1"/>
          <p:nvPr/>
        </p:nvSpPr>
        <p:spPr>
          <a:xfrm>
            <a:off x="768235" y="2123113"/>
            <a:ext cx="10655530" cy="923330"/>
          </a:xfrm>
          <a:prstGeom prst="rect">
            <a:avLst/>
          </a:prstGeom>
          <a:noFill/>
        </p:spPr>
        <p:txBody>
          <a:bodyPr wrap="square" rtlCol="0">
            <a:spAutoFit/>
          </a:bodyPr>
          <a:lstStyle/>
          <a:p>
            <a:pPr algn="ctr"/>
            <a:r>
              <a:rPr lang="zh-CN" altLang="en-US" sz="5400" b="1" dirty="0">
                <a:solidFill>
                  <a:schemeClr val="bg1"/>
                </a:solidFill>
                <a:latin typeface="楷体" panose="02010609060101010101" pitchFamily="49" charset="-122"/>
                <a:ea typeface="楷体" panose="02010609060101010101" pitchFamily="49" charset="-122"/>
              </a:rPr>
              <a:t>连结型长期护理保险最优决策研究</a:t>
            </a:r>
          </a:p>
        </p:txBody>
      </p:sp>
      <p:pic>
        <p:nvPicPr>
          <p:cNvPr id="46" name="图片 45"/>
          <p:cNvPicPr>
            <a:picLocks noChangeAspect="1"/>
          </p:cNvPicPr>
          <p:nvPr/>
        </p:nvPicPr>
        <p:blipFill>
          <a:blip r:embed="rId2"/>
          <a:stretch>
            <a:fillRect/>
          </a:stretch>
        </p:blipFill>
        <p:spPr>
          <a:xfrm>
            <a:off x="550863" y="476250"/>
            <a:ext cx="2325687" cy="658287"/>
          </a:xfrm>
          <a:prstGeom prst="rect">
            <a:avLst/>
          </a:prstGeom>
        </p:spPr>
      </p:pic>
      <p:sp>
        <p:nvSpPr>
          <p:cNvPr id="47" name="文本框 46"/>
          <p:cNvSpPr txBox="1"/>
          <p:nvPr/>
        </p:nvSpPr>
        <p:spPr>
          <a:xfrm>
            <a:off x="1428320" y="3190012"/>
            <a:ext cx="9335360" cy="523220"/>
          </a:xfrm>
          <a:prstGeom prst="rect">
            <a:avLst/>
          </a:prstGeom>
          <a:noFill/>
        </p:spPr>
        <p:txBody>
          <a:bodyPr wrap="square" rtlCol="0">
            <a:spAutoFit/>
          </a:bodyPr>
          <a:lstStyle/>
          <a:p>
            <a:pPr algn="ctr"/>
            <a:r>
              <a:rPr lang="en-US" altLang="zh-CN" sz="2800" dirty="0">
                <a:solidFill>
                  <a:schemeClr val="bg1"/>
                </a:solidFill>
                <a:latin typeface="Times New Roman" panose="02020603050405020304" pitchFamily="18" charset="0"/>
                <a:ea typeface="华文细黑" panose="02010600040101010101" pitchFamily="2" charset="-122"/>
                <a:cs typeface="Times New Roman" panose="02020603050405020304" pitchFamily="18" charset="0"/>
              </a:rPr>
              <a:t>Optimal Decision-making of Joint Long-term Care Insurance</a:t>
            </a:r>
            <a:endParaRPr lang="zh-CN" altLang="en-US" sz="2800" dirty="0">
              <a:solidFill>
                <a:schemeClr val="bg1"/>
              </a:solidFill>
              <a:latin typeface="Times New Roman" panose="02020603050405020304" pitchFamily="18" charset="0"/>
              <a:ea typeface="华文细黑" panose="02010600040101010101" pitchFamily="2" charset="-122"/>
              <a:cs typeface="Times New Roman" panose="02020603050405020304" pitchFamily="18" charset="0"/>
            </a:endParaRPr>
          </a:p>
        </p:txBody>
      </p:sp>
      <p:cxnSp>
        <p:nvCxnSpPr>
          <p:cNvPr id="5" name="直接连接符 4"/>
          <p:cNvCxnSpPr/>
          <p:nvPr/>
        </p:nvCxnSpPr>
        <p:spPr>
          <a:xfrm>
            <a:off x="2132012" y="4204632"/>
            <a:ext cx="2628673"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2394858" y="3918525"/>
            <a:ext cx="7402285" cy="534035"/>
          </a:xfrm>
          <a:prstGeom prst="rect">
            <a:avLst/>
          </a:prstGeom>
          <a:noFill/>
        </p:spPr>
        <p:txBody>
          <a:bodyPr wrap="square" rtlCol="0">
            <a:spAutoFit/>
          </a:bodyPr>
          <a:lstStyle/>
          <a:p>
            <a:pPr algn="ctr">
              <a:lnSpc>
                <a:spcPct val="120000"/>
              </a:lnSpc>
            </a:pPr>
            <a:r>
              <a:rPr lang="zh-CN" altLang="en-US" sz="2400" dirty="0">
                <a:solidFill>
                  <a:schemeClr val="bg1"/>
                </a:solidFill>
                <a:latin typeface="+mj-ea"/>
                <a:ea typeface="+mj-ea"/>
              </a:rPr>
              <a:t>汇报人：</a:t>
            </a:r>
            <a:r>
              <a:rPr lang="en-US" altLang="zh-CN" sz="2400" dirty="0">
                <a:solidFill>
                  <a:schemeClr val="bg1"/>
                </a:solidFill>
                <a:latin typeface="+mj-ea"/>
                <a:ea typeface="+mj-ea"/>
              </a:rPr>
              <a:t>xxx</a:t>
            </a:r>
          </a:p>
        </p:txBody>
      </p:sp>
      <p:sp>
        <p:nvSpPr>
          <p:cNvPr id="12" name="等腰三角形 11"/>
          <p:cNvSpPr/>
          <p:nvPr/>
        </p:nvSpPr>
        <p:spPr>
          <a:xfrm flipV="1">
            <a:off x="8977053" y="482155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cxnSp>
        <p:nvCxnSpPr>
          <p:cNvPr id="53" name="直接连接符 52"/>
          <p:cNvCxnSpPr/>
          <p:nvPr/>
        </p:nvCxnSpPr>
        <p:spPr>
          <a:xfrm>
            <a:off x="7442983" y="4204632"/>
            <a:ext cx="2543402"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Tm="8907">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134952" y="1232694"/>
            <a:ext cx="2232837" cy="752473"/>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7134952" y="1476549"/>
            <a:ext cx="2232836" cy="523220"/>
          </a:xfrm>
          <a:prstGeom prst="rect">
            <a:avLst/>
          </a:prstGeom>
          <a:noFill/>
        </p:spPr>
        <p:txBody>
          <a:bodyPr wrap="square" rtlCol="0">
            <a:spAutoFit/>
          </a:bodyPr>
          <a:lstStyle/>
          <a:p>
            <a:pPr algn="ctr"/>
            <a:r>
              <a:rPr lang="zh-CN" altLang="en-US" sz="2800" dirty="0">
                <a:solidFill>
                  <a:schemeClr val="tx1">
                    <a:lumMod val="60000"/>
                    <a:lumOff val="40000"/>
                  </a:schemeClr>
                </a:solidFill>
                <a:latin typeface="华文细黑" panose="02010600040101010101" pitchFamily="2" charset="-122"/>
                <a:ea typeface="华文细黑" panose="02010600040101010101" pitchFamily="2" charset="-122"/>
                <a:cs typeface="Arial" panose="020B0604020202020204" pitchFamily="34" charset="0"/>
              </a:rPr>
              <a:t>目录</a:t>
            </a:r>
          </a:p>
        </p:txBody>
      </p:sp>
      <p:sp>
        <p:nvSpPr>
          <p:cNvPr id="7" name="矩形 6"/>
          <p:cNvSpPr/>
          <p:nvPr/>
        </p:nvSpPr>
        <p:spPr>
          <a:xfrm>
            <a:off x="7868216" y="1181111"/>
            <a:ext cx="766308" cy="2039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Freeform 5"/>
          <p:cNvSpPr>
            <a:spLocks noEditPoints="1"/>
          </p:cNvSpPr>
          <p:nvPr/>
        </p:nvSpPr>
        <p:spPr bwMode="auto">
          <a:xfrm>
            <a:off x="7868216" y="853175"/>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32" name="矩形 31"/>
          <p:cNvSpPr/>
          <p:nvPr/>
        </p:nvSpPr>
        <p:spPr>
          <a:xfrm>
            <a:off x="0" y="0"/>
            <a:ext cx="4191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nvSpPr>
        <p:spPr>
          <a:xfrm rot="5400000" flipH="1">
            <a:off x="4101353" y="1469709"/>
            <a:ext cx="295275" cy="13715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2" name="组合 1"/>
          <p:cNvGrpSpPr/>
          <p:nvPr/>
        </p:nvGrpSpPr>
        <p:grpSpPr>
          <a:xfrm>
            <a:off x="6180804" y="2420905"/>
            <a:ext cx="4219192" cy="461665"/>
            <a:chOff x="7420068" y="2476041"/>
            <a:chExt cx="4219192" cy="461665"/>
          </a:xfrm>
        </p:grpSpPr>
        <p:sp>
          <p:nvSpPr>
            <p:cNvPr id="35" name="文本框 34"/>
            <p:cNvSpPr txBox="1"/>
            <p:nvPr/>
          </p:nvSpPr>
          <p:spPr>
            <a:xfrm>
              <a:off x="7788113" y="2476041"/>
              <a:ext cx="3851147"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研究背景  </a:t>
              </a:r>
              <a:r>
                <a:rPr lang="en-US" altLang="zh-CN" dirty="0">
                  <a:solidFill>
                    <a:schemeClr val="tx1">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Research Background</a:t>
              </a:r>
              <a:endParaRPr lang="zh-CN" altLang="en-US" dirty="0">
                <a:solidFill>
                  <a:schemeClr val="tx1">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2" name="Freeform 9"/>
            <p:cNvSpPr/>
            <p:nvPr/>
          </p:nvSpPr>
          <p:spPr bwMode="auto">
            <a:xfrm>
              <a:off x="7420068" y="2558752"/>
              <a:ext cx="270832" cy="259124"/>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grpSp>
        <p:nvGrpSpPr>
          <p:cNvPr id="130" name="组合 129"/>
          <p:cNvGrpSpPr/>
          <p:nvPr/>
        </p:nvGrpSpPr>
        <p:grpSpPr>
          <a:xfrm>
            <a:off x="6180804" y="3344743"/>
            <a:ext cx="3910640" cy="461665"/>
            <a:chOff x="7420068" y="2476753"/>
            <a:chExt cx="3910640" cy="461665"/>
          </a:xfrm>
        </p:grpSpPr>
        <p:sp>
          <p:nvSpPr>
            <p:cNvPr id="131" name="文本框 130"/>
            <p:cNvSpPr txBox="1"/>
            <p:nvPr/>
          </p:nvSpPr>
          <p:spPr>
            <a:xfrm>
              <a:off x="7788113" y="2476753"/>
              <a:ext cx="3542595"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理论模型  </a:t>
              </a:r>
              <a:r>
                <a:rPr lang="en-US" altLang="zh-CN" dirty="0">
                  <a:solidFill>
                    <a:schemeClr val="tx1">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Theoretical Model</a:t>
              </a:r>
              <a:endParaRPr lang="zh-CN" altLang="en-US" dirty="0">
                <a:solidFill>
                  <a:schemeClr val="tx1">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2" name="Freeform 9"/>
            <p:cNvSpPr/>
            <p:nvPr/>
          </p:nvSpPr>
          <p:spPr bwMode="auto">
            <a:xfrm>
              <a:off x="7420068" y="2558752"/>
              <a:ext cx="270832" cy="259124"/>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grpSp>
        <p:nvGrpSpPr>
          <p:cNvPr id="133" name="组合 132"/>
          <p:cNvGrpSpPr/>
          <p:nvPr/>
        </p:nvGrpSpPr>
        <p:grpSpPr>
          <a:xfrm>
            <a:off x="6180804" y="4267758"/>
            <a:ext cx="4001838" cy="461665"/>
            <a:chOff x="7420068" y="2476642"/>
            <a:chExt cx="4001838" cy="461665"/>
          </a:xfrm>
        </p:grpSpPr>
        <p:sp>
          <p:nvSpPr>
            <p:cNvPr id="134" name="文本框 133"/>
            <p:cNvSpPr txBox="1"/>
            <p:nvPr/>
          </p:nvSpPr>
          <p:spPr>
            <a:xfrm>
              <a:off x="7788113" y="2476642"/>
              <a:ext cx="3633793"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实证分析  </a:t>
              </a:r>
              <a:r>
                <a:rPr lang="en-US" altLang="zh-CN" dirty="0">
                  <a:solidFill>
                    <a:schemeClr val="tx1">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Empirical Analysis</a:t>
              </a:r>
              <a:endParaRPr lang="zh-CN" altLang="en-US" dirty="0">
                <a:solidFill>
                  <a:schemeClr val="tx1">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5" name="Freeform 9"/>
            <p:cNvSpPr/>
            <p:nvPr/>
          </p:nvSpPr>
          <p:spPr bwMode="auto">
            <a:xfrm>
              <a:off x="7420068" y="2558752"/>
              <a:ext cx="270832" cy="259124"/>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grpSp>
        <p:nvGrpSpPr>
          <p:cNvPr id="136" name="组合 135"/>
          <p:cNvGrpSpPr/>
          <p:nvPr/>
        </p:nvGrpSpPr>
        <p:grpSpPr>
          <a:xfrm>
            <a:off x="6180804" y="5190773"/>
            <a:ext cx="5396529" cy="461665"/>
            <a:chOff x="7420068" y="2476532"/>
            <a:chExt cx="5396529" cy="461665"/>
          </a:xfrm>
        </p:grpSpPr>
        <p:sp>
          <p:nvSpPr>
            <p:cNvPr id="137" name="文本框 136"/>
            <p:cNvSpPr txBox="1"/>
            <p:nvPr/>
          </p:nvSpPr>
          <p:spPr>
            <a:xfrm>
              <a:off x="7788113" y="2476532"/>
              <a:ext cx="5028484"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结论建议  </a:t>
              </a:r>
              <a:r>
                <a:rPr lang="en-US" altLang="zh-CN" dirty="0">
                  <a:solidFill>
                    <a:schemeClr val="tx1">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Conclusions &amp; Recommendations</a:t>
              </a:r>
              <a:endParaRPr lang="zh-CN" altLang="en-US" dirty="0">
                <a:solidFill>
                  <a:schemeClr val="tx1">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8" name="Freeform 9"/>
            <p:cNvSpPr/>
            <p:nvPr/>
          </p:nvSpPr>
          <p:spPr bwMode="auto">
            <a:xfrm>
              <a:off x="7420068" y="2558752"/>
              <a:ext cx="270832" cy="259124"/>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pic>
        <p:nvPicPr>
          <p:cNvPr id="5" name="音频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69700" y="6235700"/>
            <a:ext cx="406400" cy="406400"/>
          </a:xfrm>
          <a:prstGeom prst="rect">
            <a:avLst/>
          </a:prstGeom>
        </p:spPr>
      </p:pic>
    </p:spTree>
  </p:cSld>
  <p:clrMapOvr>
    <a:masterClrMapping/>
  </p:clrMapOvr>
  <p:transition advTm="6976">
    <p:fade/>
  </p:transition>
  <p:timing>
    <p:tnLst>
      <p:par>
        <p:cTn id="1" dur="indefinite" restart="never" nodeType="tmRoot">
          <p:childTnLst>
            <p:audio isNarration="1">
              <p:cMediaNode vol="80000" showWhenStopped="0">
                <p:cTn id="2" fill="hold" display="0">
                  <p:stCondLst>
                    <p:cond delay="indefinite"/>
                  </p:stCondLst>
                  <p:endCondLst>
                    <p:cond evt="onStopAudio" delay="0">
                      <p:tgtEl>
                        <p:sldTgt/>
                      </p:tgtEl>
                    </p:cond>
                  </p:endCondLst>
                </p:cTn>
                <p:tgtEl>
                  <p:spTgt spid="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2656" y="310044"/>
            <a:ext cx="5258480" cy="682623"/>
          </a:xfrm>
        </p:spPr>
        <p:txBody>
          <a:bodyPr/>
          <a:lstStyle/>
          <a:p>
            <a:r>
              <a:rPr lang="zh-CN" altLang="en-US" dirty="0"/>
              <a:t>研究背景</a:t>
            </a:r>
          </a:p>
        </p:txBody>
      </p:sp>
      <p:sp>
        <p:nvSpPr>
          <p:cNvPr id="3" name="文本框 2"/>
          <p:cNvSpPr txBox="1"/>
          <p:nvPr/>
        </p:nvSpPr>
        <p:spPr>
          <a:xfrm>
            <a:off x="731350" y="1634836"/>
            <a:ext cx="9123849" cy="3416320"/>
          </a:xfrm>
          <a:prstGeom prst="rect">
            <a:avLst/>
          </a:prstGeom>
          <a:noFill/>
        </p:spPr>
        <p:txBody>
          <a:bodyPr wrap="square" rtlCol="0">
            <a:spAutoFit/>
          </a:bodyPr>
          <a:lstStyle/>
          <a:p>
            <a:pPr marL="342900" indent="-342900">
              <a:buFont typeface="Wingdings" panose="05000000000000000000" pitchFamily="2" charset="2"/>
              <a:buChar char="ü"/>
            </a:pPr>
            <a:r>
              <a:rPr lang="zh-CN" altLang="en-US" sz="2400" b="1" dirty="0">
                <a:solidFill>
                  <a:schemeClr val="accent3">
                    <a:lumMod val="75000"/>
                  </a:schemeClr>
                </a:solidFill>
                <a:latin typeface="+mj-lt"/>
                <a:ea typeface="楷体" panose="02010609060101010101" pitchFamily="49" charset="-122"/>
              </a:rPr>
              <a:t>老龄化加速</a:t>
            </a:r>
            <a:endParaRPr lang="en-US" altLang="zh-CN" sz="2400" b="1" dirty="0">
              <a:solidFill>
                <a:schemeClr val="accent3">
                  <a:lumMod val="75000"/>
                </a:schemeClr>
              </a:solidFill>
              <a:latin typeface="+mj-lt"/>
              <a:ea typeface="楷体" panose="02010609060101010101" pitchFamily="49" charset="-122"/>
            </a:endParaRPr>
          </a:p>
          <a:p>
            <a:r>
              <a:rPr lang="zh-CN" altLang="en-US" sz="2400" dirty="0">
                <a:latin typeface="+mj-lt"/>
                <a:ea typeface="楷体" panose="02010609060101010101" pitchFamily="49" charset="-122"/>
              </a:rPr>
              <a:t>中国</a:t>
            </a:r>
            <a:r>
              <a:rPr lang="en-US" altLang="zh-CN" sz="2400" dirty="0">
                <a:latin typeface="+mj-lt"/>
                <a:ea typeface="楷体" panose="02010609060101010101" pitchFamily="49" charset="-122"/>
              </a:rPr>
              <a:t>65</a:t>
            </a:r>
            <a:r>
              <a:rPr lang="zh-CN" altLang="en-US" sz="2400" dirty="0">
                <a:latin typeface="+mj-lt"/>
                <a:ea typeface="楷体" panose="02010609060101010101" pitchFamily="49" charset="-122"/>
              </a:rPr>
              <a:t>岁以上人口为</a:t>
            </a:r>
            <a:r>
              <a:rPr lang="en-US" altLang="zh-CN" sz="2400" dirty="0">
                <a:latin typeface="+mj-lt"/>
                <a:ea typeface="楷体" panose="02010609060101010101" pitchFamily="49" charset="-122"/>
              </a:rPr>
              <a:t>1</a:t>
            </a:r>
            <a:r>
              <a:rPr lang="zh-CN" altLang="en-US" sz="2400" dirty="0">
                <a:latin typeface="+mj-lt"/>
                <a:ea typeface="楷体" panose="02010609060101010101" pitchFamily="49" charset="-122"/>
              </a:rPr>
              <a:t>亿</a:t>
            </a:r>
            <a:r>
              <a:rPr lang="en-US" altLang="zh-CN" sz="2400" dirty="0">
                <a:latin typeface="+mj-lt"/>
                <a:ea typeface="楷体" panose="02010609060101010101" pitchFamily="49" charset="-122"/>
              </a:rPr>
              <a:t>9064</a:t>
            </a:r>
            <a:r>
              <a:rPr lang="zh-CN" altLang="en-US" sz="2400" dirty="0">
                <a:latin typeface="+mj-lt"/>
                <a:ea typeface="楷体" panose="02010609060101010101" pitchFamily="49" charset="-122"/>
              </a:rPr>
              <a:t>万，占比为</a:t>
            </a:r>
            <a:r>
              <a:rPr lang="en-US" altLang="zh-CN" sz="2400" dirty="0">
                <a:latin typeface="+mj-lt"/>
                <a:ea typeface="楷体" panose="02010609060101010101" pitchFamily="49" charset="-122"/>
              </a:rPr>
              <a:t>13.50%</a:t>
            </a:r>
          </a:p>
          <a:p>
            <a:endParaRPr lang="en-US" altLang="zh-CN" sz="2400" dirty="0">
              <a:latin typeface="+mj-lt"/>
              <a:ea typeface="楷体" panose="02010609060101010101" pitchFamily="49" charset="-122"/>
            </a:endParaRPr>
          </a:p>
          <a:p>
            <a:pPr marL="342900" indent="-342900">
              <a:buFont typeface="Wingdings" panose="05000000000000000000" pitchFamily="2" charset="2"/>
              <a:buChar char="ü"/>
            </a:pPr>
            <a:r>
              <a:rPr lang="zh-CN" altLang="en-US" sz="2400" b="1" dirty="0">
                <a:solidFill>
                  <a:schemeClr val="accent3">
                    <a:lumMod val="75000"/>
                  </a:schemeClr>
                </a:solidFill>
                <a:latin typeface="+mj-lt"/>
                <a:ea typeface="楷体" panose="02010609060101010101" pitchFamily="49" charset="-122"/>
              </a:rPr>
              <a:t>失能老人群体日趋庞大</a:t>
            </a:r>
            <a:endParaRPr lang="en-US" altLang="zh-CN" sz="2400" b="1" dirty="0">
              <a:solidFill>
                <a:schemeClr val="accent3">
                  <a:lumMod val="75000"/>
                </a:schemeClr>
              </a:solidFill>
              <a:latin typeface="+mj-lt"/>
              <a:ea typeface="楷体" panose="02010609060101010101" pitchFamily="49" charset="-122"/>
            </a:endParaRPr>
          </a:p>
          <a:p>
            <a:r>
              <a:rPr lang="zh-CN" altLang="en-US" sz="2400" dirty="0">
                <a:latin typeface="+mj-lt"/>
                <a:ea typeface="楷体" panose="02010609060101010101" pitchFamily="49" charset="-122"/>
              </a:rPr>
              <a:t>总失能率为</a:t>
            </a:r>
            <a:r>
              <a:rPr lang="en-US" altLang="zh-CN" sz="2400" dirty="0">
                <a:latin typeface="+mj-lt"/>
                <a:ea typeface="楷体" panose="02010609060101010101" pitchFamily="49" charset="-122"/>
              </a:rPr>
              <a:t>11.8%</a:t>
            </a:r>
            <a:r>
              <a:rPr lang="zh-CN" altLang="en-US" sz="2400" dirty="0">
                <a:latin typeface="+mj-lt"/>
                <a:ea typeface="楷体" panose="02010609060101010101" pitchFamily="49" charset="-122"/>
              </a:rPr>
              <a:t>（根据巴塞尔指数衡量）</a:t>
            </a:r>
            <a:endParaRPr lang="en-US" altLang="zh-CN" sz="2400" dirty="0">
              <a:latin typeface="+mj-lt"/>
              <a:ea typeface="楷体" panose="02010609060101010101" pitchFamily="49" charset="-122"/>
            </a:endParaRPr>
          </a:p>
          <a:p>
            <a:endParaRPr lang="en-US" altLang="zh-CN" sz="2400" dirty="0">
              <a:latin typeface="+mj-lt"/>
              <a:ea typeface="楷体" panose="02010609060101010101" pitchFamily="49" charset="-122"/>
            </a:endParaRPr>
          </a:p>
          <a:p>
            <a:pPr marL="342900" indent="-342900">
              <a:buFont typeface="Wingdings" panose="05000000000000000000" pitchFamily="2" charset="2"/>
              <a:buChar char="ü"/>
            </a:pPr>
            <a:r>
              <a:rPr lang="zh-CN" altLang="en-US" sz="2400" b="1" dirty="0">
                <a:solidFill>
                  <a:schemeClr val="accent3">
                    <a:lumMod val="75000"/>
                  </a:schemeClr>
                </a:solidFill>
                <a:latin typeface="+mj-lt"/>
                <a:ea typeface="楷体" panose="02010609060101010101" pitchFamily="49" charset="-122"/>
              </a:rPr>
              <a:t>长期护理需求与供给状态严重失衡</a:t>
            </a:r>
            <a:endParaRPr lang="en-US" altLang="zh-CN" sz="2400" b="1" dirty="0">
              <a:solidFill>
                <a:schemeClr val="accent3">
                  <a:lumMod val="75000"/>
                </a:schemeClr>
              </a:solidFill>
              <a:latin typeface="+mj-lt"/>
              <a:ea typeface="楷体" panose="02010609060101010101" pitchFamily="49" charset="-122"/>
            </a:endParaRPr>
          </a:p>
          <a:p>
            <a:r>
              <a:rPr lang="zh-CN" altLang="en-US" sz="2400" dirty="0">
                <a:latin typeface="+mj-lt"/>
                <a:ea typeface="楷体" panose="02010609060101010101" pitchFamily="49" charset="-122"/>
              </a:rPr>
              <a:t>我国需要专业养老护理人员大约</a:t>
            </a:r>
            <a:r>
              <a:rPr lang="en-US" altLang="zh-CN" sz="2400" dirty="0">
                <a:latin typeface="+mj-lt"/>
                <a:ea typeface="楷体" panose="02010609060101010101" pitchFamily="49" charset="-122"/>
              </a:rPr>
              <a:t>220</a:t>
            </a:r>
            <a:r>
              <a:rPr lang="zh-CN" altLang="en-US" sz="2400" dirty="0">
                <a:latin typeface="+mj-lt"/>
                <a:ea typeface="楷体" panose="02010609060101010101" pitchFamily="49" charset="-122"/>
              </a:rPr>
              <a:t>万，而目前我国仅</a:t>
            </a:r>
            <a:r>
              <a:rPr lang="en-US" altLang="zh-CN" sz="2400" dirty="0">
                <a:latin typeface="+mj-lt"/>
                <a:ea typeface="楷体" panose="02010609060101010101" pitchFamily="49" charset="-122"/>
              </a:rPr>
              <a:t>100</a:t>
            </a:r>
            <a:r>
              <a:rPr lang="zh-CN" altLang="en-US" sz="2400" dirty="0">
                <a:latin typeface="+mj-lt"/>
                <a:ea typeface="楷体" panose="02010609060101010101" pitchFamily="49" charset="-122"/>
              </a:rPr>
              <a:t>万左右的护理人员从事养老护理工作，与实际相差甚远。</a:t>
            </a:r>
          </a:p>
        </p:txBody>
      </p:sp>
      <p:sp>
        <p:nvSpPr>
          <p:cNvPr id="5" name="矩形 4"/>
          <p:cNvSpPr/>
          <p:nvPr/>
        </p:nvSpPr>
        <p:spPr>
          <a:xfrm>
            <a:off x="731350" y="5420285"/>
            <a:ext cx="9013014" cy="546080"/>
          </a:xfrm>
          <a:prstGeom prst="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accent3">
                    <a:lumMod val="75000"/>
                  </a:schemeClr>
                </a:solidFill>
                <a:latin typeface="楷体" panose="02010609060101010101" pitchFamily="49" charset="-122"/>
                <a:ea typeface="楷体" panose="02010609060101010101" pitchFamily="49" charset="-122"/>
              </a:rPr>
              <a:t>失能问题与长期护理需求不容小觑！</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2656" y="310044"/>
            <a:ext cx="5258480" cy="682623"/>
          </a:xfrm>
        </p:spPr>
        <p:txBody>
          <a:bodyPr/>
          <a:lstStyle/>
          <a:p>
            <a:r>
              <a:rPr lang="zh-CN" altLang="en-US" dirty="0"/>
              <a:t>研究背景</a:t>
            </a:r>
          </a:p>
        </p:txBody>
      </p:sp>
      <p:grpSp>
        <p:nvGrpSpPr>
          <p:cNvPr id="4" name="组合 3"/>
          <p:cNvGrpSpPr/>
          <p:nvPr/>
        </p:nvGrpSpPr>
        <p:grpSpPr>
          <a:xfrm>
            <a:off x="1210468" y="1925880"/>
            <a:ext cx="904813" cy="2751785"/>
            <a:chOff x="5791550" y="296215"/>
            <a:chExt cx="385618" cy="1187811"/>
          </a:xfrm>
        </p:grpSpPr>
        <p:sp>
          <p:nvSpPr>
            <p:cNvPr id="6" name="Rectangle 1565"/>
            <p:cNvSpPr>
              <a:spLocks noChangeArrowheads="1"/>
            </p:cNvSpPr>
            <p:nvPr/>
          </p:nvSpPr>
          <p:spPr bwMode="auto">
            <a:xfrm>
              <a:off x="5951990" y="583315"/>
              <a:ext cx="87257" cy="87255"/>
            </a:xfrm>
            <a:prstGeom prst="rect">
              <a:avLst/>
            </a:prstGeom>
            <a:solidFill>
              <a:srgbClr val="CF9E7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 name="Rectangle 1566"/>
            <p:cNvSpPr>
              <a:spLocks noChangeArrowheads="1"/>
            </p:cNvSpPr>
            <p:nvPr/>
          </p:nvSpPr>
          <p:spPr bwMode="auto">
            <a:xfrm>
              <a:off x="5951990" y="583315"/>
              <a:ext cx="87257" cy="87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8" name="Freeform 1567"/>
            <p:cNvSpPr/>
            <p:nvPr/>
          </p:nvSpPr>
          <p:spPr bwMode="auto">
            <a:xfrm>
              <a:off x="5859104" y="963303"/>
              <a:ext cx="258954" cy="121032"/>
            </a:xfrm>
            <a:custGeom>
              <a:avLst/>
              <a:gdLst>
                <a:gd name="T0" fmla="*/ 90 w 92"/>
                <a:gd name="T1" fmla="*/ 43 h 43"/>
                <a:gd name="T2" fmla="*/ 7 w 92"/>
                <a:gd name="T3" fmla="*/ 43 h 43"/>
                <a:gd name="T4" fmla="*/ 0 w 92"/>
                <a:gd name="T5" fmla="*/ 0 h 43"/>
                <a:gd name="T6" fmla="*/ 92 w 92"/>
                <a:gd name="T7" fmla="*/ 0 h 43"/>
                <a:gd name="T8" fmla="*/ 90 w 92"/>
                <a:gd name="T9" fmla="*/ 43 h 43"/>
              </a:gdLst>
              <a:ahLst/>
              <a:cxnLst>
                <a:cxn ang="0">
                  <a:pos x="T0" y="T1"/>
                </a:cxn>
                <a:cxn ang="0">
                  <a:pos x="T2" y="T3"/>
                </a:cxn>
                <a:cxn ang="0">
                  <a:pos x="T4" y="T5"/>
                </a:cxn>
                <a:cxn ang="0">
                  <a:pos x="T6" y="T7"/>
                </a:cxn>
                <a:cxn ang="0">
                  <a:pos x="T8" y="T9"/>
                </a:cxn>
              </a:cxnLst>
              <a:rect l="0" t="0" r="r" b="b"/>
              <a:pathLst>
                <a:path w="92" h="43">
                  <a:moveTo>
                    <a:pt x="90" y="43"/>
                  </a:moveTo>
                  <a:lnTo>
                    <a:pt x="7" y="43"/>
                  </a:lnTo>
                  <a:lnTo>
                    <a:pt x="0" y="0"/>
                  </a:lnTo>
                  <a:lnTo>
                    <a:pt x="92" y="0"/>
                  </a:lnTo>
                  <a:lnTo>
                    <a:pt x="90" y="43"/>
                  </a:lnTo>
                  <a:close/>
                </a:path>
              </a:pathLst>
            </a:custGeom>
            <a:solidFill>
              <a:srgbClr val="14141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1568"/>
            <p:cNvSpPr/>
            <p:nvPr/>
          </p:nvSpPr>
          <p:spPr bwMode="auto">
            <a:xfrm>
              <a:off x="5859104" y="963303"/>
              <a:ext cx="258954" cy="121032"/>
            </a:xfrm>
            <a:custGeom>
              <a:avLst/>
              <a:gdLst>
                <a:gd name="T0" fmla="*/ 90 w 92"/>
                <a:gd name="T1" fmla="*/ 43 h 43"/>
                <a:gd name="T2" fmla="*/ 7 w 92"/>
                <a:gd name="T3" fmla="*/ 43 h 43"/>
                <a:gd name="T4" fmla="*/ 0 w 92"/>
                <a:gd name="T5" fmla="*/ 0 h 43"/>
                <a:gd name="T6" fmla="*/ 92 w 92"/>
                <a:gd name="T7" fmla="*/ 0 h 43"/>
                <a:gd name="T8" fmla="*/ 90 w 92"/>
                <a:gd name="T9" fmla="*/ 43 h 43"/>
              </a:gdLst>
              <a:ahLst/>
              <a:cxnLst>
                <a:cxn ang="0">
                  <a:pos x="T0" y="T1"/>
                </a:cxn>
                <a:cxn ang="0">
                  <a:pos x="T2" y="T3"/>
                </a:cxn>
                <a:cxn ang="0">
                  <a:pos x="T4" y="T5"/>
                </a:cxn>
                <a:cxn ang="0">
                  <a:pos x="T6" y="T7"/>
                </a:cxn>
                <a:cxn ang="0">
                  <a:pos x="T8" y="T9"/>
                </a:cxn>
              </a:cxnLst>
              <a:rect l="0" t="0" r="r" b="b"/>
              <a:pathLst>
                <a:path w="92" h="43">
                  <a:moveTo>
                    <a:pt x="90" y="43"/>
                  </a:moveTo>
                  <a:lnTo>
                    <a:pt x="7" y="43"/>
                  </a:lnTo>
                  <a:lnTo>
                    <a:pt x="0" y="0"/>
                  </a:lnTo>
                  <a:lnTo>
                    <a:pt x="92" y="0"/>
                  </a:lnTo>
                  <a:lnTo>
                    <a:pt x="90" y="4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569"/>
            <p:cNvSpPr/>
            <p:nvPr/>
          </p:nvSpPr>
          <p:spPr bwMode="auto">
            <a:xfrm>
              <a:off x="5878807" y="1084335"/>
              <a:ext cx="92887" cy="388432"/>
            </a:xfrm>
            <a:custGeom>
              <a:avLst/>
              <a:gdLst>
                <a:gd name="T0" fmla="*/ 21 w 33"/>
                <a:gd name="T1" fmla="*/ 128 h 138"/>
                <a:gd name="T2" fmla="*/ 0 w 33"/>
                <a:gd name="T3" fmla="*/ 0 h 138"/>
                <a:gd name="T4" fmla="*/ 31 w 33"/>
                <a:gd name="T5" fmla="*/ 0 h 138"/>
                <a:gd name="T6" fmla="*/ 33 w 33"/>
                <a:gd name="T7" fmla="*/ 138 h 138"/>
                <a:gd name="T8" fmla="*/ 21 w 33"/>
                <a:gd name="T9" fmla="*/ 128 h 138"/>
              </a:gdLst>
              <a:ahLst/>
              <a:cxnLst>
                <a:cxn ang="0">
                  <a:pos x="T0" y="T1"/>
                </a:cxn>
                <a:cxn ang="0">
                  <a:pos x="T2" y="T3"/>
                </a:cxn>
                <a:cxn ang="0">
                  <a:pos x="T4" y="T5"/>
                </a:cxn>
                <a:cxn ang="0">
                  <a:pos x="T6" y="T7"/>
                </a:cxn>
                <a:cxn ang="0">
                  <a:pos x="T8" y="T9"/>
                </a:cxn>
              </a:cxnLst>
              <a:rect l="0" t="0" r="r" b="b"/>
              <a:pathLst>
                <a:path w="33" h="138">
                  <a:moveTo>
                    <a:pt x="21" y="128"/>
                  </a:moveTo>
                  <a:lnTo>
                    <a:pt x="0" y="0"/>
                  </a:lnTo>
                  <a:lnTo>
                    <a:pt x="31" y="0"/>
                  </a:lnTo>
                  <a:lnTo>
                    <a:pt x="33" y="138"/>
                  </a:lnTo>
                  <a:lnTo>
                    <a:pt x="21" y="128"/>
                  </a:lnTo>
                  <a:close/>
                </a:path>
              </a:pathLst>
            </a:custGeom>
            <a:solidFill>
              <a:srgbClr val="14141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570"/>
            <p:cNvSpPr/>
            <p:nvPr/>
          </p:nvSpPr>
          <p:spPr bwMode="auto">
            <a:xfrm>
              <a:off x="5918214" y="1084335"/>
              <a:ext cx="59110" cy="388432"/>
            </a:xfrm>
            <a:custGeom>
              <a:avLst/>
              <a:gdLst>
                <a:gd name="T0" fmla="*/ 7 w 9"/>
                <a:gd name="T1" fmla="*/ 0 h 58"/>
                <a:gd name="T2" fmla="*/ 5 w 9"/>
                <a:gd name="T3" fmla="*/ 0 h 58"/>
                <a:gd name="T4" fmla="*/ 0 w 9"/>
                <a:gd name="T5" fmla="*/ 36 h 58"/>
                <a:gd name="T6" fmla="*/ 0 w 9"/>
                <a:gd name="T7" fmla="*/ 36 h 58"/>
                <a:gd name="T8" fmla="*/ 3 w 9"/>
                <a:gd name="T9" fmla="*/ 54 h 58"/>
                <a:gd name="T10" fmla="*/ 8 w 9"/>
                <a:gd name="T11" fmla="*/ 58 h 58"/>
                <a:gd name="T12" fmla="*/ 7 w 9"/>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9" h="58">
                  <a:moveTo>
                    <a:pt x="7" y="0"/>
                  </a:moveTo>
                  <a:cubicBezTo>
                    <a:pt x="5" y="0"/>
                    <a:pt x="5" y="0"/>
                    <a:pt x="5" y="0"/>
                  </a:cubicBezTo>
                  <a:cubicBezTo>
                    <a:pt x="7" y="11"/>
                    <a:pt x="9" y="29"/>
                    <a:pt x="0" y="36"/>
                  </a:cubicBezTo>
                  <a:cubicBezTo>
                    <a:pt x="0" y="36"/>
                    <a:pt x="0" y="36"/>
                    <a:pt x="0" y="36"/>
                  </a:cubicBezTo>
                  <a:cubicBezTo>
                    <a:pt x="3" y="54"/>
                    <a:pt x="3" y="54"/>
                    <a:pt x="3" y="54"/>
                  </a:cubicBezTo>
                  <a:cubicBezTo>
                    <a:pt x="8" y="58"/>
                    <a:pt x="8" y="58"/>
                    <a:pt x="8" y="58"/>
                  </a:cubicBez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571"/>
            <p:cNvSpPr/>
            <p:nvPr/>
          </p:nvSpPr>
          <p:spPr bwMode="auto">
            <a:xfrm>
              <a:off x="6019544" y="1084335"/>
              <a:ext cx="92887" cy="388432"/>
            </a:xfrm>
            <a:custGeom>
              <a:avLst/>
              <a:gdLst>
                <a:gd name="T0" fmla="*/ 11 w 33"/>
                <a:gd name="T1" fmla="*/ 128 h 138"/>
                <a:gd name="T2" fmla="*/ 33 w 33"/>
                <a:gd name="T3" fmla="*/ 0 h 138"/>
                <a:gd name="T4" fmla="*/ 0 w 33"/>
                <a:gd name="T5" fmla="*/ 0 h 138"/>
                <a:gd name="T6" fmla="*/ 0 w 33"/>
                <a:gd name="T7" fmla="*/ 138 h 138"/>
                <a:gd name="T8" fmla="*/ 11 w 33"/>
                <a:gd name="T9" fmla="*/ 128 h 138"/>
              </a:gdLst>
              <a:ahLst/>
              <a:cxnLst>
                <a:cxn ang="0">
                  <a:pos x="T0" y="T1"/>
                </a:cxn>
                <a:cxn ang="0">
                  <a:pos x="T2" y="T3"/>
                </a:cxn>
                <a:cxn ang="0">
                  <a:pos x="T4" y="T5"/>
                </a:cxn>
                <a:cxn ang="0">
                  <a:pos x="T6" y="T7"/>
                </a:cxn>
                <a:cxn ang="0">
                  <a:pos x="T8" y="T9"/>
                </a:cxn>
              </a:cxnLst>
              <a:rect l="0" t="0" r="r" b="b"/>
              <a:pathLst>
                <a:path w="33" h="138">
                  <a:moveTo>
                    <a:pt x="11" y="128"/>
                  </a:moveTo>
                  <a:lnTo>
                    <a:pt x="33" y="0"/>
                  </a:lnTo>
                  <a:lnTo>
                    <a:pt x="0" y="0"/>
                  </a:lnTo>
                  <a:lnTo>
                    <a:pt x="0" y="138"/>
                  </a:lnTo>
                  <a:lnTo>
                    <a:pt x="11" y="128"/>
                  </a:lnTo>
                  <a:close/>
                </a:path>
              </a:pathLst>
            </a:custGeom>
            <a:solidFill>
              <a:srgbClr val="14141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572"/>
            <p:cNvSpPr/>
            <p:nvPr/>
          </p:nvSpPr>
          <p:spPr bwMode="auto">
            <a:xfrm>
              <a:off x="6011099" y="1084335"/>
              <a:ext cx="67553" cy="388432"/>
            </a:xfrm>
            <a:custGeom>
              <a:avLst/>
              <a:gdLst>
                <a:gd name="T0" fmla="*/ 9 w 10"/>
                <a:gd name="T1" fmla="*/ 30 h 58"/>
                <a:gd name="T2" fmla="*/ 3 w 10"/>
                <a:gd name="T3" fmla="*/ 28 h 58"/>
                <a:gd name="T4" fmla="*/ 4 w 10"/>
                <a:gd name="T5" fmla="*/ 0 h 58"/>
                <a:gd name="T6" fmla="*/ 1 w 10"/>
                <a:gd name="T7" fmla="*/ 0 h 58"/>
                <a:gd name="T8" fmla="*/ 1 w 10"/>
                <a:gd name="T9" fmla="*/ 58 h 58"/>
                <a:gd name="T10" fmla="*/ 6 w 10"/>
                <a:gd name="T11" fmla="*/ 54 h 58"/>
                <a:gd name="T12" fmla="*/ 10 w 10"/>
                <a:gd name="T13" fmla="*/ 29 h 58"/>
                <a:gd name="T14" fmla="*/ 9 w 10"/>
                <a:gd name="T15" fmla="*/ 3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58">
                  <a:moveTo>
                    <a:pt x="9" y="30"/>
                  </a:moveTo>
                  <a:cubicBezTo>
                    <a:pt x="7" y="32"/>
                    <a:pt x="4" y="31"/>
                    <a:pt x="3" y="28"/>
                  </a:cubicBezTo>
                  <a:cubicBezTo>
                    <a:pt x="0" y="19"/>
                    <a:pt x="3" y="9"/>
                    <a:pt x="4" y="0"/>
                  </a:cubicBezTo>
                  <a:cubicBezTo>
                    <a:pt x="1" y="0"/>
                    <a:pt x="1" y="0"/>
                    <a:pt x="1" y="0"/>
                  </a:cubicBezTo>
                  <a:cubicBezTo>
                    <a:pt x="1" y="58"/>
                    <a:pt x="1" y="58"/>
                    <a:pt x="1" y="58"/>
                  </a:cubicBezTo>
                  <a:cubicBezTo>
                    <a:pt x="6" y="54"/>
                    <a:pt x="6" y="54"/>
                    <a:pt x="6" y="54"/>
                  </a:cubicBezTo>
                  <a:cubicBezTo>
                    <a:pt x="10" y="29"/>
                    <a:pt x="10" y="29"/>
                    <a:pt x="10" y="29"/>
                  </a:cubicBezTo>
                  <a:lnTo>
                    <a:pt x="9" y="3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573"/>
            <p:cNvSpPr/>
            <p:nvPr/>
          </p:nvSpPr>
          <p:spPr bwMode="auto">
            <a:xfrm>
              <a:off x="5830956" y="645239"/>
              <a:ext cx="315249" cy="318063"/>
            </a:xfrm>
            <a:custGeom>
              <a:avLst/>
              <a:gdLst>
                <a:gd name="T0" fmla="*/ 44 w 47"/>
                <a:gd name="T1" fmla="*/ 4 h 48"/>
                <a:gd name="T2" fmla="*/ 24 w 47"/>
                <a:gd name="T3" fmla="*/ 0 h 48"/>
                <a:gd name="T4" fmla="*/ 24 w 47"/>
                <a:gd name="T5" fmla="*/ 0 h 48"/>
                <a:gd name="T6" fmla="*/ 24 w 47"/>
                <a:gd name="T7" fmla="*/ 0 h 48"/>
                <a:gd name="T8" fmla="*/ 23 w 47"/>
                <a:gd name="T9" fmla="*/ 0 h 48"/>
                <a:gd name="T10" fmla="*/ 23 w 47"/>
                <a:gd name="T11" fmla="*/ 0 h 48"/>
                <a:gd name="T12" fmla="*/ 3 w 47"/>
                <a:gd name="T13" fmla="*/ 4 h 48"/>
                <a:gd name="T14" fmla="*/ 4 w 47"/>
                <a:gd name="T15" fmla="*/ 48 h 48"/>
                <a:gd name="T16" fmla="*/ 23 w 47"/>
                <a:gd name="T17" fmla="*/ 48 h 48"/>
                <a:gd name="T18" fmla="*/ 24 w 47"/>
                <a:gd name="T19" fmla="*/ 48 h 48"/>
                <a:gd name="T20" fmla="*/ 43 w 47"/>
                <a:gd name="T21" fmla="*/ 48 h 48"/>
                <a:gd name="T22" fmla="*/ 44 w 47"/>
                <a:gd name="T23"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 h="48">
                  <a:moveTo>
                    <a:pt x="44" y="4"/>
                  </a:moveTo>
                  <a:cubicBezTo>
                    <a:pt x="42" y="1"/>
                    <a:pt x="34" y="0"/>
                    <a:pt x="24" y="0"/>
                  </a:cubicBezTo>
                  <a:cubicBezTo>
                    <a:pt x="24" y="0"/>
                    <a:pt x="24" y="0"/>
                    <a:pt x="24" y="0"/>
                  </a:cubicBezTo>
                  <a:cubicBezTo>
                    <a:pt x="24" y="0"/>
                    <a:pt x="24" y="0"/>
                    <a:pt x="24" y="0"/>
                  </a:cubicBezTo>
                  <a:cubicBezTo>
                    <a:pt x="23" y="0"/>
                    <a:pt x="23" y="0"/>
                    <a:pt x="23" y="0"/>
                  </a:cubicBezTo>
                  <a:cubicBezTo>
                    <a:pt x="23" y="0"/>
                    <a:pt x="23" y="0"/>
                    <a:pt x="23" y="0"/>
                  </a:cubicBezTo>
                  <a:cubicBezTo>
                    <a:pt x="13" y="0"/>
                    <a:pt x="6" y="1"/>
                    <a:pt x="3" y="4"/>
                  </a:cubicBezTo>
                  <a:cubicBezTo>
                    <a:pt x="0" y="8"/>
                    <a:pt x="4" y="48"/>
                    <a:pt x="4" y="48"/>
                  </a:cubicBezTo>
                  <a:cubicBezTo>
                    <a:pt x="23" y="48"/>
                    <a:pt x="23" y="48"/>
                    <a:pt x="23" y="48"/>
                  </a:cubicBezTo>
                  <a:cubicBezTo>
                    <a:pt x="24" y="48"/>
                    <a:pt x="24" y="48"/>
                    <a:pt x="24" y="48"/>
                  </a:cubicBezTo>
                  <a:cubicBezTo>
                    <a:pt x="43" y="48"/>
                    <a:pt x="43" y="48"/>
                    <a:pt x="43" y="48"/>
                  </a:cubicBezTo>
                  <a:cubicBezTo>
                    <a:pt x="43" y="48"/>
                    <a:pt x="47" y="9"/>
                    <a:pt x="44" y="4"/>
                  </a:cubicBezTo>
                </a:path>
              </a:pathLst>
            </a:custGeom>
            <a:solidFill>
              <a:srgbClr val="D1DB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574"/>
            <p:cNvSpPr/>
            <p:nvPr/>
          </p:nvSpPr>
          <p:spPr bwMode="auto">
            <a:xfrm>
              <a:off x="5904139" y="650868"/>
              <a:ext cx="168883" cy="301174"/>
            </a:xfrm>
            <a:custGeom>
              <a:avLst/>
              <a:gdLst>
                <a:gd name="T0" fmla="*/ 23 w 25"/>
                <a:gd name="T1" fmla="*/ 4 h 45"/>
                <a:gd name="T2" fmla="*/ 21 w 25"/>
                <a:gd name="T3" fmla="*/ 1 h 45"/>
                <a:gd name="T4" fmla="*/ 19 w 25"/>
                <a:gd name="T5" fmla="*/ 0 h 45"/>
                <a:gd name="T6" fmla="*/ 20 w 25"/>
                <a:gd name="T7" fmla="*/ 33 h 45"/>
                <a:gd name="T8" fmla="*/ 18 w 25"/>
                <a:gd name="T9" fmla="*/ 41 h 45"/>
                <a:gd name="T10" fmla="*/ 10 w 25"/>
                <a:gd name="T11" fmla="*/ 43 h 45"/>
                <a:gd name="T12" fmla="*/ 5 w 25"/>
                <a:gd name="T13" fmla="*/ 33 h 45"/>
                <a:gd name="T14" fmla="*/ 6 w 25"/>
                <a:gd name="T15" fmla="*/ 31 h 45"/>
                <a:gd name="T16" fmla="*/ 6 w 25"/>
                <a:gd name="T17" fmla="*/ 21 h 45"/>
                <a:gd name="T18" fmla="*/ 7 w 25"/>
                <a:gd name="T19" fmla="*/ 0 h 45"/>
                <a:gd name="T20" fmla="*/ 2 w 25"/>
                <a:gd name="T21" fmla="*/ 3 h 45"/>
                <a:gd name="T22" fmla="*/ 2 w 25"/>
                <a:gd name="T23" fmla="*/ 44 h 45"/>
                <a:gd name="T24" fmla="*/ 23 w 25"/>
                <a:gd name="T25" fmla="*/ 44 h 45"/>
                <a:gd name="T26" fmla="*/ 23 w 25"/>
                <a:gd name="T2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45">
                  <a:moveTo>
                    <a:pt x="23" y="4"/>
                  </a:moveTo>
                  <a:cubicBezTo>
                    <a:pt x="23" y="2"/>
                    <a:pt x="22" y="2"/>
                    <a:pt x="21" y="1"/>
                  </a:cubicBezTo>
                  <a:cubicBezTo>
                    <a:pt x="19" y="0"/>
                    <a:pt x="19" y="0"/>
                    <a:pt x="19" y="0"/>
                  </a:cubicBezTo>
                  <a:cubicBezTo>
                    <a:pt x="19" y="13"/>
                    <a:pt x="18" y="21"/>
                    <a:pt x="20" y="33"/>
                  </a:cubicBezTo>
                  <a:cubicBezTo>
                    <a:pt x="20" y="36"/>
                    <a:pt x="19" y="41"/>
                    <a:pt x="18" y="41"/>
                  </a:cubicBezTo>
                  <a:cubicBezTo>
                    <a:pt x="16" y="45"/>
                    <a:pt x="13" y="43"/>
                    <a:pt x="10" y="43"/>
                  </a:cubicBezTo>
                  <a:cubicBezTo>
                    <a:pt x="7" y="42"/>
                    <a:pt x="5" y="39"/>
                    <a:pt x="5" y="33"/>
                  </a:cubicBezTo>
                  <a:cubicBezTo>
                    <a:pt x="5" y="32"/>
                    <a:pt x="5" y="32"/>
                    <a:pt x="6" y="31"/>
                  </a:cubicBezTo>
                  <a:cubicBezTo>
                    <a:pt x="5" y="27"/>
                    <a:pt x="6" y="24"/>
                    <a:pt x="6" y="21"/>
                  </a:cubicBezTo>
                  <a:cubicBezTo>
                    <a:pt x="6" y="14"/>
                    <a:pt x="11" y="11"/>
                    <a:pt x="7" y="0"/>
                  </a:cubicBezTo>
                  <a:cubicBezTo>
                    <a:pt x="6" y="0"/>
                    <a:pt x="3" y="2"/>
                    <a:pt x="2" y="3"/>
                  </a:cubicBezTo>
                  <a:cubicBezTo>
                    <a:pt x="0" y="7"/>
                    <a:pt x="2" y="44"/>
                    <a:pt x="2" y="44"/>
                  </a:cubicBezTo>
                  <a:cubicBezTo>
                    <a:pt x="23" y="44"/>
                    <a:pt x="23" y="44"/>
                    <a:pt x="23" y="44"/>
                  </a:cubicBezTo>
                  <a:cubicBezTo>
                    <a:pt x="23" y="44"/>
                    <a:pt x="25" y="7"/>
                    <a:pt x="23" y="4"/>
                  </a:cubicBezTo>
                </a:path>
              </a:pathLst>
            </a:custGeom>
            <a:solidFill>
              <a:srgbClr val="C7D3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Rectangle 1575"/>
            <p:cNvSpPr>
              <a:spLocks noChangeArrowheads="1"/>
            </p:cNvSpPr>
            <p:nvPr/>
          </p:nvSpPr>
          <p:spPr bwMode="auto">
            <a:xfrm>
              <a:off x="6019544" y="1472767"/>
              <a:ext cx="59110" cy="1125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 name="Freeform 1576"/>
            <p:cNvSpPr/>
            <p:nvPr/>
          </p:nvSpPr>
          <p:spPr bwMode="auto">
            <a:xfrm>
              <a:off x="5859104" y="943599"/>
              <a:ext cx="258954" cy="19702"/>
            </a:xfrm>
            <a:custGeom>
              <a:avLst/>
              <a:gdLst>
                <a:gd name="T0" fmla="*/ 90 w 92"/>
                <a:gd name="T1" fmla="*/ 7 h 7"/>
                <a:gd name="T2" fmla="*/ 7 w 92"/>
                <a:gd name="T3" fmla="*/ 7 h 7"/>
                <a:gd name="T4" fmla="*/ 0 w 92"/>
                <a:gd name="T5" fmla="*/ 0 h 7"/>
                <a:gd name="T6" fmla="*/ 92 w 92"/>
                <a:gd name="T7" fmla="*/ 0 h 7"/>
                <a:gd name="T8" fmla="*/ 90 w 92"/>
                <a:gd name="T9" fmla="*/ 7 h 7"/>
              </a:gdLst>
              <a:ahLst/>
              <a:cxnLst>
                <a:cxn ang="0">
                  <a:pos x="T0" y="T1"/>
                </a:cxn>
                <a:cxn ang="0">
                  <a:pos x="T2" y="T3"/>
                </a:cxn>
                <a:cxn ang="0">
                  <a:pos x="T4" y="T5"/>
                </a:cxn>
                <a:cxn ang="0">
                  <a:pos x="T6" y="T7"/>
                </a:cxn>
                <a:cxn ang="0">
                  <a:pos x="T8" y="T9"/>
                </a:cxn>
              </a:cxnLst>
              <a:rect l="0" t="0" r="r" b="b"/>
              <a:pathLst>
                <a:path w="92" h="7">
                  <a:moveTo>
                    <a:pt x="90" y="7"/>
                  </a:moveTo>
                  <a:lnTo>
                    <a:pt x="7" y="7"/>
                  </a:lnTo>
                  <a:lnTo>
                    <a:pt x="0" y="0"/>
                  </a:lnTo>
                  <a:lnTo>
                    <a:pt x="92" y="0"/>
                  </a:lnTo>
                  <a:lnTo>
                    <a:pt x="90" y="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577"/>
            <p:cNvSpPr/>
            <p:nvPr/>
          </p:nvSpPr>
          <p:spPr bwMode="auto">
            <a:xfrm>
              <a:off x="5859104" y="943599"/>
              <a:ext cx="258954" cy="19702"/>
            </a:xfrm>
            <a:custGeom>
              <a:avLst/>
              <a:gdLst>
                <a:gd name="T0" fmla="*/ 90 w 92"/>
                <a:gd name="T1" fmla="*/ 7 h 7"/>
                <a:gd name="T2" fmla="*/ 7 w 92"/>
                <a:gd name="T3" fmla="*/ 7 h 7"/>
                <a:gd name="T4" fmla="*/ 0 w 92"/>
                <a:gd name="T5" fmla="*/ 0 h 7"/>
                <a:gd name="T6" fmla="*/ 92 w 92"/>
                <a:gd name="T7" fmla="*/ 0 h 7"/>
                <a:gd name="T8" fmla="*/ 90 w 92"/>
                <a:gd name="T9" fmla="*/ 7 h 7"/>
              </a:gdLst>
              <a:ahLst/>
              <a:cxnLst>
                <a:cxn ang="0">
                  <a:pos x="T0" y="T1"/>
                </a:cxn>
                <a:cxn ang="0">
                  <a:pos x="T2" y="T3"/>
                </a:cxn>
                <a:cxn ang="0">
                  <a:pos x="T4" y="T5"/>
                </a:cxn>
                <a:cxn ang="0">
                  <a:pos x="T6" y="T7"/>
                </a:cxn>
                <a:cxn ang="0">
                  <a:pos x="T8" y="T9"/>
                </a:cxn>
              </a:cxnLst>
              <a:rect l="0" t="0" r="r" b="b"/>
              <a:pathLst>
                <a:path w="92" h="7">
                  <a:moveTo>
                    <a:pt x="90" y="7"/>
                  </a:moveTo>
                  <a:lnTo>
                    <a:pt x="7" y="7"/>
                  </a:lnTo>
                  <a:lnTo>
                    <a:pt x="0" y="0"/>
                  </a:lnTo>
                  <a:lnTo>
                    <a:pt x="92" y="0"/>
                  </a:lnTo>
                  <a:lnTo>
                    <a:pt x="90" y="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578"/>
            <p:cNvSpPr/>
            <p:nvPr/>
          </p:nvSpPr>
          <p:spPr bwMode="auto">
            <a:xfrm>
              <a:off x="6019544" y="1444620"/>
              <a:ext cx="59110" cy="39406"/>
            </a:xfrm>
            <a:custGeom>
              <a:avLst/>
              <a:gdLst>
                <a:gd name="T0" fmla="*/ 0 w 9"/>
                <a:gd name="T1" fmla="*/ 4 h 6"/>
                <a:gd name="T2" fmla="*/ 3 w 9"/>
                <a:gd name="T3" fmla="*/ 0 h 6"/>
                <a:gd name="T4" fmla="*/ 9 w 9"/>
                <a:gd name="T5" fmla="*/ 4 h 6"/>
                <a:gd name="T6" fmla="*/ 0 w 9"/>
                <a:gd name="T7" fmla="*/ 4 h 6"/>
              </a:gdLst>
              <a:ahLst/>
              <a:cxnLst>
                <a:cxn ang="0">
                  <a:pos x="T0" y="T1"/>
                </a:cxn>
                <a:cxn ang="0">
                  <a:pos x="T2" y="T3"/>
                </a:cxn>
                <a:cxn ang="0">
                  <a:pos x="T4" y="T5"/>
                </a:cxn>
                <a:cxn ang="0">
                  <a:pos x="T6" y="T7"/>
                </a:cxn>
              </a:cxnLst>
              <a:rect l="0" t="0" r="r" b="b"/>
              <a:pathLst>
                <a:path w="9" h="6">
                  <a:moveTo>
                    <a:pt x="0" y="4"/>
                  </a:moveTo>
                  <a:cubicBezTo>
                    <a:pt x="0" y="4"/>
                    <a:pt x="0" y="0"/>
                    <a:pt x="3" y="0"/>
                  </a:cubicBezTo>
                  <a:cubicBezTo>
                    <a:pt x="7" y="0"/>
                    <a:pt x="9" y="2"/>
                    <a:pt x="9" y="4"/>
                  </a:cubicBezTo>
                  <a:cubicBezTo>
                    <a:pt x="9" y="6"/>
                    <a:pt x="0" y="4"/>
                    <a:pt x="0" y="4"/>
                  </a:cubicBez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Rectangle 1579"/>
            <p:cNvSpPr>
              <a:spLocks noChangeArrowheads="1"/>
            </p:cNvSpPr>
            <p:nvPr/>
          </p:nvSpPr>
          <p:spPr bwMode="auto">
            <a:xfrm>
              <a:off x="5912584" y="1472767"/>
              <a:ext cx="59110" cy="1125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 name="Freeform 1580"/>
            <p:cNvSpPr/>
            <p:nvPr/>
          </p:nvSpPr>
          <p:spPr bwMode="auto">
            <a:xfrm>
              <a:off x="5912584" y="1444620"/>
              <a:ext cx="59110" cy="39406"/>
            </a:xfrm>
            <a:custGeom>
              <a:avLst/>
              <a:gdLst>
                <a:gd name="T0" fmla="*/ 9 w 9"/>
                <a:gd name="T1" fmla="*/ 4 h 6"/>
                <a:gd name="T2" fmla="*/ 6 w 9"/>
                <a:gd name="T3" fmla="*/ 0 h 6"/>
                <a:gd name="T4" fmla="*/ 0 w 9"/>
                <a:gd name="T5" fmla="*/ 4 h 6"/>
                <a:gd name="T6" fmla="*/ 9 w 9"/>
                <a:gd name="T7" fmla="*/ 4 h 6"/>
              </a:gdLst>
              <a:ahLst/>
              <a:cxnLst>
                <a:cxn ang="0">
                  <a:pos x="T0" y="T1"/>
                </a:cxn>
                <a:cxn ang="0">
                  <a:pos x="T2" y="T3"/>
                </a:cxn>
                <a:cxn ang="0">
                  <a:pos x="T4" y="T5"/>
                </a:cxn>
                <a:cxn ang="0">
                  <a:pos x="T6" y="T7"/>
                </a:cxn>
              </a:cxnLst>
              <a:rect l="0" t="0" r="r" b="b"/>
              <a:pathLst>
                <a:path w="9" h="6">
                  <a:moveTo>
                    <a:pt x="9" y="4"/>
                  </a:moveTo>
                  <a:cubicBezTo>
                    <a:pt x="9" y="4"/>
                    <a:pt x="9" y="0"/>
                    <a:pt x="6" y="0"/>
                  </a:cubicBezTo>
                  <a:cubicBezTo>
                    <a:pt x="2" y="0"/>
                    <a:pt x="0" y="2"/>
                    <a:pt x="0" y="4"/>
                  </a:cubicBezTo>
                  <a:cubicBezTo>
                    <a:pt x="0" y="6"/>
                    <a:pt x="9" y="4"/>
                    <a:pt x="9" y="4"/>
                  </a:cubicBez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581"/>
            <p:cNvSpPr/>
            <p:nvPr/>
          </p:nvSpPr>
          <p:spPr bwMode="auto">
            <a:xfrm>
              <a:off x="6019544" y="1444620"/>
              <a:ext cx="59110" cy="39406"/>
            </a:xfrm>
            <a:custGeom>
              <a:avLst/>
              <a:gdLst>
                <a:gd name="T0" fmla="*/ 0 w 9"/>
                <a:gd name="T1" fmla="*/ 4 h 6"/>
                <a:gd name="T2" fmla="*/ 3 w 9"/>
                <a:gd name="T3" fmla="*/ 0 h 6"/>
                <a:gd name="T4" fmla="*/ 9 w 9"/>
                <a:gd name="T5" fmla="*/ 4 h 6"/>
                <a:gd name="T6" fmla="*/ 0 w 9"/>
                <a:gd name="T7" fmla="*/ 4 h 6"/>
              </a:gdLst>
              <a:ahLst/>
              <a:cxnLst>
                <a:cxn ang="0">
                  <a:pos x="T0" y="T1"/>
                </a:cxn>
                <a:cxn ang="0">
                  <a:pos x="T2" y="T3"/>
                </a:cxn>
                <a:cxn ang="0">
                  <a:pos x="T4" y="T5"/>
                </a:cxn>
                <a:cxn ang="0">
                  <a:pos x="T6" y="T7"/>
                </a:cxn>
              </a:cxnLst>
              <a:rect l="0" t="0" r="r" b="b"/>
              <a:pathLst>
                <a:path w="9" h="6">
                  <a:moveTo>
                    <a:pt x="0" y="4"/>
                  </a:moveTo>
                  <a:cubicBezTo>
                    <a:pt x="0" y="4"/>
                    <a:pt x="0" y="0"/>
                    <a:pt x="3" y="0"/>
                  </a:cubicBezTo>
                  <a:cubicBezTo>
                    <a:pt x="6" y="6"/>
                    <a:pt x="9" y="2"/>
                    <a:pt x="9" y="4"/>
                  </a:cubicBezTo>
                  <a:cubicBezTo>
                    <a:pt x="9" y="6"/>
                    <a:pt x="0" y="4"/>
                    <a:pt x="0" y="4"/>
                  </a:cubicBezTo>
                  <a:close/>
                </a:path>
              </a:pathLst>
            </a:custGeom>
            <a:solidFill>
              <a:srgbClr val="0C0B0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1582"/>
            <p:cNvSpPr/>
            <p:nvPr/>
          </p:nvSpPr>
          <p:spPr bwMode="auto">
            <a:xfrm>
              <a:off x="5912584" y="1444620"/>
              <a:ext cx="59110" cy="39406"/>
            </a:xfrm>
            <a:custGeom>
              <a:avLst/>
              <a:gdLst>
                <a:gd name="T0" fmla="*/ 9 w 9"/>
                <a:gd name="T1" fmla="*/ 4 h 6"/>
                <a:gd name="T2" fmla="*/ 6 w 9"/>
                <a:gd name="T3" fmla="*/ 0 h 6"/>
                <a:gd name="T4" fmla="*/ 0 w 9"/>
                <a:gd name="T5" fmla="*/ 4 h 6"/>
                <a:gd name="T6" fmla="*/ 9 w 9"/>
                <a:gd name="T7" fmla="*/ 4 h 6"/>
              </a:gdLst>
              <a:ahLst/>
              <a:cxnLst>
                <a:cxn ang="0">
                  <a:pos x="T0" y="T1"/>
                </a:cxn>
                <a:cxn ang="0">
                  <a:pos x="T2" y="T3"/>
                </a:cxn>
                <a:cxn ang="0">
                  <a:pos x="T4" y="T5"/>
                </a:cxn>
                <a:cxn ang="0">
                  <a:pos x="T6" y="T7"/>
                </a:cxn>
              </a:cxnLst>
              <a:rect l="0" t="0" r="r" b="b"/>
              <a:pathLst>
                <a:path w="9" h="6">
                  <a:moveTo>
                    <a:pt x="9" y="4"/>
                  </a:moveTo>
                  <a:cubicBezTo>
                    <a:pt x="9" y="4"/>
                    <a:pt x="9" y="0"/>
                    <a:pt x="6" y="0"/>
                  </a:cubicBezTo>
                  <a:cubicBezTo>
                    <a:pt x="8" y="6"/>
                    <a:pt x="0" y="2"/>
                    <a:pt x="0" y="4"/>
                  </a:cubicBezTo>
                  <a:cubicBezTo>
                    <a:pt x="0" y="6"/>
                    <a:pt x="9" y="4"/>
                    <a:pt x="9" y="4"/>
                  </a:cubicBezTo>
                  <a:close/>
                </a:path>
              </a:pathLst>
            </a:custGeom>
            <a:solidFill>
              <a:srgbClr val="0C0B0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583"/>
            <p:cNvSpPr/>
            <p:nvPr/>
          </p:nvSpPr>
          <p:spPr bwMode="auto">
            <a:xfrm>
              <a:off x="5859104" y="310288"/>
              <a:ext cx="273029" cy="306804"/>
            </a:xfrm>
            <a:custGeom>
              <a:avLst/>
              <a:gdLst>
                <a:gd name="T0" fmla="*/ 41 w 41"/>
                <a:gd name="T1" fmla="*/ 20 h 46"/>
                <a:gd name="T2" fmla="*/ 20 w 41"/>
                <a:gd name="T3" fmla="*/ 46 h 46"/>
                <a:gd name="T4" fmla="*/ 0 w 41"/>
                <a:gd name="T5" fmla="*/ 20 h 46"/>
                <a:gd name="T6" fmla="*/ 20 w 41"/>
                <a:gd name="T7" fmla="*/ 0 h 46"/>
                <a:gd name="T8" fmla="*/ 41 w 41"/>
                <a:gd name="T9" fmla="*/ 20 h 46"/>
              </a:gdLst>
              <a:ahLst/>
              <a:cxnLst>
                <a:cxn ang="0">
                  <a:pos x="T0" y="T1"/>
                </a:cxn>
                <a:cxn ang="0">
                  <a:pos x="T2" y="T3"/>
                </a:cxn>
                <a:cxn ang="0">
                  <a:pos x="T4" y="T5"/>
                </a:cxn>
                <a:cxn ang="0">
                  <a:pos x="T6" y="T7"/>
                </a:cxn>
                <a:cxn ang="0">
                  <a:pos x="T8" y="T9"/>
                </a:cxn>
              </a:cxnLst>
              <a:rect l="0" t="0" r="r" b="b"/>
              <a:pathLst>
                <a:path w="41" h="46">
                  <a:moveTo>
                    <a:pt x="41" y="20"/>
                  </a:moveTo>
                  <a:cubicBezTo>
                    <a:pt x="41" y="31"/>
                    <a:pt x="34" y="46"/>
                    <a:pt x="20" y="46"/>
                  </a:cubicBezTo>
                  <a:cubicBezTo>
                    <a:pt x="9" y="46"/>
                    <a:pt x="0" y="31"/>
                    <a:pt x="0" y="20"/>
                  </a:cubicBezTo>
                  <a:cubicBezTo>
                    <a:pt x="0" y="8"/>
                    <a:pt x="9" y="0"/>
                    <a:pt x="20" y="0"/>
                  </a:cubicBezTo>
                  <a:cubicBezTo>
                    <a:pt x="31" y="0"/>
                    <a:pt x="41" y="8"/>
                    <a:pt x="41" y="20"/>
                  </a:cubicBezTo>
                  <a:close/>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1584"/>
            <p:cNvSpPr/>
            <p:nvPr/>
          </p:nvSpPr>
          <p:spPr bwMode="auto">
            <a:xfrm>
              <a:off x="5850660" y="490430"/>
              <a:ext cx="42222" cy="87255"/>
            </a:xfrm>
            <a:custGeom>
              <a:avLst/>
              <a:gdLst>
                <a:gd name="T0" fmla="*/ 4 w 6"/>
                <a:gd name="T1" fmla="*/ 5 h 13"/>
                <a:gd name="T2" fmla="*/ 2 w 6"/>
                <a:gd name="T3" fmla="*/ 8 h 13"/>
                <a:gd name="T4" fmla="*/ 6 w 6"/>
                <a:gd name="T5" fmla="*/ 10 h 13"/>
              </a:gdLst>
              <a:ahLst/>
              <a:cxnLst>
                <a:cxn ang="0">
                  <a:pos x="T0" y="T1"/>
                </a:cxn>
                <a:cxn ang="0">
                  <a:pos x="T2" y="T3"/>
                </a:cxn>
                <a:cxn ang="0">
                  <a:pos x="T4" y="T5"/>
                </a:cxn>
              </a:cxnLst>
              <a:rect l="0" t="0" r="r" b="b"/>
              <a:pathLst>
                <a:path w="6" h="13">
                  <a:moveTo>
                    <a:pt x="4" y="5"/>
                  </a:moveTo>
                  <a:cubicBezTo>
                    <a:pt x="4" y="5"/>
                    <a:pt x="0" y="0"/>
                    <a:pt x="2" y="8"/>
                  </a:cubicBezTo>
                  <a:cubicBezTo>
                    <a:pt x="4" y="13"/>
                    <a:pt x="6" y="12"/>
                    <a:pt x="6" y="10"/>
                  </a:cubicBezTo>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585"/>
            <p:cNvSpPr/>
            <p:nvPr/>
          </p:nvSpPr>
          <p:spPr bwMode="auto">
            <a:xfrm>
              <a:off x="6098356" y="490430"/>
              <a:ext cx="33777" cy="87255"/>
            </a:xfrm>
            <a:custGeom>
              <a:avLst/>
              <a:gdLst>
                <a:gd name="T0" fmla="*/ 2 w 5"/>
                <a:gd name="T1" fmla="*/ 5 h 13"/>
                <a:gd name="T2" fmla="*/ 3 w 5"/>
                <a:gd name="T3" fmla="*/ 8 h 13"/>
                <a:gd name="T4" fmla="*/ 0 w 5"/>
                <a:gd name="T5" fmla="*/ 10 h 13"/>
              </a:gdLst>
              <a:ahLst/>
              <a:cxnLst>
                <a:cxn ang="0">
                  <a:pos x="T0" y="T1"/>
                </a:cxn>
                <a:cxn ang="0">
                  <a:pos x="T2" y="T3"/>
                </a:cxn>
                <a:cxn ang="0">
                  <a:pos x="T4" y="T5"/>
                </a:cxn>
              </a:cxnLst>
              <a:rect l="0" t="0" r="r" b="b"/>
              <a:pathLst>
                <a:path w="5" h="13">
                  <a:moveTo>
                    <a:pt x="2" y="5"/>
                  </a:moveTo>
                  <a:cubicBezTo>
                    <a:pt x="2" y="5"/>
                    <a:pt x="5" y="0"/>
                    <a:pt x="3" y="8"/>
                  </a:cubicBezTo>
                  <a:cubicBezTo>
                    <a:pt x="2" y="13"/>
                    <a:pt x="0" y="12"/>
                    <a:pt x="0" y="10"/>
                  </a:cubicBezTo>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586"/>
            <p:cNvSpPr/>
            <p:nvPr/>
          </p:nvSpPr>
          <p:spPr bwMode="auto">
            <a:xfrm>
              <a:off x="5850660" y="645239"/>
              <a:ext cx="101330" cy="298361"/>
            </a:xfrm>
            <a:custGeom>
              <a:avLst/>
              <a:gdLst>
                <a:gd name="T0" fmla="*/ 14 w 15"/>
                <a:gd name="T1" fmla="*/ 0 h 45"/>
                <a:gd name="T2" fmla="*/ 3 w 15"/>
                <a:gd name="T3" fmla="*/ 3 h 45"/>
                <a:gd name="T4" fmla="*/ 1 w 15"/>
                <a:gd name="T5" fmla="*/ 32 h 45"/>
                <a:gd name="T6" fmla="*/ 2 w 15"/>
                <a:gd name="T7" fmla="*/ 45 h 45"/>
                <a:gd name="T8" fmla="*/ 12 w 15"/>
                <a:gd name="T9" fmla="*/ 45 h 45"/>
                <a:gd name="T10" fmla="*/ 12 w 15"/>
                <a:gd name="T11" fmla="*/ 45 h 45"/>
                <a:gd name="T12" fmla="*/ 10 w 15"/>
                <a:gd name="T13" fmla="*/ 45 h 45"/>
                <a:gd name="T14" fmla="*/ 10 w 15"/>
                <a:gd name="T15" fmla="*/ 4 h 45"/>
                <a:gd name="T16" fmla="*/ 14 w 15"/>
                <a:gd name="T17" fmla="*/ 1 h 45"/>
                <a:gd name="T18" fmla="*/ 15 w 15"/>
                <a:gd name="T19" fmla="*/ 0 h 45"/>
                <a:gd name="T20" fmla="*/ 14 w 15"/>
                <a:gd name="T21"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45">
                  <a:moveTo>
                    <a:pt x="14" y="0"/>
                  </a:moveTo>
                  <a:cubicBezTo>
                    <a:pt x="8" y="0"/>
                    <a:pt x="3" y="3"/>
                    <a:pt x="3" y="3"/>
                  </a:cubicBezTo>
                  <a:cubicBezTo>
                    <a:pt x="3" y="3"/>
                    <a:pt x="0" y="22"/>
                    <a:pt x="1" y="32"/>
                  </a:cubicBezTo>
                  <a:cubicBezTo>
                    <a:pt x="1" y="37"/>
                    <a:pt x="1" y="42"/>
                    <a:pt x="2" y="45"/>
                  </a:cubicBezTo>
                  <a:cubicBezTo>
                    <a:pt x="12" y="45"/>
                    <a:pt x="12" y="45"/>
                    <a:pt x="12" y="45"/>
                  </a:cubicBezTo>
                  <a:cubicBezTo>
                    <a:pt x="12" y="45"/>
                    <a:pt x="12" y="45"/>
                    <a:pt x="12" y="45"/>
                  </a:cubicBezTo>
                  <a:cubicBezTo>
                    <a:pt x="10" y="45"/>
                    <a:pt x="10" y="45"/>
                    <a:pt x="10" y="45"/>
                  </a:cubicBezTo>
                  <a:cubicBezTo>
                    <a:pt x="10" y="45"/>
                    <a:pt x="8" y="8"/>
                    <a:pt x="10" y="4"/>
                  </a:cubicBezTo>
                  <a:cubicBezTo>
                    <a:pt x="11" y="3"/>
                    <a:pt x="13" y="1"/>
                    <a:pt x="14" y="1"/>
                  </a:cubicBezTo>
                  <a:cubicBezTo>
                    <a:pt x="15" y="1"/>
                    <a:pt x="15" y="0"/>
                    <a:pt x="15" y="0"/>
                  </a:cubicBezTo>
                  <a:cubicBezTo>
                    <a:pt x="14" y="0"/>
                    <a:pt x="14" y="0"/>
                    <a:pt x="14" y="0"/>
                  </a:cubicBezTo>
                </a:path>
              </a:pathLst>
            </a:custGeom>
            <a:solidFill>
              <a:srgbClr val="6970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587"/>
            <p:cNvSpPr/>
            <p:nvPr/>
          </p:nvSpPr>
          <p:spPr bwMode="auto">
            <a:xfrm>
              <a:off x="5904139" y="650868"/>
              <a:ext cx="39406" cy="292731"/>
            </a:xfrm>
            <a:custGeom>
              <a:avLst/>
              <a:gdLst>
                <a:gd name="T0" fmla="*/ 6 w 6"/>
                <a:gd name="T1" fmla="*/ 0 h 44"/>
                <a:gd name="T2" fmla="*/ 2 w 6"/>
                <a:gd name="T3" fmla="*/ 3 h 44"/>
                <a:gd name="T4" fmla="*/ 2 w 6"/>
                <a:gd name="T5" fmla="*/ 44 h 44"/>
                <a:gd name="T6" fmla="*/ 4 w 6"/>
                <a:gd name="T7" fmla="*/ 44 h 44"/>
                <a:gd name="T8" fmla="*/ 4 w 6"/>
                <a:gd name="T9" fmla="*/ 43 h 44"/>
                <a:gd name="T10" fmla="*/ 6 w 6"/>
                <a:gd name="T11" fmla="*/ 0 h 44"/>
              </a:gdLst>
              <a:ahLst/>
              <a:cxnLst>
                <a:cxn ang="0">
                  <a:pos x="T0" y="T1"/>
                </a:cxn>
                <a:cxn ang="0">
                  <a:pos x="T2" y="T3"/>
                </a:cxn>
                <a:cxn ang="0">
                  <a:pos x="T4" y="T5"/>
                </a:cxn>
                <a:cxn ang="0">
                  <a:pos x="T6" y="T7"/>
                </a:cxn>
                <a:cxn ang="0">
                  <a:pos x="T8" y="T9"/>
                </a:cxn>
                <a:cxn ang="0">
                  <a:pos x="T10" y="T11"/>
                </a:cxn>
              </a:cxnLst>
              <a:rect l="0" t="0" r="r" b="b"/>
              <a:pathLst>
                <a:path w="6" h="44">
                  <a:moveTo>
                    <a:pt x="6" y="0"/>
                  </a:moveTo>
                  <a:cubicBezTo>
                    <a:pt x="5" y="0"/>
                    <a:pt x="3" y="2"/>
                    <a:pt x="2" y="3"/>
                  </a:cubicBezTo>
                  <a:cubicBezTo>
                    <a:pt x="0" y="7"/>
                    <a:pt x="2" y="44"/>
                    <a:pt x="2" y="44"/>
                  </a:cubicBezTo>
                  <a:cubicBezTo>
                    <a:pt x="4" y="44"/>
                    <a:pt x="4" y="44"/>
                    <a:pt x="4" y="44"/>
                  </a:cubicBezTo>
                  <a:cubicBezTo>
                    <a:pt x="4" y="44"/>
                    <a:pt x="4" y="43"/>
                    <a:pt x="4" y="43"/>
                  </a:cubicBezTo>
                  <a:cubicBezTo>
                    <a:pt x="3" y="36"/>
                    <a:pt x="6" y="3"/>
                    <a:pt x="6" y="0"/>
                  </a:cubicBezTo>
                </a:path>
              </a:pathLst>
            </a:custGeom>
            <a:solidFill>
              <a:srgbClr val="646C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588"/>
            <p:cNvSpPr/>
            <p:nvPr/>
          </p:nvSpPr>
          <p:spPr bwMode="auto">
            <a:xfrm>
              <a:off x="5864733" y="1011152"/>
              <a:ext cx="0" cy="5629"/>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1"/>
                    <a:pt x="0" y="1"/>
                  </a:cubicBezTo>
                  <a:cubicBezTo>
                    <a:pt x="0" y="0"/>
                    <a:pt x="0" y="0"/>
                    <a:pt x="0" y="0"/>
                  </a:cubicBezTo>
                </a:path>
              </a:pathLst>
            </a:custGeom>
            <a:solidFill>
              <a:srgbClr val="8082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1589"/>
            <p:cNvSpPr/>
            <p:nvPr/>
          </p:nvSpPr>
          <p:spPr bwMode="auto">
            <a:xfrm>
              <a:off x="5864733" y="963303"/>
              <a:ext cx="73183" cy="53479"/>
            </a:xfrm>
            <a:custGeom>
              <a:avLst/>
              <a:gdLst>
                <a:gd name="T0" fmla="*/ 2 w 11"/>
                <a:gd name="T1" fmla="*/ 0 h 8"/>
                <a:gd name="T2" fmla="*/ 0 w 11"/>
                <a:gd name="T3" fmla="*/ 0 h 8"/>
                <a:gd name="T4" fmla="*/ 0 w 11"/>
                <a:gd name="T5" fmla="*/ 7 h 8"/>
                <a:gd name="T6" fmla="*/ 0 w 11"/>
                <a:gd name="T7" fmla="*/ 8 h 8"/>
                <a:gd name="T8" fmla="*/ 11 w 11"/>
                <a:gd name="T9" fmla="*/ 8 h 8"/>
                <a:gd name="T10" fmla="*/ 10 w 11"/>
                <a:gd name="T11" fmla="*/ 0 h 8"/>
                <a:gd name="T12" fmla="*/ 2 w 11"/>
                <a:gd name="T13" fmla="*/ 0 h 8"/>
                <a:gd name="T14" fmla="*/ 2 w 11"/>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8">
                  <a:moveTo>
                    <a:pt x="2" y="0"/>
                  </a:moveTo>
                  <a:cubicBezTo>
                    <a:pt x="0" y="0"/>
                    <a:pt x="0" y="0"/>
                    <a:pt x="0" y="0"/>
                  </a:cubicBezTo>
                  <a:cubicBezTo>
                    <a:pt x="0" y="4"/>
                    <a:pt x="0" y="6"/>
                    <a:pt x="0" y="7"/>
                  </a:cubicBezTo>
                  <a:cubicBezTo>
                    <a:pt x="0" y="8"/>
                    <a:pt x="0" y="8"/>
                    <a:pt x="0" y="8"/>
                  </a:cubicBezTo>
                  <a:cubicBezTo>
                    <a:pt x="11" y="8"/>
                    <a:pt x="11" y="8"/>
                    <a:pt x="11" y="8"/>
                  </a:cubicBezTo>
                  <a:cubicBezTo>
                    <a:pt x="11" y="8"/>
                    <a:pt x="11" y="5"/>
                    <a:pt x="10" y="0"/>
                  </a:cubicBezTo>
                  <a:cubicBezTo>
                    <a:pt x="2" y="0"/>
                    <a:pt x="2" y="0"/>
                    <a:pt x="2" y="0"/>
                  </a:cubicBezTo>
                  <a:cubicBezTo>
                    <a:pt x="2" y="0"/>
                    <a:pt x="2" y="0"/>
                    <a:pt x="2" y="0"/>
                  </a:cubicBezTo>
                </a:path>
              </a:pathLst>
            </a:custGeom>
            <a:solidFill>
              <a:srgbClr val="0A0A0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590"/>
            <p:cNvSpPr/>
            <p:nvPr/>
          </p:nvSpPr>
          <p:spPr bwMode="auto">
            <a:xfrm>
              <a:off x="5864733" y="943599"/>
              <a:ext cx="14074" cy="19702"/>
            </a:xfrm>
            <a:custGeom>
              <a:avLst/>
              <a:gdLst>
                <a:gd name="T0" fmla="*/ 0 w 2"/>
                <a:gd name="T1" fmla="*/ 0 h 3"/>
                <a:gd name="T2" fmla="*/ 0 w 2"/>
                <a:gd name="T3" fmla="*/ 3 h 3"/>
                <a:gd name="T4" fmla="*/ 2 w 2"/>
                <a:gd name="T5" fmla="*/ 3 h 3"/>
                <a:gd name="T6" fmla="*/ 0 w 2"/>
                <a:gd name="T7" fmla="*/ 0 h 3"/>
              </a:gdLst>
              <a:ahLst/>
              <a:cxnLst>
                <a:cxn ang="0">
                  <a:pos x="T0" y="T1"/>
                </a:cxn>
                <a:cxn ang="0">
                  <a:pos x="T2" y="T3"/>
                </a:cxn>
                <a:cxn ang="0">
                  <a:pos x="T4" y="T5"/>
                </a:cxn>
                <a:cxn ang="0">
                  <a:pos x="T6" y="T7"/>
                </a:cxn>
              </a:cxnLst>
              <a:rect l="0" t="0" r="r" b="b"/>
              <a:pathLst>
                <a:path w="2" h="3">
                  <a:moveTo>
                    <a:pt x="0" y="0"/>
                  </a:moveTo>
                  <a:cubicBezTo>
                    <a:pt x="0" y="1"/>
                    <a:pt x="0" y="2"/>
                    <a:pt x="0" y="3"/>
                  </a:cubicBezTo>
                  <a:cubicBezTo>
                    <a:pt x="2" y="3"/>
                    <a:pt x="2" y="3"/>
                    <a:pt x="2" y="3"/>
                  </a:cubicBezTo>
                  <a:cubicBezTo>
                    <a:pt x="0" y="0"/>
                    <a:pt x="0" y="0"/>
                    <a:pt x="0" y="0"/>
                  </a:cubicBezTo>
                </a:path>
              </a:pathLst>
            </a:custGeom>
            <a:solidFill>
              <a:srgbClr val="6970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591"/>
            <p:cNvSpPr/>
            <p:nvPr/>
          </p:nvSpPr>
          <p:spPr bwMode="auto">
            <a:xfrm>
              <a:off x="5864733" y="943599"/>
              <a:ext cx="67553" cy="19702"/>
            </a:xfrm>
            <a:custGeom>
              <a:avLst/>
              <a:gdLst>
                <a:gd name="T0" fmla="*/ 10 w 10"/>
                <a:gd name="T1" fmla="*/ 0 h 3"/>
                <a:gd name="T2" fmla="*/ 0 w 10"/>
                <a:gd name="T3" fmla="*/ 0 h 3"/>
                <a:gd name="T4" fmla="*/ 0 w 10"/>
                <a:gd name="T5" fmla="*/ 0 h 3"/>
                <a:gd name="T6" fmla="*/ 2 w 10"/>
                <a:gd name="T7" fmla="*/ 3 h 3"/>
                <a:gd name="T8" fmla="*/ 2 w 10"/>
                <a:gd name="T9" fmla="*/ 3 h 3"/>
                <a:gd name="T10" fmla="*/ 10 w 10"/>
                <a:gd name="T11" fmla="*/ 3 h 3"/>
                <a:gd name="T12" fmla="*/ 10 w 10"/>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10" h="3">
                  <a:moveTo>
                    <a:pt x="10" y="0"/>
                  </a:moveTo>
                  <a:cubicBezTo>
                    <a:pt x="0" y="0"/>
                    <a:pt x="0" y="0"/>
                    <a:pt x="0" y="0"/>
                  </a:cubicBezTo>
                  <a:cubicBezTo>
                    <a:pt x="0" y="0"/>
                    <a:pt x="0" y="0"/>
                    <a:pt x="0" y="0"/>
                  </a:cubicBezTo>
                  <a:cubicBezTo>
                    <a:pt x="2" y="3"/>
                    <a:pt x="2" y="3"/>
                    <a:pt x="2" y="3"/>
                  </a:cubicBezTo>
                  <a:cubicBezTo>
                    <a:pt x="2" y="3"/>
                    <a:pt x="2" y="3"/>
                    <a:pt x="2" y="3"/>
                  </a:cubicBezTo>
                  <a:cubicBezTo>
                    <a:pt x="10" y="3"/>
                    <a:pt x="10" y="3"/>
                    <a:pt x="10" y="3"/>
                  </a:cubicBezTo>
                  <a:cubicBezTo>
                    <a:pt x="10" y="2"/>
                    <a:pt x="10" y="1"/>
                    <a:pt x="10" y="0"/>
                  </a:cubicBez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592"/>
            <p:cNvSpPr>
              <a:spLocks noEditPoints="1"/>
            </p:cNvSpPr>
            <p:nvPr/>
          </p:nvSpPr>
          <p:spPr bwMode="auto">
            <a:xfrm>
              <a:off x="6044875" y="645239"/>
              <a:ext cx="73183" cy="19702"/>
            </a:xfrm>
            <a:custGeom>
              <a:avLst/>
              <a:gdLst>
                <a:gd name="T0" fmla="*/ 11 w 11"/>
                <a:gd name="T1" fmla="*/ 3 h 3"/>
                <a:gd name="T2" fmla="*/ 11 w 11"/>
                <a:gd name="T3" fmla="*/ 3 h 3"/>
                <a:gd name="T4" fmla="*/ 11 w 11"/>
                <a:gd name="T5" fmla="*/ 3 h 3"/>
                <a:gd name="T6" fmla="*/ 11 w 11"/>
                <a:gd name="T7" fmla="*/ 3 h 3"/>
                <a:gd name="T8" fmla="*/ 0 w 11"/>
                <a:gd name="T9" fmla="*/ 0 h 3"/>
                <a:gd name="T10" fmla="*/ 5 w 11"/>
                <a:gd name="T11" fmla="*/ 1 h 3"/>
                <a:gd name="T12" fmla="*/ 0 w 11"/>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11" h="3">
                  <a:moveTo>
                    <a:pt x="11" y="3"/>
                  </a:moveTo>
                  <a:cubicBezTo>
                    <a:pt x="11" y="3"/>
                    <a:pt x="11" y="3"/>
                    <a:pt x="11" y="3"/>
                  </a:cubicBezTo>
                  <a:cubicBezTo>
                    <a:pt x="11" y="3"/>
                    <a:pt x="11" y="3"/>
                    <a:pt x="11" y="3"/>
                  </a:cubicBezTo>
                  <a:cubicBezTo>
                    <a:pt x="11" y="3"/>
                    <a:pt x="11" y="3"/>
                    <a:pt x="11" y="3"/>
                  </a:cubicBezTo>
                  <a:moveTo>
                    <a:pt x="0" y="0"/>
                  </a:moveTo>
                  <a:cubicBezTo>
                    <a:pt x="2" y="1"/>
                    <a:pt x="4" y="1"/>
                    <a:pt x="5" y="1"/>
                  </a:cubicBezTo>
                  <a:cubicBezTo>
                    <a:pt x="4" y="1"/>
                    <a:pt x="2" y="0"/>
                    <a:pt x="0" y="0"/>
                  </a:cubicBezTo>
                </a:path>
              </a:pathLst>
            </a:custGeom>
            <a:solidFill>
              <a:srgbClr val="8082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593"/>
            <p:cNvSpPr/>
            <p:nvPr/>
          </p:nvSpPr>
          <p:spPr bwMode="auto">
            <a:xfrm>
              <a:off x="6039246" y="963303"/>
              <a:ext cx="78812" cy="53479"/>
            </a:xfrm>
            <a:custGeom>
              <a:avLst/>
              <a:gdLst>
                <a:gd name="T0" fmla="*/ 12 w 12"/>
                <a:gd name="T1" fmla="*/ 0 h 8"/>
                <a:gd name="T2" fmla="*/ 11 w 12"/>
                <a:gd name="T3" fmla="*/ 0 h 8"/>
                <a:gd name="T4" fmla="*/ 11 w 12"/>
                <a:gd name="T5" fmla="*/ 0 h 8"/>
                <a:gd name="T6" fmla="*/ 1 w 12"/>
                <a:gd name="T7" fmla="*/ 0 h 8"/>
                <a:gd name="T8" fmla="*/ 0 w 12"/>
                <a:gd name="T9" fmla="*/ 8 h 8"/>
                <a:gd name="T10" fmla="*/ 11 w 12"/>
                <a:gd name="T11" fmla="*/ 8 h 8"/>
                <a:gd name="T12" fmla="*/ 12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12" y="0"/>
                  </a:moveTo>
                  <a:cubicBezTo>
                    <a:pt x="11" y="0"/>
                    <a:pt x="11" y="0"/>
                    <a:pt x="11" y="0"/>
                  </a:cubicBezTo>
                  <a:cubicBezTo>
                    <a:pt x="11" y="0"/>
                    <a:pt x="11" y="0"/>
                    <a:pt x="11" y="0"/>
                  </a:cubicBezTo>
                  <a:cubicBezTo>
                    <a:pt x="1" y="0"/>
                    <a:pt x="1" y="0"/>
                    <a:pt x="1" y="0"/>
                  </a:cubicBezTo>
                  <a:cubicBezTo>
                    <a:pt x="0" y="5"/>
                    <a:pt x="0" y="8"/>
                    <a:pt x="0" y="8"/>
                  </a:cubicBezTo>
                  <a:cubicBezTo>
                    <a:pt x="11" y="8"/>
                    <a:pt x="11" y="8"/>
                    <a:pt x="11" y="8"/>
                  </a:cubicBezTo>
                  <a:cubicBezTo>
                    <a:pt x="11" y="8"/>
                    <a:pt x="11" y="6"/>
                    <a:pt x="12" y="0"/>
                  </a:cubicBezTo>
                </a:path>
              </a:pathLst>
            </a:custGeom>
            <a:solidFill>
              <a:srgbClr val="0A0A0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594"/>
            <p:cNvSpPr/>
            <p:nvPr/>
          </p:nvSpPr>
          <p:spPr bwMode="auto">
            <a:xfrm>
              <a:off x="6039246" y="645239"/>
              <a:ext cx="92887" cy="318063"/>
            </a:xfrm>
            <a:custGeom>
              <a:avLst/>
              <a:gdLst>
                <a:gd name="T0" fmla="*/ 0 w 14"/>
                <a:gd name="T1" fmla="*/ 0 h 48"/>
                <a:gd name="T2" fmla="*/ 0 w 14"/>
                <a:gd name="T3" fmla="*/ 1 h 48"/>
                <a:gd name="T4" fmla="*/ 1 w 14"/>
                <a:gd name="T5" fmla="*/ 2 h 48"/>
                <a:gd name="T6" fmla="*/ 3 w 14"/>
                <a:gd name="T7" fmla="*/ 5 h 48"/>
                <a:gd name="T8" fmla="*/ 3 w 14"/>
                <a:gd name="T9" fmla="*/ 45 h 48"/>
                <a:gd name="T10" fmla="*/ 1 w 14"/>
                <a:gd name="T11" fmla="*/ 45 h 48"/>
                <a:gd name="T12" fmla="*/ 1 w 14"/>
                <a:gd name="T13" fmla="*/ 45 h 48"/>
                <a:gd name="T14" fmla="*/ 12 w 14"/>
                <a:gd name="T15" fmla="*/ 45 h 48"/>
                <a:gd name="T16" fmla="*/ 11 w 14"/>
                <a:gd name="T17" fmla="*/ 48 h 48"/>
                <a:gd name="T18" fmla="*/ 12 w 14"/>
                <a:gd name="T19" fmla="*/ 48 h 48"/>
                <a:gd name="T20" fmla="*/ 13 w 14"/>
                <a:gd name="T21" fmla="*/ 32 h 48"/>
                <a:gd name="T22" fmla="*/ 12 w 14"/>
                <a:gd name="T23" fmla="*/ 3 h 48"/>
                <a:gd name="T24" fmla="*/ 12 w 14"/>
                <a:gd name="T25" fmla="*/ 3 h 48"/>
                <a:gd name="T26" fmla="*/ 6 w 14"/>
                <a:gd name="T27" fmla="*/ 1 h 48"/>
                <a:gd name="T28" fmla="*/ 1 w 14"/>
                <a:gd name="T29" fmla="*/ 0 h 48"/>
                <a:gd name="T30" fmla="*/ 0 w 14"/>
                <a:gd name="T3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48">
                  <a:moveTo>
                    <a:pt x="0" y="0"/>
                  </a:moveTo>
                  <a:cubicBezTo>
                    <a:pt x="0" y="0"/>
                    <a:pt x="0" y="1"/>
                    <a:pt x="0" y="1"/>
                  </a:cubicBezTo>
                  <a:cubicBezTo>
                    <a:pt x="1" y="2"/>
                    <a:pt x="1" y="2"/>
                    <a:pt x="1" y="2"/>
                  </a:cubicBezTo>
                  <a:cubicBezTo>
                    <a:pt x="2" y="3"/>
                    <a:pt x="3" y="3"/>
                    <a:pt x="3" y="5"/>
                  </a:cubicBezTo>
                  <a:cubicBezTo>
                    <a:pt x="5" y="8"/>
                    <a:pt x="3" y="45"/>
                    <a:pt x="3" y="45"/>
                  </a:cubicBezTo>
                  <a:cubicBezTo>
                    <a:pt x="1" y="45"/>
                    <a:pt x="1" y="45"/>
                    <a:pt x="1" y="45"/>
                  </a:cubicBezTo>
                  <a:cubicBezTo>
                    <a:pt x="1" y="45"/>
                    <a:pt x="1" y="45"/>
                    <a:pt x="1" y="45"/>
                  </a:cubicBezTo>
                  <a:cubicBezTo>
                    <a:pt x="12" y="45"/>
                    <a:pt x="12" y="45"/>
                    <a:pt x="12" y="45"/>
                  </a:cubicBezTo>
                  <a:cubicBezTo>
                    <a:pt x="11" y="48"/>
                    <a:pt x="11" y="48"/>
                    <a:pt x="11" y="48"/>
                  </a:cubicBezTo>
                  <a:cubicBezTo>
                    <a:pt x="12" y="48"/>
                    <a:pt x="12" y="48"/>
                    <a:pt x="12" y="48"/>
                  </a:cubicBezTo>
                  <a:cubicBezTo>
                    <a:pt x="12" y="45"/>
                    <a:pt x="12" y="40"/>
                    <a:pt x="13" y="32"/>
                  </a:cubicBezTo>
                  <a:cubicBezTo>
                    <a:pt x="14" y="22"/>
                    <a:pt x="12" y="4"/>
                    <a:pt x="12" y="3"/>
                  </a:cubicBezTo>
                  <a:cubicBezTo>
                    <a:pt x="12" y="3"/>
                    <a:pt x="12" y="3"/>
                    <a:pt x="12" y="3"/>
                  </a:cubicBezTo>
                  <a:cubicBezTo>
                    <a:pt x="11" y="3"/>
                    <a:pt x="9" y="2"/>
                    <a:pt x="6" y="1"/>
                  </a:cubicBezTo>
                  <a:cubicBezTo>
                    <a:pt x="5" y="1"/>
                    <a:pt x="3" y="1"/>
                    <a:pt x="1" y="0"/>
                  </a:cubicBezTo>
                  <a:cubicBezTo>
                    <a:pt x="1" y="0"/>
                    <a:pt x="1" y="0"/>
                    <a:pt x="0" y="0"/>
                  </a:cubicBezTo>
                </a:path>
              </a:pathLst>
            </a:custGeom>
            <a:solidFill>
              <a:srgbClr val="6970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595"/>
            <p:cNvSpPr/>
            <p:nvPr/>
          </p:nvSpPr>
          <p:spPr bwMode="auto">
            <a:xfrm>
              <a:off x="6039246" y="650868"/>
              <a:ext cx="33777" cy="292731"/>
            </a:xfrm>
            <a:custGeom>
              <a:avLst/>
              <a:gdLst>
                <a:gd name="T0" fmla="*/ 0 w 5"/>
                <a:gd name="T1" fmla="*/ 0 h 44"/>
                <a:gd name="T2" fmla="*/ 1 w 5"/>
                <a:gd name="T3" fmla="*/ 43 h 44"/>
                <a:gd name="T4" fmla="*/ 1 w 5"/>
                <a:gd name="T5" fmla="*/ 44 h 44"/>
                <a:gd name="T6" fmla="*/ 3 w 5"/>
                <a:gd name="T7" fmla="*/ 44 h 44"/>
                <a:gd name="T8" fmla="*/ 3 w 5"/>
                <a:gd name="T9" fmla="*/ 4 h 44"/>
                <a:gd name="T10" fmla="*/ 1 w 5"/>
                <a:gd name="T11" fmla="*/ 1 h 44"/>
                <a:gd name="T12" fmla="*/ 0 w 5"/>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5" h="44">
                  <a:moveTo>
                    <a:pt x="0" y="0"/>
                  </a:moveTo>
                  <a:cubicBezTo>
                    <a:pt x="1" y="6"/>
                    <a:pt x="3" y="36"/>
                    <a:pt x="1" y="43"/>
                  </a:cubicBezTo>
                  <a:cubicBezTo>
                    <a:pt x="1" y="43"/>
                    <a:pt x="1" y="44"/>
                    <a:pt x="1" y="44"/>
                  </a:cubicBezTo>
                  <a:cubicBezTo>
                    <a:pt x="3" y="44"/>
                    <a:pt x="3" y="44"/>
                    <a:pt x="3" y="44"/>
                  </a:cubicBezTo>
                  <a:cubicBezTo>
                    <a:pt x="3" y="44"/>
                    <a:pt x="5" y="7"/>
                    <a:pt x="3" y="4"/>
                  </a:cubicBezTo>
                  <a:cubicBezTo>
                    <a:pt x="3" y="2"/>
                    <a:pt x="2" y="2"/>
                    <a:pt x="1" y="1"/>
                  </a:cubicBezTo>
                  <a:cubicBezTo>
                    <a:pt x="0" y="0"/>
                    <a:pt x="0" y="0"/>
                    <a:pt x="0" y="0"/>
                  </a:cubicBezTo>
                </a:path>
              </a:pathLst>
            </a:custGeom>
            <a:solidFill>
              <a:srgbClr val="646C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596"/>
            <p:cNvSpPr/>
            <p:nvPr/>
          </p:nvSpPr>
          <p:spPr bwMode="auto">
            <a:xfrm>
              <a:off x="6044875" y="943599"/>
              <a:ext cx="73183" cy="19702"/>
            </a:xfrm>
            <a:custGeom>
              <a:avLst/>
              <a:gdLst>
                <a:gd name="T0" fmla="*/ 11 w 11"/>
                <a:gd name="T1" fmla="*/ 0 h 3"/>
                <a:gd name="T2" fmla="*/ 0 w 11"/>
                <a:gd name="T3" fmla="*/ 0 h 3"/>
                <a:gd name="T4" fmla="*/ 0 w 11"/>
                <a:gd name="T5" fmla="*/ 3 h 3"/>
                <a:gd name="T6" fmla="*/ 10 w 11"/>
                <a:gd name="T7" fmla="*/ 3 h 3"/>
                <a:gd name="T8" fmla="*/ 10 w 11"/>
                <a:gd name="T9" fmla="*/ 3 h 3"/>
                <a:gd name="T10" fmla="*/ 11 w 11"/>
                <a:gd name="T11" fmla="*/ 0 h 3"/>
              </a:gdLst>
              <a:ahLst/>
              <a:cxnLst>
                <a:cxn ang="0">
                  <a:pos x="T0" y="T1"/>
                </a:cxn>
                <a:cxn ang="0">
                  <a:pos x="T2" y="T3"/>
                </a:cxn>
                <a:cxn ang="0">
                  <a:pos x="T4" y="T5"/>
                </a:cxn>
                <a:cxn ang="0">
                  <a:pos x="T6" y="T7"/>
                </a:cxn>
                <a:cxn ang="0">
                  <a:pos x="T8" y="T9"/>
                </a:cxn>
                <a:cxn ang="0">
                  <a:pos x="T10" y="T11"/>
                </a:cxn>
              </a:cxnLst>
              <a:rect l="0" t="0" r="r" b="b"/>
              <a:pathLst>
                <a:path w="11" h="3">
                  <a:moveTo>
                    <a:pt x="11" y="0"/>
                  </a:moveTo>
                  <a:cubicBezTo>
                    <a:pt x="0" y="0"/>
                    <a:pt x="0" y="0"/>
                    <a:pt x="0" y="0"/>
                  </a:cubicBezTo>
                  <a:cubicBezTo>
                    <a:pt x="0" y="1"/>
                    <a:pt x="0" y="2"/>
                    <a:pt x="0" y="3"/>
                  </a:cubicBezTo>
                  <a:cubicBezTo>
                    <a:pt x="10" y="3"/>
                    <a:pt x="10" y="3"/>
                    <a:pt x="10" y="3"/>
                  </a:cubicBezTo>
                  <a:cubicBezTo>
                    <a:pt x="10" y="3"/>
                    <a:pt x="10" y="3"/>
                    <a:pt x="10" y="3"/>
                  </a:cubicBezTo>
                  <a:cubicBezTo>
                    <a:pt x="11" y="0"/>
                    <a:pt x="11" y="0"/>
                    <a:pt x="11" y="0"/>
                  </a:cubicBez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597"/>
            <p:cNvSpPr/>
            <p:nvPr/>
          </p:nvSpPr>
          <p:spPr bwMode="auto">
            <a:xfrm>
              <a:off x="5845031" y="645239"/>
              <a:ext cx="92887" cy="371543"/>
            </a:xfrm>
            <a:custGeom>
              <a:avLst/>
              <a:gdLst>
                <a:gd name="T0" fmla="*/ 14 w 14"/>
                <a:gd name="T1" fmla="*/ 0 h 56"/>
                <a:gd name="T2" fmla="*/ 12 w 14"/>
                <a:gd name="T3" fmla="*/ 43 h 56"/>
                <a:gd name="T4" fmla="*/ 13 w 14"/>
                <a:gd name="T5" fmla="*/ 56 h 56"/>
                <a:gd name="T6" fmla="*/ 2 w 14"/>
                <a:gd name="T7" fmla="*/ 55 h 56"/>
                <a:gd name="T8" fmla="*/ 1 w 14"/>
                <a:gd name="T9" fmla="*/ 31 h 56"/>
                <a:gd name="T10" fmla="*/ 3 w 14"/>
                <a:gd name="T11" fmla="*/ 3 h 56"/>
                <a:gd name="T12" fmla="*/ 14 w 14"/>
                <a:gd name="T13" fmla="*/ 0 h 56"/>
              </a:gdLst>
              <a:ahLst/>
              <a:cxnLst>
                <a:cxn ang="0">
                  <a:pos x="T0" y="T1"/>
                </a:cxn>
                <a:cxn ang="0">
                  <a:pos x="T2" y="T3"/>
                </a:cxn>
                <a:cxn ang="0">
                  <a:pos x="T4" y="T5"/>
                </a:cxn>
                <a:cxn ang="0">
                  <a:pos x="T6" y="T7"/>
                </a:cxn>
                <a:cxn ang="0">
                  <a:pos x="T8" y="T9"/>
                </a:cxn>
                <a:cxn ang="0">
                  <a:pos x="T10" y="T11"/>
                </a:cxn>
                <a:cxn ang="0">
                  <a:pos x="T12" y="T13"/>
                </a:cxn>
              </a:cxnLst>
              <a:rect l="0" t="0" r="r" b="b"/>
              <a:pathLst>
                <a:path w="14" h="56">
                  <a:moveTo>
                    <a:pt x="14" y="0"/>
                  </a:moveTo>
                  <a:cubicBezTo>
                    <a:pt x="14" y="0"/>
                    <a:pt x="11" y="35"/>
                    <a:pt x="12" y="43"/>
                  </a:cubicBezTo>
                  <a:cubicBezTo>
                    <a:pt x="13" y="50"/>
                    <a:pt x="13" y="56"/>
                    <a:pt x="13" y="56"/>
                  </a:cubicBezTo>
                  <a:cubicBezTo>
                    <a:pt x="2" y="55"/>
                    <a:pt x="2" y="55"/>
                    <a:pt x="2" y="55"/>
                  </a:cubicBezTo>
                  <a:cubicBezTo>
                    <a:pt x="2" y="55"/>
                    <a:pt x="2" y="51"/>
                    <a:pt x="1" y="31"/>
                  </a:cubicBezTo>
                  <a:cubicBezTo>
                    <a:pt x="0" y="21"/>
                    <a:pt x="3" y="3"/>
                    <a:pt x="3" y="3"/>
                  </a:cubicBezTo>
                  <a:cubicBezTo>
                    <a:pt x="3" y="3"/>
                    <a:pt x="8" y="0"/>
                    <a:pt x="14" y="0"/>
                  </a:cubicBezTo>
                  <a:close/>
                </a:path>
              </a:pathLst>
            </a:custGeom>
            <a:solidFill>
              <a:srgbClr val="14141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1598"/>
            <p:cNvSpPr/>
            <p:nvPr/>
          </p:nvSpPr>
          <p:spPr bwMode="auto">
            <a:xfrm>
              <a:off x="5898510" y="636795"/>
              <a:ext cx="53481" cy="174513"/>
            </a:xfrm>
            <a:custGeom>
              <a:avLst/>
              <a:gdLst>
                <a:gd name="T0" fmla="*/ 6 w 8"/>
                <a:gd name="T1" fmla="*/ 0 h 26"/>
                <a:gd name="T2" fmla="*/ 8 w 8"/>
                <a:gd name="T3" fmla="*/ 1 h 26"/>
                <a:gd name="T4" fmla="*/ 4 w 8"/>
                <a:gd name="T5" fmla="*/ 26 h 26"/>
                <a:gd name="T6" fmla="*/ 0 w 8"/>
                <a:gd name="T7" fmla="*/ 18 h 26"/>
                <a:gd name="T8" fmla="*/ 1 w 8"/>
                <a:gd name="T9" fmla="*/ 14 h 26"/>
                <a:gd name="T10" fmla="*/ 3 w 8"/>
                <a:gd name="T11" fmla="*/ 13 h 26"/>
                <a:gd name="T12" fmla="*/ 1 w 8"/>
                <a:gd name="T13" fmla="*/ 9 h 26"/>
                <a:gd name="T14" fmla="*/ 2 w 8"/>
                <a:gd name="T15" fmla="*/ 1 h 26"/>
                <a:gd name="T16" fmla="*/ 6 w 8"/>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26">
                  <a:moveTo>
                    <a:pt x="6" y="0"/>
                  </a:moveTo>
                  <a:cubicBezTo>
                    <a:pt x="8" y="1"/>
                    <a:pt x="8" y="1"/>
                    <a:pt x="8" y="1"/>
                  </a:cubicBezTo>
                  <a:cubicBezTo>
                    <a:pt x="4" y="26"/>
                    <a:pt x="4" y="26"/>
                    <a:pt x="4" y="26"/>
                  </a:cubicBezTo>
                  <a:cubicBezTo>
                    <a:pt x="0" y="18"/>
                    <a:pt x="0" y="18"/>
                    <a:pt x="0" y="18"/>
                  </a:cubicBezTo>
                  <a:cubicBezTo>
                    <a:pt x="1" y="14"/>
                    <a:pt x="1" y="14"/>
                    <a:pt x="1" y="14"/>
                  </a:cubicBezTo>
                  <a:cubicBezTo>
                    <a:pt x="3" y="13"/>
                    <a:pt x="3" y="13"/>
                    <a:pt x="3" y="13"/>
                  </a:cubicBezTo>
                  <a:cubicBezTo>
                    <a:pt x="1" y="9"/>
                    <a:pt x="1" y="9"/>
                    <a:pt x="1" y="9"/>
                  </a:cubicBezTo>
                  <a:cubicBezTo>
                    <a:pt x="2" y="1"/>
                    <a:pt x="2" y="1"/>
                    <a:pt x="2" y="1"/>
                  </a:cubicBezTo>
                  <a:cubicBezTo>
                    <a:pt x="2" y="1"/>
                    <a:pt x="4" y="0"/>
                    <a:pt x="6"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1599"/>
            <p:cNvSpPr/>
            <p:nvPr/>
          </p:nvSpPr>
          <p:spPr bwMode="auto">
            <a:xfrm>
              <a:off x="6039246" y="636795"/>
              <a:ext cx="92887" cy="379987"/>
            </a:xfrm>
            <a:custGeom>
              <a:avLst/>
              <a:gdLst>
                <a:gd name="T0" fmla="*/ 0 w 14"/>
                <a:gd name="T1" fmla="*/ 0 h 57"/>
                <a:gd name="T2" fmla="*/ 2 w 14"/>
                <a:gd name="T3" fmla="*/ 44 h 57"/>
                <a:gd name="T4" fmla="*/ 1 w 14"/>
                <a:gd name="T5" fmla="*/ 57 h 57"/>
                <a:gd name="T6" fmla="*/ 12 w 14"/>
                <a:gd name="T7" fmla="*/ 56 h 57"/>
                <a:gd name="T8" fmla="*/ 13 w 14"/>
                <a:gd name="T9" fmla="*/ 32 h 57"/>
                <a:gd name="T10" fmla="*/ 11 w 14"/>
                <a:gd name="T11" fmla="*/ 3 h 57"/>
                <a:gd name="T12" fmla="*/ 0 w 14"/>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14" h="57">
                  <a:moveTo>
                    <a:pt x="0" y="0"/>
                  </a:moveTo>
                  <a:cubicBezTo>
                    <a:pt x="0" y="0"/>
                    <a:pt x="3" y="36"/>
                    <a:pt x="2" y="44"/>
                  </a:cubicBezTo>
                  <a:cubicBezTo>
                    <a:pt x="1" y="51"/>
                    <a:pt x="1" y="57"/>
                    <a:pt x="1" y="57"/>
                  </a:cubicBezTo>
                  <a:cubicBezTo>
                    <a:pt x="12" y="56"/>
                    <a:pt x="12" y="56"/>
                    <a:pt x="12" y="56"/>
                  </a:cubicBezTo>
                  <a:cubicBezTo>
                    <a:pt x="12" y="56"/>
                    <a:pt x="12" y="52"/>
                    <a:pt x="13" y="32"/>
                  </a:cubicBezTo>
                  <a:cubicBezTo>
                    <a:pt x="14" y="22"/>
                    <a:pt x="11" y="3"/>
                    <a:pt x="11" y="3"/>
                  </a:cubicBezTo>
                  <a:cubicBezTo>
                    <a:pt x="11" y="3"/>
                    <a:pt x="6" y="0"/>
                    <a:pt x="0" y="0"/>
                  </a:cubicBezTo>
                  <a:close/>
                </a:path>
              </a:pathLst>
            </a:custGeom>
            <a:solidFill>
              <a:srgbClr val="14141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1600"/>
            <p:cNvSpPr/>
            <p:nvPr/>
          </p:nvSpPr>
          <p:spPr bwMode="auto">
            <a:xfrm>
              <a:off x="6039246" y="636795"/>
              <a:ext cx="39406" cy="174513"/>
            </a:xfrm>
            <a:custGeom>
              <a:avLst/>
              <a:gdLst>
                <a:gd name="T0" fmla="*/ 1 w 6"/>
                <a:gd name="T1" fmla="*/ 0 h 26"/>
                <a:gd name="T2" fmla="*/ 0 w 6"/>
                <a:gd name="T3" fmla="*/ 0 h 26"/>
                <a:gd name="T4" fmla="*/ 2 w 6"/>
                <a:gd name="T5" fmla="*/ 26 h 26"/>
                <a:gd name="T6" fmla="*/ 6 w 6"/>
                <a:gd name="T7" fmla="*/ 17 h 26"/>
                <a:gd name="T8" fmla="*/ 5 w 6"/>
                <a:gd name="T9" fmla="*/ 14 h 26"/>
                <a:gd name="T10" fmla="*/ 3 w 6"/>
                <a:gd name="T11" fmla="*/ 13 h 26"/>
                <a:gd name="T12" fmla="*/ 5 w 6"/>
                <a:gd name="T13" fmla="*/ 9 h 26"/>
                <a:gd name="T14" fmla="*/ 4 w 6"/>
                <a:gd name="T15" fmla="*/ 1 h 26"/>
                <a:gd name="T16" fmla="*/ 1 w 6"/>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6">
                  <a:moveTo>
                    <a:pt x="1" y="0"/>
                  </a:moveTo>
                  <a:cubicBezTo>
                    <a:pt x="0" y="0"/>
                    <a:pt x="0" y="0"/>
                    <a:pt x="0" y="0"/>
                  </a:cubicBezTo>
                  <a:cubicBezTo>
                    <a:pt x="2" y="26"/>
                    <a:pt x="2" y="26"/>
                    <a:pt x="2" y="26"/>
                  </a:cubicBezTo>
                  <a:cubicBezTo>
                    <a:pt x="6" y="17"/>
                    <a:pt x="6" y="17"/>
                    <a:pt x="6" y="17"/>
                  </a:cubicBezTo>
                  <a:cubicBezTo>
                    <a:pt x="5" y="14"/>
                    <a:pt x="5" y="14"/>
                    <a:pt x="5" y="14"/>
                  </a:cubicBezTo>
                  <a:cubicBezTo>
                    <a:pt x="3" y="13"/>
                    <a:pt x="3" y="13"/>
                    <a:pt x="3" y="13"/>
                  </a:cubicBezTo>
                  <a:cubicBezTo>
                    <a:pt x="5" y="9"/>
                    <a:pt x="5" y="9"/>
                    <a:pt x="5" y="9"/>
                  </a:cubicBezTo>
                  <a:cubicBezTo>
                    <a:pt x="4" y="1"/>
                    <a:pt x="4" y="1"/>
                    <a:pt x="4" y="1"/>
                  </a:cubicBezTo>
                  <a:cubicBezTo>
                    <a:pt x="4" y="1"/>
                    <a:pt x="4" y="0"/>
                    <a:pt x="1"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1601"/>
            <p:cNvSpPr/>
            <p:nvPr/>
          </p:nvSpPr>
          <p:spPr bwMode="auto">
            <a:xfrm>
              <a:off x="6078652" y="645239"/>
              <a:ext cx="98516" cy="258954"/>
            </a:xfrm>
            <a:custGeom>
              <a:avLst/>
              <a:gdLst>
                <a:gd name="T0" fmla="*/ 5 w 15"/>
                <a:gd name="T1" fmla="*/ 2 h 39"/>
                <a:gd name="T2" fmla="*/ 3 w 15"/>
                <a:gd name="T3" fmla="*/ 21 h 39"/>
                <a:gd name="T4" fmla="*/ 0 w 15"/>
                <a:gd name="T5" fmla="*/ 29 h 39"/>
                <a:gd name="T6" fmla="*/ 9 w 15"/>
                <a:gd name="T7" fmla="*/ 39 h 39"/>
                <a:gd name="T8" fmla="*/ 5 w 15"/>
                <a:gd name="T9" fmla="*/ 2 h 39"/>
              </a:gdLst>
              <a:ahLst/>
              <a:cxnLst>
                <a:cxn ang="0">
                  <a:pos x="T0" y="T1"/>
                </a:cxn>
                <a:cxn ang="0">
                  <a:pos x="T2" y="T3"/>
                </a:cxn>
                <a:cxn ang="0">
                  <a:pos x="T4" y="T5"/>
                </a:cxn>
                <a:cxn ang="0">
                  <a:pos x="T6" y="T7"/>
                </a:cxn>
                <a:cxn ang="0">
                  <a:pos x="T8" y="T9"/>
                </a:cxn>
              </a:cxnLst>
              <a:rect l="0" t="0" r="r" b="b"/>
              <a:pathLst>
                <a:path w="15" h="39">
                  <a:moveTo>
                    <a:pt x="5" y="2"/>
                  </a:moveTo>
                  <a:cubicBezTo>
                    <a:pt x="5" y="2"/>
                    <a:pt x="6" y="13"/>
                    <a:pt x="3" y="21"/>
                  </a:cubicBezTo>
                  <a:cubicBezTo>
                    <a:pt x="1" y="25"/>
                    <a:pt x="0" y="29"/>
                    <a:pt x="0" y="29"/>
                  </a:cubicBezTo>
                  <a:cubicBezTo>
                    <a:pt x="0" y="29"/>
                    <a:pt x="5" y="39"/>
                    <a:pt x="9" y="39"/>
                  </a:cubicBezTo>
                  <a:cubicBezTo>
                    <a:pt x="13" y="38"/>
                    <a:pt x="15" y="0"/>
                    <a:pt x="5" y="2"/>
                  </a:cubicBezTo>
                  <a:close/>
                </a:path>
              </a:pathLst>
            </a:custGeom>
            <a:solidFill>
              <a:srgbClr val="24242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1602"/>
            <p:cNvSpPr/>
            <p:nvPr/>
          </p:nvSpPr>
          <p:spPr bwMode="auto">
            <a:xfrm>
              <a:off x="5951990" y="831010"/>
              <a:ext cx="205476" cy="87255"/>
            </a:xfrm>
            <a:custGeom>
              <a:avLst/>
              <a:gdLst>
                <a:gd name="T0" fmla="*/ 28 w 31"/>
                <a:gd name="T1" fmla="*/ 11 h 13"/>
                <a:gd name="T2" fmla="*/ 0 w 31"/>
                <a:gd name="T3" fmla="*/ 6 h 13"/>
                <a:gd name="T4" fmla="*/ 3 w 31"/>
                <a:gd name="T5" fmla="*/ 0 h 13"/>
                <a:gd name="T6" fmla="*/ 14 w 31"/>
                <a:gd name="T7" fmla="*/ 1 h 13"/>
                <a:gd name="T8" fmla="*/ 28 w 31"/>
                <a:gd name="T9" fmla="*/ 11 h 13"/>
              </a:gdLst>
              <a:ahLst/>
              <a:cxnLst>
                <a:cxn ang="0">
                  <a:pos x="T0" y="T1"/>
                </a:cxn>
                <a:cxn ang="0">
                  <a:pos x="T2" y="T3"/>
                </a:cxn>
                <a:cxn ang="0">
                  <a:pos x="T4" y="T5"/>
                </a:cxn>
                <a:cxn ang="0">
                  <a:pos x="T6" y="T7"/>
                </a:cxn>
                <a:cxn ang="0">
                  <a:pos x="T8" y="T9"/>
                </a:cxn>
              </a:cxnLst>
              <a:rect l="0" t="0" r="r" b="b"/>
              <a:pathLst>
                <a:path w="31" h="13">
                  <a:moveTo>
                    <a:pt x="28" y="11"/>
                  </a:moveTo>
                  <a:cubicBezTo>
                    <a:pt x="28" y="11"/>
                    <a:pt x="17" y="13"/>
                    <a:pt x="0" y="6"/>
                  </a:cubicBezTo>
                  <a:cubicBezTo>
                    <a:pt x="0" y="6"/>
                    <a:pt x="2" y="0"/>
                    <a:pt x="3" y="0"/>
                  </a:cubicBezTo>
                  <a:cubicBezTo>
                    <a:pt x="3" y="0"/>
                    <a:pt x="8" y="1"/>
                    <a:pt x="14" y="1"/>
                  </a:cubicBezTo>
                  <a:cubicBezTo>
                    <a:pt x="18" y="1"/>
                    <a:pt x="31" y="3"/>
                    <a:pt x="28" y="11"/>
                  </a:cubicBezTo>
                  <a:close/>
                </a:path>
              </a:pathLst>
            </a:custGeom>
            <a:solidFill>
              <a:srgbClr val="24242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603"/>
            <p:cNvSpPr/>
            <p:nvPr/>
          </p:nvSpPr>
          <p:spPr bwMode="auto">
            <a:xfrm>
              <a:off x="6078652" y="656498"/>
              <a:ext cx="53481" cy="208289"/>
            </a:xfrm>
            <a:custGeom>
              <a:avLst/>
              <a:gdLst>
                <a:gd name="T0" fmla="*/ 3 w 8"/>
                <a:gd name="T1" fmla="*/ 31 h 31"/>
                <a:gd name="T2" fmla="*/ 4 w 8"/>
                <a:gd name="T3" fmla="*/ 30 h 31"/>
                <a:gd name="T4" fmla="*/ 4 w 8"/>
                <a:gd name="T5" fmla="*/ 30 h 31"/>
                <a:gd name="T6" fmla="*/ 5 w 8"/>
                <a:gd name="T7" fmla="*/ 19 h 31"/>
                <a:gd name="T8" fmla="*/ 6 w 8"/>
                <a:gd name="T9" fmla="*/ 1 h 31"/>
                <a:gd name="T10" fmla="*/ 6 w 8"/>
                <a:gd name="T11" fmla="*/ 0 h 31"/>
                <a:gd name="T12" fmla="*/ 5 w 8"/>
                <a:gd name="T13" fmla="*/ 0 h 31"/>
                <a:gd name="T14" fmla="*/ 3 w 8"/>
                <a:gd name="T15" fmla="*/ 19 h 31"/>
                <a:gd name="T16" fmla="*/ 0 w 8"/>
                <a:gd name="T17" fmla="*/ 27 h 31"/>
                <a:gd name="T18" fmla="*/ 2 w 8"/>
                <a:gd name="T19" fmla="*/ 31 h 31"/>
                <a:gd name="T20" fmla="*/ 3 w 8"/>
                <a:gd name="T21"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31">
                  <a:moveTo>
                    <a:pt x="3" y="31"/>
                  </a:moveTo>
                  <a:cubicBezTo>
                    <a:pt x="3" y="31"/>
                    <a:pt x="4" y="31"/>
                    <a:pt x="4" y="30"/>
                  </a:cubicBezTo>
                  <a:cubicBezTo>
                    <a:pt x="4" y="30"/>
                    <a:pt x="4" y="30"/>
                    <a:pt x="4" y="30"/>
                  </a:cubicBezTo>
                  <a:cubicBezTo>
                    <a:pt x="2" y="26"/>
                    <a:pt x="3" y="22"/>
                    <a:pt x="5" y="19"/>
                  </a:cubicBezTo>
                  <a:cubicBezTo>
                    <a:pt x="8" y="13"/>
                    <a:pt x="6" y="7"/>
                    <a:pt x="6" y="1"/>
                  </a:cubicBezTo>
                  <a:cubicBezTo>
                    <a:pt x="6" y="0"/>
                    <a:pt x="6" y="0"/>
                    <a:pt x="6" y="0"/>
                  </a:cubicBezTo>
                  <a:cubicBezTo>
                    <a:pt x="6" y="0"/>
                    <a:pt x="5" y="0"/>
                    <a:pt x="5" y="0"/>
                  </a:cubicBezTo>
                  <a:cubicBezTo>
                    <a:pt x="5" y="0"/>
                    <a:pt x="6" y="11"/>
                    <a:pt x="3" y="19"/>
                  </a:cubicBezTo>
                  <a:cubicBezTo>
                    <a:pt x="1" y="23"/>
                    <a:pt x="0" y="27"/>
                    <a:pt x="0" y="27"/>
                  </a:cubicBezTo>
                  <a:cubicBezTo>
                    <a:pt x="0" y="27"/>
                    <a:pt x="1" y="29"/>
                    <a:pt x="2" y="31"/>
                  </a:cubicBezTo>
                  <a:lnTo>
                    <a:pt x="3" y="3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1604"/>
            <p:cNvSpPr/>
            <p:nvPr/>
          </p:nvSpPr>
          <p:spPr bwMode="auto">
            <a:xfrm>
              <a:off x="5951990" y="831010"/>
              <a:ext cx="151995" cy="59108"/>
            </a:xfrm>
            <a:custGeom>
              <a:avLst/>
              <a:gdLst>
                <a:gd name="T0" fmla="*/ 10 w 23"/>
                <a:gd name="T1" fmla="*/ 8 h 9"/>
                <a:gd name="T2" fmla="*/ 10 w 23"/>
                <a:gd name="T3" fmla="*/ 5 h 9"/>
                <a:gd name="T4" fmla="*/ 18 w 23"/>
                <a:gd name="T5" fmla="*/ 4 h 9"/>
                <a:gd name="T6" fmla="*/ 18 w 23"/>
                <a:gd name="T7" fmla="*/ 4 h 9"/>
                <a:gd name="T8" fmla="*/ 20 w 23"/>
                <a:gd name="T9" fmla="*/ 5 h 9"/>
                <a:gd name="T10" fmla="*/ 21 w 23"/>
                <a:gd name="T11" fmla="*/ 5 h 9"/>
                <a:gd name="T12" fmla="*/ 22 w 23"/>
                <a:gd name="T13" fmla="*/ 5 h 9"/>
                <a:gd name="T14" fmla="*/ 23 w 23"/>
                <a:gd name="T15" fmla="*/ 4 h 9"/>
                <a:gd name="T16" fmla="*/ 23 w 23"/>
                <a:gd name="T17" fmla="*/ 4 h 9"/>
                <a:gd name="T18" fmla="*/ 22 w 23"/>
                <a:gd name="T19" fmla="*/ 2 h 9"/>
                <a:gd name="T20" fmla="*/ 14 w 23"/>
                <a:gd name="T21" fmla="*/ 1 h 9"/>
                <a:gd name="T22" fmla="*/ 3 w 23"/>
                <a:gd name="T23" fmla="*/ 0 h 9"/>
                <a:gd name="T24" fmla="*/ 0 w 23"/>
                <a:gd name="T25" fmla="*/ 6 h 9"/>
                <a:gd name="T26" fmla="*/ 9 w 23"/>
                <a:gd name="T27" fmla="*/ 9 h 9"/>
                <a:gd name="T28" fmla="*/ 10 w 23"/>
                <a:gd name="T2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9">
                  <a:moveTo>
                    <a:pt x="10" y="8"/>
                  </a:moveTo>
                  <a:cubicBezTo>
                    <a:pt x="9" y="7"/>
                    <a:pt x="10" y="6"/>
                    <a:pt x="10" y="5"/>
                  </a:cubicBezTo>
                  <a:cubicBezTo>
                    <a:pt x="12" y="3"/>
                    <a:pt x="15" y="2"/>
                    <a:pt x="18" y="4"/>
                  </a:cubicBezTo>
                  <a:cubicBezTo>
                    <a:pt x="18" y="4"/>
                    <a:pt x="18" y="4"/>
                    <a:pt x="18" y="4"/>
                  </a:cubicBezTo>
                  <a:cubicBezTo>
                    <a:pt x="19" y="4"/>
                    <a:pt x="20" y="5"/>
                    <a:pt x="20" y="5"/>
                  </a:cubicBezTo>
                  <a:cubicBezTo>
                    <a:pt x="21" y="5"/>
                    <a:pt x="21" y="5"/>
                    <a:pt x="21" y="5"/>
                  </a:cubicBezTo>
                  <a:cubicBezTo>
                    <a:pt x="21" y="5"/>
                    <a:pt x="22" y="5"/>
                    <a:pt x="22" y="5"/>
                  </a:cubicBezTo>
                  <a:cubicBezTo>
                    <a:pt x="22" y="5"/>
                    <a:pt x="23" y="5"/>
                    <a:pt x="23" y="4"/>
                  </a:cubicBezTo>
                  <a:cubicBezTo>
                    <a:pt x="23" y="4"/>
                    <a:pt x="23" y="4"/>
                    <a:pt x="23" y="4"/>
                  </a:cubicBezTo>
                  <a:cubicBezTo>
                    <a:pt x="23" y="3"/>
                    <a:pt x="22" y="3"/>
                    <a:pt x="22" y="2"/>
                  </a:cubicBezTo>
                  <a:cubicBezTo>
                    <a:pt x="19" y="1"/>
                    <a:pt x="16" y="1"/>
                    <a:pt x="14" y="1"/>
                  </a:cubicBezTo>
                  <a:cubicBezTo>
                    <a:pt x="8" y="1"/>
                    <a:pt x="3" y="0"/>
                    <a:pt x="3" y="0"/>
                  </a:cubicBezTo>
                  <a:cubicBezTo>
                    <a:pt x="2" y="0"/>
                    <a:pt x="0" y="6"/>
                    <a:pt x="0" y="6"/>
                  </a:cubicBezTo>
                  <a:cubicBezTo>
                    <a:pt x="3" y="7"/>
                    <a:pt x="6" y="8"/>
                    <a:pt x="9" y="9"/>
                  </a:cubicBezTo>
                  <a:lnTo>
                    <a:pt x="1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605"/>
            <p:cNvSpPr/>
            <p:nvPr/>
          </p:nvSpPr>
          <p:spPr bwMode="auto">
            <a:xfrm>
              <a:off x="5870362" y="805679"/>
              <a:ext cx="81628" cy="25332"/>
            </a:xfrm>
            <a:custGeom>
              <a:avLst/>
              <a:gdLst>
                <a:gd name="T0" fmla="*/ 12 w 12"/>
                <a:gd name="T1" fmla="*/ 2 h 4"/>
                <a:gd name="T2" fmla="*/ 3 w 12"/>
                <a:gd name="T3" fmla="*/ 1 h 4"/>
                <a:gd name="T4" fmla="*/ 3 w 12"/>
                <a:gd name="T5" fmla="*/ 3 h 4"/>
                <a:gd name="T6" fmla="*/ 12 w 12"/>
                <a:gd name="T7" fmla="*/ 2 h 4"/>
              </a:gdLst>
              <a:ahLst/>
              <a:cxnLst>
                <a:cxn ang="0">
                  <a:pos x="T0" y="T1"/>
                </a:cxn>
                <a:cxn ang="0">
                  <a:pos x="T2" y="T3"/>
                </a:cxn>
                <a:cxn ang="0">
                  <a:pos x="T4" y="T5"/>
                </a:cxn>
                <a:cxn ang="0">
                  <a:pos x="T6" y="T7"/>
                </a:cxn>
              </a:cxnLst>
              <a:rect l="0" t="0" r="r" b="b"/>
              <a:pathLst>
                <a:path w="12" h="4">
                  <a:moveTo>
                    <a:pt x="12" y="2"/>
                  </a:moveTo>
                  <a:cubicBezTo>
                    <a:pt x="12" y="2"/>
                    <a:pt x="5" y="0"/>
                    <a:pt x="3" y="1"/>
                  </a:cubicBezTo>
                  <a:cubicBezTo>
                    <a:pt x="1" y="2"/>
                    <a:pt x="0" y="4"/>
                    <a:pt x="3" y="3"/>
                  </a:cubicBezTo>
                  <a:cubicBezTo>
                    <a:pt x="5" y="3"/>
                    <a:pt x="12" y="2"/>
                    <a:pt x="12" y="2"/>
                  </a:cubicBezTo>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1606"/>
            <p:cNvSpPr/>
            <p:nvPr/>
          </p:nvSpPr>
          <p:spPr bwMode="auto">
            <a:xfrm>
              <a:off x="5797180" y="645239"/>
              <a:ext cx="95701" cy="264584"/>
            </a:xfrm>
            <a:custGeom>
              <a:avLst/>
              <a:gdLst>
                <a:gd name="T0" fmla="*/ 11 w 14"/>
                <a:gd name="T1" fmla="*/ 2 h 40"/>
                <a:gd name="T2" fmla="*/ 11 w 14"/>
                <a:gd name="T3" fmla="*/ 16 h 40"/>
                <a:gd name="T4" fmla="*/ 14 w 14"/>
                <a:gd name="T5" fmla="*/ 31 h 40"/>
                <a:gd name="T6" fmla="*/ 5 w 14"/>
                <a:gd name="T7" fmla="*/ 38 h 40"/>
                <a:gd name="T8" fmla="*/ 11 w 14"/>
                <a:gd name="T9" fmla="*/ 2 h 40"/>
              </a:gdLst>
              <a:ahLst/>
              <a:cxnLst>
                <a:cxn ang="0">
                  <a:pos x="T0" y="T1"/>
                </a:cxn>
                <a:cxn ang="0">
                  <a:pos x="T2" y="T3"/>
                </a:cxn>
                <a:cxn ang="0">
                  <a:pos x="T4" y="T5"/>
                </a:cxn>
                <a:cxn ang="0">
                  <a:pos x="T6" y="T7"/>
                </a:cxn>
                <a:cxn ang="0">
                  <a:pos x="T8" y="T9"/>
                </a:cxn>
              </a:cxnLst>
              <a:rect l="0" t="0" r="r" b="b"/>
              <a:pathLst>
                <a:path w="14" h="40">
                  <a:moveTo>
                    <a:pt x="11" y="2"/>
                  </a:moveTo>
                  <a:cubicBezTo>
                    <a:pt x="11" y="2"/>
                    <a:pt x="9" y="9"/>
                    <a:pt x="11" y="16"/>
                  </a:cubicBezTo>
                  <a:cubicBezTo>
                    <a:pt x="13" y="22"/>
                    <a:pt x="14" y="31"/>
                    <a:pt x="14" y="31"/>
                  </a:cubicBezTo>
                  <a:cubicBezTo>
                    <a:pt x="14" y="31"/>
                    <a:pt x="8" y="40"/>
                    <a:pt x="5" y="38"/>
                  </a:cubicBezTo>
                  <a:cubicBezTo>
                    <a:pt x="1" y="37"/>
                    <a:pt x="0" y="0"/>
                    <a:pt x="11" y="2"/>
                  </a:cubicBezTo>
                  <a:close/>
                </a:path>
              </a:pathLst>
            </a:custGeom>
            <a:solidFill>
              <a:srgbClr val="24242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1607"/>
            <p:cNvSpPr/>
            <p:nvPr/>
          </p:nvSpPr>
          <p:spPr bwMode="auto">
            <a:xfrm>
              <a:off x="5791550" y="811308"/>
              <a:ext cx="247696" cy="112589"/>
            </a:xfrm>
            <a:custGeom>
              <a:avLst/>
              <a:gdLst>
                <a:gd name="T0" fmla="*/ 6 w 37"/>
                <a:gd name="T1" fmla="*/ 13 h 17"/>
                <a:gd name="T2" fmla="*/ 37 w 37"/>
                <a:gd name="T3" fmla="*/ 5 h 17"/>
                <a:gd name="T4" fmla="*/ 34 w 37"/>
                <a:gd name="T5" fmla="*/ 0 h 17"/>
                <a:gd name="T6" fmla="*/ 15 w 37"/>
                <a:gd name="T7" fmla="*/ 2 h 17"/>
                <a:gd name="T8" fmla="*/ 6 w 37"/>
                <a:gd name="T9" fmla="*/ 13 h 17"/>
              </a:gdLst>
              <a:ahLst/>
              <a:cxnLst>
                <a:cxn ang="0">
                  <a:pos x="T0" y="T1"/>
                </a:cxn>
                <a:cxn ang="0">
                  <a:pos x="T2" y="T3"/>
                </a:cxn>
                <a:cxn ang="0">
                  <a:pos x="T4" y="T5"/>
                </a:cxn>
                <a:cxn ang="0">
                  <a:pos x="T6" y="T7"/>
                </a:cxn>
                <a:cxn ang="0">
                  <a:pos x="T8" y="T9"/>
                </a:cxn>
              </a:cxnLst>
              <a:rect l="0" t="0" r="r" b="b"/>
              <a:pathLst>
                <a:path w="37" h="17">
                  <a:moveTo>
                    <a:pt x="6" y="13"/>
                  </a:moveTo>
                  <a:cubicBezTo>
                    <a:pt x="6" y="13"/>
                    <a:pt x="15" y="17"/>
                    <a:pt x="37" y="5"/>
                  </a:cubicBezTo>
                  <a:cubicBezTo>
                    <a:pt x="37" y="5"/>
                    <a:pt x="35" y="0"/>
                    <a:pt x="34" y="0"/>
                  </a:cubicBezTo>
                  <a:cubicBezTo>
                    <a:pt x="33" y="0"/>
                    <a:pt x="24" y="0"/>
                    <a:pt x="15" y="2"/>
                  </a:cubicBezTo>
                  <a:cubicBezTo>
                    <a:pt x="12" y="3"/>
                    <a:pt x="0" y="6"/>
                    <a:pt x="6" y="13"/>
                  </a:cubicBezTo>
                  <a:close/>
                </a:path>
              </a:pathLst>
            </a:custGeom>
            <a:solidFill>
              <a:srgbClr val="24242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1608"/>
            <p:cNvSpPr/>
            <p:nvPr/>
          </p:nvSpPr>
          <p:spPr bwMode="auto">
            <a:xfrm>
              <a:off x="5830956" y="656498"/>
              <a:ext cx="61924" cy="188585"/>
            </a:xfrm>
            <a:custGeom>
              <a:avLst/>
              <a:gdLst>
                <a:gd name="T0" fmla="*/ 3 w 9"/>
                <a:gd name="T1" fmla="*/ 1 h 28"/>
                <a:gd name="T2" fmla="*/ 3 w 9"/>
                <a:gd name="T3" fmla="*/ 16 h 28"/>
                <a:gd name="T4" fmla="*/ 6 w 9"/>
                <a:gd name="T5" fmla="*/ 23 h 28"/>
                <a:gd name="T6" fmla="*/ 6 w 9"/>
                <a:gd name="T7" fmla="*/ 28 h 28"/>
                <a:gd name="T8" fmla="*/ 9 w 9"/>
                <a:gd name="T9" fmla="*/ 27 h 28"/>
                <a:gd name="T10" fmla="*/ 6 w 9"/>
                <a:gd name="T11" fmla="*/ 14 h 28"/>
                <a:gd name="T12" fmla="*/ 6 w 9"/>
                <a:gd name="T13" fmla="*/ 0 h 28"/>
                <a:gd name="T14" fmla="*/ 3 w 9"/>
                <a:gd name="T15" fmla="*/ 0 h 28"/>
                <a:gd name="T16" fmla="*/ 3 w 9"/>
                <a:gd name="T17" fmla="*/ 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28">
                  <a:moveTo>
                    <a:pt x="3" y="1"/>
                  </a:moveTo>
                  <a:cubicBezTo>
                    <a:pt x="2" y="5"/>
                    <a:pt x="0" y="11"/>
                    <a:pt x="3" y="16"/>
                  </a:cubicBezTo>
                  <a:cubicBezTo>
                    <a:pt x="4" y="18"/>
                    <a:pt x="6" y="20"/>
                    <a:pt x="6" y="23"/>
                  </a:cubicBezTo>
                  <a:cubicBezTo>
                    <a:pt x="6" y="25"/>
                    <a:pt x="6" y="26"/>
                    <a:pt x="6" y="28"/>
                  </a:cubicBezTo>
                  <a:cubicBezTo>
                    <a:pt x="7" y="28"/>
                    <a:pt x="8" y="27"/>
                    <a:pt x="9" y="27"/>
                  </a:cubicBezTo>
                  <a:cubicBezTo>
                    <a:pt x="8" y="24"/>
                    <a:pt x="8" y="19"/>
                    <a:pt x="6" y="14"/>
                  </a:cubicBezTo>
                  <a:cubicBezTo>
                    <a:pt x="4" y="7"/>
                    <a:pt x="6" y="0"/>
                    <a:pt x="6" y="0"/>
                  </a:cubicBezTo>
                  <a:cubicBezTo>
                    <a:pt x="5" y="0"/>
                    <a:pt x="4" y="0"/>
                    <a:pt x="3" y="0"/>
                  </a:cubicBez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1609"/>
            <p:cNvSpPr/>
            <p:nvPr/>
          </p:nvSpPr>
          <p:spPr bwMode="auto">
            <a:xfrm>
              <a:off x="5870362" y="811308"/>
              <a:ext cx="168883" cy="39406"/>
            </a:xfrm>
            <a:custGeom>
              <a:avLst/>
              <a:gdLst>
                <a:gd name="T0" fmla="*/ 0 w 25"/>
                <a:gd name="T1" fmla="*/ 5 h 6"/>
                <a:gd name="T2" fmla="*/ 20 w 25"/>
                <a:gd name="T3" fmla="*/ 1 h 6"/>
                <a:gd name="T4" fmla="*/ 23 w 25"/>
                <a:gd name="T5" fmla="*/ 6 h 6"/>
                <a:gd name="T6" fmla="*/ 25 w 25"/>
                <a:gd name="T7" fmla="*/ 5 h 6"/>
                <a:gd name="T8" fmla="*/ 22 w 25"/>
                <a:gd name="T9" fmla="*/ 0 h 6"/>
                <a:gd name="T10" fmla="*/ 3 w 25"/>
                <a:gd name="T11" fmla="*/ 2 h 6"/>
                <a:gd name="T12" fmla="*/ 0 w 25"/>
                <a:gd name="T13" fmla="*/ 3 h 6"/>
                <a:gd name="T14" fmla="*/ 0 w 25"/>
                <a:gd name="T15" fmla="*/ 5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6">
                  <a:moveTo>
                    <a:pt x="0" y="5"/>
                  </a:moveTo>
                  <a:cubicBezTo>
                    <a:pt x="6" y="2"/>
                    <a:pt x="15" y="2"/>
                    <a:pt x="20" y="1"/>
                  </a:cubicBezTo>
                  <a:cubicBezTo>
                    <a:pt x="22" y="1"/>
                    <a:pt x="23" y="4"/>
                    <a:pt x="23" y="6"/>
                  </a:cubicBezTo>
                  <a:cubicBezTo>
                    <a:pt x="24" y="6"/>
                    <a:pt x="24" y="5"/>
                    <a:pt x="25" y="5"/>
                  </a:cubicBezTo>
                  <a:cubicBezTo>
                    <a:pt x="25" y="5"/>
                    <a:pt x="23" y="0"/>
                    <a:pt x="22" y="0"/>
                  </a:cubicBezTo>
                  <a:cubicBezTo>
                    <a:pt x="21" y="0"/>
                    <a:pt x="12" y="0"/>
                    <a:pt x="3" y="2"/>
                  </a:cubicBezTo>
                  <a:cubicBezTo>
                    <a:pt x="3" y="2"/>
                    <a:pt x="1" y="2"/>
                    <a:pt x="0" y="3"/>
                  </a:cubicBezTo>
                  <a:cubicBezTo>
                    <a:pt x="0" y="4"/>
                    <a:pt x="0" y="4"/>
                    <a:pt x="0"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1610"/>
            <p:cNvSpPr/>
            <p:nvPr/>
          </p:nvSpPr>
          <p:spPr bwMode="auto">
            <a:xfrm>
              <a:off x="6019544" y="805679"/>
              <a:ext cx="64739" cy="45036"/>
            </a:xfrm>
            <a:custGeom>
              <a:avLst/>
              <a:gdLst>
                <a:gd name="T0" fmla="*/ 0 w 10"/>
                <a:gd name="T1" fmla="*/ 1 h 7"/>
                <a:gd name="T2" fmla="*/ 10 w 10"/>
                <a:gd name="T3" fmla="*/ 2 h 7"/>
                <a:gd name="T4" fmla="*/ 9 w 10"/>
                <a:gd name="T5" fmla="*/ 5 h 7"/>
                <a:gd name="T6" fmla="*/ 3 w 10"/>
                <a:gd name="T7" fmla="*/ 6 h 7"/>
                <a:gd name="T8" fmla="*/ 0 w 10"/>
                <a:gd name="T9" fmla="*/ 1 h 7"/>
              </a:gdLst>
              <a:ahLst/>
              <a:cxnLst>
                <a:cxn ang="0">
                  <a:pos x="T0" y="T1"/>
                </a:cxn>
                <a:cxn ang="0">
                  <a:pos x="T2" y="T3"/>
                </a:cxn>
                <a:cxn ang="0">
                  <a:pos x="T4" y="T5"/>
                </a:cxn>
                <a:cxn ang="0">
                  <a:pos x="T6" y="T7"/>
                </a:cxn>
                <a:cxn ang="0">
                  <a:pos x="T8" y="T9"/>
                </a:cxn>
              </a:cxnLst>
              <a:rect l="0" t="0" r="r" b="b"/>
              <a:pathLst>
                <a:path w="10" h="7">
                  <a:moveTo>
                    <a:pt x="0" y="1"/>
                  </a:moveTo>
                  <a:cubicBezTo>
                    <a:pt x="0" y="1"/>
                    <a:pt x="7" y="0"/>
                    <a:pt x="10" y="2"/>
                  </a:cubicBezTo>
                  <a:cubicBezTo>
                    <a:pt x="9" y="5"/>
                    <a:pt x="9" y="5"/>
                    <a:pt x="9" y="5"/>
                  </a:cubicBezTo>
                  <a:cubicBezTo>
                    <a:pt x="9" y="5"/>
                    <a:pt x="5" y="7"/>
                    <a:pt x="3" y="6"/>
                  </a:cubicBezTo>
                  <a:lnTo>
                    <a:pt x="0" y="1"/>
                  </a:lnTo>
                  <a:close/>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Rectangle 1611"/>
            <p:cNvSpPr>
              <a:spLocks noChangeArrowheads="1"/>
            </p:cNvSpPr>
            <p:nvPr/>
          </p:nvSpPr>
          <p:spPr bwMode="auto">
            <a:xfrm>
              <a:off x="5951990" y="631166"/>
              <a:ext cx="78812" cy="19702"/>
            </a:xfrm>
            <a:prstGeom prst="rect">
              <a:avLst/>
            </a:prstGeom>
            <a:solidFill>
              <a:srgbClr val="C5CE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3" name="Freeform 1613"/>
            <p:cNvSpPr/>
            <p:nvPr/>
          </p:nvSpPr>
          <p:spPr bwMode="auto">
            <a:xfrm>
              <a:off x="5991395" y="631166"/>
              <a:ext cx="47851" cy="19702"/>
            </a:xfrm>
            <a:custGeom>
              <a:avLst/>
              <a:gdLst>
                <a:gd name="T0" fmla="*/ 0 w 7"/>
                <a:gd name="T1" fmla="*/ 0 h 3"/>
                <a:gd name="T2" fmla="*/ 2 w 7"/>
                <a:gd name="T3" fmla="*/ 3 h 3"/>
                <a:gd name="T4" fmla="*/ 7 w 7"/>
                <a:gd name="T5" fmla="*/ 3 h 3"/>
                <a:gd name="T6" fmla="*/ 7 w 7"/>
                <a:gd name="T7" fmla="*/ 0 h 3"/>
                <a:gd name="T8" fmla="*/ 0 w 7"/>
                <a:gd name="T9" fmla="*/ 0 h 3"/>
              </a:gdLst>
              <a:ahLst/>
              <a:cxnLst>
                <a:cxn ang="0">
                  <a:pos x="T0" y="T1"/>
                </a:cxn>
                <a:cxn ang="0">
                  <a:pos x="T2" y="T3"/>
                </a:cxn>
                <a:cxn ang="0">
                  <a:pos x="T4" y="T5"/>
                </a:cxn>
                <a:cxn ang="0">
                  <a:pos x="T6" y="T7"/>
                </a:cxn>
                <a:cxn ang="0">
                  <a:pos x="T8" y="T9"/>
                </a:cxn>
              </a:cxnLst>
              <a:rect l="0" t="0" r="r" b="b"/>
              <a:pathLst>
                <a:path w="7" h="3">
                  <a:moveTo>
                    <a:pt x="0" y="0"/>
                  </a:moveTo>
                  <a:cubicBezTo>
                    <a:pt x="0" y="0"/>
                    <a:pt x="3" y="2"/>
                    <a:pt x="2" y="3"/>
                  </a:cubicBezTo>
                  <a:cubicBezTo>
                    <a:pt x="7" y="3"/>
                    <a:pt x="7" y="3"/>
                    <a:pt x="7" y="3"/>
                  </a:cubicBezTo>
                  <a:cubicBezTo>
                    <a:pt x="7" y="0"/>
                    <a:pt x="7" y="0"/>
                    <a:pt x="7" y="0"/>
                  </a:cubicBezTo>
                  <a:cubicBezTo>
                    <a:pt x="6" y="0"/>
                    <a:pt x="1" y="0"/>
                    <a:pt x="0" y="0"/>
                  </a:cubicBezTo>
                  <a:close/>
                </a:path>
              </a:pathLst>
            </a:custGeom>
            <a:solidFill>
              <a:srgbClr val="E5EAF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1614"/>
            <p:cNvSpPr/>
            <p:nvPr/>
          </p:nvSpPr>
          <p:spPr bwMode="auto">
            <a:xfrm>
              <a:off x="5985765" y="650870"/>
              <a:ext cx="19704" cy="14073"/>
            </a:xfrm>
            <a:custGeom>
              <a:avLst/>
              <a:gdLst>
                <a:gd name="T0" fmla="*/ 0 w 7"/>
                <a:gd name="T1" fmla="*/ 0 h 5"/>
                <a:gd name="T2" fmla="*/ 7 w 7"/>
                <a:gd name="T3" fmla="*/ 0 h 5"/>
                <a:gd name="T4" fmla="*/ 4 w 7"/>
                <a:gd name="T5" fmla="*/ 5 h 5"/>
                <a:gd name="T6" fmla="*/ 0 w 7"/>
                <a:gd name="T7" fmla="*/ 5 h 5"/>
                <a:gd name="T8" fmla="*/ 0 w 7"/>
                <a:gd name="T9" fmla="*/ 0 h 5"/>
              </a:gdLst>
              <a:ahLst/>
              <a:cxnLst>
                <a:cxn ang="0">
                  <a:pos x="T0" y="T1"/>
                </a:cxn>
                <a:cxn ang="0">
                  <a:pos x="T2" y="T3"/>
                </a:cxn>
                <a:cxn ang="0">
                  <a:pos x="T4" y="T5"/>
                </a:cxn>
                <a:cxn ang="0">
                  <a:pos x="T6" y="T7"/>
                </a:cxn>
                <a:cxn ang="0">
                  <a:pos x="T8" y="T9"/>
                </a:cxn>
              </a:cxnLst>
              <a:rect l="0" t="0" r="r" b="b"/>
              <a:pathLst>
                <a:path w="7" h="5">
                  <a:moveTo>
                    <a:pt x="0" y="0"/>
                  </a:moveTo>
                  <a:lnTo>
                    <a:pt x="7" y="0"/>
                  </a:lnTo>
                  <a:lnTo>
                    <a:pt x="4" y="5"/>
                  </a:lnTo>
                  <a:lnTo>
                    <a:pt x="0" y="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1615"/>
            <p:cNvSpPr/>
            <p:nvPr/>
          </p:nvSpPr>
          <p:spPr bwMode="auto">
            <a:xfrm>
              <a:off x="5977322" y="636795"/>
              <a:ext cx="28147" cy="14073"/>
            </a:xfrm>
            <a:custGeom>
              <a:avLst/>
              <a:gdLst>
                <a:gd name="T0" fmla="*/ 4 w 4"/>
                <a:gd name="T1" fmla="*/ 2 h 2"/>
                <a:gd name="T2" fmla="*/ 4 w 4"/>
                <a:gd name="T3" fmla="*/ 0 h 2"/>
                <a:gd name="T4" fmla="*/ 1 w 4"/>
                <a:gd name="T5" fmla="*/ 0 h 2"/>
                <a:gd name="T6" fmla="*/ 1 w 4"/>
                <a:gd name="T7" fmla="*/ 2 h 2"/>
                <a:gd name="T8" fmla="*/ 4 w 4"/>
                <a:gd name="T9" fmla="*/ 2 h 2"/>
              </a:gdLst>
              <a:ahLst/>
              <a:cxnLst>
                <a:cxn ang="0">
                  <a:pos x="T0" y="T1"/>
                </a:cxn>
                <a:cxn ang="0">
                  <a:pos x="T2" y="T3"/>
                </a:cxn>
                <a:cxn ang="0">
                  <a:pos x="T4" y="T5"/>
                </a:cxn>
                <a:cxn ang="0">
                  <a:pos x="T6" y="T7"/>
                </a:cxn>
                <a:cxn ang="0">
                  <a:pos x="T8" y="T9"/>
                </a:cxn>
              </a:cxnLst>
              <a:rect l="0" t="0" r="r" b="b"/>
              <a:pathLst>
                <a:path w="4" h="2">
                  <a:moveTo>
                    <a:pt x="4" y="2"/>
                  </a:moveTo>
                  <a:cubicBezTo>
                    <a:pt x="4" y="2"/>
                    <a:pt x="4" y="1"/>
                    <a:pt x="4" y="0"/>
                  </a:cubicBezTo>
                  <a:cubicBezTo>
                    <a:pt x="3" y="0"/>
                    <a:pt x="1" y="0"/>
                    <a:pt x="1" y="0"/>
                  </a:cubicBezTo>
                  <a:cubicBezTo>
                    <a:pt x="1" y="1"/>
                    <a:pt x="0" y="2"/>
                    <a:pt x="1" y="2"/>
                  </a:cubicBezTo>
                  <a:cubicBezTo>
                    <a:pt x="1" y="2"/>
                    <a:pt x="4" y="2"/>
                    <a:pt x="4" y="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1616"/>
            <p:cNvSpPr/>
            <p:nvPr/>
          </p:nvSpPr>
          <p:spPr bwMode="auto">
            <a:xfrm>
              <a:off x="5971692" y="664943"/>
              <a:ext cx="39406" cy="132291"/>
            </a:xfrm>
            <a:custGeom>
              <a:avLst/>
              <a:gdLst>
                <a:gd name="T0" fmla="*/ 14 w 14"/>
                <a:gd name="T1" fmla="*/ 47 h 47"/>
                <a:gd name="T2" fmla="*/ 0 w 14"/>
                <a:gd name="T3" fmla="*/ 47 h 47"/>
                <a:gd name="T4" fmla="*/ 5 w 14"/>
                <a:gd name="T5" fmla="*/ 0 h 47"/>
                <a:gd name="T6" fmla="*/ 9 w 14"/>
                <a:gd name="T7" fmla="*/ 0 h 47"/>
                <a:gd name="T8" fmla="*/ 14 w 14"/>
                <a:gd name="T9" fmla="*/ 47 h 47"/>
              </a:gdLst>
              <a:ahLst/>
              <a:cxnLst>
                <a:cxn ang="0">
                  <a:pos x="T0" y="T1"/>
                </a:cxn>
                <a:cxn ang="0">
                  <a:pos x="T2" y="T3"/>
                </a:cxn>
                <a:cxn ang="0">
                  <a:pos x="T4" y="T5"/>
                </a:cxn>
                <a:cxn ang="0">
                  <a:pos x="T6" y="T7"/>
                </a:cxn>
                <a:cxn ang="0">
                  <a:pos x="T8" y="T9"/>
                </a:cxn>
              </a:cxnLst>
              <a:rect l="0" t="0" r="r" b="b"/>
              <a:pathLst>
                <a:path w="14" h="47">
                  <a:moveTo>
                    <a:pt x="14" y="47"/>
                  </a:moveTo>
                  <a:lnTo>
                    <a:pt x="0" y="47"/>
                  </a:lnTo>
                  <a:lnTo>
                    <a:pt x="5" y="0"/>
                  </a:lnTo>
                  <a:lnTo>
                    <a:pt x="9" y="0"/>
                  </a:lnTo>
                  <a:lnTo>
                    <a:pt x="14" y="4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1617"/>
            <p:cNvSpPr/>
            <p:nvPr/>
          </p:nvSpPr>
          <p:spPr bwMode="auto">
            <a:xfrm>
              <a:off x="5971692" y="797235"/>
              <a:ext cx="39406" cy="14073"/>
            </a:xfrm>
            <a:custGeom>
              <a:avLst/>
              <a:gdLst>
                <a:gd name="T0" fmla="*/ 2 w 14"/>
                <a:gd name="T1" fmla="*/ 5 h 5"/>
                <a:gd name="T2" fmla="*/ 0 w 14"/>
                <a:gd name="T3" fmla="*/ 0 h 5"/>
                <a:gd name="T4" fmla="*/ 14 w 14"/>
                <a:gd name="T5" fmla="*/ 0 h 5"/>
                <a:gd name="T6" fmla="*/ 12 w 14"/>
                <a:gd name="T7" fmla="*/ 5 h 5"/>
                <a:gd name="T8" fmla="*/ 2 w 14"/>
                <a:gd name="T9" fmla="*/ 5 h 5"/>
              </a:gdLst>
              <a:ahLst/>
              <a:cxnLst>
                <a:cxn ang="0">
                  <a:pos x="T0" y="T1"/>
                </a:cxn>
                <a:cxn ang="0">
                  <a:pos x="T2" y="T3"/>
                </a:cxn>
                <a:cxn ang="0">
                  <a:pos x="T4" y="T5"/>
                </a:cxn>
                <a:cxn ang="0">
                  <a:pos x="T6" y="T7"/>
                </a:cxn>
                <a:cxn ang="0">
                  <a:pos x="T8" y="T9"/>
                </a:cxn>
              </a:cxnLst>
              <a:rect l="0" t="0" r="r" b="b"/>
              <a:pathLst>
                <a:path w="14" h="5">
                  <a:moveTo>
                    <a:pt x="2" y="5"/>
                  </a:moveTo>
                  <a:lnTo>
                    <a:pt x="0" y="0"/>
                  </a:lnTo>
                  <a:lnTo>
                    <a:pt x="14" y="0"/>
                  </a:lnTo>
                  <a:lnTo>
                    <a:pt x="12" y="5"/>
                  </a:lnTo>
                  <a:lnTo>
                    <a:pt x="2" y="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1618"/>
            <p:cNvSpPr/>
            <p:nvPr/>
          </p:nvSpPr>
          <p:spPr bwMode="auto">
            <a:xfrm>
              <a:off x="6005469" y="636795"/>
              <a:ext cx="5629" cy="14073"/>
            </a:xfrm>
            <a:custGeom>
              <a:avLst/>
              <a:gdLst>
                <a:gd name="T0" fmla="*/ 0 w 1"/>
                <a:gd name="T1" fmla="*/ 2 h 2"/>
                <a:gd name="T2" fmla="*/ 1 w 1"/>
                <a:gd name="T3" fmla="*/ 2 h 2"/>
                <a:gd name="T4" fmla="*/ 0 w 1"/>
                <a:gd name="T5" fmla="*/ 0 h 2"/>
                <a:gd name="T6" fmla="*/ 0 w 1"/>
                <a:gd name="T7" fmla="*/ 0 h 2"/>
                <a:gd name="T8" fmla="*/ 0 w 1"/>
                <a:gd name="T9" fmla="*/ 2 h 2"/>
              </a:gdLst>
              <a:ahLst/>
              <a:cxnLst>
                <a:cxn ang="0">
                  <a:pos x="T0" y="T1"/>
                </a:cxn>
                <a:cxn ang="0">
                  <a:pos x="T2" y="T3"/>
                </a:cxn>
                <a:cxn ang="0">
                  <a:pos x="T4" y="T5"/>
                </a:cxn>
                <a:cxn ang="0">
                  <a:pos x="T6" y="T7"/>
                </a:cxn>
                <a:cxn ang="0">
                  <a:pos x="T8" y="T9"/>
                </a:cxn>
              </a:cxnLst>
              <a:rect l="0" t="0" r="r" b="b"/>
              <a:pathLst>
                <a:path w="1" h="2">
                  <a:moveTo>
                    <a:pt x="0" y="2"/>
                  </a:moveTo>
                  <a:cubicBezTo>
                    <a:pt x="1" y="2"/>
                    <a:pt x="1" y="2"/>
                    <a:pt x="1" y="2"/>
                  </a:cubicBezTo>
                  <a:cubicBezTo>
                    <a:pt x="1" y="2"/>
                    <a:pt x="1" y="1"/>
                    <a:pt x="0" y="0"/>
                  </a:cubicBezTo>
                  <a:cubicBezTo>
                    <a:pt x="0" y="0"/>
                    <a:pt x="0" y="0"/>
                    <a:pt x="0" y="0"/>
                  </a:cubicBez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1619"/>
            <p:cNvSpPr/>
            <p:nvPr/>
          </p:nvSpPr>
          <p:spPr bwMode="auto">
            <a:xfrm>
              <a:off x="5977322" y="636795"/>
              <a:ext cx="8445" cy="14073"/>
            </a:xfrm>
            <a:custGeom>
              <a:avLst/>
              <a:gdLst>
                <a:gd name="T0" fmla="*/ 0 w 1"/>
                <a:gd name="T1" fmla="*/ 2 h 2"/>
                <a:gd name="T2" fmla="*/ 0 w 1"/>
                <a:gd name="T3" fmla="*/ 2 h 2"/>
                <a:gd name="T4" fmla="*/ 1 w 1"/>
                <a:gd name="T5" fmla="*/ 0 h 2"/>
                <a:gd name="T6" fmla="*/ 1 w 1"/>
                <a:gd name="T7" fmla="*/ 0 h 2"/>
                <a:gd name="T8" fmla="*/ 0 w 1"/>
                <a:gd name="T9" fmla="*/ 2 h 2"/>
              </a:gdLst>
              <a:ahLst/>
              <a:cxnLst>
                <a:cxn ang="0">
                  <a:pos x="T0" y="T1"/>
                </a:cxn>
                <a:cxn ang="0">
                  <a:pos x="T2" y="T3"/>
                </a:cxn>
                <a:cxn ang="0">
                  <a:pos x="T4" y="T5"/>
                </a:cxn>
                <a:cxn ang="0">
                  <a:pos x="T6" y="T7"/>
                </a:cxn>
                <a:cxn ang="0">
                  <a:pos x="T8" y="T9"/>
                </a:cxn>
              </a:cxnLst>
              <a:rect l="0" t="0" r="r" b="b"/>
              <a:pathLst>
                <a:path w="1" h="2">
                  <a:moveTo>
                    <a:pt x="0" y="2"/>
                  </a:moveTo>
                  <a:cubicBezTo>
                    <a:pt x="0" y="2"/>
                    <a:pt x="0" y="2"/>
                    <a:pt x="0" y="2"/>
                  </a:cubicBezTo>
                  <a:cubicBezTo>
                    <a:pt x="0" y="2"/>
                    <a:pt x="0" y="1"/>
                    <a:pt x="1" y="0"/>
                  </a:cubicBezTo>
                  <a:cubicBezTo>
                    <a:pt x="1" y="0"/>
                    <a:pt x="1" y="0"/>
                    <a:pt x="1" y="0"/>
                  </a:cubicBez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1620"/>
            <p:cNvSpPr/>
            <p:nvPr/>
          </p:nvSpPr>
          <p:spPr bwMode="auto">
            <a:xfrm>
              <a:off x="5943545" y="631166"/>
              <a:ext cx="47851" cy="19702"/>
            </a:xfrm>
            <a:custGeom>
              <a:avLst/>
              <a:gdLst>
                <a:gd name="T0" fmla="*/ 7 w 7"/>
                <a:gd name="T1" fmla="*/ 0 h 3"/>
                <a:gd name="T2" fmla="*/ 5 w 7"/>
                <a:gd name="T3" fmla="*/ 3 h 3"/>
                <a:gd name="T4" fmla="*/ 1 w 7"/>
                <a:gd name="T5" fmla="*/ 3 h 3"/>
                <a:gd name="T6" fmla="*/ 1 w 7"/>
                <a:gd name="T7" fmla="*/ 0 h 3"/>
                <a:gd name="T8" fmla="*/ 7 w 7"/>
                <a:gd name="T9" fmla="*/ 0 h 3"/>
              </a:gdLst>
              <a:ahLst/>
              <a:cxnLst>
                <a:cxn ang="0">
                  <a:pos x="T0" y="T1"/>
                </a:cxn>
                <a:cxn ang="0">
                  <a:pos x="T2" y="T3"/>
                </a:cxn>
                <a:cxn ang="0">
                  <a:pos x="T4" y="T5"/>
                </a:cxn>
                <a:cxn ang="0">
                  <a:pos x="T6" y="T7"/>
                </a:cxn>
                <a:cxn ang="0">
                  <a:pos x="T8" y="T9"/>
                </a:cxn>
              </a:cxnLst>
              <a:rect l="0" t="0" r="r" b="b"/>
              <a:pathLst>
                <a:path w="7" h="3">
                  <a:moveTo>
                    <a:pt x="7" y="0"/>
                  </a:moveTo>
                  <a:cubicBezTo>
                    <a:pt x="7" y="0"/>
                    <a:pt x="5" y="1"/>
                    <a:pt x="5" y="3"/>
                  </a:cubicBezTo>
                  <a:cubicBezTo>
                    <a:pt x="1" y="3"/>
                    <a:pt x="1" y="3"/>
                    <a:pt x="1" y="3"/>
                  </a:cubicBezTo>
                  <a:cubicBezTo>
                    <a:pt x="1" y="3"/>
                    <a:pt x="0" y="1"/>
                    <a:pt x="1" y="0"/>
                  </a:cubicBezTo>
                  <a:cubicBezTo>
                    <a:pt x="1" y="0"/>
                    <a:pt x="6" y="0"/>
                    <a:pt x="7" y="0"/>
                  </a:cubicBezTo>
                  <a:close/>
                </a:path>
              </a:pathLst>
            </a:custGeom>
            <a:solidFill>
              <a:srgbClr val="E5EAF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1621"/>
            <p:cNvSpPr/>
            <p:nvPr/>
          </p:nvSpPr>
          <p:spPr bwMode="auto">
            <a:xfrm>
              <a:off x="6118058" y="783161"/>
              <a:ext cx="39406" cy="126662"/>
            </a:xfrm>
            <a:custGeom>
              <a:avLst/>
              <a:gdLst>
                <a:gd name="T0" fmla="*/ 6 w 6"/>
                <a:gd name="T1" fmla="*/ 0 h 19"/>
                <a:gd name="T2" fmla="*/ 4 w 6"/>
                <a:gd name="T3" fmla="*/ 17 h 19"/>
                <a:gd name="T4" fmla="*/ 1 w 6"/>
                <a:gd name="T5" fmla="*/ 11 h 19"/>
                <a:gd name="T6" fmla="*/ 3 w 6"/>
                <a:gd name="T7" fmla="*/ 15 h 19"/>
                <a:gd name="T8" fmla="*/ 4 w 6"/>
                <a:gd name="T9" fmla="*/ 5 h 19"/>
                <a:gd name="T10" fmla="*/ 6 w 6"/>
                <a:gd name="T11" fmla="*/ 0 h 19"/>
              </a:gdLst>
              <a:ahLst/>
              <a:cxnLst>
                <a:cxn ang="0">
                  <a:pos x="T0" y="T1"/>
                </a:cxn>
                <a:cxn ang="0">
                  <a:pos x="T2" y="T3"/>
                </a:cxn>
                <a:cxn ang="0">
                  <a:pos x="T4" y="T5"/>
                </a:cxn>
                <a:cxn ang="0">
                  <a:pos x="T6" y="T7"/>
                </a:cxn>
                <a:cxn ang="0">
                  <a:pos x="T8" y="T9"/>
                </a:cxn>
                <a:cxn ang="0">
                  <a:pos x="T10" y="T11"/>
                </a:cxn>
              </a:cxnLst>
              <a:rect l="0" t="0" r="r" b="b"/>
              <a:pathLst>
                <a:path w="6" h="19">
                  <a:moveTo>
                    <a:pt x="6" y="0"/>
                  </a:moveTo>
                  <a:cubicBezTo>
                    <a:pt x="6" y="0"/>
                    <a:pt x="5" y="16"/>
                    <a:pt x="4" y="17"/>
                  </a:cubicBezTo>
                  <a:cubicBezTo>
                    <a:pt x="2" y="18"/>
                    <a:pt x="3" y="13"/>
                    <a:pt x="1" y="11"/>
                  </a:cubicBezTo>
                  <a:cubicBezTo>
                    <a:pt x="0" y="8"/>
                    <a:pt x="2" y="11"/>
                    <a:pt x="3" y="15"/>
                  </a:cubicBezTo>
                  <a:cubicBezTo>
                    <a:pt x="3" y="19"/>
                    <a:pt x="4" y="11"/>
                    <a:pt x="4" y="5"/>
                  </a:cubicBezTo>
                  <a:cubicBezTo>
                    <a:pt x="3" y="0"/>
                    <a:pt x="5" y="12"/>
                    <a:pt x="6" y="0"/>
                  </a:cubicBezTo>
                  <a:close/>
                </a:path>
              </a:pathLst>
            </a:custGeom>
            <a:solidFill>
              <a:srgbClr val="1C1C1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1622"/>
            <p:cNvSpPr/>
            <p:nvPr/>
          </p:nvSpPr>
          <p:spPr bwMode="auto">
            <a:xfrm>
              <a:off x="5811252" y="791606"/>
              <a:ext cx="39406" cy="118218"/>
            </a:xfrm>
            <a:custGeom>
              <a:avLst/>
              <a:gdLst>
                <a:gd name="T0" fmla="*/ 0 w 6"/>
                <a:gd name="T1" fmla="*/ 0 h 18"/>
                <a:gd name="T2" fmla="*/ 2 w 6"/>
                <a:gd name="T3" fmla="*/ 16 h 18"/>
                <a:gd name="T4" fmla="*/ 5 w 6"/>
                <a:gd name="T5" fmla="*/ 10 h 18"/>
                <a:gd name="T6" fmla="*/ 3 w 6"/>
                <a:gd name="T7" fmla="*/ 14 h 18"/>
                <a:gd name="T8" fmla="*/ 2 w 6"/>
                <a:gd name="T9" fmla="*/ 5 h 18"/>
                <a:gd name="T10" fmla="*/ 0 w 6"/>
                <a:gd name="T11" fmla="*/ 0 h 18"/>
              </a:gdLst>
              <a:ahLst/>
              <a:cxnLst>
                <a:cxn ang="0">
                  <a:pos x="T0" y="T1"/>
                </a:cxn>
                <a:cxn ang="0">
                  <a:pos x="T2" y="T3"/>
                </a:cxn>
                <a:cxn ang="0">
                  <a:pos x="T4" y="T5"/>
                </a:cxn>
                <a:cxn ang="0">
                  <a:pos x="T6" y="T7"/>
                </a:cxn>
                <a:cxn ang="0">
                  <a:pos x="T8" y="T9"/>
                </a:cxn>
                <a:cxn ang="0">
                  <a:pos x="T10" y="T11"/>
                </a:cxn>
              </a:cxnLst>
              <a:rect l="0" t="0" r="r" b="b"/>
              <a:pathLst>
                <a:path w="6" h="18">
                  <a:moveTo>
                    <a:pt x="0" y="0"/>
                  </a:moveTo>
                  <a:cubicBezTo>
                    <a:pt x="0" y="0"/>
                    <a:pt x="1" y="15"/>
                    <a:pt x="2" y="16"/>
                  </a:cubicBezTo>
                  <a:cubicBezTo>
                    <a:pt x="4" y="17"/>
                    <a:pt x="3" y="13"/>
                    <a:pt x="5" y="10"/>
                  </a:cubicBezTo>
                  <a:cubicBezTo>
                    <a:pt x="6" y="8"/>
                    <a:pt x="4" y="10"/>
                    <a:pt x="3" y="14"/>
                  </a:cubicBezTo>
                  <a:cubicBezTo>
                    <a:pt x="3" y="18"/>
                    <a:pt x="2" y="10"/>
                    <a:pt x="2" y="5"/>
                  </a:cubicBezTo>
                  <a:cubicBezTo>
                    <a:pt x="3" y="0"/>
                    <a:pt x="1" y="11"/>
                    <a:pt x="0" y="0"/>
                  </a:cubicBezTo>
                  <a:close/>
                </a:path>
              </a:pathLst>
            </a:custGeom>
            <a:solidFill>
              <a:srgbClr val="1C1C1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1623"/>
            <p:cNvSpPr/>
            <p:nvPr/>
          </p:nvSpPr>
          <p:spPr bwMode="auto">
            <a:xfrm>
              <a:off x="5971692" y="757829"/>
              <a:ext cx="39406" cy="14073"/>
            </a:xfrm>
            <a:custGeom>
              <a:avLst/>
              <a:gdLst>
                <a:gd name="T0" fmla="*/ 0 w 14"/>
                <a:gd name="T1" fmla="*/ 5 h 5"/>
                <a:gd name="T2" fmla="*/ 14 w 14"/>
                <a:gd name="T3" fmla="*/ 0 h 5"/>
                <a:gd name="T4" fmla="*/ 14 w 14"/>
                <a:gd name="T5" fmla="*/ 0 h 5"/>
                <a:gd name="T6" fmla="*/ 0 w 14"/>
                <a:gd name="T7" fmla="*/ 5 h 5"/>
                <a:gd name="T8" fmla="*/ 0 w 14"/>
                <a:gd name="T9" fmla="*/ 5 h 5"/>
              </a:gdLst>
              <a:ahLst/>
              <a:cxnLst>
                <a:cxn ang="0">
                  <a:pos x="T0" y="T1"/>
                </a:cxn>
                <a:cxn ang="0">
                  <a:pos x="T2" y="T3"/>
                </a:cxn>
                <a:cxn ang="0">
                  <a:pos x="T4" y="T5"/>
                </a:cxn>
                <a:cxn ang="0">
                  <a:pos x="T6" y="T7"/>
                </a:cxn>
                <a:cxn ang="0">
                  <a:pos x="T8" y="T9"/>
                </a:cxn>
              </a:cxnLst>
              <a:rect l="0" t="0" r="r" b="b"/>
              <a:pathLst>
                <a:path w="14" h="5">
                  <a:moveTo>
                    <a:pt x="0" y="5"/>
                  </a:moveTo>
                  <a:lnTo>
                    <a:pt x="14" y="0"/>
                  </a:lnTo>
                  <a:lnTo>
                    <a:pt x="14" y="0"/>
                  </a:lnTo>
                  <a:lnTo>
                    <a:pt x="0" y="5"/>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1624"/>
            <p:cNvSpPr/>
            <p:nvPr/>
          </p:nvSpPr>
          <p:spPr bwMode="auto">
            <a:xfrm>
              <a:off x="5971692" y="757829"/>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1625"/>
            <p:cNvSpPr/>
            <p:nvPr/>
          </p:nvSpPr>
          <p:spPr bwMode="auto">
            <a:xfrm>
              <a:off x="5971692" y="763459"/>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1626"/>
            <p:cNvSpPr/>
            <p:nvPr/>
          </p:nvSpPr>
          <p:spPr bwMode="auto">
            <a:xfrm>
              <a:off x="5971692" y="771902"/>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1627"/>
            <p:cNvSpPr/>
            <p:nvPr/>
          </p:nvSpPr>
          <p:spPr bwMode="auto">
            <a:xfrm>
              <a:off x="5971692" y="777531"/>
              <a:ext cx="39406" cy="14073"/>
            </a:xfrm>
            <a:custGeom>
              <a:avLst/>
              <a:gdLst>
                <a:gd name="T0" fmla="*/ 0 w 14"/>
                <a:gd name="T1" fmla="*/ 5 h 5"/>
                <a:gd name="T2" fmla="*/ 14 w 14"/>
                <a:gd name="T3" fmla="*/ 0 h 5"/>
                <a:gd name="T4" fmla="*/ 14 w 14"/>
                <a:gd name="T5" fmla="*/ 0 h 5"/>
                <a:gd name="T6" fmla="*/ 0 w 14"/>
                <a:gd name="T7" fmla="*/ 5 h 5"/>
                <a:gd name="T8" fmla="*/ 0 w 14"/>
                <a:gd name="T9" fmla="*/ 5 h 5"/>
              </a:gdLst>
              <a:ahLst/>
              <a:cxnLst>
                <a:cxn ang="0">
                  <a:pos x="T0" y="T1"/>
                </a:cxn>
                <a:cxn ang="0">
                  <a:pos x="T2" y="T3"/>
                </a:cxn>
                <a:cxn ang="0">
                  <a:pos x="T4" y="T5"/>
                </a:cxn>
                <a:cxn ang="0">
                  <a:pos x="T6" y="T7"/>
                </a:cxn>
                <a:cxn ang="0">
                  <a:pos x="T8" y="T9"/>
                </a:cxn>
              </a:cxnLst>
              <a:rect l="0" t="0" r="r" b="b"/>
              <a:pathLst>
                <a:path w="14" h="5">
                  <a:moveTo>
                    <a:pt x="0" y="5"/>
                  </a:moveTo>
                  <a:lnTo>
                    <a:pt x="14" y="0"/>
                  </a:lnTo>
                  <a:lnTo>
                    <a:pt x="14" y="0"/>
                  </a:lnTo>
                  <a:lnTo>
                    <a:pt x="0" y="5"/>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1628"/>
            <p:cNvSpPr/>
            <p:nvPr/>
          </p:nvSpPr>
          <p:spPr bwMode="auto">
            <a:xfrm>
              <a:off x="5971692" y="777531"/>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1629"/>
            <p:cNvSpPr/>
            <p:nvPr/>
          </p:nvSpPr>
          <p:spPr bwMode="auto">
            <a:xfrm>
              <a:off x="5971692" y="783161"/>
              <a:ext cx="39406" cy="22518"/>
            </a:xfrm>
            <a:custGeom>
              <a:avLst/>
              <a:gdLst>
                <a:gd name="T0" fmla="*/ 0 w 14"/>
                <a:gd name="T1" fmla="*/ 5 h 8"/>
                <a:gd name="T2" fmla="*/ 14 w 14"/>
                <a:gd name="T3" fmla="*/ 0 h 8"/>
                <a:gd name="T4" fmla="*/ 14 w 14"/>
                <a:gd name="T5" fmla="*/ 0 h 8"/>
                <a:gd name="T6" fmla="*/ 0 w 14"/>
                <a:gd name="T7" fmla="*/ 8 h 8"/>
                <a:gd name="T8" fmla="*/ 0 w 14"/>
                <a:gd name="T9" fmla="*/ 5 h 8"/>
              </a:gdLst>
              <a:ahLst/>
              <a:cxnLst>
                <a:cxn ang="0">
                  <a:pos x="T0" y="T1"/>
                </a:cxn>
                <a:cxn ang="0">
                  <a:pos x="T2" y="T3"/>
                </a:cxn>
                <a:cxn ang="0">
                  <a:pos x="T4" y="T5"/>
                </a:cxn>
                <a:cxn ang="0">
                  <a:pos x="T6" y="T7"/>
                </a:cxn>
                <a:cxn ang="0">
                  <a:pos x="T8" y="T9"/>
                </a:cxn>
              </a:cxnLst>
              <a:rect l="0" t="0" r="r" b="b"/>
              <a:pathLst>
                <a:path w="14" h="8">
                  <a:moveTo>
                    <a:pt x="0" y="5"/>
                  </a:moveTo>
                  <a:lnTo>
                    <a:pt x="14" y="0"/>
                  </a:lnTo>
                  <a:lnTo>
                    <a:pt x="14" y="0"/>
                  </a:lnTo>
                  <a:lnTo>
                    <a:pt x="0" y="8"/>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1630"/>
            <p:cNvSpPr/>
            <p:nvPr/>
          </p:nvSpPr>
          <p:spPr bwMode="auto">
            <a:xfrm>
              <a:off x="5971692" y="791606"/>
              <a:ext cx="39406" cy="19702"/>
            </a:xfrm>
            <a:custGeom>
              <a:avLst/>
              <a:gdLst>
                <a:gd name="T0" fmla="*/ 0 w 14"/>
                <a:gd name="T1" fmla="*/ 5 h 7"/>
                <a:gd name="T2" fmla="*/ 14 w 14"/>
                <a:gd name="T3" fmla="*/ 0 h 7"/>
                <a:gd name="T4" fmla="*/ 14 w 14"/>
                <a:gd name="T5" fmla="*/ 0 h 7"/>
                <a:gd name="T6" fmla="*/ 0 w 14"/>
                <a:gd name="T7" fmla="*/ 7 h 7"/>
                <a:gd name="T8" fmla="*/ 0 w 14"/>
                <a:gd name="T9" fmla="*/ 5 h 7"/>
              </a:gdLst>
              <a:ahLst/>
              <a:cxnLst>
                <a:cxn ang="0">
                  <a:pos x="T0" y="T1"/>
                </a:cxn>
                <a:cxn ang="0">
                  <a:pos x="T2" y="T3"/>
                </a:cxn>
                <a:cxn ang="0">
                  <a:pos x="T4" y="T5"/>
                </a:cxn>
                <a:cxn ang="0">
                  <a:pos x="T6" y="T7"/>
                </a:cxn>
                <a:cxn ang="0">
                  <a:pos x="T8" y="T9"/>
                </a:cxn>
              </a:cxnLst>
              <a:rect l="0" t="0" r="r" b="b"/>
              <a:pathLst>
                <a:path w="14" h="7">
                  <a:moveTo>
                    <a:pt x="0" y="5"/>
                  </a:moveTo>
                  <a:lnTo>
                    <a:pt x="14" y="0"/>
                  </a:lnTo>
                  <a:lnTo>
                    <a:pt x="14" y="0"/>
                  </a:lnTo>
                  <a:lnTo>
                    <a:pt x="0" y="7"/>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1631"/>
            <p:cNvSpPr/>
            <p:nvPr/>
          </p:nvSpPr>
          <p:spPr bwMode="auto">
            <a:xfrm>
              <a:off x="5971692" y="791606"/>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1632"/>
            <p:cNvSpPr/>
            <p:nvPr/>
          </p:nvSpPr>
          <p:spPr bwMode="auto">
            <a:xfrm>
              <a:off x="5971692" y="797235"/>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1633"/>
            <p:cNvSpPr/>
            <p:nvPr/>
          </p:nvSpPr>
          <p:spPr bwMode="auto">
            <a:xfrm>
              <a:off x="5971692" y="805679"/>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1634"/>
            <p:cNvSpPr/>
            <p:nvPr/>
          </p:nvSpPr>
          <p:spPr bwMode="auto">
            <a:xfrm>
              <a:off x="5971692" y="805679"/>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1635"/>
            <p:cNvSpPr/>
            <p:nvPr/>
          </p:nvSpPr>
          <p:spPr bwMode="auto">
            <a:xfrm>
              <a:off x="5971692" y="811308"/>
              <a:ext cx="39406" cy="19702"/>
            </a:xfrm>
            <a:custGeom>
              <a:avLst/>
              <a:gdLst>
                <a:gd name="T0" fmla="*/ 0 w 14"/>
                <a:gd name="T1" fmla="*/ 5 h 7"/>
                <a:gd name="T2" fmla="*/ 14 w 14"/>
                <a:gd name="T3" fmla="*/ 0 h 7"/>
                <a:gd name="T4" fmla="*/ 14 w 14"/>
                <a:gd name="T5" fmla="*/ 0 h 7"/>
                <a:gd name="T6" fmla="*/ 0 w 14"/>
                <a:gd name="T7" fmla="*/ 7 h 7"/>
                <a:gd name="T8" fmla="*/ 0 w 14"/>
                <a:gd name="T9" fmla="*/ 5 h 7"/>
              </a:gdLst>
              <a:ahLst/>
              <a:cxnLst>
                <a:cxn ang="0">
                  <a:pos x="T0" y="T1"/>
                </a:cxn>
                <a:cxn ang="0">
                  <a:pos x="T2" y="T3"/>
                </a:cxn>
                <a:cxn ang="0">
                  <a:pos x="T4" y="T5"/>
                </a:cxn>
                <a:cxn ang="0">
                  <a:pos x="T6" y="T7"/>
                </a:cxn>
                <a:cxn ang="0">
                  <a:pos x="T8" y="T9"/>
                </a:cxn>
              </a:cxnLst>
              <a:rect l="0" t="0" r="r" b="b"/>
              <a:pathLst>
                <a:path w="14" h="7">
                  <a:moveTo>
                    <a:pt x="0" y="5"/>
                  </a:moveTo>
                  <a:lnTo>
                    <a:pt x="14" y="0"/>
                  </a:lnTo>
                  <a:lnTo>
                    <a:pt x="14" y="0"/>
                  </a:lnTo>
                  <a:lnTo>
                    <a:pt x="0" y="7"/>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1636"/>
            <p:cNvSpPr/>
            <p:nvPr/>
          </p:nvSpPr>
          <p:spPr bwMode="auto">
            <a:xfrm>
              <a:off x="5971692" y="709978"/>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1637"/>
            <p:cNvSpPr/>
            <p:nvPr/>
          </p:nvSpPr>
          <p:spPr bwMode="auto">
            <a:xfrm>
              <a:off x="5971692" y="718423"/>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1638"/>
            <p:cNvSpPr/>
            <p:nvPr/>
          </p:nvSpPr>
          <p:spPr bwMode="auto">
            <a:xfrm>
              <a:off x="5971692" y="724053"/>
              <a:ext cx="39406" cy="14073"/>
            </a:xfrm>
            <a:custGeom>
              <a:avLst/>
              <a:gdLst>
                <a:gd name="T0" fmla="*/ 0 w 14"/>
                <a:gd name="T1" fmla="*/ 5 h 5"/>
                <a:gd name="T2" fmla="*/ 14 w 14"/>
                <a:gd name="T3" fmla="*/ 0 h 5"/>
                <a:gd name="T4" fmla="*/ 14 w 14"/>
                <a:gd name="T5" fmla="*/ 0 h 5"/>
                <a:gd name="T6" fmla="*/ 0 w 14"/>
                <a:gd name="T7" fmla="*/ 5 h 5"/>
                <a:gd name="T8" fmla="*/ 0 w 14"/>
                <a:gd name="T9" fmla="*/ 5 h 5"/>
              </a:gdLst>
              <a:ahLst/>
              <a:cxnLst>
                <a:cxn ang="0">
                  <a:pos x="T0" y="T1"/>
                </a:cxn>
                <a:cxn ang="0">
                  <a:pos x="T2" y="T3"/>
                </a:cxn>
                <a:cxn ang="0">
                  <a:pos x="T4" y="T5"/>
                </a:cxn>
                <a:cxn ang="0">
                  <a:pos x="T6" y="T7"/>
                </a:cxn>
                <a:cxn ang="0">
                  <a:pos x="T8" y="T9"/>
                </a:cxn>
              </a:cxnLst>
              <a:rect l="0" t="0" r="r" b="b"/>
              <a:pathLst>
                <a:path w="14" h="5">
                  <a:moveTo>
                    <a:pt x="0" y="5"/>
                  </a:moveTo>
                  <a:lnTo>
                    <a:pt x="14" y="0"/>
                  </a:lnTo>
                  <a:lnTo>
                    <a:pt x="14" y="0"/>
                  </a:lnTo>
                  <a:lnTo>
                    <a:pt x="0" y="5"/>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1639"/>
            <p:cNvSpPr/>
            <p:nvPr/>
          </p:nvSpPr>
          <p:spPr bwMode="auto">
            <a:xfrm>
              <a:off x="5971692" y="724053"/>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1640"/>
            <p:cNvSpPr/>
            <p:nvPr/>
          </p:nvSpPr>
          <p:spPr bwMode="auto">
            <a:xfrm>
              <a:off x="5971692" y="729682"/>
              <a:ext cx="39406" cy="22518"/>
            </a:xfrm>
            <a:custGeom>
              <a:avLst/>
              <a:gdLst>
                <a:gd name="T0" fmla="*/ 0 w 14"/>
                <a:gd name="T1" fmla="*/ 5 h 8"/>
                <a:gd name="T2" fmla="*/ 14 w 14"/>
                <a:gd name="T3" fmla="*/ 0 h 8"/>
                <a:gd name="T4" fmla="*/ 14 w 14"/>
                <a:gd name="T5" fmla="*/ 0 h 8"/>
                <a:gd name="T6" fmla="*/ 0 w 14"/>
                <a:gd name="T7" fmla="*/ 8 h 8"/>
                <a:gd name="T8" fmla="*/ 0 w 14"/>
                <a:gd name="T9" fmla="*/ 5 h 8"/>
              </a:gdLst>
              <a:ahLst/>
              <a:cxnLst>
                <a:cxn ang="0">
                  <a:pos x="T0" y="T1"/>
                </a:cxn>
                <a:cxn ang="0">
                  <a:pos x="T2" y="T3"/>
                </a:cxn>
                <a:cxn ang="0">
                  <a:pos x="T4" y="T5"/>
                </a:cxn>
                <a:cxn ang="0">
                  <a:pos x="T6" y="T7"/>
                </a:cxn>
                <a:cxn ang="0">
                  <a:pos x="T8" y="T9"/>
                </a:cxn>
              </a:cxnLst>
              <a:rect l="0" t="0" r="r" b="b"/>
              <a:pathLst>
                <a:path w="14" h="8">
                  <a:moveTo>
                    <a:pt x="0" y="5"/>
                  </a:moveTo>
                  <a:lnTo>
                    <a:pt x="14" y="0"/>
                  </a:lnTo>
                  <a:lnTo>
                    <a:pt x="14" y="0"/>
                  </a:lnTo>
                  <a:lnTo>
                    <a:pt x="0" y="8"/>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1641"/>
            <p:cNvSpPr/>
            <p:nvPr/>
          </p:nvSpPr>
          <p:spPr bwMode="auto">
            <a:xfrm>
              <a:off x="5971692" y="738125"/>
              <a:ext cx="39406" cy="19702"/>
            </a:xfrm>
            <a:custGeom>
              <a:avLst/>
              <a:gdLst>
                <a:gd name="T0" fmla="*/ 0 w 14"/>
                <a:gd name="T1" fmla="*/ 5 h 7"/>
                <a:gd name="T2" fmla="*/ 14 w 14"/>
                <a:gd name="T3" fmla="*/ 0 h 7"/>
                <a:gd name="T4" fmla="*/ 14 w 14"/>
                <a:gd name="T5" fmla="*/ 0 h 7"/>
                <a:gd name="T6" fmla="*/ 0 w 14"/>
                <a:gd name="T7" fmla="*/ 7 h 7"/>
                <a:gd name="T8" fmla="*/ 0 w 14"/>
                <a:gd name="T9" fmla="*/ 5 h 7"/>
              </a:gdLst>
              <a:ahLst/>
              <a:cxnLst>
                <a:cxn ang="0">
                  <a:pos x="T0" y="T1"/>
                </a:cxn>
                <a:cxn ang="0">
                  <a:pos x="T2" y="T3"/>
                </a:cxn>
                <a:cxn ang="0">
                  <a:pos x="T4" y="T5"/>
                </a:cxn>
                <a:cxn ang="0">
                  <a:pos x="T6" y="T7"/>
                </a:cxn>
                <a:cxn ang="0">
                  <a:pos x="T8" y="T9"/>
                </a:cxn>
              </a:cxnLst>
              <a:rect l="0" t="0" r="r" b="b"/>
              <a:pathLst>
                <a:path w="14" h="7">
                  <a:moveTo>
                    <a:pt x="0" y="5"/>
                  </a:moveTo>
                  <a:lnTo>
                    <a:pt x="14" y="0"/>
                  </a:lnTo>
                  <a:lnTo>
                    <a:pt x="14" y="0"/>
                  </a:lnTo>
                  <a:lnTo>
                    <a:pt x="0" y="7"/>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1642"/>
            <p:cNvSpPr/>
            <p:nvPr/>
          </p:nvSpPr>
          <p:spPr bwMode="auto">
            <a:xfrm>
              <a:off x="5971692" y="738125"/>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1643"/>
            <p:cNvSpPr/>
            <p:nvPr/>
          </p:nvSpPr>
          <p:spPr bwMode="auto">
            <a:xfrm>
              <a:off x="5971692" y="743755"/>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1644"/>
            <p:cNvSpPr/>
            <p:nvPr/>
          </p:nvSpPr>
          <p:spPr bwMode="auto">
            <a:xfrm>
              <a:off x="5971692" y="752200"/>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1645"/>
            <p:cNvSpPr/>
            <p:nvPr/>
          </p:nvSpPr>
          <p:spPr bwMode="auto">
            <a:xfrm>
              <a:off x="5971692" y="670572"/>
              <a:ext cx="39406" cy="14073"/>
            </a:xfrm>
            <a:custGeom>
              <a:avLst/>
              <a:gdLst>
                <a:gd name="T0" fmla="*/ 0 w 14"/>
                <a:gd name="T1" fmla="*/ 5 h 5"/>
                <a:gd name="T2" fmla="*/ 14 w 14"/>
                <a:gd name="T3" fmla="*/ 0 h 5"/>
                <a:gd name="T4" fmla="*/ 14 w 14"/>
                <a:gd name="T5" fmla="*/ 0 h 5"/>
                <a:gd name="T6" fmla="*/ 0 w 14"/>
                <a:gd name="T7" fmla="*/ 5 h 5"/>
                <a:gd name="T8" fmla="*/ 0 w 14"/>
                <a:gd name="T9" fmla="*/ 5 h 5"/>
              </a:gdLst>
              <a:ahLst/>
              <a:cxnLst>
                <a:cxn ang="0">
                  <a:pos x="T0" y="T1"/>
                </a:cxn>
                <a:cxn ang="0">
                  <a:pos x="T2" y="T3"/>
                </a:cxn>
                <a:cxn ang="0">
                  <a:pos x="T4" y="T5"/>
                </a:cxn>
                <a:cxn ang="0">
                  <a:pos x="T6" y="T7"/>
                </a:cxn>
                <a:cxn ang="0">
                  <a:pos x="T8" y="T9"/>
                </a:cxn>
              </a:cxnLst>
              <a:rect l="0" t="0" r="r" b="b"/>
              <a:pathLst>
                <a:path w="14" h="5">
                  <a:moveTo>
                    <a:pt x="0" y="5"/>
                  </a:moveTo>
                  <a:lnTo>
                    <a:pt x="14" y="0"/>
                  </a:lnTo>
                  <a:lnTo>
                    <a:pt x="14" y="0"/>
                  </a:lnTo>
                  <a:lnTo>
                    <a:pt x="0" y="5"/>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1646"/>
            <p:cNvSpPr/>
            <p:nvPr/>
          </p:nvSpPr>
          <p:spPr bwMode="auto">
            <a:xfrm>
              <a:off x="5971692" y="670572"/>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1647"/>
            <p:cNvSpPr/>
            <p:nvPr/>
          </p:nvSpPr>
          <p:spPr bwMode="auto">
            <a:xfrm>
              <a:off x="5971692" y="676201"/>
              <a:ext cx="39406" cy="22518"/>
            </a:xfrm>
            <a:custGeom>
              <a:avLst/>
              <a:gdLst>
                <a:gd name="T0" fmla="*/ 0 w 14"/>
                <a:gd name="T1" fmla="*/ 5 h 8"/>
                <a:gd name="T2" fmla="*/ 14 w 14"/>
                <a:gd name="T3" fmla="*/ 0 h 8"/>
                <a:gd name="T4" fmla="*/ 14 w 14"/>
                <a:gd name="T5" fmla="*/ 0 h 8"/>
                <a:gd name="T6" fmla="*/ 0 w 14"/>
                <a:gd name="T7" fmla="*/ 8 h 8"/>
                <a:gd name="T8" fmla="*/ 0 w 14"/>
                <a:gd name="T9" fmla="*/ 5 h 8"/>
              </a:gdLst>
              <a:ahLst/>
              <a:cxnLst>
                <a:cxn ang="0">
                  <a:pos x="T0" y="T1"/>
                </a:cxn>
                <a:cxn ang="0">
                  <a:pos x="T2" y="T3"/>
                </a:cxn>
                <a:cxn ang="0">
                  <a:pos x="T4" y="T5"/>
                </a:cxn>
                <a:cxn ang="0">
                  <a:pos x="T6" y="T7"/>
                </a:cxn>
                <a:cxn ang="0">
                  <a:pos x="T8" y="T9"/>
                </a:cxn>
              </a:cxnLst>
              <a:rect l="0" t="0" r="r" b="b"/>
              <a:pathLst>
                <a:path w="14" h="8">
                  <a:moveTo>
                    <a:pt x="0" y="5"/>
                  </a:moveTo>
                  <a:lnTo>
                    <a:pt x="14" y="0"/>
                  </a:lnTo>
                  <a:lnTo>
                    <a:pt x="14" y="0"/>
                  </a:lnTo>
                  <a:lnTo>
                    <a:pt x="0" y="8"/>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1648"/>
            <p:cNvSpPr/>
            <p:nvPr/>
          </p:nvSpPr>
          <p:spPr bwMode="auto">
            <a:xfrm>
              <a:off x="5971692" y="684647"/>
              <a:ext cx="39406" cy="19702"/>
            </a:xfrm>
            <a:custGeom>
              <a:avLst/>
              <a:gdLst>
                <a:gd name="T0" fmla="*/ 0 w 14"/>
                <a:gd name="T1" fmla="*/ 5 h 7"/>
                <a:gd name="T2" fmla="*/ 14 w 14"/>
                <a:gd name="T3" fmla="*/ 0 h 7"/>
                <a:gd name="T4" fmla="*/ 14 w 14"/>
                <a:gd name="T5" fmla="*/ 0 h 7"/>
                <a:gd name="T6" fmla="*/ 0 w 14"/>
                <a:gd name="T7" fmla="*/ 7 h 7"/>
                <a:gd name="T8" fmla="*/ 0 w 14"/>
                <a:gd name="T9" fmla="*/ 5 h 7"/>
              </a:gdLst>
              <a:ahLst/>
              <a:cxnLst>
                <a:cxn ang="0">
                  <a:pos x="T0" y="T1"/>
                </a:cxn>
                <a:cxn ang="0">
                  <a:pos x="T2" y="T3"/>
                </a:cxn>
                <a:cxn ang="0">
                  <a:pos x="T4" y="T5"/>
                </a:cxn>
                <a:cxn ang="0">
                  <a:pos x="T6" y="T7"/>
                </a:cxn>
                <a:cxn ang="0">
                  <a:pos x="T8" y="T9"/>
                </a:cxn>
              </a:cxnLst>
              <a:rect l="0" t="0" r="r" b="b"/>
              <a:pathLst>
                <a:path w="14" h="7">
                  <a:moveTo>
                    <a:pt x="0" y="5"/>
                  </a:moveTo>
                  <a:lnTo>
                    <a:pt x="14" y="0"/>
                  </a:lnTo>
                  <a:lnTo>
                    <a:pt x="14" y="0"/>
                  </a:lnTo>
                  <a:lnTo>
                    <a:pt x="0" y="7"/>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1649"/>
            <p:cNvSpPr/>
            <p:nvPr/>
          </p:nvSpPr>
          <p:spPr bwMode="auto">
            <a:xfrm>
              <a:off x="5971692" y="684647"/>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1650"/>
            <p:cNvSpPr/>
            <p:nvPr/>
          </p:nvSpPr>
          <p:spPr bwMode="auto">
            <a:xfrm>
              <a:off x="5971692" y="690276"/>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1651"/>
            <p:cNvSpPr/>
            <p:nvPr/>
          </p:nvSpPr>
          <p:spPr bwMode="auto">
            <a:xfrm>
              <a:off x="5971692" y="698719"/>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1652"/>
            <p:cNvSpPr/>
            <p:nvPr/>
          </p:nvSpPr>
          <p:spPr bwMode="auto">
            <a:xfrm>
              <a:off x="5971692" y="704349"/>
              <a:ext cx="39406" cy="14073"/>
            </a:xfrm>
            <a:custGeom>
              <a:avLst/>
              <a:gdLst>
                <a:gd name="T0" fmla="*/ 0 w 14"/>
                <a:gd name="T1" fmla="*/ 5 h 5"/>
                <a:gd name="T2" fmla="*/ 14 w 14"/>
                <a:gd name="T3" fmla="*/ 0 h 5"/>
                <a:gd name="T4" fmla="*/ 14 w 14"/>
                <a:gd name="T5" fmla="*/ 0 h 5"/>
                <a:gd name="T6" fmla="*/ 0 w 14"/>
                <a:gd name="T7" fmla="*/ 5 h 5"/>
                <a:gd name="T8" fmla="*/ 0 w 14"/>
                <a:gd name="T9" fmla="*/ 5 h 5"/>
              </a:gdLst>
              <a:ahLst/>
              <a:cxnLst>
                <a:cxn ang="0">
                  <a:pos x="T0" y="T1"/>
                </a:cxn>
                <a:cxn ang="0">
                  <a:pos x="T2" y="T3"/>
                </a:cxn>
                <a:cxn ang="0">
                  <a:pos x="T4" y="T5"/>
                </a:cxn>
                <a:cxn ang="0">
                  <a:pos x="T6" y="T7"/>
                </a:cxn>
                <a:cxn ang="0">
                  <a:pos x="T8" y="T9"/>
                </a:cxn>
              </a:cxnLst>
              <a:rect l="0" t="0" r="r" b="b"/>
              <a:pathLst>
                <a:path w="14" h="5">
                  <a:moveTo>
                    <a:pt x="0" y="5"/>
                  </a:moveTo>
                  <a:lnTo>
                    <a:pt x="14" y="0"/>
                  </a:lnTo>
                  <a:lnTo>
                    <a:pt x="14" y="0"/>
                  </a:lnTo>
                  <a:lnTo>
                    <a:pt x="0" y="5"/>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1653"/>
            <p:cNvSpPr/>
            <p:nvPr/>
          </p:nvSpPr>
          <p:spPr bwMode="auto">
            <a:xfrm>
              <a:off x="5971692" y="704349"/>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654"/>
            <p:cNvSpPr/>
            <p:nvPr/>
          </p:nvSpPr>
          <p:spPr bwMode="auto">
            <a:xfrm>
              <a:off x="5971692" y="625536"/>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1655"/>
            <p:cNvSpPr/>
            <p:nvPr/>
          </p:nvSpPr>
          <p:spPr bwMode="auto">
            <a:xfrm>
              <a:off x="5971692" y="631166"/>
              <a:ext cx="39406" cy="19702"/>
            </a:xfrm>
            <a:custGeom>
              <a:avLst/>
              <a:gdLst>
                <a:gd name="T0" fmla="*/ 0 w 14"/>
                <a:gd name="T1" fmla="*/ 5 h 7"/>
                <a:gd name="T2" fmla="*/ 14 w 14"/>
                <a:gd name="T3" fmla="*/ 0 h 7"/>
                <a:gd name="T4" fmla="*/ 14 w 14"/>
                <a:gd name="T5" fmla="*/ 0 h 7"/>
                <a:gd name="T6" fmla="*/ 0 w 14"/>
                <a:gd name="T7" fmla="*/ 7 h 7"/>
                <a:gd name="T8" fmla="*/ 0 w 14"/>
                <a:gd name="T9" fmla="*/ 5 h 7"/>
              </a:gdLst>
              <a:ahLst/>
              <a:cxnLst>
                <a:cxn ang="0">
                  <a:pos x="T0" y="T1"/>
                </a:cxn>
                <a:cxn ang="0">
                  <a:pos x="T2" y="T3"/>
                </a:cxn>
                <a:cxn ang="0">
                  <a:pos x="T4" y="T5"/>
                </a:cxn>
                <a:cxn ang="0">
                  <a:pos x="T6" y="T7"/>
                </a:cxn>
                <a:cxn ang="0">
                  <a:pos x="T8" y="T9"/>
                </a:cxn>
              </a:cxnLst>
              <a:rect l="0" t="0" r="r" b="b"/>
              <a:pathLst>
                <a:path w="14" h="7">
                  <a:moveTo>
                    <a:pt x="0" y="5"/>
                  </a:moveTo>
                  <a:lnTo>
                    <a:pt x="14" y="0"/>
                  </a:lnTo>
                  <a:lnTo>
                    <a:pt x="14" y="0"/>
                  </a:lnTo>
                  <a:lnTo>
                    <a:pt x="0" y="7"/>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1656"/>
            <p:cNvSpPr/>
            <p:nvPr/>
          </p:nvSpPr>
          <p:spPr bwMode="auto">
            <a:xfrm>
              <a:off x="5971692" y="631166"/>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1657"/>
            <p:cNvSpPr/>
            <p:nvPr/>
          </p:nvSpPr>
          <p:spPr bwMode="auto">
            <a:xfrm>
              <a:off x="5971692" y="636795"/>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1658"/>
            <p:cNvSpPr/>
            <p:nvPr/>
          </p:nvSpPr>
          <p:spPr bwMode="auto">
            <a:xfrm>
              <a:off x="5971692" y="645240"/>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1659"/>
            <p:cNvSpPr/>
            <p:nvPr/>
          </p:nvSpPr>
          <p:spPr bwMode="auto">
            <a:xfrm>
              <a:off x="5971692" y="650870"/>
              <a:ext cx="39406" cy="14073"/>
            </a:xfrm>
            <a:custGeom>
              <a:avLst/>
              <a:gdLst>
                <a:gd name="T0" fmla="*/ 0 w 14"/>
                <a:gd name="T1" fmla="*/ 5 h 5"/>
                <a:gd name="T2" fmla="*/ 14 w 14"/>
                <a:gd name="T3" fmla="*/ 0 h 5"/>
                <a:gd name="T4" fmla="*/ 14 w 14"/>
                <a:gd name="T5" fmla="*/ 0 h 5"/>
                <a:gd name="T6" fmla="*/ 0 w 14"/>
                <a:gd name="T7" fmla="*/ 5 h 5"/>
                <a:gd name="T8" fmla="*/ 0 w 14"/>
                <a:gd name="T9" fmla="*/ 5 h 5"/>
              </a:gdLst>
              <a:ahLst/>
              <a:cxnLst>
                <a:cxn ang="0">
                  <a:pos x="T0" y="T1"/>
                </a:cxn>
                <a:cxn ang="0">
                  <a:pos x="T2" y="T3"/>
                </a:cxn>
                <a:cxn ang="0">
                  <a:pos x="T4" y="T5"/>
                </a:cxn>
                <a:cxn ang="0">
                  <a:pos x="T6" y="T7"/>
                </a:cxn>
                <a:cxn ang="0">
                  <a:pos x="T8" y="T9"/>
                </a:cxn>
              </a:cxnLst>
              <a:rect l="0" t="0" r="r" b="b"/>
              <a:pathLst>
                <a:path w="14" h="5">
                  <a:moveTo>
                    <a:pt x="0" y="5"/>
                  </a:moveTo>
                  <a:lnTo>
                    <a:pt x="14" y="0"/>
                  </a:lnTo>
                  <a:lnTo>
                    <a:pt x="14" y="0"/>
                  </a:lnTo>
                  <a:lnTo>
                    <a:pt x="0" y="5"/>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1660"/>
            <p:cNvSpPr/>
            <p:nvPr/>
          </p:nvSpPr>
          <p:spPr bwMode="auto">
            <a:xfrm>
              <a:off x="5971692" y="650870"/>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1661"/>
            <p:cNvSpPr/>
            <p:nvPr/>
          </p:nvSpPr>
          <p:spPr bwMode="auto">
            <a:xfrm>
              <a:off x="5971692" y="656499"/>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1662"/>
            <p:cNvSpPr/>
            <p:nvPr/>
          </p:nvSpPr>
          <p:spPr bwMode="auto">
            <a:xfrm>
              <a:off x="5971692" y="664943"/>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1663"/>
            <p:cNvSpPr/>
            <p:nvPr/>
          </p:nvSpPr>
          <p:spPr bwMode="auto">
            <a:xfrm>
              <a:off x="5850658" y="296215"/>
              <a:ext cx="295547" cy="261768"/>
            </a:xfrm>
            <a:custGeom>
              <a:avLst/>
              <a:gdLst>
                <a:gd name="T0" fmla="*/ 10 w 44"/>
                <a:gd name="T1" fmla="*/ 22 h 39"/>
                <a:gd name="T2" fmla="*/ 12 w 44"/>
                <a:gd name="T3" fmla="*/ 22 h 39"/>
                <a:gd name="T4" fmla="*/ 12 w 44"/>
                <a:gd name="T5" fmla="*/ 22 h 39"/>
                <a:gd name="T6" fmla="*/ 13 w 44"/>
                <a:gd name="T7" fmla="*/ 23 h 39"/>
                <a:gd name="T8" fmla="*/ 13 w 44"/>
                <a:gd name="T9" fmla="*/ 22 h 39"/>
                <a:gd name="T10" fmla="*/ 15 w 44"/>
                <a:gd name="T11" fmla="*/ 23 h 39"/>
                <a:gd name="T12" fmla="*/ 16 w 44"/>
                <a:gd name="T13" fmla="*/ 22 h 39"/>
                <a:gd name="T14" fmla="*/ 18 w 44"/>
                <a:gd name="T15" fmla="*/ 24 h 39"/>
                <a:gd name="T16" fmla="*/ 19 w 44"/>
                <a:gd name="T17" fmla="*/ 22 h 39"/>
                <a:gd name="T18" fmla="*/ 21 w 44"/>
                <a:gd name="T19" fmla="*/ 23 h 39"/>
                <a:gd name="T20" fmla="*/ 22 w 44"/>
                <a:gd name="T21" fmla="*/ 22 h 39"/>
                <a:gd name="T22" fmla="*/ 23 w 44"/>
                <a:gd name="T23" fmla="*/ 24 h 39"/>
                <a:gd name="T24" fmla="*/ 24 w 44"/>
                <a:gd name="T25" fmla="*/ 22 h 39"/>
                <a:gd name="T26" fmla="*/ 25 w 44"/>
                <a:gd name="T27" fmla="*/ 24 h 39"/>
                <a:gd name="T28" fmla="*/ 27 w 44"/>
                <a:gd name="T29" fmla="*/ 23 h 39"/>
                <a:gd name="T30" fmla="*/ 28 w 44"/>
                <a:gd name="T31" fmla="*/ 23 h 39"/>
                <a:gd name="T32" fmla="*/ 29 w 44"/>
                <a:gd name="T33" fmla="*/ 22 h 39"/>
                <a:gd name="T34" fmla="*/ 30 w 44"/>
                <a:gd name="T35" fmla="*/ 23 h 39"/>
                <a:gd name="T36" fmla="*/ 32 w 44"/>
                <a:gd name="T37" fmla="*/ 22 h 39"/>
                <a:gd name="T38" fmla="*/ 34 w 44"/>
                <a:gd name="T39" fmla="*/ 22 h 39"/>
                <a:gd name="T40" fmla="*/ 38 w 44"/>
                <a:gd name="T41" fmla="*/ 34 h 39"/>
                <a:gd name="T42" fmla="*/ 41 w 44"/>
                <a:gd name="T43" fmla="*/ 29 h 39"/>
                <a:gd name="T44" fmla="*/ 29 w 44"/>
                <a:gd name="T45" fmla="*/ 2 h 39"/>
                <a:gd name="T46" fmla="*/ 19 w 44"/>
                <a:gd name="T47" fmla="*/ 0 h 39"/>
                <a:gd name="T48" fmla="*/ 20 w 44"/>
                <a:gd name="T49" fmla="*/ 1 h 39"/>
                <a:gd name="T50" fmla="*/ 14 w 44"/>
                <a:gd name="T51" fmla="*/ 1 h 39"/>
                <a:gd name="T52" fmla="*/ 15 w 44"/>
                <a:gd name="T53" fmla="*/ 1 h 39"/>
                <a:gd name="T54" fmla="*/ 12 w 44"/>
                <a:gd name="T55" fmla="*/ 2 h 39"/>
                <a:gd name="T56" fmla="*/ 10 w 44"/>
                <a:gd name="T57" fmla="*/ 2 h 39"/>
                <a:gd name="T58" fmla="*/ 7 w 44"/>
                <a:gd name="T59" fmla="*/ 6 h 39"/>
                <a:gd name="T60" fmla="*/ 6 w 44"/>
                <a:gd name="T61" fmla="*/ 6 h 39"/>
                <a:gd name="T62" fmla="*/ 6 w 44"/>
                <a:gd name="T63" fmla="*/ 7 h 39"/>
                <a:gd name="T64" fmla="*/ 0 w 44"/>
                <a:gd name="T65" fmla="*/ 19 h 39"/>
                <a:gd name="T66" fmla="*/ 4 w 44"/>
                <a:gd name="T67" fmla="*/ 35 h 39"/>
                <a:gd name="T68" fmla="*/ 6 w 44"/>
                <a:gd name="T69" fmla="*/ 33 h 39"/>
                <a:gd name="T70" fmla="*/ 10 w 44"/>
                <a:gd name="T71" fmla="*/ 2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 h="39">
                  <a:moveTo>
                    <a:pt x="10" y="22"/>
                  </a:moveTo>
                  <a:cubicBezTo>
                    <a:pt x="12" y="22"/>
                    <a:pt x="12" y="22"/>
                    <a:pt x="12" y="22"/>
                  </a:cubicBezTo>
                  <a:cubicBezTo>
                    <a:pt x="12" y="22"/>
                    <a:pt x="12" y="22"/>
                    <a:pt x="12" y="22"/>
                  </a:cubicBezTo>
                  <a:cubicBezTo>
                    <a:pt x="12" y="22"/>
                    <a:pt x="13" y="24"/>
                    <a:pt x="13" y="23"/>
                  </a:cubicBezTo>
                  <a:cubicBezTo>
                    <a:pt x="13" y="23"/>
                    <a:pt x="13" y="22"/>
                    <a:pt x="13" y="22"/>
                  </a:cubicBezTo>
                  <a:cubicBezTo>
                    <a:pt x="14" y="22"/>
                    <a:pt x="15" y="24"/>
                    <a:pt x="15" y="23"/>
                  </a:cubicBezTo>
                  <a:cubicBezTo>
                    <a:pt x="15" y="23"/>
                    <a:pt x="16" y="22"/>
                    <a:pt x="16" y="22"/>
                  </a:cubicBezTo>
                  <a:cubicBezTo>
                    <a:pt x="16" y="23"/>
                    <a:pt x="18" y="24"/>
                    <a:pt x="18" y="24"/>
                  </a:cubicBezTo>
                  <a:cubicBezTo>
                    <a:pt x="18" y="23"/>
                    <a:pt x="18" y="22"/>
                    <a:pt x="19" y="22"/>
                  </a:cubicBezTo>
                  <a:cubicBezTo>
                    <a:pt x="19" y="23"/>
                    <a:pt x="21" y="24"/>
                    <a:pt x="21" y="23"/>
                  </a:cubicBezTo>
                  <a:cubicBezTo>
                    <a:pt x="21" y="23"/>
                    <a:pt x="21" y="22"/>
                    <a:pt x="22" y="22"/>
                  </a:cubicBezTo>
                  <a:cubicBezTo>
                    <a:pt x="23" y="23"/>
                    <a:pt x="23" y="24"/>
                    <a:pt x="23" y="24"/>
                  </a:cubicBezTo>
                  <a:cubicBezTo>
                    <a:pt x="24" y="22"/>
                    <a:pt x="24" y="22"/>
                    <a:pt x="24" y="22"/>
                  </a:cubicBezTo>
                  <a:cubicBezTo>
                    <a:pt x="25" y="24"/>
                    <a:pt x="25" y="24"/>
                    <a:pt x="25" y="24"/>
                  </a:cubicBezTo>
                  <a:cubicBezTo>
                    <a:pt x="25" y="24"/>
                    <a:pt x="26" y="23"/>
                    <a:pt x="27" y="23"/>
                  </a:cubicBezTo>
                  <a:cubicBezTo>
                    <a:pt x="27" y="22"/>
                    <a:pt x="28" y="22"/>
                    <a:pt x="28" y="23"/>
                  </a:cubicBezTo>
                  <a:cubicBezTo>
                    <a:pt x="28" y="25"/>
                    <a:pt x="29" y="23"/>
                    <a:pt x="29" y="22"/>
                  </a:cubicBezTo>
                  <a:cubicBezTo>
                    <a:pt x="30" y="21"/>
                    <a:pt x="30" y="23"/>
                    <a:pt x="30" y="23"/>
                  </a:cubicBezTo>
                  <a:cubicBezTo>
                    <a:pt x="32" y="22"/>
                    <a:pt x="32" y="22"/>
                    <a:pt x="32" y="22"/>
                  </a:cubicBezTo>
                  <a:cubicBezTo>
                    <a:pt x="34" y="22"/>
                    <a:pt x="34" y="22"/>
                    <a:pt x="34" y="22"/>
                  </a:cubicBezTo>
                  <a:cubicBezTo>
                    <a:pt x="34" y="22"/>
                    <a:pt x="39" y="31"/>
                    <a:pt x="38" y="34"/>
                  </a:cubicBezTo>
                  <a:cubicBezTo>
                    <a:pt x="37" y="37"/>
                    <a:pt x="39" y="36"/>
                    <a:pt x="41" y="29"/>
                  </a:cubicBezTo>
                  <a:cubicBezTo>
                    <a:pt x="42" y="21"/>
                    <a:pt x="44" y="6"/>
                    <a:pt x="29" y="2"/>
                  </a:cubicBezTo>
                  <a:cubicBezTo>
                    <a:pt x="19" y="0"/>
                    <a:pt x="19" y="0"/>
                    <a:pt x="19" y="0"/>
                  </a:cubicBezTo>
                  <a:cubicBezTo>
                    <a:pt x="20" y="1"/>
                    <a:pt x="20" y="1"/>
                    <a:pt x="20" y="1"/>
                  </a:cubicBezTo>
                  <a:cubicBezTo>
                    <a:pt x="14" y="1"/>
                    <a:pt x="14" y="1"/>
                    <a:pt x="14" y="1"/>
                  </a:cubicBezTo>
                  <a:cubicBezTo>
                    <a:pt x="15" y="1"/>
                    <a:pt x="15" y="1"/>
                    <a:pt x="15" y="1"/>
                  </a:cubicBezTo>
                  <a:cubicBezTo>
                    <a:pt x="12" y="2"/>
                    <a:pt x="12" y="2"/>
                    <a:pt x="12" y="2"/>
                  </a:cubicBezTo>
                  <a:cubicBezTo>
                    <a:pt x="10" y="2"/>
                    <a:pt x="10" y="2"/>
                    <a:pt x="10" y="2"/>
                  </a:cubicBezTo>
                  <a:cubicBezTo>
                    <a:pt x="7" y="6"/>
                    <a:pt x="7" y="6"/>
                    <a:pt x="7" y="6"/>
                  </a:cubicBezTo>
                  <a:cubicBezTo>
                    <a:pt x="6" y="6"/>
                    <a:pt x="6" y="6"/>
                    <a:pt x="6" y="6"/>
                  </a:cubicBezTo>
                  <a:cubicBezTo>
                    <a:pt x="6" y="7"/>
                    <a:pt x="6" y="7"/>
                    <a:pt x="6" y="7"/>
                  </a:cubicBezTo>
                  <a:cubicBezTo>
                    <a:pt x="6" y="7"/>
                    <a:pt x="0" y="14"/>
                    <a:pt x="0" y="19"/>
                  </a:cubicBezTo>
                  <a:cubicBezTo>
                    <a:pt x="0" y="24"/>
                    <a:pt x="2" y="31"/>
                    <a:pt x="4" y="35"/>
                  </a:cubicBezTo>
                  <a:cubicBezTo>
                    <a:pt x="7" y="39"/>
                    <a:pt x="6" y="35"/>
                    <a:pt x="6" y="33"/>
                  </a:cubicBezTo>
                  <a:cubicBezTo>
                    <a:pt x="7" y="28"/>
                    <a:pt x="9" y="22"/>
                    <a:pt x="10" y="22"/>
                  </a:cubicBez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1664"/>
            <p:cNvSpPr/>
            <p:nvPr/>
          </p:nvSpPr>
          <p:spPr bwMode="auto">
            <a:xfrm>
              <a:off x="5878806" y="369398"/>
              <a:ext cx="239252" cy="188585"/>
            </a:xfrm>
            <a:custGeom>
              <a:avLst/>
              <a:gdLst>
                <a:gd name="T0" fmla="*/ 34 w 36"/>
                <a:gd name="T1" fmla="*/ 15 h 28"/>
                <a:gd name="T2" fmla="*/ 33 w 36"/>
                <a:gd name="T3" fmla="*/ 13 h 28"/>
                <a:gd name="T4" fmla="*/ 33 w 36"/>
                <a:gd name="T5" fmla="*/ 12 h 28"/>
                <a:gd name="T6" fmla="*/ 32 w 36"/>
                <a:gd name="T7" fmla="*/ 8 h 28"/>
                <a:gd name="T8" fmla="*/ 32 w 36"/>
                <a:gd name="T9" fmla="*/ 2 h 28"/>
                <a:gd name="T10" fmla="*/ 32 w 36"/>
                <a:gd name="T11" fmla="*/ 0 h 28"/>
                <a:gd name="T12" fmla="*/ 24 w 36"/>
                <a:gd name="T13" fmla="*/ 9 h 28"/>
                <a:gd name="T14" fmla="*/ 18 w 36"/>
                <a:gd name="T15" fmla="*/ 4 h 28"/>
                <a:gd name="T16" fmla="*/ 13 w 36"/>
                <a:gd name="T17" fmla="*/ 10 h 28"/>
                <a:gd name="T18" fmla="*/ 7 w 36"/>
                <a:gd name="T19" fmla="*/ 5 h 28"/>
                <a:gd name="T20" fmla="*/ 2 w 36"/>
                <a:gd name="T21" fmla="*/ 10 h 28"/>
                <a:gd name="T22" fmla="*/ 1 w 36"/>
                <a:gd name="T23" fmla="*/ 9 h 28"/>
                <a:gd name="T24" fmla="*/ 1 w 36"/>
                <a:gd name="T25" fmla="*/ 24 h 28"/>
                <a:gd name="T26" fmla="*/ 1 w 36"/>
                <a:gd name="T27" fmla="*/ 25 h 28"/>
                <a:gd name="T28" fmla="*/ 2 w 36"/>
                <a:gd name="T29" fmla="*/ 22 h 28"/>
                <a:gd name="T30" fmla="*/ 6 w 36"/>
                <a:gd name="T31" fmla="*/ 11 h 28"/>
                <a:gd name="T32" fmla="*/ 8 w 36"/>
                <a:gd name="T33" fmla="*/ 11 h 28"/>
                <a:gd name="T34" fmla="*/ 8 w 36"/>
                <a:gd name="T35" fmla="*/ 11 h 28"/>
                <a:gd name="T36" fmla="*/ 9 w 36"/>
                <a:gd name="T37" fmla="*/ 12 h 28"/>
                <a:gd name="T38" fmla="*/ 9 w 36"/>
                <a:gd name="T39" fmla="*/ 11 h 28"/>
                <a:gd name="T40" fmla="*/ 11 w 36"/>
                <a:gd name="T41" fmla="*/ 12 h 28"/>
                <a:gd name="T42" fmla="*/ 12 w 36"/>
                <a:gd name="T43" fmla="*/ 11 h 28"/>
                <a:gd name="T44" fmla="*/ 14 w 36"/>
                <a:gd name="T45" fmla="*/ 13 h 28"/>
                <a:gd name="T46" fmla="*/ 15 w 36"/>
                <a:gd name="T47" fmla="*/ 11 h 28"/>
                <a:gd name="T48" fmla="*/ 17 w 36"/>
                <a:gd name="T49" fmla="*/ 12 h 28"/>
                <a:gd name="T50" fmla="*/ 18 w 36"/>
                <a:gd name="T51" fmla="*/ 11 h 28"/>
                <a:gd name="T52" fmla="*/ 19 w 36"/>
                <a:gd name="T53" fmla="*/ 13 h 28"/>
                <a:gd name="T54" fmla="*/ 20 w 36"/>
                <a:gd name="T55" fmla="*/ 11 h 28"/>
                <a:gd name="T56" fmla="*/ 21 w 36"/>
                <a:gd name="T57" fmla="*/ 13 h 28"/>
                <a:gd name="T58" fmla="*/ 23 w 36"/>
                <a:gd name="T59" fmla="*/ 12 h 28"/>
                <a:gd name="T60" fmla="*/ 24 w 36"/>
                <a:gd name="T61" fmla="*/ 12 h 28"/>
                <a:gd name="T62" fmla="*/ 25 w 36"/>
                <a:gd name="T63" fmla="*/ 11 h 28"/>
                <a:gd name="T64" fmla="*/ 26 w 36"/>
                <a:gd name="T65" fmla="*/ 12 h 28"/>
                <a:gd name="T66" fmla="*/ 28 w 36"/>
                <a:gd name="T67" fmla="*/ 11 h 28"/>
                <a:gd name="T68" fmla="*/ 30 w 36"/>
                <a:gd name="T69" fmla="*/ 11 h 28"/>
                <a:gd name="T70" fmla="*/ 34 w 36"/>
                <a:gd name="T71" fmla="*/ 23 h 28"/>
                <a:gd name="T72" fmla="*/ 36 w 36"/>
                <a:gd name="T73" fmla="*/ 19 h 28"/>
                <a:gd name="T74" fmla="*/ 34 w 36"/>
                <a:gd name="T75" fmla="*/ 15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 h="28">
                  <a:moveTo>
                    <a:pt x="34" y="15"/>
                  </a:moveTo>
                  <a:cubicBezTo>
                    <a:pt x="34" y="14"/>
                    <a:pt x="34" y="13"/>
                    <a:pt x="33" y="13"/>
                  </a:cubicBezTo>
                  <a:cubicBezTo>
                    <a:pt x="33" y="12"/>
                    <a:pt x="33" y="12"/>
                    <a:pt x="33" y="12"/>
                  </a:cubicBezTo>
                  <a:cubicBezTo>
                    <a:pt x="33" y="11"/>
                    <a:pt x="32" y="9"/>
                    <a:pt x="32" y="8"/>
                  </a:cubicBezTo>
                  <a:cubicBezTo>
                    <a:pt x="32" y="6"/>
                    <a:pt x="32" y="4"/>
                    <a:pt x="32" y="2"/>
                  </a:cubicBezTo>
                  <a:cubicBezTo>
                    <a:pt x="32" y="1"/>
                    <a:pt x="32" y="1"/>
                    <a:pt x="32" y="0"/>
                  </a:cubicBezTo>
                  <a:cubicBezTo>
                    <a:pt x="31" y="5"/>
                    <a:pt x="28" y="8"/>
                    <a:pt x="24" y="9"/>
                  </a:cubicBezTo>
                  <a:cubicBezTo>
                    <a:pt x="20" y="10"/>
                    <a:pt x="19" y="7"/>
                    <a:pt x="18" y="4"/>
                  </a:cubicBezTo>
                  <a:cubicBezTo>
                    <a:pt x="17" y="7"/>
                    <a:pt x="15" y="10"/>
                    <a:pt x="13" y="10"/>
                  </a:cubicBezTo>
                  <a:cubicBezTo>
                    <a:pt x="10" y="10"/>
                    <a:pt x="9" y="8"/>
                    <a:pt x="7" y="5"/>
                  </a:cubicBezTo>
                  <a:cubicBezTo>
                    <a:pt x="6" y="8"/>
                    <a:pt x="5" y="10"/>
                    <a:pt x="2" y="10"/>
                  </a:cubicBezTo>
                  <a:cubicBezTo>
                    <a:pt x="1" y="9"/>
                    <a:pt x="1" y="9"/>
                    <a:pt x="1" y="9"/>
                  </a:cubicBezTo>
                  <a:cubicBezTo>
                    <a:pt x="0" y="13"/>
                    <a:pt x="1" y="18"/>
                    <a:pt x="1" y="24"/>
                  </a:cubicBezTo>
                  <a:cubicBezTo>
                    <a:pt x="1" y="25"/>
                    <a:pt x="1" y="25"/>
                    <a:pt x="1" y="25"/>
                  </a:cubicBezTo>
                  <a:cubicBezTo>
                    <a:pt x="3" y="28"/>
                    <a:pt x="2" y="24"/>
                    <a:pt x="2" y="22"/>
                  </a:cubicBezTo>
                  <a:cubicBezTo>
                    <a:pt x="3" y="17"/>
                    <a:pt x="5" y="11"/>
                    <a:pt x="6" y="11"/>
                  </a:cubicBezTo>
                  <a:cubicBezTo>
                    <a:pt x="8" y="11"/>
                    <a:pt x="8" y="11"/>
                    <a:pt x="8" y="11"/>
                  </a:cubicBezTo>
                  <a:cubicBezTo>
                    <a:pt x="8" y="11"/>
                    <a:pt x="8" y="11"/>
                    <a:pt x="8" y="11"/>
                  </a:cubicBezTo>
                  <a:cubicBezTo>
                    <a:pt x="8" y="11"/>
                    <a:pt x="9" y="13"/>
                    <a:pt x="9" y="12"/>
                  </a:cubicBezTo>
                  <a:cubicBezTo>
                    <a:pt x="9" y="12"/>
                    <a:pt x="9" y="11"/>
                    <a:pt x="9" y="11"/>
                  </a:cubicBezTo>
                  <a:cubicBezTo>
                    <a:pt x="10" y="11"/>
                    <a:pt x="11" y="13"/>
                    <a:pt x="11" y="12"/>
                  </a:cubicBezTo>
                  <a:cubicBezTo>
                    <a:pt x="11" y="12"/>
                    <a:pt x="12" y="11"/>
                    <a:pt x="12" y="11"/>
                  </a:cubicBezTo>
                  <a:cubicBezTo>
                    <a:pt x="12" y="12"/>
                    <a:pt x="14" y="13"/>
                    <a:pt x="14" y="13"/>
                  </a:cubicBezTo>
                  <a:cubicBezTo>
                    <a:pt x="14" y="12"/>
                    <a:pt x="14" y="11"/>
                    <a:pt x="15" y="11"/>
                  </a:cubicBezTo>
                  <a:cubicBezTo>
                    <a:pt x="15" y="12"/>
                    <a:pt x="17" y="13"/>
                    <a:pt x="17" y="12"/>
                  </a:cubicBezTo>
                  <a:cubicBezTo>
                    <a:pt x="17" y="12"/>
                    <a:pt x="17" y="11"/>
                    <a:pt x="18" y="11"/>
                  </a:cubicBezTo>
                  <a:cubicBezTo>
                    <a:pt x="19" y="12"/>
                    <a:pt x="19" y="13"/>
                    <a:pt x="19" y="13"/>
                  </a:cubicBezTo>
                  <a:cubicBezTo>
                    <a:pt x="20" y="11"/>
                    <a:pt x="20" y="11"/>
                    <a:pt x="20" y="11"/>
                  </a:cubicBezTo>
                  <a:cubicBezTo>
                    <a:pt x="21" y="13"/>
                    <a:pt x="21" y="13"/>
                    <a:pt x="21" y="13"/>
                  </a:cubicBezTo>
                  <a:cubicBezTo>
                    <a:pt x="21" y="13"/>
                    <a:pt x="22" y="12"/>
                    <a:pt x="23" y="12"/>
                  </a:cubicBezTo>
                  <a:cubicBezTo>
                    <a:pt x="23" y="11"/>
                    <a:pt x="24" y="11"/>
                    <a:pt x="24" y="12"/>
                  </a:cubicBezTo>
                  <a:cubicBezTo>
                    <a:pt x="24" y="14"/>
                    <a:pt x="25" y="12"/>
                    <a:pt x="25" y="11"/>
                  </a:cubicBezTo>
                  <a:cubicBezTo>
                    <a:pt x="26" y="10"/>
                    <a:pt x="26" y="12"/>
                    <a:pt x="26" y="12"/>
                  </a:cubicBezTo>
                  <a:cubicBezTo>
                    <a:pt x="28" y="11"/>
                    <a:pt x="28" y="11"/>
                    <a:pt x="28" y="11"/>
                  </a:cubicBezTo>
                  <a:cubicBezTo>
                    <a:pt x="30" y="11"/>
                    <a:pt x="30" y="11"/>
                    <a:pt x="30" y="11"/>
                  </a:cubicBezTo>
                  <a:cubicBezTo>
                    <a:pt x="30" y="11"/>
                    <a:pt x="35" y="20"/>
                    <a:pt x="34" y="23"/>
                  </a:cubicBezTo>
                  <a:cubicBezTo>
                    <a:pt x="33" y="26"/>
                    <a:pt x="35" y="25"/>
                    <a:pt x="36" y="19"/>
                  </a:cubicBezTo>
                  <a:cubicBezTo>
                    <a:pt x="35" y="18"/>
                    <a:pt x="35" y="16"/>
                    <a:pt x="34" y="15"/>
                  </a:cubicBezTo>
                  <a:close/>
                </a:path>
              </a:pathLst>
            </a:custGeom>
            <a:solidFill>
              <a:srgbClr val="16141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Rectangle 1665"/>
            <p:cNvSpPr>
              <a:spLocks noChangeArrowheads="1"/>
            </p:cNvSpPr>
            <p:nvPr/>
          </p:nvSpPr>
          <p:spPr bwMode="auto">
            <a:xfrm>
              <a:off x="5966063" y="937971"/>
              <a:ext cx="5629" cy="33777"/>
            </a:xfrm>
            <a:prstGeom prst="rect">
              <a:avLst/>
            </a:prstGeom>
            <a:solidFill>
              <a:srgbClr val="1414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6" name="Rectangle 1666"/>
            <p:cNvSpPr>
              <a:spLocks noChangeArrowheads="1"/>
            </p:cNvSpPr>
            <p:nvPr/>
          </p:nvSpPr>
          <p:spPr bwMode="auto">
            <a:xfrm>
              <a:off x="5937916" y="937971"/>
              <a:ext cx="5629" cy="33777"/>
            </a:xfrm>
            <a:prstGeom prst="rect">
              <a:avLst/>
            </a:prstGeom>
            <a:solidFill>
              <a:srgbClr val="1414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7" name="Rectangle 1667"/>
            <p:cNvSpPr>
              <a:spLocks noChangeArrowheads="1"/>
            </p:cNvSpPr>
            <p:nvPr/>
          </p:nvSpPr>
          <p:spPr bwMode="auto">
            <a:xfrm>
              <a:off x="6030801" y="937971"/>
              <a:ext cx="8445" cy="33777"/>
            </a:xfrm>
            <a:prstGeom prst="rect">
              <a:avLst/>
            </a:prstGeom>
            <a:solidFill>
              <a:srgbClr val="1414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8" name="Rectangle 1668"/>
            <p:cNvSpPr>
              <a:spLocks noChangeArrowheads="1"/>
            </p:cNvSpPr>
            <p:nvPr/>
          </p:nvSpPr>
          <p:spPr bwMode="auto">
            <a:xfrm>
              <a:off x="6005469" y="937971"/>
              <a:ext cx="5629" cy="33777"/>
            </a:xfrm>
            <a:prstGeom prst="rect">
              <a:avLst/>
            </a:prstGeom>
            <a:solidFill>
              <a:srgbClr val="1414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grpSp>
        <p:nvGrpSpPr>
          <p:cNvPr id="142" name="组合 141"/>
          <p:cNvGrpSpPr/>
          <p:nvPr/>
        </p:nvGrpSpPr>
        <p:grpSpPr>
          <a:xfrm>
            <a:off x="8363236" y="1919454"/>
            <a:ext cx="919309" cy="2858582"/>
            <a:chOff x="11328108" y="3654177"/>
            <a:chExt cx="385617" cy="1199072"/>
          </a:xfrm>
        </p:grpSpPr>
        <p:sp>
          <p:nvSpPr>
            <p:cNvPr id="109" name="Rectangle 347"/>
            <p:cNvSpPr>
              <a:spLocks noChangeArrowheads="1"/>
            </p:cNvSpPr>
            <p:nvPr/>
          </p:nvSpPr>
          <p:spPr bwMode="auto">
            <a:xfrm>
              <a:off x="11480103" y="3946908"/>
              <a:ext cx="87257" cy="92887"/>
            </a:xfrm>
            <a:prstGeom prst="rect">
              <a:avLst/>
            </a:prstGeom>
            <a:solidFill>
              <a:srgbClr val="CF9E7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10" name="Freeform 348"/>
            <p:cNvSpPr/>
            <p:nvPr/>
          </p:nvSpPr>
          <p:spPr bwMode="auto">
            <a:xfrm>
              <a:off x="11392847" y="4332524"/>
              <a:ext cx="261770" cy="115404"/>
            </a:xfrm>
            <a:custGeom>
              <a:avLst/>
              <a:gdLst>
                <a:gd name="T0" fmla="*/ 88 w 93"/>
                <a:gd name="T1" fmla="*/ 41 h 41"/>
                <a:gd name="T2" fmla="*/ 5 w 93"/>
                <a:gd name="T3" fmla="*/ 41 h 41"/>
                <a:gd name="T4" fmla="*/ 0 w 93"/>
                <a:gd name="T5" fmla="*/ 0 h 41"/>
                <a:gd name="T6" fmla="*/ 93 w 93"/>
                <a:gd name="T7" fmla="*/ 0 h 41"/>
                <a:gd name="T8" fmla="*/ 88 w 93"/>
                <a:gd name="T9" fmla="*/ 41 h 41"/>
              </a:gdLst>
              <a:ahLst/>
              <a:cxnLst>
                <a:cxn ang="0">
                  <a:pos x="T0" y="T1"/>
                </a:cxn>
                <a:cxn ang="0">
                  <a:pos x="T2" y="T3"/>
                </a:cxn>
                <a:cxn ang="0">
                  <a:pos x="T4" y="T5"/>
                </a:cxn>
                <a:cxn ang="0">
                  <a:pos x="T6" y="T7"/>
                </a:cxn>
                <a:cxn ang="0">
                  <a:pos x="T8" y="T9"/>
                </a:cxn>
              </a:cxnLst>
              <a:rect l="0" t="0" r="r" b="b"/>
              <a:pathLst>
                <a:path w="93" h="41">
                  <a:moveTo>
                    <a:pt x="88" y="41"/>
                  </a:moveTo>
                  <a:lnTo>
                    <a:pt x="5" y="41"/>
                  </a:lnTo>
                  <a:lnTo>
                    <a:pt x="0" y="0"/>
                  </a:lnTo>
                  <a:lnTo>
                    <a:pt x="93" y="0"/>
                  </a:lnTo>
                  <a:lnTo>
                    <a:pt x="88" y="41"/>
                  </a:lnTo>
                  <a:close/>
                </a:path>
              </a:pathLst>
            </a:custGeom>
            <a:solidFill>
              <a:srgbClr val="3C151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349"/>
            <p:cNvSpPr/>
            <p:nvPr/>
          </p:nvSpPr>
          <p:spPr bwMode="auto">
            <a:xfrm>
              <a:off x="11401290" y="4332524"/>
              <a:ext cx="253325" cy="115404"/>
            </a:xfrm>
            <a:custGeom>
              <a:avLst/>
              <a:gdLst>
                <a:gd name="T0" fmla="*/ 3 w 38"/>
                <a:gd name="T1" fmla="*/ 0 h 17"/>
                <a:gd name="T2" fmla="*/ 28 w 38"/>
                <a:gd name="T3" fmla="*/ 3 h 17"/>
                <a:gd name="T4" fmla="*/ 32 w 38"/>
                <a:gd name="T5" fmla="*/ 12 h 17"/>
                <a:gd name="T6" fmla="*/ 12 w 38"/>
                <a:gd name="T7" fmla="*/ 13 h 17"/>
                <a:gd name="T8" fmla="*/ 0 w 38"/>
                <a:gd name="T9" fmla="*/ 10 h 17"/>
                <a:gd name="T10" fmla="*/ 1 w 38"/>
                <a:gd name="T11" fmla="*/ 17 h 17"/>
                <a:gd name="T12" fmla="*/ 36 w 38"/>
                <a:gd name="T13" fmla="*/ 17 h 17"/>
                <a:gd name="T14" fmla="*/ 38 w 38"/>
                <a:gd name="T15" fmla="*/ 0 h 17"/>
                <a:gd name="T16" fmla="*/ 3 w 38"/>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7">
                  <a:moveTo>
                    <a:pt x="3" y="0"/>
                  </a:moveTo>
                  <a:cubicBezTo>
                    <a:pt x="6" y="7"/>
                    <a:pt x="24" y="2"/>
                    <a:pt x="28" y="3"/>
                  </a:cubicBezTo>
                  <a:cubicBezTo>
                    <a:pt x="33" y="3"/>
                    <a:pt x="38" y="8"/>
                    <a:pt x="32" y="12"/>
                  </a:cubicBezTo>
                  <a:cubicBezTo>
                    <a:pt x="27" y="15"/>
                    <a:pt x="19" y="14"/>
                    <a:pt x="12" y="13"/>
                  </a:cubicBezTo>
                  <a:cubicBezTo>
                    <a:pt x="8" y="13"/>
                    <a:pt x="4" y="12"/>
                    <a:pt x="0" y="10"/>
                  </a:cubicBezTo>
                  <a:cubicBezTo>
                    <a:pt x="1" y="17"/>
                    <a:pt x="1" y="17"/>
                    <a:pt x="1" y="17"/>
                  </a:cubicBezTo>
                  <a:cubicBezTo>
                    <a:pt x="36" y="17"/>
                    <a:pt x="36" y="17"/>
                    <a:pt x="36" y="17"/>
                  </a:cubicBezTo>
                  <a:cubicBezTo>
                    <a:pt x="37" y="9"/>
                    <a:pt x="38" y="0"/>
                    <a:pt x="38" y="0"/>
                  </a:cubicBezTo>
                  <a:lnTo>
                    <a:pt x="3" y="0"/>
                  </a:lnTo>
                  <a:close/>
                </a:path>
              </a:pathLst>
            </a:custGeom>
            <a:solidFill>
              <a:srgbClr val="300B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350"/>
            <p:cNvSpPr/>
            <p:nvPr/>
          </p:nvSpPr>
          <p:spPr bwMode="auto">
            <a:xfrm>
              <a:off x="11406920" y="4447929"/>
              <a:ext cx="101330" cy="394061"/>
            </a:xfrm>
            <a:custGeom>
              <a:avLst/>
              <a:gdLst>
                <a:gd name="T0" fmla="*/ 21 w 36"/>
                <a:gd name="T1" fmla="*/ 130 h 140"/>
                <a:gd name="T2" fmla="*/ 0 w 36"/>
                <a:gd name="T3" fmla="*/ 0 h 140"/>
                <a:gd name="T4" fmla="*/ 33 w 36"/>
                <a:gd name="T5" fmla="*/ 0 h 140"/>
                <a:gd name="T6" fmla="*/ 36 w 36"/>
                <a:gd name="T7" fmla="*/ 140 h 140"/>
                <a:gd name="T8" fmla="*/ 21 w 36"/>
                <a:gd name="T9" fmla="*/ 130 h 140"/>
              </a:gdLst>
              <a:ahLst/>
              <a:cxnLst>
                <a:cxn ang="0">
                  <a:pos x="T0" y="T1"/>
                </a:cxn>
                <a:cxn ang="0">
                  <a:pos x="T2" y="T3"/>
                </a:cxn>
                <a:cxn ang="0">
                  <a:pos x="T4" y="T5"/>
                </a:cxn>
                <a:cxn ang="0">
                  <a:pos x="T6" y="T7"/>
                </a:cxn>
                <a:cxn ang="0">
                  <a:pos x="T8" y="T9"/>
                </a:cxn>
              </a:cxnLst>
              <a:rect l="0" t="0" r="r" b="b"/>
              <a:pathLst>
                <a:path w="36" h="140">
                  <a:moveTo>
                    <a:pt x="21" y="130"/>
                  </a:moveTo>
                  <a:lnTo>
                    <a:pt x="0" y="0"/>
                  </a:lnTo>
                  <a:lnTo>
                    <a:pt x="33" y="0"/>
                  </a:lnTo>
                  <a:lnTo>
                    <a:pt x="36" y="140"/>
                  </a:lnTo>
                  <a:lnTo>
                    <a:pt x="21" y="130"/>
                  </a:lnTo>
                  <a:close/>
                </a:path>
              </a:pathLst>
            </a:custGeom>
            <a:solidFill>
              <a:srgbClr val="3C151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351"/>
            <p:cNvSpPr/>
            <p:nvPr/>
          </p:nvSpPr>
          <p:spPr bwMode="auto">
            <a:xfrm>
              <a:off x="11446326" y="4447929"/>
              <a:ext cx="67553" cy="394061"/>
            </a:xfrm>
            <a:custGeom>
              <a:avLst/>
              <a:gdLst>
                <a:gd name="T0" fmla="*/ 8 w 10"/>
                <a:gd name="T1" fmla="*/ 0 h 59"/>
                <a:gd name="T2" fmla="*/ 6 w 10"/>
                <a:gd name="T3" fmla="*/ 0 h 59"/>
                <a:gd name="T4" fmla="*/ 1 w 10"/>
                <a:gd name="T5" fmla="*/ 36 h 59"/>
                <a:gd name="T6" fmla="*/ 0 w 10"/>
                <a:gd name="T7" fmla="*/ 37 h 59"/>
                <a:gd name="T8" fmla="*/ 3 w 10"/>
                <a:gd name="T9" fmla="*/ 55 h 59"/>
                <a:gd name="T10" fmla="*/ 9 w 10"/>
                <a:gd name="T11" fmla="*/ 59 h 59"/>
                <a:gd name="T12" fmla="*/ 8 w 10"/>
                <a:gd name="T13" fmla="*/ 0 h 59"/>
              </a:gdLst>
              <a:ahLst/>
              <a:cxnLst>
                <a:cxn ang="0">
                  <a:pos x="T0" y="T1"/>
                </a:cxn>
                <a:cxn ang="0">
                  <a:pos x="T2" y="T3"/>
                </a:cxn>
                <a:cxn ang="0">
                  <a:pos x="T4" y="T5"/>
                </a:cxn>
                <a:cxn ang="0">
                  <a:pos x="T6" y="T7"/>
                </a:cxn>
                <a:cxn ang="0">
                  <a:pos x="T8" y="T9"/>
                </a:cxn>
                <a:cxn ang="0">
                  <a:pos x="T10" y="T11"/>
                </a:cxn>
                <a:cxn ang="0">
                  <a:pos x="T12" y="T13"/>
                </a:cxn>
              </a:cxnLst>
              <a:rect l="0" t="0" r="r" b="b"/>
              <a:pathLst>
                <a:path w="10" h="59">
                  <a:moveTo>
                    <a:pt x="8" y="0"/>
                  </a:moveTo>
                  <a:cubicBezTo>
                    <a:pt x="6" y="0"/>
                    <a:pt x="6" y="0"/>
                    <a:pt x="6" y="0"/>
                  </a:cubicBezTo>
                  <a:cubicBezTo>
                    <a:pt x="8" y="12"/>
                    <a:pt x="10" y="30"/>
                    <a:pt x="1" y="36"/>
                  </a:cubicBezTo>
                  <a:cubicBezTo>
                    <a:pt x="0" y="37"/>
                    <a:pt x="0" y="37"/>
                    <a:pt x="0" y="37"/>
                  </a:cubicBezTo>
                  <a:cubicBezTo>
                    <a:pt x="3" y="55"/>
                    <a:pt x="3" y="55"/>
                    <a:pt x="3" y="55"/>
                  </a:cubicBezTo>
                  <a:cubicBezTo>
                    <a:pt x="9" y="59"/>
                    <a:pt x="9" y="59"/>
                    <a:pt x="9" y="59"/>
                  </a:cubicBezTo>
                  <a:lnTo>
                    <a:pt x="8" y="0"/>
                  </a:lnTo>
                  <a:close/>
                </a:path>
              </a:pathLst>
            </a:custGeom>
            <a:solidFill>
              <a:srgbClr val="300B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352"/>
            <p:cNvSpPr/>
            <p:nvPr/>
          </p:nvSpPr>
          <p:spPr bwMode="auto">
            <a:xfrm>
              <a:off x="11553285" y="4447929"/>
              <a:ext cx="87257" cy="394061"/>
            </a:xfrm>
            <a:custGeom>
              <a:avLst/>
              <a:gdLst>
                <a:gd name="T0" fmla="*/ 10 w 31"/>
                <a:gd name="T1" fmla="*/ 130 h 140"/>
                <a:gd name="T2" fmla="*/ 31 w 31"/>
                <a:gd name="T3" fmla="*/ 0 h 140"/>
                <a:gd name="T4" fmla="*/ 0 w 31"/>
                <a:gd name="T5" fmla="*/ 0 h 140"/>
                <a:gd name="T6" fmla="*/ 0 w 31"/>
                <a:gd name="T7" fmla="*/ 140 h 140"/>
                <a:gd name="T8" fmla="*/ 10 w 31"/>
                <a:gd name="T9" fmla="*/ 130 h 140"/>
              </a:gdLst>
              <a:ahLst/>
              <a:cxnLst>
                <a:cxn ang="0">
                  <a:pos x="T0" y="T1"/>
                </a:cxn>
                <a:cxn ang="0">
                  <a:pos x="T2" y="T3"/>
                </a:cxn>
                <a:cxn ang="0">
                  <a:pos x="T4" y="T5"/>
                </a:cxn>
                <a:cxn ang="0">
                  <a:pos x="T6" y="T7"/>
                </a:cxn>
                <a:cxn ang="0">
                  <a:pos x="T8" y="T9"/>
                </a:cxn>
              </a:cxnLst>
              <a:rect l="0" t="0" r="r" b="b"/>
              <a:pathLst>
                <a:path w="31" h="140">
                  <a:moveTo>
                    <a:pt x="10" y="130"/>
                  </a:moveTo>
                  <a:lnTo>
                    <a:pt x="31" y="0"/>
                  </a:lnTo>
                  <a:lnTo>
                    <a:pt x="0" y="0"/>
                  </a:lnTo>
                  <a:lnTo>
                    <a:pt x="0" y="140"/>
                  </a:lnTo>
                  <a:lnTo>
                    <a:pt x="10" y="130"/>
                  </a:lnTo>
                  <a:close/>
                </a:path>
              </a:pathLst>
            </a:custGeom>
            <a:solidFill>
              <a:srgbClr val="3C151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353"/>
            <p:cNvSpPr/>
            <p:nvPr/>
          </p:nvSpPr>
          <p:spPr bwMode="auto">
            <a:xfrm>
              <a:off x="11406920" y="4447929"/>
              <a:ext cx="92887" cy="132293"/>
            </a:xfrm>
            <a:custGeom>
              <a:avLst/>
              <a:gdLst>
                <a:gd name="T0" fmla="*/ 5 w 14"/>
                <a:gd name="T1" fmla="*/ 14 h 20"/>
                <a:gd name="T2" fmla="*/ 14 w 14"/>
                <a:gd name="T3" fmla="*/ 20 h 20"/>
                <a:gd name="T4" fmla="*/ 14 w 14"/>
                <a:gd name="T5" fmla="*/ 0 h 20"/>
                <a:gd name="T6" fmla="*/ 0 w 14"/>
                <a:gd name="T7" fmla="*/ 0 h 20"/>
                <a:gd name="T8" fmla="*/ 4 w 14"/>
                <a:gd name="T9" fmla="*/ 19 h 20"/>
                <a:gd name="T10" fmla="*/ 5 w 14"/>
                <a:gd name="T11" fmla="*/ 14 h 20"/>
              </a:gdLst>
              <a:ahLst/>
              <a:cxnLst>
                <a:cxn ang="0">
                  <a:pos x="T0" y="T1"/>
                </a:cxn>
                <a:cxn ang="0">
                  <a:pos x="T2" y="T3"/>
                </a:cxn>
                <a:cxn ang="0">
                  <a:pos x="T4" y="T5"/>
                </a:cxn>
                <a:cxn ang="0">
                  <a:pos x="T6" y="T7"/>
                </a:cxn>
                <a:cxn ang="0">
                  <a:pos x="T8" y="T9"/>
                </a:cxn>
                <a:cxn ang="0">
                  <a:pos x="T10" y="T11"/>
                </a:cxn>
              </a:cxnLst>
              <a:rect l="0" t="0" r="r" b="b"/>
              <a:pathLst>
                <a:path w="14" h="20">
                  <a:moveTo>
                    <a:pt x="5" y="14"/>
                  </a:moveTo>
                  <a:cubicBezTo>
                    <a:pt x="9" y="9"/>
                    <a:pt x="13" y="16"/>
                    <a:pt x="14" y="20"/>
                  </a:cubicBezTo>
                  <a:cubicBezTo>
                    <a:pt x="14" y="0"/>
                    <a:pt x="14" y="0"/>
                    <a:pt x="14" y="0"/>
                  </a:cubicBezTo>
                  <a:cubicBezTo>
                    <a:pt x="0" y="0"/>
                    <a:pt x="0" y="0"/>
                    <a:pt x="0" y="0"/>
                  </a:cubicBezTo>
                  <a:cubicBezTo>
                    <a:pt x="4" y="19"/>
                    <a:pt x="4" y="19"/>
                    <a:pt x="4" y="19"/>
                  </a:cubicBezTo>
                  <a:cubicBezTo>
                    <a:pt x="4" y="17"/>
                    <a:pt x="4" y="16"/>
                    <a:pt x="5" y="14"/>
                  </a:cubicBezTo>
                  <a:close/>
                </a:path>
              </a:pathLst>
            </a:custGeom>
            <a:solidFill>
              <a:srgbClr val="300B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354"/>
            <p:cNvSpPr/>
            <p:nvPr/>
          </p:nvSpPr>
          <p:spPr bwMode="auto">
            <a:xfrm>
              <a:off x="11553285" y="4447929"/>
              <a:ext cx="87257" cy="118218"/>
            </a:xfrm>
            <a:custGeom>
              <a:avLst/>
              <a:gdLst>
                <a:gd name="T0" fmla="*/ 11 w 13"/>
                <a:gd name="T1" fmla="*/ 9 h 18"/>
                <a:gd name="T2" fmla="*/ 12 w 13"/>
                <a:gd name="T3" fmla="*/ 10 h 18"/>
                <a:gd name="T4" fmla="*/ 13 w 13"/>
                <a:gd name="T5" fmla="*/ 0 h 18"/>
                <a:gd name="T6" fmla="*/ 0 w 13"/>
                <a:gd name="T7" fmla="*/ 0 h 18"/>
                <a:gd name="T8" fmla="*/ 0 w 13"/>
                <a:gd name="T9" fmla="*/ 18 h 18"/>
                <a:gd name="T10" fmla="*/ 11 w 13"/>
                <a:gd name="T11" fmla="*/ 9 h 18"/>
              </a:gdLst>
              <a:ahLst/>
              <a:cxnLst>
                <a:cxn ang="0">
                  <a:pos x="T0" y="T1"/>
                </a:cxn>
                <a:cxn ang="0">
                  <a:pos x="T2" y="T3"/>
                </a:cxn>
                <a:cxn ang="0">
                  <a:pos x="T4" y="T5"/>
                </a:cxn>
                <a:cxn ang="0">
                  <a:pos x="T6" y="T7"/>
                </a:cxn>
                <a:cxn ang="0">
                  <a:pos x="T8" y="T9"/>
                </a:cxn>
                <a:cxn ang="0">
                  <a:pos x="T10" y="T11"/>
                </a:cxn>
              </a:cxnLst>
              <a:rect l="0" t="0" r="r" b="b"/>
              <a:pathLst>
                <a:path w="13" h="18">
                  <a:moveTo>
                    <a:pt x="11" y="9"/>
                  </a:moveTo>
                  <a:cubicBezTo>
                    <a:pt x="12" y="10"/>
                    <a:pt x="12" y="10"/>
                    <a:pt x="12" y="10"/>
                  </a:cubicBezTo>
                  <a:cubicBezTo>
                    <a:pt x="13" y="0"/>
                    <a:pt x="13" y="0"/>
                    <a:pt x="13" y="0"/>
                  </a:cubicBezTo>
                  <a:cubicBezTo>
                    <a:pt x="0" y="0"/>
                    <a:pt x="0" y="0"/>
                    <a:pt x="0" y="0"/>
                  </a:cubicBezTo>
                  <a:cubicBezTo>
                    <a:pt x="0" y="18"/>
                    <a:pt x="0" y="18"/>
                    <a:pt x="0" y="18"/>
                  </a:cubicBezTo>
                  <a:cubicBezTo>
                    <a:pt x="2" y="12"/>
                    <a:pt x="7" y="3"/>
                    <a:pt x="11" y="9"/>
                  </a:cubicBezTo>
                  <a:close/>
                </a:path>
              </a:pathLst>
            </a:custGeom>
            <a:solidFill>
              <a:srgbClr val="300B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355"/>
            <p:cNvSpPr/>
            <p:nvPr/>
          </p:nvSpPr>
          <p:spPr bwMode="auto">
            <a:xfrm>
              <a:off x="11547656" y="4447929"/>
              <a:ext cx="67553" cy="394061"/>
            </a:xfrm>
            <a:custGeom>
              <a:avLst/>
              <a:gdLst>
                <a:gd name="T0" fmla="*/ 9 w 10"/>
                <a:gd name="T1" fmla="*/ 31 h 59"/>
                <a:gd name="T2" fmla="*/ 3 w 10"/>
                <a:gd name="T3" fmla="*/ 29 h 59"/>
                <a:gd name="T4" fmla="*/ 3 w 10"/>
                <a:gd name="T5" fmla="*/ 0 h 59"/>
                <a:gd name="T6" fmla="*/ 1 w 10"/>
                <a:gd name="T7" fmla="*/ 0 h 59"/>
                <a:gd name="T8" fmla="*/ 1 w 10"/>
                <a:gd name="T9" fmla="*/ 59 h 59"/>
                <a:gd name="T10" fmla="*/ 5 w 10"/>
                <a:gd name="T11" fmla="*/ 55 h 59"/>
                <a:gd name="T12" fmla="*/ 10 w 10"/>
                <a:gd name="T13" fmla="*/ 30 h 59"/>
                <a:gd name="T14" fmla="*/ 9 w 10"/>
                <a:gd name="T15" fmla="*/ 31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59">
                  <a:moveTo>
                    <a:pt x="9" y="31"/>
                  </a:moveTo>
                  <a:cubicBezTo>
                    <a:pt x="7" y="33"/>
                    <a:pt x="4" y="32"/>
                    <a:pt x="3" y="29"/>
                  </a:cubicBezTo>
                  <a:cubicBezTo>
                    <a:pt x="0" y="20"/>
                    <a:pt x="3" y="10"/>
                    <a:pt x="3" y="0"/>
                  </a:cubicBezTo>
                  <a:cubicBezTo>
                    <a:pt x="1" y="0"/>
                    <a:pt x="1" y="0"/>
                    <a:pt x="1" y="0"/>
                  </a:cubicBezTo>
                  <a:cubicBezTo>
                    <a:pt x="1" y="59"/>
                    <a:pt x="1" y="59"/>
                    <a:pt x="1" y="59"/>
                  </a:cubicBezTo>
                  <a:cubicBezTo>
                    <a:pt x="5" y="55"/>
                    <a:pt x="5" y="55"/>
                    <a:pt x="5" y="55"/>
                  </a:cubicBezTo>
                  <a:cubicBezTo>
                    <a:pt x="10" y="30"/>
                    <a:pt x="10" y="30"/>
                    <a:pt x="10" y="30"/>
                  </a:cubicBezTo>
                  <a:lnTo>
                    <a:pt x="9" y="31"/>
                  </a:lnTo>
                  <a:close/>
                </a:path>
              </a:pathLst>
            </a:custGeom>
            <a:solidFill>
              <a:srgbClr val="300B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356"/>
            <p:cNvSpPr/>
            <p:nvPr/>
          </p:nvSpPr>
          <p:spPr bwMode="auto">
            <a:xfrm>
              <a:off x="11367514" y="4006017"/>
              <a:ext cx="312435" cy="326508"/>
            </a:xfrm>
            <a:custGeom>
              <a:avLst/>
              <a:gdLst>
                <a:gd name="T0" fmla="*/ 44 w 47"/>
                <a:gd name="T1" fmla="*/ 5 h 49"/>
                <a:gd name="T2" fmla="*/ 24 w 47"/>
                <a:gd name="T3" fmla="*/ 0 h 49"/>
                <a:gd name="T4" fmla="*/ 24 w 47"/>
                <a:gd name="T5" fmla="*/ 0 h 49"/>
                <a:gd name="T6" fmla="*/ 23 w 47"/>
                <a:gd name="T7" fmla="*/ 0 h 49"/>
                <a:gd name="T8" fmla="*/ 22 w 47"/>
                <a:gd name="T9" fmla="*/ 0 h 49"/>
                <a:gd name="T10" fmla="*/ 22 w 47"/>
                <a:gd name="T11" fmla="*/ 0 h 49"/>
                <a:gd name="T12" fmla="*/ 3 w 47"/>
                <a:gd name="T13" fmla="*/ 5 h 49"/>
                <a:gd name="T14" fmla="*/ 4 w 47"/>
                <a:gd name="T15" fmla="*/ 49 h 49"/>
                <a:gd name="T16" fmla="*/ 22 w 47"/>
                <a:gd name="T17" fmla="*/ 49 h 49"/>
                <a:gd name="T18" fmla="*/ 24 w 47"/>
                <a:gd name="T19" fmla="*/ 49 h 49"/>
                <a:gd name="T20" fmla="*/ 43 w 47"/>
                <a:gd name="T21" fmla="*/ 49 h 49"/>
                <a:gd name="T22" fmla="*/ 44 w 47"/>
                <a:gd name="T23" fmla="*/ 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 h="49">
                  <a:moveTo>
                    <a:pt x="44" y="5"/>
                  </a:moveTo>
                  <a:cubicBezTo>
                    <a:pt x="41" y="2"/>
                    <a:pt x="34" y="1"/>
                    <a:pt x="24" y="0"/>
                  </a:cubicBezTo>
                  <a:cubicBezTo>
                    <a:pt x="24" y="0"/>
                    <a:pt x="24" y="0"/>
                    <a:pt x="24" y="0"/>
                  </a:cubicBezTo>
                  <a:cubicBezTo>
                    <a:pt x="23" y="0"/>
                    <a:pt x="23" y="0"/>
                    <a:pt x="23" y="0"/>
                  </a:cubicBezTo>
                  <a:cubicBezTo>
                    <a:pt x="22" y="0"/>
                    <a:pt x="22" y="0"/>
                    <a:pt x="22" y="0"/>
                  </a:cubicBezTo>
                  <a:cubicBezTo>
                    <a:pt x="22" y="0"/>
                    <a:pt x="22" y="0"/>
                    <a:pt x="22" y="0"/>
                  </a:cubicBezTo>
                  <a:cubicBezTo>
                    <a:pt x="13" y="1"/>
                    <a:pt x="6" y="2"/>
                    <a:pt x="3" y="5"/>
                  </a:cubicBezTo>
                  <a:cubicBezTo>
                    <a:pt x="0" y="9"/>
                    <a:pt x="4" y="49"/>
                    <a:pt x="4" y="49"/>
                  </a:cubicBezTo>
                  <a:cubicBezTo>
                    <a:pt x="22" y="49"/>
                    <a:pt x="22" y="49"/>
                    <a:pt x="22" y="49"/>
                  </a:cubicBezTo>
                  <a:cubicBezTo>
                    <a:pt x="24" y="49"/>
                    <a:pt x="24" y="49"/>
                    <a:pt x="24" y="49"/>
                  </a:cubicBezTo>
                  <a:cubicBezTo>
                    <a:pt x="43" y="49"/>
                    <a:pt x="43" y="49"/>
                    <a:pt x="43" y="49"/>
                  </a:cubicBezTo>
                  <a:cubicBezTo>
                    <a:pt x="43" y="49"/>
                    <a:pt x="47" y="9"/>
                    <a:pt x="44" y="5"/>
                  </a:cubicBezTo>
                  <a:close/>
                </a:path>
              </a:pathLst>
            </a:custGeom>
            <a:solidFill>
              <a:srgbClr val="63263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357"/>
            <p:cNvSpPr/>
            <p:nvPr/>
          </p:nvSpPr>
          <p:spPr bwMode="auto">
            <a:xfrm>
              <a:off x="11367514" y="4020091"/>
              <a:ext cx="312435" cy="312435"/>
            </a:xfrm>
            <a:custGeom>
              <a:avLst/>
              <a:gdLst>
                <a:gd name="T0" fmla="*/ 44 w 47"/>
                <a:gd name="T1" fmla="*/ 3 h 47"/>
                <a:gd name="T2" fmla="*/ 39 w 47"/>
                <a:gd name="T3" fmla="*/ 0 h 47"/>
                <a:gd name="T4" fmla="*/ 38 w 47"/>
                <a:gd name="T5" fmla="*/ 1 h 47"/>
                <a:gd name="T6" fmla="*/ 38 w 47"/>
                <a:gd name="T7" fmla="*/ 41 h 47"/>
                <a:gd name="T8" fmla="*/ 34 w 47"/>
                <a:gd name="T9" fmla="*/ 44 h 47"/>
                <a:gd name="T10" fmla="*/ 18 w 47"/>
                <a:gd name="T11" fmla="*/ 46 h 47"/>
                <a:gd name="T12" fmla="*/ 9 w 47"/>
                <a:gd name="T13" fmla="*/ 35 h 47"/>
                <a:gd name="T14" fmla="*/ 10 w 47"/>
                <a:gd name="T15" fmla="*/ 33 h 47"/>
                <a:gd name="T16" fmla="*/ 9 w 47"/>
                <a:gd name="T17" fmla="*/ 21 h 47"/>
                <a:gd name="T18" fmla="*/ 8 w 47"/>
                <a:gd name="T19" fmla="*/ 0 h 47"/>
                <a:gd name="T20" fmla="*/ 3 w 47"/>
                <a:gd name="T21" fmla="*/ 3 h 47"/>
                <a:gd name="T22" fmla="*/ 4 w 47"/>
                <a:gd name="T23" fmla="*/ 47 h 47"/>
                <a:gd name="T24" fmla="*/ 43 w 47"/>
                <a:gd name="T25" fmla="*/ 47 h 47"/>
                <a:gd name="T26" fmla="*/ 44 w 47"/>
                <a:gd name="T27" fmla="*/ 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47">
                  <a:moveTo>
                    <a:pt x="44" y="3"/>
                  </a:moveTo>
                  <a:cubicBezTo>
                    <a:pt x="43" y="2"/>
                    <a:pt x="41" y="1"/>
                    <a:pt x="39" y="0"/>
                  </a:cubicBezTo>
                  <a:cubicBezTo>
                    <a:pt x="38" y="1"/>
                    <a:pt x="38" y="1"/>
                    <a:pt x="38" y="1"/>
                  </a:cubicBezTo>
                  <a:cubicBezTo>
                    <a:pt x="41" y="14"/>
                    <a:pt x="41" y="29"/>
                    <a:pt x="38" y="41"/>
                  </a:cubicBezTo>
                  <a:cubicBezTo>
                    <a:pt x="37" y="43"/>
                    <a:pt x="36" y="44"/>
                    <a:pt x="34" y="44"/>
                  </a:cubicBezTo>
                  <a:cubicBezTo>
                    <a:pt x="31" y="47"/>
                    <a:pt x="22" y="46"/>
                    <a:pt x="18" y="46"/>
                  </a:cubicBezTo>
                  <a:cubicBezTo>
                    <a:pt x="12" y="45"/>
                    <a:pt x="9" y="42"/>
                    <a:pt x="9" y="35"/>
                  </a:cubicBezTo>
                  <a:cubicBezTo>
                    <a:pt x="9" y="34"/>
                    <a:pt x="10" y="34"/>
                    <a:pt x="10" y="33"/>
                  </a:cubicBezTo>
                  <a:cubicBezTo>
                    <a:pt x="9" y="29"/>
                    <a:pt x="9" y="25"/>
                    <a:pt x="9" y="21"/>
                  </a:cubicBezTo>
                  <a:cubicBezTo>
                    <a:pt x="8" y="14"/>
                    <a:pt x="7" y="7"/>
                    <a:pt x="8" y="0"/>
                  </a:cubicBezTo>
                  <a:cubicBezTo>
                    <a:pt x="6" y="1"/>
                    <a:pt x="4" y="2"/>
                    <a:pt x="3" y="3"/>
                  </a:cubicBezTo>
                  <a:cubicBezTo>
                    <a:pt x="0" y="7"/>
                    <a:pt x="4" y="47"/>
                    <a:pt x="4" y="47"/>
                  </a:cubicBezTo>
                  <a:cubicBezTo>
                    <a:pt x="43" y="47"/>
                    <a:pt x="43" y="47"/>
                    <a:pt x="43" y="47"/>
                  </a:cubicBezTo>
                  <a:cubicBezTo>
                    <a:pt x="43" y="47"/>
                    <a:pt x="47" y="7"/>
                    <a:pt x="44" y="3"/>
                  </a:cubicBezTo>
                  <a:close/>
                </a:path>
              </a:pathLst>
            </a:custGeom>
            <a:solidFill>
              <a:srgbClr val="5A1D2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Rectangle 358"/>
            <p:cNvSpPr>
              <a:spLocks noChangeArrowheads="1"/>
            </p:cNvSpPr>
            <p:nvPr/>
          </p:nvSpPr>
          <p:spPr bwMode="auto">
            <a:xfrm>
              <a:off x="11553285" y="4841990"/>
              <a:ext cx="61924" cy="1125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1" name="Freeform 359"/>
            <p:cNvSpPr/>
            <p:nvPr/>
          </p:nvSpPr>
          <p:spPr bwMode="auto">
            <a:xfrm>
              <a:off x="11553285" y="4808213"/>
              <a:ext cx="61924" cy="45036"/>
            </a:xfrm>
            <a:custGeom>
              <a:avLst/>
              <a:gdLst>
                <a:gd name="T0" fmla="*/ 0 w 9"/>
                <a:gd name="T1" fmla="*/ 5 h 7"/>
                <a:gd name="T2" fmla="*/ 3 w 9"/>
                <a:gd name="T3" fmla="*/ 1 h 7"/>
                <a:gd name="T4" fmla="*/ 9 w 9"/>
                <a:gd name="T5" fmla="*/ 5 h 7"/>
                <a:gd name="T6" fmla="*/ 0 w 9"/>
                <a:gd name="T7" fmla="*/ 5 h 7"/>
              </a:gdLst>
              <a:ahLst/>
              <a:cxnLst>
                <a:cxn ang="0">
                  <a:pos x="T0" y="T1"/>
                </a:cxn>
                <a:cxn ang="0">
                  <a:pos x="T2" y="T3"/>
                </a:cxn>
                <a:cxn ang="0">
                  <a:pos x="T4" y="T5"/>
                </a:cxn>
                <a:cxn ang="0">
                  <a:pos x="T6" y="T7"/>
                </a:cxn>
              </a:cxnLst>
              <a:rect l="0" t="0" r="r" b="b"/>
              <a:pathLst>
                <a:path w="9" h="7">
                  <a:moveTo>
                    <a:pt x="0" y="5"/>
                  </a:moveTo>
                  <a:cubicBezTo>
                    <a:pt x="0" y="5"/>
                    <a:pt x="0" y="0"/>
                    <a:pt x="3" y="1"/>
                  </a:cubicBezTo>
                  <a:cubicBezTo>
                    <a:pt x="7" y="1"/>
                    <a:pt x="9" y="3"/>
                    <a:pt x="9" y="5"/>
                  </a:cubicBezTo>
                  <a:cubicBezTo>
                    <a:pt x="9" y="7"/>
                    <a:pt x="0" y="5"/>
                    <a:pt x="0" y="5"/>
                  </a:cubicBez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Rectangle 360"/>
            <p:cNvSpPr>
              <a:spLocks noChangeArrowheads="1"/>
            </p:cNvSpPr>
            <p:nvPr/>
          </p:nvSpPr>
          <p:spPr bwMode="auto">
            <a:xfrm>
              <a:off x="11446326" y="4841990"/>
              <a:ext cx="61924" cy="1125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3" name="Freeform 361"/>
            <p:cNvSpPr/>
            <p:nvPr/>
          </p:nvSpPr>
          <p:spPr bwMode="auto">
            <a:xfrm>
              <a:off x="11446326" y="4808213"/>
              <a:ext cx="61924" cy="45036"/>
            </a:xfrm>
            <a:custGeom>
              <a:avLst/>
              <a:gdLst>
                <a:gd name="T0" fmla="*/ 9 w 9"/>
                <a:gd name="T1" fmla="*/ 5 h 7"/>
                <a:gd name="T2" fmla="*/ 6 w 9"/>
                <a:gd name="T3" fmla="*/ 1 h 7"/>
                <a:gd name="T4" fmla="*/ 0 w 9"/>
                <a:gd name="T5" fmla="*/ 5 h 7"/>
                <a:gd name="T6" fmla="*/ 9 w 9"/>
                <a:gd name="T7" fmla="*/ 5 h 7"/>
              </a:gdLst>
              <a:ahLst/>
              <a:cxnLst>
                <a:cxn ang="0">
                  <a:pos x="T0" y="T1"/>
                </a:cxn>
                <a:cxn ang="0">
                  <a:pos x="T2" y="T3"/>
                </a:cxn>
                <a:cxn ang="0">
                  <a:pos x="T4" y="T5"/>
                </a:cxn>
                <a:cxn ang="0">
                  <a:pos x="T6" y="T7"/>
                </a:cxn>
              </a:cxnLst>
              <a:rect l="0" t="0" r="r" b="b"/>
              <a:pathLst>
                <a:path w="9" h="7">
                  <a:moveTo>
                    <a:pt x="9" y="5"/>
                  </a:moveTo>
                  <a:cubicBezTo>
                    <a:pt x="9" y="5"/>
                    <a:pt x="9" y="0"/>
                    <a:pt x="6" y="1"/>
                  </a:cubicBezTo>
                  <a:cubicBezTo>
                    <a:pt x="2" y="1"/>
                    <a:pt x="0" y="3"/>
                    <a:pt x="0" y="5"/>
                  </a:cubicBezTo>
                  <a:cubicBezTo>
                    <a:pt x="0" y="7"/>
                    <a:pt x="9" y="5"/>
                    <a:pt x="9" y="5"/>
                  </a:cubicBez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362"/>
            <p:cNvSpPr/>
            <p:nvPr/>
          </p:nvSpPr>
          <p:spPr bwMode="auto">
            <a:xfrm>
              <a:off x="11553285" y="4813843"/>
              <a:ext cx="61924" cy="39406"/>
            </a:xfrm>
            <a:custGeom>
              <a:avLst/>
              <a:gdLst>
                <a:gd name="T0" fmla="*/ 0 w 9"/>
                <a:gd name="T1" fmla="*/ 4 h 6"/>
                <a:gd name="T2" fmla="*/ 2 w 9"/>
                <a:gd name="T3" fmla="*/ 0 h 6"/>
                <a:gd name="T4" fmla="*/ 9 w 9"/>
                <a:gd name="T5" fmla="*/ 4 h 6"/>
                <a:gd name="T6" fmla="*/ 0 w 9"/>
                <a:gd name="T7" fmla="*/ 4 h 6"/>
              </a:gdLst>
              <a:ahLst/>
              <a:cxnLst>
                <a:cxn ang="0">
                  <a:pos x="T0" y="T1"/>
                </a:cxn>
                <a:cxn ang="0">
                  <a:pos x="T2" y="T3"/>
                </a:cxn>
                <a:cxn ang="0">
                  <a:pos x="T4" y="T5"/>
                </a:cxn>
                <a:cxn ang="0">
                  <a:pos x="T6" y="T7"/>
                </a:cxn>
              </a:cxnLst>
              <a:rect l="0" t="0" r="r" b="b"/>
              <a:pathLst>
                <a:path w="9" h="6">
                  <a:moveTo>
                    <a:pt x="0" y="4"/>
                  </a:moveTo>
                  <a:cubicBezTo>
                    <a:pt x="0" y="4"/>
                    <a:pt x="0" y="0"/>
                    <a:pt x="2" y="0"/>
                  </a:cubicBezTo>
                  <a:cubicBezTo>
                    <a:pt x="6" y="6"/>
                    <a:pt x="9" y="2"/>
                    <a:pt x="9" y="4"/>
                  </a:cubicBezTo>
                  <a:cubicBezTo>
                    <a:pt x="9" y="6"/>
                    <a:pt x="0" y="4"/>
                    <a:pt x="0" y="4"/>
                  </a:cubicBezTo>
                  <a:close/>
                </a:path>
              </a:pathLst>
            </a:custGeom>
            <a:solidFill>
              <a:srgbClr val="0C0B0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363"/>
            <p:cNvSpPr/>
            <p:nvPr/>
          </p:nvSpPr>
          <p:spPr bwMode="auto">
            <a:xfrm>
              <a:off x="11446326" y="4808213"/>
              <a:ext cx="61924" cy="45036"/>
            </a:xfrm>
            <a:custGeom>
              <a:avLst/>
              <a:gdLst>
                <a:gd name="T0" fmla="*/ 9 w 9"/>
                <a:gd name="T1" fmla="*/ 5 h 7"/>
                <a:gd name="T2" fmla="*/ 6 w 9"/>
                <a:gd name="T3" fmla="*/ 1 h 7"/>
                <a:gd name="T4" fmla="*/ 0 w 9"/>
                <a:gd name="T5" fmla="*/ 5 h 7"/>
                <a:gd name="T6" fmla="*/ 9 w 9"/>
                <a:gd name="T7" fmla="*/ 5 h 7"/>
              </a:gdLst>
              <a:ahLst/>
              <a:cxnLst>
                <a:cxn ang="0">
                  <a:pos x="T0" y="T1"/>
                </a:cxn>
                <a:cxn ang="0">
                  <a:pos x="T2" y="T3"/>
                </a:cxn>
                <a:cxn ang="0">
                  <a:pos x="T4" y="T5"/>
                </a:cxn>
                <a:cxn ang="0">
                  <a:pos x="T6" y="T7"/>
                </a:cxn>
              </a:cxnLst>
              <a:rect l="0" t="0" r="r" b="b"/>
              <a:pathLst>
                <a:path w="9" h="7">
                  <a:moveTo>
                    <a:pt x="9" y="5"/>
                  </a:moveTo>
                  <a:cubicBezTo>
                    <a:pt x="9" y="5"/>
                    <a:pt x="9" y="0"/>
                    <a:pt x="6" y="1"/>
                  </a:cubicBezTo>
                  <a:cubicBezTo>
                    <a:pt x="8" y="7"/>
                    <a:pt x="0" y="3"/>
                    <a:pt x="0" y="5"/>
                  </a:cubicBezTo>
                  <a:cubicBezTo>
                    <a:pt x="0" y="7"/>
                    <a:pt x="9" y="5"/>
                    <a:pt x="9" y="5"/>
                  </a:cubicBezTo>
                  <a:close/>
                </a:path>
              </a:pathLst>
            </a:custGeom>
            <a:solidFill>
              <a:srgbClr val="0C0B0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364"/>
            <p:cNvSpPr/>
            <p:nvPr/>
          </p:nvSpPr>
          <p:spPr bwMode="auto">
            <a:xfrm>
              <a:off x="11387218" y="3679509"/>
              <a:ext cx="273029" cy="306806"/>
            </a:xfrm>
            <a:custGeom>
              <a:avLst/>
              <a:gdLst>
                <a:gd name="T0" fmla="*/ 41 w 41"/>
                <a:gd name="T1" fmla="*/ 19 h 46"/>
                <a:gd name="T2" fmla="*/ 20 w 41"/>
                <a:gd name="T3" fmla="*/ 46 h 46"/>
                <a:gd name="T4" fmla="*/ 0 w 41"/>
                <a:gd name="T5" fmla="*/ 19 h 46"/>
                <a:gd name="T6" fmla="*/ 20 w 41"/>
                <a:gd name="T7" fmla="*/ 0 h 46"/>
                <a:gd name="T8" fmla="*/ 41 w 41"/>
                <a:gd name="T9" fmla="*/ 19 h 46"/>
              </a:gdLst>
              <a:ahLst/>
              <a:cxnLst>
                <a:cxn ang="0">
                  <a:pos x="T0" y="T1"/>
                </a:cxn>
                <a:cxn ang="0">
                  <a:pos x="T2" y="T3"/>
                </a:cxn>
                <a:cxn ang="0">
                  <a:pos x="T4" y="T5"/>
                </a:cxn>
                <a:cxn ang="0">
                  <a:pos x="T6" y="T7"/>
                </a:cxn>
                <a:cxn ang="0">
                  <a:pos x="T8" y="T9"/>
                </a:cxn>
              </a:cxnLst>
              <a:rect l="0" t="0" r="r" b="b"/>
              <a:pathLst>
                <a:path w="41" h="46">
                  <a:moveTo>
                    <a:pt x="41" y="19"/>
                  </a:moveTo>
                  <a:cubicBezTo>
                    <a:pt x="41" y="31"/>
                    <a:pt x="34" y="46"/>
                    <a:pt x="20" y="46"/>
                  </a:cubicBezTo>
                  <a:cubicBezTo>
                    <a:pt x="9" y="46"/>
                    <a:pt x="0" y="31"/>
                    <a:pt x="0" y="19"/>
                  </a:cubicBezTo>
                  <a:cubicBezTo>
                    <a:pt x="0" y="8"/>
                    <a:pt x="9" y="0"/>
                    <a:pt x="20" y="0"/>
                  </a:cubicBezTo>
                  <a:cubicBezTo>
                    <a:pt x="31" y="0"/>
                    <a:pt x="41" y="8"/>
                    <a:pt x="41" y="19"/>
                  </a:cubicBezTo>
                  <a:close/>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365"/>
            <p:cNvSpPr/>
            <p:nvPr/>
          </p:nvSpPr>
          <p:spPr bwMode="auto">
            <a:xfrm>
              <a:off x="11606766" y="4014462"/>
              <a:ext cx="106959" cy="258954"/>
            </a:xfrm>
            <a:custGeom>
              <a:avLst/>
              <a:gdLst>
                <a:gd name="T0" fmla="*/ 5 w 16"/>
                <a:gd name="T1" fmla="*/ 2 h 39"/>
                <a:gd name="T2" fmla="*/ 4 w 16"/>
                <a:gd name="T3" fmla="*/ 21 h 39"/>
                <a:gd name="T4" fmla="*/ 0 w 16"/>
                <a:gd name="T5" fmla="*/ 29 h 39"/>
                <a:gd name="T6" fmla="*/ 10 w 16"/>
                <a:gd name="T7" fmla="*/ 39 h 39"/>
                <a:gd name="T8" fmla="*/ 5 w 16"/>
                <a:gd name="T9" fmla="*/ 2 h 39"/>
              </a:gdLst>
              <a:ahLst/>
              <a:cxnLst>
                <a:cxn ang="0">
                  <a:pos x="T0" y="T1"/>
                </a:cxn>
                <a:cxn ang="0">
                  <a:pos x="T2" y="T3"/>
                </a:cxn>
                <a:cxn ang="0">
                  <a:pos x="T4" y="T5"/>
                </a:cxn>
                <a:cxn ang="0">
                  <a:pos x="T6" y="T7"/>
                </a:cxn>
                <a:cxn ang="0">
                  <a:pos x="T8" y="T9"/>
                </a:cxn>
              </a:cxnLst>
              <a:rect l="0" t="0" r="r" b="b"/>
              <a:pathLst>
                <a:path w="16" h="39">
                  <a:moveTo>
                    <a:pt x="5" y="2"/>
                  </a:moveTo>
                  <a:cubicBezTo>
                    <a:pt x="5" y="2"/>
                    <a:pt x="7" y="13"/>
                    <a:pt x="4" y="21"/>
                  </a:cubicBezTo>
                  <a:cubicBezTo>
                    <a:pt x="2" y="25"/>
                    <a:pt x="0" y="29"/>
                    <a:pt x="0" y="29"/>
                  </a:cubicBezTo>
                  <a:cubicBezTo>
                    <a:pt x="0" y="29"/>
                    <a:pt x="6" y="39"/>
                    <a:pt x="10" y="39"/>
                  </a:cubicBezTo>
                  <a:cubicBezTo>
                    <a:pt x="14" y="38"/>
                    <a:pt x="16" y="0"/>
                    <a:pt x="5" y="2"/>
                  </a:cubicBezTo>
                  <a:close/>
                </a:path>
              </a:pathLst>
            </a:custGeom>
            <a:solidFill>
              <a:srgbClr val="72344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366"/>
            <p:cNvSpPr/>
            <p:nvPr/>
          </p:nvSpPr>
          <p:spPr bwMode="auto">
            <a:xfrm>
              <a:off x="11488548" y="4200233"/>
              <a:ext cx="205476" cy="87257"/>
            </a:xfrm>
            <a:custGeom>
              <a:avLst/>
              <a:gdLst>
                <a:gd name="T0" fmla="*/ 28 w 31"/>
                <a:gd name="T1" fmla="*/ 11 h 13"/>
                <a:gd name="T2" fmla="*/ 0 w 31"/>
                <a:gd name="T3" fmla="*/ 6 h 13"/>
                <a:gd name="T4" fmla="*/ 2 w 31"/>
                <a:gd name="T5" fmla="*/ 0 h 13"/>
                <a:gd name="T6" fmla="*/ 14 w 31"/>
                <a:gd name="T7" fmla="*/ 1 h 13"/>
                <a:gd name="T8" fmla="*/ 28 w 31"/>
                <a:gd name="T9" fmla="*/ 11 h 13"/>
              </a:gdLst>
              <a:ahLst/>
              <a:cxnLst>
                <a:cxn ang="0">
                  <a:pos x="T0" y="T1"/>
                </a:cxn>
                <a:cxn ang="0">
                  <a:pos x="T2" y="T3"/>
                </a:cxn>
                <a:cxn ang="0">
                  <a:pos x="T4" y="T5"/>
                </a:cxn>
                <a:cxn ang="0">
                  <a:pos x="T6" y="T7"/>
                </a:cxn>
                <a:cxn ang="0">
                  <a:pos x="T8" y="T9"/>
                </a:cxn>
              </a:cxnLst>
              <a:rect l="0" t="0" r="r" b="b"/>
              <a:pathLst>
                <a:path w="31" h="13">
                  <a:moveTo>
                    <a:pt x="28" y="11"/>
                  </a:moveTo>
                  <a:cubicBezTo>
                    <a:pt x="28" y="11"/>
                    <a:pt x="17" y="13"/>
                    <a:pt x="0" y="6"/>
                  </a:cubicBezTo>
                  <a:cubicBezTo>
                    <a:pt x="0" y="6"/>
                    <a:pt x="2" y="0"/>
                    <a:pt x="2" y="0"/>
                  </a:cubicBezTo>
                  <a:cubicBezTo>
                    <a:pt x="3" y="0"/>
                    <a:pt x="8" y="1"/>
                    <a:pt x="14" y="1"/>
                  </a:cubicBezTo>
                  <a:cubicBezTo>
                    <a:pt x="18" y="1"/>
                    <a:pt x="31" y="3"/>
                    <a:pt x="28" y="11"/>
                  </a:cubicBezTo>
                  <a:close/>
                </a:path>
              </a:pathLst>
            </a:custGeom>
            <a:solidFill>
              <a:srgbClr val="72344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367"/>
            <p:cNvSpPr/>
            <p:nvPr/>
          </p:nvSpPr>
          <p:spPr bwMode="auto">
            <a:xfrm>
              <a:off x="11606766" y="4025721"/>
              <a:ext cx="59110" cy="208289"/>
            </a:xfrm>
            <a:custGeom>
              <a:avLst/>
              <a:gdLst>
                <a:gd name="T0" fmla="*/ 4 w 9"/>
                <a:gd name="T1" fmla="*/ 31 h 31"/>
                <a:gd name="T2" fmla="*/ 5 w 9"/>
                <a:gd name="T3" fmla="*/ 31 h 31"/>
                <a:gd name="T4" fmla="*/ 5 w 9"/>
                <a:gd name="T5" fmla="*/ 30 h 31"/>
                <a:gd name="T6" fmla="*/ 6 w 9"/>
                <a:gd name="T7" fmla="*/ 19 h 31"/>
                <a:gd name="T8" fmla="*/ 7 w 9"/>
                <a:gd name="T9" fmla="*/ 1 h 31"/>
                <a:gd name="T10" fmla="*/ 7 w 9"/>
                <a:gd name="T11" fmla="*/ 0 h 31"/>
                <a:gd name="T12" fmla="*/ 5 w 9"/>
                <a:gd name="T13" fmla="*/ 0 h 31"/>
                <a:gd name="T14" fmla="*/ 4 w 9"/>
                <a:gd name="T15" fmla="*/ 19 h 31"/>
                <a:gd name="T16" fmla="*/ 0 w 9"/>
                <a:gd name="T17" fmla="*/ 27 h 31"/>
                <a:gd name="T18" fmla="*/ 3 w 9"/>
                <a:gd name="T19" fmla="*/ 31 h 31"/>
                <a:gd name="T20" fmla="*/ 4 w 9"/>
                <a:gd name="T21"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31">
                  <a:moveTo>
                    <a:pt x="4" y="31"/>
                  </a:moveTo>
                  <a:cubicBezTo>
                    <a:pt x="4" y="31"/>
                    <a:pt x="5" y="31"/>
                    <a:pt x="5" y="31"/>
                  </a:cubicBezTo>
                  <a:cubicBezTo>
                    <a:pt x="5" y="30"/>
                    <a:pt x="5" y="30"/>
                    <a:pt x="5" y="30"/>
                  </a:cubicBezTo>
                  <a:cubicBezTo>
                    <a:pt x="3" y="26"/>
                    <a:pt x="4" y="22"/>
                    <a:pt x="6" y="19"/>
                  </a:cubicBezTo>
                  <a:cubicBezTo>
                    <a:pt x="9" y="13"/>
                    <a:pt x="7" y="7"/>
                    <a:pt x="7" y="1"/>
                  </a:cubicBezTo>
                  <a:cubicBezTo>
                    <a:pt x="7" y="0"/>
                    <a:pt x="7" y="0"/>
                    <a:pt x="7" y="0"/>
                  </a:cubicBezTo>
                  <a:cubicBezTo>
                    <a:pt x="6" y="0"/>
                    <a:pt x="6" y="0"/>
                    <a:pt x="5" y="0"/>
                  </a:cubicBezTo>
                  <a:cubicBezTo>
                    <a:pt x="5" y="0"/>
                    <a:pt x="7" y="11"/>
                    <a:pt x="4" y="19"/>
                  </a:cubicBezTo>
                  <a:cubicBezTo>
                    <a:pt x="2" y="23"/>
                    <a:pt x="0" y="27"/>
                    <a:pt x="0" y="27"/>
                  </a:cubicBezTo>
                  <a:cubicBezTo>
                    <a:pt x="0" y="27"/>
                    <a:pt x="1" y="29"/>
                    <a:pt x="3" y="31"/>
                  </a:cubicBezTo>
                  <a:cubicBezTo>
                    <a:pt x="3" y="31"/>
                    <a:pt x="3" y="31"/>
                    <a:pt x="4" y="31"/>
                  </a:cubicBezTo>
                  <a:close/>
                </a:path>
              </a:pathLst>
            </a:custGeom>
            <a:solidFill>
              <a:srgbClr val="6A2B3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368"/>
            <p:cNvSpPr/>
            <p:nvPr/>
          </p:nvSpPr>
          <p:spPr bwMode="auto">
            <a:xfrm>
              <a:off x="11488548" y="4200233"/>
              <a:ext cx="151995" cy="59110"/>
            </a:xfrm>
            <a:custGeom>
              <a:avLst/>
              <a:gdLst>
                <a:gd name="T0" fmla="*/ 9 w 23"/>
                <a:gd name="T1" fmla="*/ 8 h 9"/>
                <a:gd name="T2" fmla="*/ 10 w 23"/>
                <a:gd name="T3" fmla="*/ 5 h 9"/>
                <a:gd name="T4" fmla="*/ 17 w 23"/>
                <a:gd name="T5" fmla="*/ 4 h 9"/>
                <a:gd name="T6" fmla="*/ 18 w 23"/>
                <a:gd name="T7" fmla="*/ 5 h 9"/>
                <a:gd name="T8" fmla="*/ 20 w 23"/>
                <a:gd name="T9" fmla="*/ 5 h 9"/>
                <a:gd name="T10" fmla="*/ 21 w 23"/>
                <a:gd name="T11" fmla="*/ 5 h 9"/>
                <a:gd name="T12" fmla="*/ 22 w 23"/>
                <a:gd name="T13" fmla="*/ 5 h 9"/>
                <a:gd name="T14" fmla="*/ 23 w 23"/>
                <a:gd name="T15" fmla="*/ 5 h 9"/>
                <a:gd name="T16" fmla="*/ 23 w 23"/>
                <a:gd name="T17" fmla="*/ 4 h 9"/>
                <a:gd name="T18" fmla="*/ 22 w 23"/>
                <a:gd name="T19" fmla="*/ 2 h 9"/>
                <a:gd name="T20" fmla="*/ 14 w 23"/>
                <a:gd name="T21" fmla="*/ 1 h 9"/>
                <a:gd name="T22" fmla="*/ 2 w 23"/>
                <a:gd name="T23" fmla="*/ 0 h 9"/>
                <a:gd name="T24" fmla="*/ 0 w 23"/>
                <a:gd name="T25" fmla="*/ 6 h 9"/>
                <a:gd name="T26" fmla="*/ 9 w 23"/>
                <a:gd name="T27" fmla="*/ 9 h 9"/>
                <a:gd name="T28" fmla="*/ 9 w 23"/>
                <a:gd name="T2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9">
                  <a:moveTo>
                    <a:pt x="9" y="8"/>
                  </a:moveTo>
                  <a:cubicBezTo>
                    <a:pt x="9" y="7"/>
                    <a:pt x="9" y="6"/>
                    <a:pt x="10" y="5"/>
                  </a:cubicBezTo>
                  <a:cubicBezTo>
                    <a:pt x="11" y="3"/>
                    <a:pt x="15" y="2"/>
                    <a:pt x="17" y="4"/>
                  </a:cubicBezTo>
                  <a:cubicBezTo>
                    <a:pt x="18" y="5"/>
                    <a:pt x="18" y="5"/>
                    <a:pt x="18" y="5"/>
                  </a:cubicBezTo>
                  <a:cubicBezTo>
                    <a:pt x="19" y="5"/>
                    <a:pt x="19" y="5"/>
                    <a:pt x="20" y="5"/>
                  </a:cubicBezTo>
                  <a:cubicBezTo>
                    <a:pt x="21" y="5"/>
                    <a:pt x="21" y="5"/>
                    <a:pt x="21" y="5"/>
                  </a:cubicBezTo>
                  <a:cubicBezTo>
                    <a:pt x="21" y="5"/>
                    <a:pt x="21" y="5"/>
                    <a:pt x="22" y="5"/>
                  </a:cubicBezTo>
                  <a:cubicBezTo>
                    <a:pt x="22" y="5"/>
                    <a:pt x="23" y="5"/>
                    <a:pt x="23" y="5"/>
                  </a:cubicBezTo>
                  <a:cubicBezTo>
                    <a:pt x="23" y="4"/>
                    <a:pt x="23" y="4"/>
                    <a:pt x="23" y="4"/>
                  </a:cubicBezTo>
                  <a:cubicBezTo>
                    <a:pt x="22" y="3"/>
                    <a:pt x="22" y="3"/>
                    <a:pt x="22" y="2"/>
                  </a:cubicBezTo>
                  <a:cubicBezTo>
                    <a:pt x="19" y="1"/>
                    <a:pt x="15" y="1"/>
                    <a:pt x="14" y="1"/>
                  </a:cubicBezTo>
                  <a:cubicBezTo>
                    <a:pt x="8" y="1"/>
                    <a:pt x="3" y="0"/>
                    <a:pt x="2" y="0"/>
                  </a:cubicBezTo>
                  <a:cubicBezTo>
                    <a:pt x="2" y="0"/>
                    <a:pt x="0" y="6"/>
                    <a:pt x="0" y="6"/>
                  </a:cubicBezTo>
                  <a:cubicBezTo>
                    <a:pt x="3" y="7"/>
                    <a:pt x="6" y="8"/>
                    <a:pt x="9" y="9"/>
                  </a:cubicBezTo>
                  <a:lnTo>
                    <a:pt x="9" y="8"/>
                  </a:lnTo>
                  <a:close/>
                </a:path>
              </a:pathLst>
            </a:custGeom>
            <a:solidFill>
              <a:srgbClr val="6A2B3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369"/>
            <p:cNvSpPr/>
            <p:nvPr/>
          </p:nvSpPr>
          <p:spPr bwMode="auto">
            <a:xfrm>
              <a:off x="11406920" y="4174900"/>
              <a:ext cx="81628" cy="25333"/>
            </a:xfrm>
            <a:custGeom>
              <a:avLst/>
              <a:gdLst>
                <a:gd name="T0" fmla="*/ 12 w 12"/>
                <a:gd name="T1" fmla="*/ 2 h 4"/>
                <a:gd name="T2" fmla="*/ 3 w 12"/>
                <a:gd name="T3" fmla="*/ 1 h 4"/>
                <a:gd name="T4" fmla="*/ 3 w 12"/>
                <a:gd name="T5" fmla="*/ 3 h 4"/>
                <a:gd name="T6" fmla="*/ 12 w 12"/>
                <a:gd name="T7" fmla="*/ 2 h 4"/>
              </a:gdLst>
              <a:ahLst/>
              <a:cxnLst>
                <a:cxn ang="0">
                  <a:pos x="T0" y="T1"/>
                </a:cxn>
                <a:cxn ang="0">
                  <a:pos x="T2" y="T3"/>
                </a:cxn>
                <a:cxn ang="0">
                  <a:pos x="T4" y="T5"/>
                </a:cxn>
                <a:cxn ang="0">
                  <a:pos x="T6" y="T7"/>
                </a:cxn>
              </a:cxnLst>
              <a:rect l="0" t="0" r="r" b="b"/>
              <a:pathLst>
                <a:path w="12" h="4">
                  <a:moveTo>
                    <a:pt x="12" y="2"/>
                  </a:moveTo>
                  <a:cubicBezTo>
                    <a:pt x="12" y="2"/>
                    <a:pt x="5" y="0"/>
                    <a:pt x="3" y="1"/>
                  </a:cubicBezTo>
                  <a:cubicBezTo>
                    <a:pt x="1" y="3"/>
                    <a:pt x="0" y="4"/>
                    <a:pt x="3" y="3"/>
                  </a:cubicBezTo>
                  <a:cubicBezTo>
                    <a:pt x="5" y="3"/>
                    <a:pt x="12" y="2"/>
                    <a:pt x="12" y="2"/>
                  </a:cubicBezTo>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370"/>
            <p:cNvSpPr/>
            <p:nvPr/>
          </p:nvSpPr>
          <p:spPr bwMode="auto">
            <a:xfrm>
              <a:off x="11333737" y="4014462"/>
              <a:ext cx="92887" cy="264584"/>
            </a:xfrm>
            <a:custGeom>
              <a:avLst/>
              <a:gdLst>
                <a:gd name="T0" fmla="*/ 11 w 14"/>
                <a:gd name="T1" fmla="*/ 2 h 40"/>
                <a:gd name="T2" fmla="*/ 11 w 14"/>
                <a:gd name="T3" fmla="*/ 16 h 40"/>
                <a:gd name="T4" fmla="*/ 14 w 14"/>
                <a:gd name="T5" fmla="*/ 31 h 40"/>
                <a:gd name="T6" fmla="*/ 4 w 14"/>
                <a:gd name="T7" fmla="*/ 38 h 40"/>
                <a:gd name="T8" fmla="*/ 11 w 14"/>
                <a:gd name="T9" fmla="*/ 2 h 40"/>
              </a:gdLst>
              <a:ahLst/>
              <a:cxnLst>
                <a:cxn ang="0">
                  <a:pos x="T0" y="T1"/>
                </a:cxn>
                <a:cxn ang="0">
                  <a:pos x="T2" y="T3"/>
                </a:cxn>
                <a:cxn ang="0">
                  <a:pos x="T4" y="T5"/>
                </a:cxn>
                <a:cxn ang="0">
                  <a:pos x="T6" y="T7"/>
                </a:cxn>
                <a:cxn ang="0">
                  <a:pos x="T8" y="T9"/>
                </a:cxn>
              </a:cxnLst>
              <a:rect l="0" t="0" r="r" b="b"/>
              <a:pathLst>
                <a:path w="14" h="40">
                  <a:moveTo>
                    <a:pt x="11" y="2"/>
                  </a:moveTo>
                  <a:cubicBezTo>
                    <a:pt x="11" y="2"/>
                    <a:pt x="9" y="9"/>
                    <a:pt x="11" y="16"/>
                  </a:cubicBezTo>
                  <a:cubicBezTo>
                    <a:pt x="13" y="23"/>
                    <a:pt x="14" y="31"/>
                    <a:pt x="14" y="31"/>
                  </a:cubicBezTo>
                  <a:cubicBezTo>
                    <a:pt x="14" y="31"/>
                    <a:pt x="8" y="40"/>
                    <a:pt x="4" y="38"/>
                  </a:cubicBezTo>
                  <a:cubicBezTo>
                    <a:pt x="1" y="37"/>
                    <a:pt x="0" y="0"/>
                    <a:pt x="11" y="2"/>
                  </a:cubicBezTo>
                  <a:close/>
                </a:path>
              </a:pathLst>
            </a:custGeom>
            <a:solidFill>
              <a:srgbClr val="72344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371"/>
            <p:cNvSpPr/>
            <p:nvPr/>
          </p:nvSpPr>
          <p:spPr bwMode="auto">
            <a:xfrm>
              <a:off x="11328108" y="4180529"/>
              <a:ext cx="244882" cy="112589"/>
            </a:xfrm>
            <a:custGeom>
              <a:avLst/>
              <a:gdLst>
                <a:gd name="T0" fmla="*/ 5 w 37"/>
                <a:gd name="T1" fmla="*/ 13 h 17"/>
                <a:gd name="T2" fmla="*/ 37 w 37"/>
                <a:gd name="T3" fmla="*/ 5 h 17"/>
                <a:gd name="T4" fmla="*/ 34 w 37"/>
                <a:gd name="T5" fmla="*/ 0 h 17"/>
                <a:gd name="T6" fmla="*/ 15 w 37"/>
                <a:gd name="T7" fmla="*/ 2 h 17"/>
                <a:gd name="T8" fmla="*/ 5 w 37"/>
                <a:gd name="T9" fmla="*/ 13 h 17"/>
              </a:gdLst>
              <a:ahLst/>
              <a:cxnLst>
                <a:cxn ang="0">
                  <a:pos x="T0" y="T1"/>
                </a:cxn>
                <a:cxn ang="0">
                  <a:pos x="T2" y="T3"/>
                </a:cxn>
                <a:cxn ang="0">
                  <a:pos x="T4" y="T5"/>
                </a:cxn>
                <a:cxn ang="0">
                  <a:pos x="T6" y="T7"/>
                </a:cxn>
                <a:cxn ang="0">
                  <a:pos x="T8" y="T9"/>
                </a:cxn>
              </a:cxnLst>
              <a:rect l="0" t="0" r="r" b="b"/>
              <a:pathLst>
                <a:path w="37" h="17">
                  <a:moveTo>
                    <a:pt x="5" y="13"/>
                  </a:moveTo>
                  <a:cubicBezTo>
                    <a:pt x="5" y="13"/>
                    <a:pt x="15" y="17"/>
                    <a:pt x="37" y="5"/>
                  </a:cubicBezTo>
                  <a:cubicBezTo>
                    <a:pt x="37" y="5"/>
                    <a:pt x="35" y="0"/>
                    <a:pt x="34" y="0"/>
                  </a:cubicBezTo>
                  <a:cubicBezTo>
                    <a:pt x="33" y="0"/>
                    <a:pt x="24" y="1"/>
                    <a:pt x="15" y="2"/>
                  </a:cubicBezTo>
                  <a:cubicBezTo>
                    <a:pt x="12" y="3"/>
                    <a:pt x="0" y="6"/>
                    <a:pt x="5" y="13"/>
                  </a:cubicBezTo>
                  <a:close/>
                </a:path>
              </a:pathLst>
            </a:custGeom>
            <a:solidFill>
              <a:srgbClr val="72344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372"/>
            <p:cNvSpPr/>
            <p:nvPr/>
          </p:nvSpPr>
          <p:spPr bwMode="auto">
            <a:xfrm>
              <a:off x="11367514" y="4025721"/>
              <a:ext cx="59110" cy="188587"/>
            </a:xfrm>
            <a:custGeom>
              <a:avLst/>
              <a:gdLst>
                <a:gd name="T0" fmla="*/ 3 w 9"/>
                <a:gd name="T1" fmla="*/ 1 h 28"/>
                <a:gd name="T2" fmla="*/ 3 w 9"/>
                <a:gd name="T3" fmla="*/ 16 h 28"/>
                <a:gd name="T4" fmla="*/ 6 w 9"/>
                <a:gd name="T5" fmla="*/ 23 h 28"/>
                <a:gd name="T6" fmla="*/ 6 w 9"/>
                <a:gd name="T7" fmla="*/ 28 h 28"/>
                <a:gd name="T8" fmla="*/ 9 w 9"/>
                <a:gd name="T9" fmla="*/ 27 h 28"/>
                <a:gd name="T10" fmla="*/ 6 w 9"/>
                <a:gd name="T11" fmla="*/ 14 h 28"/>
                <a:gd name="T12" fmla="*/ 6 w 9"/>
                <a:gd name="T13" fmla="*/ 0 h 28"/>
                <a:gd name="T14" fmla="*/ 3 w 9"/>
                <a:gd name="T15" fmla="*/ 0 h 28"/>
                <a:gd name="T16" fmla="*/ 3 w 9"/>
                <a:gd name="T17" fmla="*/ 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28">
                  <a:moveTo>
                    <a:pt x="3" y="1"/>
                  </a:moveTo>
                  <a:cubicBezTo>
                    <a:pt x="2" y="5"/>
                    <a:pt x="0" y="11"/>
                    <a:pt x="3" y="16"/>
                  </a:cubicBezTo>
                  <a:cubicBezTo>
                    <a:pt x="4" y="18"/>
                    <a:pt x="5" y="20"/>
                    <a:pt x="6" y="23"/>
                  </a:cubicBezTo>
                  <a:cubicBezTo>
                    <a:pt x="6" y="25"/>
                    <a:pt x="6" y="26"/>
                    <a:pt x="6" y="28"/>
                  </a:cubicBezTo>
                  <a:cubicBezTo>
                    <a:pt x="7" y="28"/>
                    <a:pt x="8" y="27"/>
                    <a:pt x="9" y="27"/>
                  </a:cubicBezTo>
                  <a:cubicBezTo>
                    <a:pt x="8" y="24"/>
                    <a:pt x="8" y="19"/>
                    <a:pt x="6" y="14"/>
                  </a:cubicBezTo>
                  <a:cubicBezTo>
                    <a:pt x="4" y="7"/>
                    <a:pt x="6" y="0"/>
                    <a:pt x="6" y="0"/>
                  </a:cubicBezTo>
                  <a:cubicBezTo>
                    <a:pt x="5" y="0"/>
                    <a:pt x="4" y="0"/>
                    <a:pt x="3" y="0"/>
                  </a:cubicBezTo>
                  <a:lnTo>
                    <a:pt x="3" y="1"/>
                  </a:lnTo>
                  <a:close/>
                </a:path>
              </a:pathLst>
            </a:custGeom>
            <a:solidFill>
              <a:srgbClr val="6A2B3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373"/>
            <p:cNvSpPr/>
            <p:nvPr/>
          </p:nvSpPr>
          <p:spPr bwMode="auto">
            <a:xfrm>
              <a:off x="11406920" y="4180529"/>
              <a:ext cx="166069" cy="39406"/>
            </a:xfrm>
            <a:custGeom>
              <a:avLst/>
              <a:gdLst>
                <a:gd name="T0" fmla="*/ 0 w 25"/>
                <a:gd name="T1" fmla="*/ 5 h 6"/>
                <a:gd name="T2" fmla="*/ 19 w 25"/>
                <a:gd name="T3" fmla="*/ 1 h 6"/>
                <a:gd name="T4" fmla="*/ 23 w 25"/>
                <a:gd name="T5" fmla="*/ 6 h 6"/>
                <a:gd name="T6" fmla="*/ 25 w 25"/>
                <a:gd name="T7" fmla="*/ 5 h 6"/>
                <a:gd name="T8" fmla="*/ 22 w 25"/>
                <a:gd name="T9" fmla="*/ 0 h 6"/>
                <a:gd name="T10" fmla="*/ 3 w 25"/>
                <a:gd name="T11" fmla="*/ 2 h 6"/>
                <a:gd name="T12" fmla="*/ 0 w 25"/>
                <a:gd name="T13" fmla="*/ 3 h 6"/>
                <a:gd name="T14" fmla="*/ 0 w 25"/>
                <a:gd name="T15" fmla="*/ 5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6">
                  <a:moveTo>
                    <a:pt x="0" y="5"/>
                  </a:moveTo>
                  <a:cubicBezTo>
                    <a:pt x="6" y="2"/>
                    <a:pt x="14" y="2"/>
                    <a:pt x="19" y="1"/>
                  </a:cubicBezTo>
                  <a:cubicBezTo>
                    <a:pt x="22" y="1"/>
                    <a:pt x="23" y="4"/>
                    <a:pt x="23" y="6"/>
                  </a:cubicBezTo>
                  <a:cubicBezTo>
                    <a:pt x="23" y="6"/>
                    <a:pt x="24" y="6"/>
                    <a:pt x="25" y="5"/>
                  </a:cubicBezTo>
                  <a:cubicBezTo>
                    <a:pt x="25" y="5"/>
                    <a:pt x="23" y="0"/>
                    <a:pt x="22" y="0"/>
                  </a:cubicBezTo>
                  <a:cubicBezTo>
                    <a:pt x="21" y="0"/>
                    <a:pt x="12" y="1"/>
                    <a:pt x="3" y="2"/>
                  </a:cubicBezTo>
                  <a:cubicBezTo>
                    <a:pt x="2" y="2"/>
                    <a:pt x="1" y="3"/>
                    <a:pt x="0" y="3"/>
                  </a:cubicBezTo>
                  <a:cubicBezTo>
                    <a:pt x="0" y="4"/>
                    <a:pt x="0" y="4"/>
                    <a:pt x="0" y="5"/>
                  </a:cubicBezTo>
                  <a:close/>
                </a:path>
              </a:pathLst>
            </a:custGeom>
            <a:solidFill>
              <a:srgbClr val="6A2B3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374"/>
            <p:cNvSpPr/>
            <p:nvPr/>
          </p:nvSpPr>
          <p:spPr bwMode="auto">
            <a:xfrm>
              <a:off x="11553285" y="4174900"/>
              <a:ext cx="67553" cy="45036"/>
            </a:xfrm>
            <a:custGeom>
              <a:avLst/>
              <a:gdLst>
                <a:gd name="T0" fmla="*/ 0 w 10"/>
                <a:gd name="T1" fmla="*/ 1 h 7"/>
                <a:gd name="T2" fmla="*/ 10 w 10"/>
                <a:gd name="T3" fmla="*/ 2 h 7"/>
                <a:gd name="T4" fmla="*/ 8 w 10"/>
                <a:gd name="T5" fmla="*/ 5 h 7"/>
                <a:gd name="T6" fmla="*/ 3 w 10"/>
                <a:gd name="T7" fmla="*/ 6 h 7"/>
                <a:gd name="T8" fmla="*/ 0 w 10"/>
                <a:gd name="T9" fmla="*/ 1 h 7"/>
              </a:gdLst>
              <a:ahLst/>
              <a:cxnLst>
                <a:cxn ang="0">
                  <a:pos x="T0" y="T1"/>
                </a:cxn>
                <a:cxn ang="0">
                  <a:pos x="T2" y="T3"/>
                </a:cxn>
                <a:cxn ang="0">
                  <a:pos x="T4" y="T5"/>
                </a:cxn>
                <a:cxn ang="0">
                  <a:pos x="T6" y="T7"/>
                </a:cxn>
                <a:cxn ang="0">
                  <a:pos x="T8" y="T9"/>
                </a:cxn>
              </a:cxnLst>
              <a:rect l="0" t="0" r="r" b="b"/>
              <a:pathLst>
                <a:path w="10" h="7">
                  <a:moveTo>
                    <a:pt x="0" y="1"/>
                  </a:moveTo>
                  <a:cubicBezTo>
                    <a:pt x="0" y="1"/>
                    <a:pt x="7" y="0"/>
                    <a:pt x="10" y="2"/>
                  </a:cubicBezTo>
                  <a:cubicBezTo>
                    <a:pt x="8" y="5"/>
                    <a:pt x="8" y="5"/>
                    <a:pt x="8" y="5"/>
                  </a:cubicBezTo>
                  <a:cubicBezTo>
                    <a:pt x="8" y="5"/>
                    <a:pt x="5" y="7"/>
                    <a:pt x="3" y="6"/>
                  </a:cubicBezTo>
                  <a:lnTo>
                    <a:pt x="0" y="1"/>
                  </a:lnTo>
                  <a:close/>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375"/>
            <p:cNvSpPr/>
            <p:nvPr/>
          </p:nvSpPr>
          <p:spPr bwMode="auto">
            <a:xfrm>
              <a:off x="11620839" y="3859651"/>
              <a:ext cx="39406" cy="81628"/>
            </a:xfrm>
            <a:custGeom>
              <a:avLst/>
              <a:gdLst>
                <a:gd name="T0" fmla="*/ 3 w 6"/>
                <a:gd name="T1" fmla="*/ 4 h 12"/>
                <a:gd name="T2" fmla="*/ 4 w 6"/>
                <a:gd name="T3" fmla="*/ 8 h 12"/>
                <a:gd name="T4" fmla="*/ 0 w 6"/>
                <a:gd name="T5" fmla="*/ 9 h 12"/>
              </a:gdLst>
              <a:ahLst/>
              <a:cxnLst>
                <a:cxn ang="0">
                  <a:pos x="T0" y="T1"/>
                </a:cxn>
                <a:cxn ang="0">
                  <a:pos x="T2" y="T3"/>
                </a:cxn>
                <a:cxn ang="0">
                  <a:pos x="T4" y="T5"/>
                </a:cxn>
              </a:cxnLst>
              <a:rect l="0" t="0" r="r" b="b"/>
              <a:pathLst>
                <a:path w="6" h="12">
                  <a:moveTo>
                    <a:pt x="3" y="4"/>
                  </a:moveTo>
                  <a:cubicBezTo>
                    <a:pt x="3" y="4"/>
                    <a:pt x="6" y="0"/>
                    <a:pt x="4" y="8"/>
                  </a:cubicBezTo>
                  <a:cubicBezTo>
                    <a:pt x="3" y="12"/>
                    <a:pt x="1" y="12"/>
                    <a:pt x="0" y="9"/>
                  </a:cubicBezTo>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376"/>
            <p:cNvSpPr/>
            <p:nvPr/>
          </p:nvSpPr>
          <p:spPr bwMode="auto">
            <a:xfrm>
              <a:off x="11381588" y="3859651"/>
              <a:ext cx="39406" cy="81628"/>
            </a:xfrm>
            <a:custGeom>
              <a:avLst/>
              <a:gdLst>
                <a:gd name="T0" fmla="*/ 4 w 6"/>
                <a:gd name="T1" fmla="*/ 4 h 12"/>
                <a:gd name="T2" fmla="*/ 2 w 6"/>
                <a:gd name="T3" fmla="*/ 8 h 12"/>
                <a:gd name="T4" fmla="*/ 6 w 6"/>
                <a:gd name="T5" fmla="*/ 9 h 12"/>
              </a:gdLst>
              <a:ahLst/>
              <a:cxnLst>
                <a:cxn ang="0">
                  <a:pos x="T0" y="T1"/>
                </a:cxn>
                <a:cxn ang="0">
                  <a:pos x="T2" y="T3"/>
                </a:cxn>
                <a:cxn ang="0">
                  <a:pos x="T4" y="T5"/>
                </a:cxn>
              </a:cxnLst>
              <a:rect l="0" t="0" r="r" b="b"/>
              <a:pathLst>
                <a:path w="6" h="12">
                  <a:moveTo>
                    <a:pt x="4" y="4"/>
                  </a:moveTo>
                  <a:cubicBezTo>
                    <a:pt x="4" y="4"/>
                    <a:pt x="0" y="0"/>
                    <a:pt x="2" y="8"/>
                  </a:cubicBezTo>
                  <a:cubicBezTo>
                    <a:pt x="4" y="12"/>
                    <a:pt x="6" y="12"/>
                    <a:pt x="6" y="9"/>
                  </a:cubicBezTo>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377"/>
            <p:cNvSpPr/>
            <p:nvPr/>
          </p:nvSpPr>
          <p:spPr bwMode="auto">
            <a:xfrm>
              <a:off x="11373143" y="3654177"/>
              <a:ext cx="292731" cy="253325"/>
            </a:xfrm>
            <a:custGeom>
              <a:avLst/>
              <a:gdLst>
                <a:gd name="T0" fmla="*/ 8 w 44"/>
                <a:gd name="T1" fmla="*/ 25 h 38"/>
                <a:gd name="T2" fmla="*/ 16 w 44"/>
                <a:gd name="T3" fmla="*/ 22 h 38"/>
                <a:gd name="T4" fmla="*/ 36 w 44"/>
                <a:gd name="T5" fmla="*/ 24 h 38"/>
                <a:gd name="T6" fmla="*/ 39 w 44"/>
                <a:gd name="T7" fmla="*/ 38 h 38"/>
                <a:gd name="T8" fmla="*/ 43 w 44"/>
                <a:gd name="T9" fmla="*/ 16 h 38"/>
                <a:gd name="T10" fmla="*/ 15 w 44"/>
                <a:gd name="T11" fmla="*/ 4 h 38"/>
                <a:gd name="T12" fmla="*/ 2 w 44"/>
                <a:gd name="T13" fmla="*/ 28 h 38"/>
                <a:gd name="T14" fmla="*/ 6 w 44"/>
                <a:gd name="T15" fmla="*/ 38 h 38"/>
                <a:gd name="T16" fmla="*/ 8 w 44"/>
                <a:gd name="T17" fmla="*/ 2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8">
                  <a:moveTo>
                    <a:pt x="8" y="25"/>
                  </a:moveTo>
                  <a:cubicBezTo>
                    <a:pt x="8" y="25"/>
                    <a:pt x="9" y="22"/>
                    <a:pt x="16" y="22"/>
                  </a:cubicBezTo>
                  <a:cubicBezTo>
                    <a:pt x="26" y="21"/>
                    <a:pt x="35" y="21"/>
                    <a:pt x="36" y="24"/>
                  </a:cubicBezTo>
                  <a:cubicBezTo>
                    <a:pt x="36" y="26"/>
                    <a:pt x="38" y="38"/>
                    <a:pt x="39" y="38"/>
                  </a:cubicBezTo>
                  <a:cubicBezTo>
                    <a:pt x="41" y="37"/>
                    <a:pt x="44" y="26"/>
                    <a:pt x="43" y="16"/>
                  </a:cubicBezTo>
                  <a:cubicBezTo>
                    <a:pt x="41" y="7"/>
                    <a:pt x="27" y="0"/>
                    <a:pt x="15" y="4"/>
                  </a:cubicBezTo>
                  <a:cubicBezTo>
                    <a:pt x="4" y="8"/>
                    <a:pt x="0" y="13"/>
                    <a:pt x="2" y="28"/>
                  </a:cubicBezTo>
                  <a:cubicBezTo>
                    <a:pt x="2" y="28"/>
                    <a:pt x="4" y="38"/>
                    <a:pt x="6" y="38"/>
                  </a:cubicBezTo>
                  <a:cubicBezTo>
                    <a:pt x="8" y="38"/>
                    <a:pt x="8" y="25"/>
                    <a:pt x="8" y="25"/>
                  </a:cubicBezTo>
                  <a:close/>
                </a:path>
              </a:pathLst>
            </a:custGeom>
            <a:solidFill>
              <a:srgbClr val="D1D3D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378"/>
            <p:cNvSpPr/>
            <p:nvPr/>
          </p:nvSpPr>
          <p:spPr bwMode="auto">
            <a:xfrm>
              <a:off x="11454771" y="3727360"/>
              <a:ext cx="199846" cy="180142"/>
            </a:xfrm>
            <a:custGeom>
              <a:avLst/>
              <a:gdLst>
                <a:gd name="T0" fmla="*/ 30 w 30"/>
                <a:gd name="T1" fmla="*/ 19 h 27"/>
                <a:gd name="T2" fmla="*/ 27 w 30"/>
                <a:gd name="T3" fmla="*/ 19 h 27"/>
                <a:gd name="T4" fmla="*/ 25 w 30"/>
                <a:gd name="T5" fmla="*/ 5 h 27"/>
                <a:gd name="T6" fmla="*/ 22 w 30"/>
                <a:gd name="T7" fmla="*/ 10 h 27"/>
                <a:gd name="T8" fmla="*/ 20 w 30"/>
                <a:gd name="T9" fmla="*/ 9 h 27"/>
                <a:gd name="T10" fmla="*/ 17 w 30"/>
                <a:gd name="T11" fmla="*/ 3 h 27"/>
                <a:gd name="T12" fmla="*/ 13 w 30"/>
                <a:gd name="T13" fmla="*/ 9 h 27"/>
                <a:gd name="T14" fmla="*/ 10 w 30"/>
                <a:gd name="T15" fmla="*/ 7 h 27"/>
                <a:gd name="T16" fmla="*/ 10 w 30"/>
                <a:gd name="T17" fmla="*/ 7 h 27"/>
                <a:gd name="T18" fmla="*/ 7 w 30"/>
                <a:gd name="T19" fmla="*/ 7 h 27"/>
                <a:gd name="T20" fmla="*/ 5 w 30"/>
                <a:gd name="T21" fmla="*/ 0 h 27"/>
                <a:gd name="T22" fmla="*/ 1 w 30"/>
                <a:gd name="T23" fmla="*/ 11 h 27"/>
                <a:gd name="T24" fmla="*/ 0 w 30"/>
                <a:gd name="T25" fmla="*/ 11 h 27"/>
                <a:gd name="T26" fmla="*/ 4 w 30"/>
                <a:gd name="T27" fmla="*/ 11 h 27"/>
                <a:gd name="T28" fmla="*/ 24 w 30"/>
                <a:gd name="T29" fmla="*/ 13 h 27"/>
                <a:gd name="T30" fmla="*/ 27 w 30"/>
                <a:gd name="T31" fmla="*/ 27 h 27"/>
                <a:gd name="T32" fmla="*/ 30 w 30"/>
                <a:gd name="T33" fmla="*/ 18 h 27"/>
                <a:gd name="T34" fmla="*/ 30 w 30"/>
                <a:gd name="T35"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27">
                  <a:moveTo>
                    <a:pt x="30" y="19"/>
                  </a:moveTo>
                  <a:cubicBezTo>
                    <a:pt x="30" y="20"/>
                    <a:pt x="28" y="21"/>
                    <a:pt x="27" y="19"/>
                  </a:cubicBezTo>
                  <a:cubicBezTo>
                    <a:pt x="25" y="15"/>
                    <a:pt x="26" y="10"/>
                    <a:pt x="25" y="5"/>
                  </a:cubicBezTo>
                  <a:cubicBezTo>
                    <a:pt x="24" y="7"/>
                    <a:pt x="24" y="9"/>
                    <a:pt x="22" y="10"/>
                  </a:cubicBezTo>
                  <a:cubicBezTo>
                    <a:pt x="21" y="10"/>
                    <a:pt x="20" y="10"/>
                    <a:pt x="20" y="9"/>
                  </a:cubicBezTo>
                  <a:cubicBezTo>
                    <a:pt x="18" y="7"/>
                    <a:pt x="18" y="5"/>
                    <a:pt x="17" y="3"/>
                  </a:cubicBezTo>
                  <a:cubicBezTo>
                    <a:pt x="17" y="6"/>
                    <a:pt x="16" y="9"/>
                    <a:pt x="13" y="9"/>
                  </a:cubicBezTo>
                  <a:cubicBezTo>
                    <a:pt x="11" y="9"/>
                    <a:pt x="10" y="8"/>
                    <a:pt x="10" y="7"/>
                  </a:cubicBezTo>
                  <a:cubicBezTo>
                    <a:pt x="10" y="7"/>
                    <a:pt x="10" y="7"/>
                    <a:pt x="10" y="7"/>
                  </a:cubicBezTo>
                  <a:cubicBezTo>
                    <a:pt x="9" y="8"/>
                    <a:pt x="7" y="8"/>
                    <a:pt x="7" y="7"/>
                  </a:cubicBezTo>
                  <a:cubicBezTo>
                    <a:pt x="5" y="5"/>
                    <a:pt x="5" y="3"/>
                    <a:pt x="5" y="0"/>
                  </a:cubicBezTo>
                  <a:cubicBezTo>
                    <a:pt x="4" y="4"/>
                    <a:pt x="3" y="8"/>
                    <a:pt x="1" y="11"/>
                  </a:cubicBezTo>
                  <a:cubicBezTo>
                    <a:pt x="0" y="11"/>
                    <a:pt x="0" y="11"/>
                    <a:pt x="0" y="11"/>
                  </a:cubicBezTo>
                  <a:cubicBezTo>
                    <a:pt x="1" y="11"/>
                    <a:pt x="2" y="11"/>
                    <a:pt x="4" y="11"/>
                  </a:cubicBezTo>
                  <a:cubicBezTo>
                    <a:pt x="14" y="10"/>
                    <a:pt x="23" y="10"/>
                    <a:pt x="24" y="13"/>
                  </a:cubicBezTo>
                  <a:cubicBezTo>
                    <a:pt x="24" y="15"/>
                    <a:pt x="26" y="27"/>
                    <a:pt x="27" y="27"/>
                  </a:cubicBezTo>
                  <a:cubicBezTo>
                    <a:pt x="28" y="26"/>
                    <a:pt x="29" y="23"/>
                    <a:pt x="30" y="18"/>
                  </a:cubicBezTo>
                  <a:lnTo>
                    <a:pt x="30" y="19"/>
                  </a:lnTo>
                  <a:close/>
                </a:path>
              </a:pathLst>
            </a:custGeom>
            <a:solidFill>
              <a:srgbClr val="C2C3C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379"/>
            <p:cNvSpPr/>
            <p:nvPr/>
          </p:nvSpPr>
          <p:spPr bwMode="auto">
            <a:xfrm>
              <a:off x="11387218" y="3752692"/>
              <a:ext cx="67553" cy="154811"/>
            </a:xfrm>
            <a:custGeom>
              <a:avLst/>
              <a:gdLst>
                <a:gd name="T0" fmla="*/ 8 w 10"/>
                <a:gd name="T1" fmla="*/ 7 h 23"/>
                <a:gd name="T2" fmla="*/ 7 w 10"/>
                <a:gd name="T3" fmla="*/ 0 h 23"/>
                <a:gd name="T4" fmla="*/ 6 w 10"/>
                <a:gd name="T5" fmla="*/ 2 h 23"/>
                <a:gd name="T6" fmla="*/ 5 w 10"/>
                <a:gd name="T7" fmla="*/ 14 h 23"/>
                <a:gd name="T8" fmla="*/ 2 w 10"/>
                <a:gd name="T9" fmla="*/ 15 h 23"/>
                <a:gd name="T10" fmla="*/ 0 w 10"/>
                <a:gd name="T11" fmla="*/ 10 h 23"/>
                <a:gd name="T12" fmla="*/ 0 w 10"/>
                <a:gd name="T13" fmla="*/ 11 h 23"/>
                <a:gd name="T14" fmla="*/ 0 w 10"/>
                <a:gd name="T15" fmla="*/ 13 h 23"/>
                <a:gd name="T16" fmla="*/ 4 w 10"/>
                <a:gd name="T17" fmla="*/ 23 h 23"/>
                <a:gd name="T18" fmla="*/ 6 w 10"/>
                <a:gd name="T19" fmla="*/ 10 h 23"/>
                <a:gd name="T20" fmla="*/ 10 w 10"/>
                <a:gd name="T21" fmla="*/ 7 h 23"/>
                <a:gd name="T22" fmla="*/ 8 w 10"/>
                <a:gd name="T23"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23">
                  <a:moveTo>
                    <a:pt x="8" y="7"/>
                  </a:moveTo>
                  <a:cubicBezTo>
                    <a:pt x="7" y="4"/>
                    <a:pt x="6" y="2"/>
                    <a:pt x="7" y="0"/>
                  </a:cubicBezTo>
                  <a:cubicBezTo>
                    <a:pt x="6" y="0"/>
                    <a:pt x="6" y="1"/>
                    <a:pt x="6" y="2"/>
                  </a:cubicBezTo>
                  <a:cubicBezTo>
                    <a:pt x="5" y="6"/>
                    <a:pt x="5" y="10"/>
                    <a:pt x="5" y="14"/>
                  </a:cubicBezTo>
                  <a:cubicBezTo>
                    <a:pt x="5" y="15"/>
                    <a:pt x="3" y="16"/>
                    <a:pt x="2" y="15"/>
                  </a:cubicBezTo>
                  <a:cubicBezTo>
                    <a:pt x="1" y="13"/>
                    <a:pt x="1" y="12"/>
                    <a:pt x="0" y="10"/>
                  </a:cubicBezTo>
                  <a:cubicBezTo>
                    <a:pt x="0" y="11"/>
                    <a:pt x="0" y="11"/>
                    <a:pt x="0" y="11"/>
                  </a:cubicBezTo>
                  <a:cubicBezTo>
                    <a:pt x="0" y="12"/>
                    <a:pt x="0" y="12"/>
                    <a:pt x="0" y="13"/>
                  </a:cubicBezTo>
                  <a:cubicBezTo>
                    <a:pt x="0" y="13"/>
                    <a:pt x="2" y="23"/>
                    <a:pt x="4" y="23"/>
                  </a:cubicBezTo>
                  <a:cubicBezTo>
                    <a:pt x="6" y="23"/>
                    <a:pt x="6" y="10"/>
                    <a:pt x="6" y="10"/>
                  </a:cubicBezTo>
                  <a:cubicBezTo>
                    <a:pt x="6" y="10"/>
                    <a:pt x="7" y="8"/>
                    <a:pt x="10" y="7"/>
                  </a:cubicBezTo>
                  <a:cubicBezTo>
                    <a:pt x="9" y="7"/>
                    <a:pt x="8" y="7"/>
                    <a:pt x="8" y="7"/>
                  </a:cubicBezTo>
                  <a:close/>
                </a:path>
              </a:pathLst>
            </a:custGeom>
            <a:solidFill>
              <a:srgbClr val="C2C3C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43" name="文本框 142"/>
          <p:cNvSpPr txBox="1"/>
          <p:nvPr/>
        </p:nvSpPr>
        <p:spPr>
          <a:xfrm>
            <a:off x="886690" y="5530045"/>
            <a:ext cx="9328727" cy="830997"/>
          </a:xfrm>
          <a:prstGeom prst="rect">
            <a:avLst/>
          </a:prstGeom>
          <a:noFill/>
        </p:spPr>
        <p:txBody>
          <a:bodyPr wrap="square" rtlCol="0">
            <a:spAutoFit/>
          </a:bodyPr>
          <a:lstStyle/>
          <a:p>
            <a:r>
              <a:rPr lang="zh-CN" altLang="en-US" sz="2400" b="1" dirty="0">
                <a:solidFill>
                  <a:schemeClr val="accent3">
                    <a:lumMod val="75000"/>
                  </a:schemeClr>
                </a:solidFill>
                <a:latin typeface="+mj-lt"/>
                <a:ea typeface="楷体" panose="02010609060101010101" pitchFamily="49" charset="-122"/>
              </a:rPr>
              <a:t>在这样的效应下，一方面商业长期护理保险的发展受阻，另一方面失能老人的护理需求得不到很好的保障</a:t>
            </a:r>
            <a:endParaRPr lang="en-US" altLang="zh-CN" sz="2400" dirty="0">
              <a:latin typeface="+mj-lt"/>
              <a:ea typeface="楷体" panose="02010609060101010101" pitchFamily="49" charset="-122"/>
            </a:endParaRPr>
          </a:p>
        </p:txBody>
      </p:sp>
      <p:sp>
        <p:nvSpPr>
          <p:cNvPr id="144" name="椭圆形标注 143"/>
          <p:cNvSpPr/>
          <p:nvPr/>
        </p:nvSpPr>
        <p:spPr>
          <a:xfrm>
            <a:off x="6719701" y="1550270"/>
            <a:ext cx="1419082" cy="766618"/>
          </a:xfrm>
          <a:prstGeom prst="wedgeEllipseCallout">
            <a:avLst>
              <a:gd name="adj1" fmla="val 35142"/>
              <a:gd name="adj2" fmla="val 57681"/>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accent3">
                    <a:lumMod val="75000"/>
                  </a:schemeClr>
                </a:solidFill>
                <a:latin typeface="楷体" panose="02010609060101010101" pitchFamily="49" charset="-122"/>
                <a:ea typeface="楷体" panose="02010609060101010101" pitchFamily="49" charset="-122"/>
              </a:rPr>
              <a:t>失能</a:t>
            </a:r>
          </a:p>
        </p:txBody>
      </p:sp>
      <p:sp>
        <p:nvSpPr>
          <p:cNvPr id="145" name="文本框 144"/>
          <p:cNvSpPr txBox="1"/>
          <p:nvPr/>
        </p:nvSpPr>
        <p:spPr>
          <a:xfrm>
            <a:off x="7135821" y="2763805"/>
            <a:ext cx="1093209" cy="461665"/>
          </a:xfrm>
          <a:prstGeom prst="rect">
            <a:avLst/>
          </a:prstGeom>
          <a:noFill/>
        </p:spPr>
        <p:txBody>
          <a:bodyPr wrap="square" rtlCol="0">
            <a:spAutoFit/>
          </a:bodyPr>
          <a:lstStyle/>
          <a:p>
            <a:r>
              <a:rPr lang="zh-CN" altLang="en-US" sz="2400" dirty="0">
                <a:latin typeface="+mj-lt"/>
                <a:ea typeface="楷体" panose="02010609060101010101" pitchFamily="49" charset="-122"/>
              </a:rPr>
              <a:t>储蓄？</a:t>
            </a:r>
            <a:endParaRPr lang="en-US" altLang="zh-CN" sz="2400" dirty="0">
              <a:latin typeface="+mj-lt"/>
              <a:ea typeface="楷体" panose="02010609060101010101" pitchFamily="49" charset="-122"/>
            </a:endParaRPr>
          </a:p>
        </p:txBody>
      </p:sp>
      <p:sp>
        <p:nvSpPr>
          <p:cNvPr id="146" name="文本框 145"/>
          <p:cNvSpPr txBox="1"/>
          <p:nvPr/>
        </p:nvSpPr>
        <p:spPr>
          <a:xfrm>
            <a:off x="5933906" y="3947890"/>
            <a:ext cx="2379457" cy="461665"/>
          </a:xfrm>
          <a:prstGeom prst="rect">
            <a:avLst/>
          </a:prstGeom>
          <a:noFill/>
        </p:spPr>
        <p:txBody>
          <a:bodyPr wrap="square" rtlCol="0">
            <a:spAutoFit/>
          </a:bodyPr>
          <a:lstStyle/>
          <a:p>
            <a:r>
              <a:rPr lang="zh-CN" altLang="en-US" sz="2400" dirty="0">
                <a:latin typeface="+mj-lt"/>
                <a:ea typeface="楷体" panose="02010609060101010101" pitchFamily="49" charset="-122"/>
              </a:rPr>
              <a:t>长期护理保险？</a:t>
            </a:r>
            <a:endParaRPr lang="en-US" altLang="zh-CN" sz="2400" dirty="0">
              <a:latin typeface="+mj-lt"/>
              <a:ea typeface="楷体" panose="02010609060101010101" pitchFamily="49" charset="-122"/>
            </a:endParaRPr>
          </a:p>
        </p:txBody>
      </p:sp>
      <p:sp>
        <p:nvSpPr>
          <p:cNvPr id="147" name="文本框 146"/>
          <p:cNvSpPr txBox="1"/>
          <p:nvPr/>
        </p:nvSpPr>
        <p:spPr>
          <a:xfrm>
            <a:off x="2357591" y="2770325"/>
            <a:ext cx="1207834" cy="461665"/>
          </a:xfrm>
          <a:prstGeom prst="rect">
            <a:avLst/>
          </a:prstGeom>
          <a:noFill/>
        </p:spPr>
        <p:txBody>
          <a:bodyPr wrap="square" rtlCol="0">
            <a:spAutoFit/>
          </a:bodyPr>
          <a:lstStyle/>
          <a:p>
            <a:r>
              <a:rPr lang="zh-CN" altLang="en-US" sz="2400" dirty="0">
                <a:latin typeface="+mj-lt"/>
                <a:ea typeface="楷体" panose="02010609060101010101" pitchFamily="49" charset="-122"/>
              </a:rPr>
              <a:t>储蓄？</a:t>
            </a:r>
            <a:endParaRPr lang="en-US" altLang="zh-CN" sz="2400" dirty="0">
              <a:latin typeface="+mj-lt"/>
              <a:ea typeface="楷体" panose="02010609060101010101" pitchFamily="49" charset="-122"/>
            </a:endParaRPr>
          </a:p>
        </p:txBody>
      </p:sp>
      <p:sp>
        <p:nvSpPr>
          <p:cNvPr id="148" name="文本框 147"/>
          <p:cNvSpPr txBox="1"/>
          <p:nvPr/>
        </p:nvSpPr>
        <p:spPr>
          <a:xfrm>
            <a:off x="2340077" y="3363596"/>
            <a:ext cx="2379457" cy="461665"/>
          </a:xfrm>
          <a:prstGeom prst="rect">
            <a:avLst/>
          </a:prstGeom>
          <a:noFill/>
        </p:spPr>
        <p:txBody>
          <a:bodyPr wrap="square" rtlCol="0">
            <a:spAutoFit/>
          </a:bodyPr>
          <a:lstStyle/>
          <a:p>
            <a:r>
              <a:rPr lang="zh-CN" altLang="en-US" sz="2400" dirty="0">
                <a:latin typeface="+mj-lt"/>
                <a:ea typeface="楷体" panose="02010609060101010101" pitchFamily="49" charset="-122"/>
              </a:rPr>
              <a:t>长期护理保险？</a:t>
            </a:r>
            <a:endParaRPr lang="en-US" altLang="zh-CN" sz="2400" dirty="0">
              <a:latin typeface="+mj-lt"/>
              <a:ea typeface="楷体" panose="02010609060101010101" pitchFamily="49" charset="-122"/>
            </a:endParaRPr>
          </a:p>
        </p:txBody>
      </p:sp>
      <p:sp>
        <p:nvSpPr>
          <p:cNvPr id="149" name="文本框 148"/>
          <p:cNvSpPr txBox="1"/>
          <p:nvPr/>
        </p:nvSpPr>
        <p:spPr>
          <a:xfrm>
            <a:off x="2340078" y="3952670"/>
            <a:ext cx="1733160" cy="461665"/>
          </a:xfrm>
          <a:prstGeom prst="rect">
            <a:avLst/>
          </a:prstGeom>
          <a:noFill/>
        </p:spPr>
        <p:txBody>
          <a:bodyPr wrap="square" rtlCol="0">
            <a:spAutoFit/>
          </a:bodyPr>
          <a:lstStyle/>
          <a:p>
            <a:r>
              <a:rPr lang="zh-CN" altLang="en-US" sz="2400" dirty="0">
                <a:latin typeface="+mj-lt"/>
                <a:ea typeface="楷体" panose="02010609060101010101" pitchFamily="49" charset="-122"/>
              </a:rPr>
              <a:t>家庭护理？</a:t>
            </a:r>
            <a:endParaRPr lang="en-US" altLang="zh-CN" sz="2400" dirty="0">
              <a:latin typeface="+mj-lt"/>
              <a:ea typeface="楷体" panose="02010609060101010101" pitchFamily="49" charset="-122"/>
            </a:endParaRPr>
          </a:p>
        </p:txBody>
      </p:sp>
      <p:cxnSp>
        <p:nvCxnSpPr>
          <p:cNvPr id="153" name="直接箭头连接符 152"/>
          <p:cNvCxnSpPr/>
          <p:nvPr/>
        </p:nvCxnSpPr>
        <p:spPr>
          <a:xfrm>
            <a:off x="4009215" y="4107704"/>
            <a:ext cx="184814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p:cNvCxnSpPr/>
          <p:nvPr/>
        </p:nvCxnSpPr>
        <p:spPr>
          <a:xfrm flipH="1" flipV="1">
            <a:off x="3996694" y="4259239"/>
            <a:ext cx="1860668" cy="478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7" name="文本框 156"/>
          <p:cNvSpPr txBox="1"/>
          <p:nvPr/>
        </p:nvSpPr>
        <p:spPr>
          <a:xfrm>
            <a:off x="4532220" y="3493070"/>
            <a:ext cx="931042" cy="1323439"/>
          </a:xfrm>
          <a:prstGeom prst="rect">
            <a:avLst/>
          </a:prstGeom>
          <a:noFill/>
        </p:spPr>
        <p:txBody>
          <a:bodyPr wrap="square" rtlCol="0">
            <a:spAutoFit/>
          </a:bodyPr>
          <a:lstStyle/>
          <a:p>
            <a:r>
              <a:rPr lang="zh-CN" altLang="en-US" sz="8000" dirty="0">
                <a:solidFill>
                  <a:schemeClr val="accent3">
                    <a:lumMod val="75000"/>
                  </a:schemeClr>
                </a:solidFill>
                <a:latin typeface="+mj-lt"/>
                <a:ea typeface="楷体" panose="02010609060101010101" pitchFamily="49" charset="-122"/>
              </a:rPr>
              <a:t>？</a:t>
            </a:r>
            <a:endParaRPr lang="en-US" altLang="zh-CN" sz="8000" dirty="0">
              <a:solidFill>
                <a:schemeClr val="accent3">
                  <a:lumMod val="75000"/>
                </a:schemeClr>
              </a:solidFill>
              <a:latin typeface="+mj-lt"/>
              <a:ea typeface="楷体" panose="02010609060101010101" pitchFamily="49" charset="-122"/>
            </a:endParaRPr>
          </a:p>
        </p:txBody>
      </p:sp>
      <p:sp>
        <p:nvSpPr>
          <p:cNvPr id="158" name="椭圆形标注 157"/>
          <p:cNvSpPr/>
          <p:nvPr/>
        </p:nvSpPr>
        <p:spPr>
          <a:xfrm>
            <a:off x="2403616" y="1587238"/>
            <a:ext cx="1419082" cy="766618"/>
          </a:xfrm>
          <a:prstGeom prst="wedgeEllipseCallout">
            <a:avLst>
              <a:gd name="adj1" fmla="val -50122"/>
              <a:gd name="adj2" fmla="val 50452"/>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accent3">
                    <a:lumMod val="75000"/>
                  </a:schemeClr>
                </a:solidFill>
                <a:latin typeface="楷体" panose="02010609060101010101" pitchFamily="49" charset="-122"/>
                <a:ea typeface="楷体" panose="02010609060101010101" pitchFamily="49" charset="-122"/>
              </a:rPr>
              <a:t>失能</a:t>
            </a:r>
          </a:p>
        </p:txBody>
      </p:sp>
      <p:sp>
        <p:nvSpPr>
          <p:cNvPr id="159" name="矩形 158"/>
          <p:cNvSpPr/>
          <p:nvPr/>
        </p:nvSpPr>
        <p:spPr>
          <a:xfrm>
            <a:off x="4097385" y="2252659"/>
            <a:ext cx="2338592" cy="470856"/>
          </a:xfrm>
          <a:prstGeom prst="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accent3">
                    <a:lumMod val="75000"/>
                  </a:schemeClr>
                </a:solidFill>
                <a:latin typeface="楷体" panose="02010609060101010101" pitchFamily="49" charset="-122"/>
                <a:ea typeface="楷体" panose="02010609060101010101" pitchFamily="49" charset="-122"/>
              </a:rPr>
              <a:t>效用最大化</a:t>
            </a:r>
          </a:p>
        </p:txBody>
      </p:sp>
      <p:sp>
        <p:nvSpPr>
          <p:cNvPr id="155" name="文本框 154"/>
          <p:cNvSpPr txBox="1"/>
          <p:nvPr/>
        </p:nvSpPr>
        <p:spPr>
          <a:xfrm>
            <a:off x="1280206" y="4826151"/>
            <a:ext cx="1207834" cy="461665"/>
          </a:xfrm>
          <a:prstGeom prst="rect">
            <a:avLst/>
          </a:prstGeom>
          <a:noFill/>
        </p:spPr>
        <p:txBody>
          <a:bodyPr wrap="square" rtlCol="0">
            <a:spAutoFit/>
          </a:bodyPr>
          <a:lstStyle/>
          <a:p>
            <a:r>
              <a:rPr lang="zh-CN" altLang="en-US" sz="2400" dirty="0">
                <a:latin typeface="+mj-lt"/>
                <a:ea typeface="楷体" panose="02010609060101010101" pitchFamily="49" charset="-122"/>
              </a:rPr>
              <a:t>子女</a:t>
            </a:r>
            <a:endParaRPr lang="en-US" altLang="zh-CN" sz="2400" dirty="0">
              <a:latin typeface="+mj-lt"/>
              <a:ea typeface="楷体" panose="02010609060101010101" pitchFamily="49" charset="-122"/>
            </a:endParaRPr>
          </a:p>
        </p:txBody>
      </p:sp>
      <p:sp>
        <p:nvSpPr>
          <p:cNvPr id="156" name="文本框 155"/>
          <p:cNvSpPr txBox="1"/>
          <p:nvPr/>
        </p:nvSpPr>
        <p:spPr>
          <a:xfrm>
            <a:off x="8487377" y="4799964"/>
            <a:ext cx="1207834" cy="461665"/>
          </a:xfrm>
          <a:prstGeom prst="rect">
            <a:avLst/>
          </a:prstGeom>
          <a:noFill/>
        </p:spPr>
        <p:txBody>
          <a:bodyPr wrap="square" rtlCol="0">
            <a:spAutoFit/>
          </a:bodyPr>
          <a:lstStyle/>
          <a:p>
            <a:r>
              <a:rPr lang="zh-CN" altLang="en-US" sz="2400" dirty="0">
                <a:latin typeface="+mj-lt"/>
                <a:ea typeface="楷体" panose="02010609060101010101" pitchFamily="49" charset="-122"/>
              </a:rPr>
              <a:t>父母</a:t>
            </a:r>
            <a:endParaRPr lang="en-US" altLang="zh-CN" sz="2400" dirty="0">
              <a:latin typeface="+mj-lt"/>
              <a:ea typeface="楷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250"/>
                                        <p:tgtEl>
                                          <p:spTgt spid="1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7"/>
                                        </p:tgtEl>
                                        <p:attrNameLst>
                                          <p:attrName>style.visibility</p:attrName>
                                        </p:attrNameLst>
                                      </p:cBhvr>
                                      <p:to>
                                        <p:strVal val="visible"/>
                                      </p:to>
                                    </p:set>
                                    <p:animEffect transition="in" filter="fade">
                                      <p:cBhvr>
                                        <p:cTn id="12" dur="250"/>
                                        <p:tgtEl>
                                          <p:spTgt spid="14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5"/>
                                        </p:tgtEl>
                                        <p:attrNameLst>
                                          <p:attrName>style.visibility</p:attrName>
                                        </p:attrNameLst>
                                      </p:cBhvr>
                                      <p:to>
                                        <p:strVal val="visible"/>
                                      </p:to>
                                    </p:set>
                                    <p:animEffect transition="in" filter="fade">
                                      <p:cBhvr>
                                        <p:cTn id="15" dur="250"/>
                                        <p:tgtEl>
                                          <p:spTgt spid="14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8"/>
                                        </p:tgtEl>
                                        <p:attrNameLst>
                                          <p:attrName>style.visibility</p:attrName>
                                        </p:attrNameLst>
                                      </p:cBhvr>
                                      <p:to>
                                        <p:strVal val="visible"/>
                                      </p:to>
                                    </p:set>
                                    <p:animEffect transition="in" filter="fade">
                                      <p:cBhvr>
                                        <p:cTn id="20" dur="250"/>
                                        <p:tgtEl>
                                          <p:spTgt spid="14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6"/>
                                        </p:tgtEl>
                                        <p:attrNameLst>
                                          <p:attrName>style.visibility</p:attrName>
                                        </p:attrNameLst>
                                      </p:cBhvr>
                                      <p:to>
                                        <p:strVal val="visible"/>
                                      </p:to>
                                    </p:set>
                                    <p:animEffect transition="in" filter="fade">
                                      <p:cBhvr>
                                        <p:cTn id="23" dur="250"/>
                                        <p:tgtEl>
                                          <p:spTgt spid="14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9"/>
                                        </p:tgtEl>
                                        <p:attrNameLst>
                                          <p:attrName>style.visibility</p:attrName>
                                        </p:attrNameLst>
                                      </p:cBhvr>
                                      <p:to>
                                        <p:strVal val="visible"/>
                                      </p:to>
                                    </p:set>
                                    <p:animEffect transition="in" filter="fade">
                                      <p:cBhvr>
                                        <p:cTn id="28" dur="250"/>
                                        <p:tgtEl>
                                          <p:spTgt spid="14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58"/>
                                        </p:tgtEl>
                                        <p:attrNameLst>
                                          <p:attrName>style.visibility</p:attrName>
                                        </p:attrNameLst>
                                      </p:cBhvr>
                                      <p:to>
                                        <p:strVal val="visible"/>
                                      </p:to>
                                    </p:set>
                                    <p:animEffect transition="in" filter="fade">
                                      <p:cBhvr>
                                        <p:cTn id="33" dur="250"/>
                                        <p:tgtEl>
                                          <p:spTgt spid="15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9"/>
                                        </p:tgtEl>
                                        <p:attrNameLst>
                                          <p:attrName>style.visibility</p:attrName>
                                        </p:attrNameLst>
                                      </p:cBhvr>
                                      <p:to>
                                        <p:strVal val="visible"/>
                                      </p:to>
                                    </p:set>
                                    <p:animEffect transition="in" filter="fade">
                                      <p:cBhvr>
                                        <p:cTn id="38" dur="250"/>
                                        <p:tgtEl>
                                          <p:spTgt spid="15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53"/>
                                        </p:tgtEl>
                                        <p:attrNameLst>
                                          <p:attrName>style.visibility</p:attrName>
                                        </p:attrNameLst>
                                      </p:cBhvr>
                                      <p:to>
                                        <p:strVal val="visible"/>
                                      </p:to>
                                    </p:set>
                                    <p:animEffect transition="in" filter="fade">
                                      <p:cBhvr>
                                        <p:cTn id="43" dur="250"/>
                                        <p:tgtEl>
                                          <p:spTgt spid="153"/>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154"/>
                                        </p:tgtEl>
                                        <p:attrNameLst>
                                          <p:attrName>style.visibility</p:attrName>
                                        </p:attrNameLst>
                                      </p:cBhvr>
                                      <p:to>
                                        <p:strVal val="visible"/>
                                      </p:to>
                                    </p:set>
                                    <p:animEffect transition="in" filter="fade">
                                      <p:cBhvr>
                                        <p:cTn id="47" dur="250"/>
                                        <p:tgtEl>
                                          <p:spTgt spid="154"/>
                                        </p:tgtEl>
                                      </p:cBhvr>
                                    </p:animEffect>
                                  </p:childTnLst>
                                </p:cTn>
                              </p:par>
                            </p:childTnLst>
                          </p:cTn>
                        </p:par>
                        <p:par>
                          <p:cTn id="48" fill="hold">
                            <p:stCondLst>
                              <p:cond delay="1000"/>
                            </p:stCondLst>
                            <p:childTnLst>
                              <p:par>
                                <p:cTn id="49" presetID="10" presetClass="entr" presetSubtype="0" fill="hold" grpId="0" nodeType="afterEffect">
                                  <p:stCondLst>
                                    <p:cond delay="0"/>
                                  </p:stCondLst>
                                  <p:childTnLst>
                                    <p:set>
                                      <p:cBhvr>
                                        <p:cTn id="50" dur="1" fill="hold">
                                          <p:stCondLst>
                                            <p:cond delay="0"/>
                                          </p:stCondLst>
                                        </p:cTn>
                                        <p:tgtEl>
                                          <p:spTgt spid="157"/>
                                        </p:tgtEl>
                                        <p:attrNameLst>
                                          <p:attrName>style.visibility</p:attrName>
                                        </p:attrNameLst>
                                      </p:cBhvr>
                                      <p:to>
                                        <p:strVal val="visible"/>
                                      </p:to>
                                    </p:set>
                                    <p:animEffect transition="in" filter="fade">
                                      <p:cBhvr>
                                        <p:cTn id="51" dur="250"/>
                                        <p:tgtEl>
                                          <p:spTgt spid="15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43"/>
                                        </p:tgtEl>
                                        <p:attrNameLst>
                                          <p:attrName>style.visibility</p:attrName>
                                        </p:attrNameLst>
                                      </p:cBhvr>
                                      <p:to>
                                        <p:strVal val="visible"/>
                                      </p:to>
                                    </p:set>
                                    <p:animEffect transition="in" filter="fade">
                                      <p:cBhvr>
                                        <p:cTn id="56" dur="25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 grpId="0"/>
      <p:bldP spid="144" grpId="0" animBg="1"/>
      <p:bldP spid="145" grpId="0"/>
      <p:bldP spid="146" grpId="0"/>
      <p:bldP spid="147" grpId="0"/>
      <p:bldP spid="148" grpId="0"/>
      <p:bldP spid="149" grpId="0"/>
      <p:bldP spid="157" grpId="0"/>
      <p:bldP spid="158" grpId="0" animBg="1"/>
      <p:bldP spid="15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2656" y="310044"/>
            <a:ext cx="5258480" cy="682623"/>
          </a:xfrm>
        </p:spPr>
        <p:txBody>
          <a:bodyPr/>
          <a:lstStyle/>
          <a:p>
            <a:r>
              <a:rPr lang="zh-CN" altLang="en-US" dirty="0"/>
              <a:t>研究背景</a:t>
            </a:r>
          </a:p>
        </p:txBody>
      </p:sp>
      <p:sp>
        <p:nvSpPr>
          <p:cNvPr id="3" name="文本框 2"/>
          <p:cNvSpPr txBox="1"/>
          <p:nvPr/>
        </p:nvSpPr>
        <p:spPr>
          <a:xfrm>
            <a:off x="629749" y="1385455"/>
            <a:ext cx="9123849" cy="4893647"/>
          </a:xfrm>
          <a:prstGeom prst="rect">
            <a:avLst/>
          </a:prstGeom>
          <a:noFill/>
        </p:spPr>
        <p:txBody>
          <a:bodyPr wrap="square" rtlCol="0">
            <a:spAutoFit/>
          </a:bodyPr>
          <a:lstStyle/>
          <a:p>
            <a:pPr marL="342900" indent="-342900">
              <a:buFont typeface="Wingdings" panose="05000000000000000000" pitchFamily="2" charset="2"/>
              <a:buChar char="ü"/>
            </a:pPr>
            <a:r>
              <a:rPr lang="en-US" altLang="zh-CN" sz="2400" b="1" dirty="0">
                <a:solidFill>
                  <a:schemeClr val="accent3">
                    <a:lumMod val="75000"/>
                  </a:schemeClr>
                </a:solidFill>
                <a:latin typeface="+mj-lt"/>
                <a:ea typeface="楷体" panose="02010609060101010101" pitchFamily="49" charset="-122"/>
              </a:rPr>
              <a:t>《</a:t>
            </a:r>
            <a:r>
              <a:rPr lang="zh-CN" altLang="en-US" sz="2400" b="1" dirty="0">
                <a:solidFill>
                  <a:schemeClr val="accent3">
                    <a:lumMod val="75000"/>
                  </a:schemeClr>
                </a:solidFill>
                <a:latin typeface="+mj-lt"/>
                <a:ea typeface="楷体" panose="02010609060101010101" pitchFamily="49" charset="-122"/>
              </a:rPr>
              <a:t>两会</a:t>
            </a:r>
            <a:r>
              <a:rPr lang="en-US" altLang="zh-CN" sz="2400" b="1" dirty="0">
                <a:solidFill>
                  <a:schemeClr val="accent3">
                    <a:lumMod val="75000"/>
                  </a:schemeClr>
                </a:solidFill>
                <a:latin typeface="+mj-lt"/>
                <a:ea typeface="楷体" panose="02010609060101010101" pitchFamily="49" charset="-122"/>
              </a:rPr>
              <a:t>》</a:t>
            </a:r>
            <a:r>
              <a:rPr lang="zh-CN" altLang="en-US" sz="2400" b="1" dirty="0">
                <a:solidFill>
                  <a:schemeClr val="accent3">
                    <a:lumMod val="75000"/>
                  </a:schemeClr>
                </a:solidFill>
                <a:latin typeface="+mj-lt"/>
                <a:ea typeface="楷体" panose="02010609060101010101" pitchFamily="49" charset="-122"/>
              </a:rPr>
              <a:t>全国政协委员孙洁：</a:t>
            </a:r>
            <a:endParaRPr lang="en-US" altLang="zh-CN" sz="2400" b="1" dirty="0">
              <a:solidFill>
                <a:schemeClr val="accent3">
                  <a:lumMod val="75000"/>
                </a:schemeClr>
              </a:solidFill>
              <a:latin typeface="+mj-lt"/>
              <a:ea typeface="楷体" panose="02010609060101010101" pitchFamily="49" charset="-122"/>
            </a:endParaRPr>
          </a:p>
          <a:p>
            <a:r>
              <a:rPr lang="zh-CN" altLang="en-US" sz="2400" dirty="0">
                <a:latin typeface="+mj-lt"/>
                <a:ea typeface="楷体" panose="02010609060101010101" pitchFamily="49" charset="-122"/>
              </a:rPr>
              <a:t>建议探索长期护理保险的家庭账户模式，突破以个人为单元、家庭成员之间保障隔离的现状</a:t>
            </a:r>
            <a:endParaRPr lang="en-US" altLang="zh-CN" sz="2400" dirty="0">
              <a:latin typeface="+mj-lt"/>
              <a:ea typeface="楷体" panose="02010609060101010101" pitchFamily="49" charset="-122"/>
            </a:endParaRPr>
          </a:p>
          <a:p>
            <a:endParaRPr lang="en-US" altLang="zh-CN" sz="2400" dirty="0">
              <a:latin typeface="+mj-lt"/>
              <a:ea typeface="楷体" panose="02010609060101010101" pitchFamily="49" charset="-122"/>
            </a:endParaRPr>
          </a:p>
          <a:p>
            <a:pPr marL="342900" indent="-342900">
              <a:buFont typeface="Wingdings" panose="05000000000000000000" pitchFamily="2" charset="2"/>
              <a:buChar char="ü"/>
            </a:pPr>
            <a:r>
              <a:rPr lang="zh-CN" altLang="en-US" sz="2400" b="1" dirty="0">
                <a:solidFill>
                  <a:schemeClr val="accent3">
                    <a:lumMod val="75000"/>
                  </a:schemeClr>
                </a:solidFill>
                <a:latin typeface="+mj-lt"/>
                <a:ea typeface="楷体" panose="02010609060101010101" pitchFamily="49" charset="-122"/>
              </a:rPr>
              <a:t>学者</a:t>
            </a:r>
            <a:r>
              <a:rPr lang="en-US" altLang="zh-CN" sz="2400" b="1" dirty="0" err="1">
                <a:solidFill>
                  <a:schemeClr val="accent3">
                    <a:lumMod val="75000"/>
                  </a:schemeClr>
                </a:solidFill>
                <a:latin typeface="+mj-lt"/>
                <a:ea typeface="楷体" panose="02010609060101010101" pitchFamily="49" charset="-122"/>
              </a:rPr>
              <a:t>Zweifel</a:t>
            </a:r>
            <a:r>
              <a:rPr lang="zh-CN" altLang="en-US" sz="2400" b="1" dirty="0">
                <a:solidFill>
                  <a:schemeClr val="accent3">
                    <a:lumMod val="75000"/>
                  </a:schemeClr>
                </a:solidFill>
                <a:latin typeface="+mj-lt"/>
                <a:ea typeface="楷体" panose="02010609060101010101" pitchFamily="49" charset="-122"/>
              </a:rPr>
              <a:t>（</a:t>
            </a:r>
            <a:r>
              <a:rPr lang="en-US" altLang="zh-CN" sz="2400" b="1" dirty="0">
                <a:solidFill>
                  <a:schemeClr val="accent3">
                    <a:lumMod val="75000"/>
                  </a:schemeClr>
                </a:solidFill>
                <a:latin typeface="+mj-lt"/>
                <a:ea typeface="楷体" panose="02010609060101010101" pitchFamily="49" charset="-122"/>
              </a:rPr>
              <a:t>2020</a:t>
            </a:r>
            <a:r>
              <a:rPr lang="zh-CN" altLang="en-US" sz="2400" b="1" dirty="0">
                <a:solidFill>
                  <a:schemeClr val="accent3">
                    <a:lumMod val="75000"/>
                  </a:schemeClr>
                </a:solidFill>
                <a:latin typeface="+mj-lt"/>
                <a:ea typeface="楷体" panose="02010609060101010101" pitchFamily="49" charset="-122"/>
              </a:rPr>
              <a:t>）</a:t>
            </a:r>
            <a:endParaRPr lang="en-US" altLang="zh-CN" sz="2400" b="1" dirty="0">
              <a:solidFill>
                <a:schemeClr val="accent3">
                  <a:lumMod val="75000"/>
                </a:schemeClr>
              </a:solidFill>
              <a:latin typeface="+mj-lt"/>
              <a:ea typeface="楷体" panose="02010609060101010101" pitchFamily="49" charset="-122"/>
            </a:endParaRPr>
          </a:p>
          <a:p>
            <a:r>
              <a:rPr lang="zh-CN" altLang="en-US" sz="2400" dirty="0">
                <a:latin typeface="+mj-lt"/>
                <a:ea typeface="楷体" panose="02010609060101010101" pitchFamily="49" charset="-122"/>
              </a:rPr>
              <a:t>设计了一种年长者和陪护者连结的长期护理保险</a:t>
            </a:r>
            <a:endParaRPr lang="en-US" altLang="zh-CN" sz="2400" dirty="0">
              <a:latin typeface="+mj-lt"/>
              <a:ea typeface="楷体" panose="02010609060101010101" pitchFamily="49" charset="-122"/>
            </a:endParaRPr>
          </a:p>
          <a:p>
            <a:endParaRPr lang="en-US" altLang="zh-CN" sz="2400" dirty="0">
              <a:latin typeface="+mj-lt"/>
              <a:ea typeface="楷体" panose="02010609060101010101" pitchFamily="49" charset="-122"/>
            </a:endParaRPr>
          </a:p>
          <a:p>
            <a:pPr marL="342900" indent="-342900">
              <a:buFont typeface="Wingdings" panose="05000000000000000000" pitchFamily="2" charset="2"/>
              <a:buChar char="ü"/>
            </a:pPr>
            <a:r>
              <a:rPr lang="zh-CN" altLang="en-US" sz="2400" b="1" dirty="0">
                <a:solidFill>
                  <a:schemeClr val="accent3">
                    <a:lumMod val="75000"/>
                  </a:schemeClr>
                </a:solidFill>
                <a:latin typeface="+mj-lt"/>
                <a:ea typeface="楷体" panose="02010609060101010101" pitchFamily="49" charset="-122"/>
              </a:rPr>
              <a:t>本文主要贡献与创新</a:t>
            </a:r>
            <a:endParaRPr lang="en-US" altLang="zh-CN" sz="2400" b="1" dirty="0">
              <a:solidFill>
                <a:schemeClr val="accent3">
                  <a:lumMod val="75000"/>
                </a:schemeClr>
              </a:solidFill>
              <a:latin typeface="+mj-lt"/>
              <a:ea typeface="楷体" panose="02010609060101010101" pitchFamily="49" charset="-122"/>
            </a:endParaRPr>
          </a:p>
          <a:p>
            <a:pPr marL="342900" indent="-342900">
              <a:buFont typeface="Arial" panose="020B0604020202020204" pitchFamily="34" charset="0"/>
              <a:buChar char="•"/>
            </a:pPr>
            <a:r>
              <a:rPr lang="en-US" altLang="zh-CN" sz="2400" dirty="0" err="1">
                <a:latin typeface="+mj-lt"/>
                <a:ea typeface="楷体" panose="02010609060101010101" pitchFamily="49" charset="-122"/>
              </a:rPr>
              <a:t>Zweifel</a:t>
            </a:r>
            <a:r>
              <a:rPr lang="zh-CN" altLang="en-US" sz="2400" dirty="0">
                <a:latin typeface="+mj-lt"/>
                <a:ea typeface="楷体" panose="02010609060101010101" pitchFamily="49" charset="-122"/>
              </a:rPr>
              <a:t>只考虑了年长者和陪护者的投保和家庭护理决策，本文还考虑了二者的</a:t>
            </a:r>
            <a:r>
              <a:rPr lang="zh-CN" altLang="en-US" sz="2400" b="1" dirty="0">
                <a:latin typeface="+mj-lt"/>
                <a:ea typeface="楷体" panose="02010609060101010101" pitchFamily="49" charset="-122"/>
              </a:rPr>
              <a:t>储蓄决策</a:t>
            </a:r>
            <a:endParaRPr lang="en-US" altLang="zh-CN" sz="2400" b="1" dirty="0">
              <a:latin typeface="+mj-lt"/>
              <a:ea typeface="楷体" panose="02010609060101010101" pitchFamily="49" charset="-122"/>
            </a:endParaRPr>
          </a:p>
          <a:p>
            <a:pPr marL="342900" indent="-342900">
              <a:buFont typeface="Arial" panose="020B0604020202020204" pitchFamily="34" charset="0"/>
              <a:buChar char="•"/>
            </a:pPr>
            <a:r>
              <a:rPr lang="en-US" altLang="zh-CN" sz="2400" dirty="0" err="1">
                <a:latin typeface="+mj-lt"/>
                <a:ea typeface="楷体" panose="02010609060101010101" pitchFamily="49" charset="-122"/>
              </a:rPr>
              <a:t>Zwefel</a:t>
            </a:r>
            <a:r>
              <a:rPr lang="zh-CN" altLang="en-US" sz="2400" dirty="0">
                <a:latin typeface="+mj-lt"/>
                <a:ea typeface="楷体" panose="02010609060101010101" pitchFamily="49" charset="-122"/>
              </a:rPr>
              <a:t>只是从理论上假设投保人的效用函数，而本文将</a:t>
            </a:r>
            <a:r>
              <a:rPr lang="zh-CN" altLang="en-US" sz="2400" b="1" dirty="0">
                <a:latin typeface="+mj-lt"/>
                <a:ea typeface="楷体" panose="02010609060101010101" pitchFamily="49" charset="-122"/>
              </a:rPr>
              <a:t>具体的效用函数</a:t>
            </a:r>
            <a:r>
              <a:rPr lang="zh-CN" altLang="en-US" sz="2400" dirty="0">
                <a:latin typeface="+mj-lt"/>
                <a:ea typeface="楷体" panose="02010609060101010101" pitchFamily="49" charset="-122"/>
              </a:rPr>
              <a:t>表达式代入模型</a:t>
            </a:r>
            <a:endParaRPr lang="en-US" altLang="zh-CN" sz="2400" dirty="0">
              <a:latin typeface="+mj-lt"/>
              <a:ea typeface="楷体" panose="02010609060101010101" pitchFamily="49" charset="-122"/>
            </a:endParaRPr>
          </a:p>
          <a:p>
            <a:pPr marL="342900" indent="-342900">
              <a:buFont typeface="Arial" panose="020B0604020202020204" pitchFamily="34" charset="0"/>
              <a:buChar char="•"/>
            </a:pPr>
            <a:r>
              <a:rPr lang="zh-CN" altLang="en-US" sz="2400" dirty="0">
                <a:latin typeface="+mj-lt"/>
                <a:ea typeface="楷体" panose="02010609060101010101" pitchFamily="49" charset="-122"/>
              </a:rPr>
              <a:t>基于</a:t>
            </a:r>
            <a:r>
              <a:rPr lang="zh-CN" altLang="en-US" sz="2400" b="1" dirty="0">
                <a:latin typeface="+mj-lt"/>
                <a:ea typeface="楷体" panose="02010609060101010101" pitchFamily="49" charset="-122"/>
              </a:rPr>
              <a:t>中国数据</a:t>
            </a:r>
            <a:r>
              <a:rPr lang="zh-CN" altLang="en-US" sz="2400" dirty="0">
                <a:latin typeface="+mj-lt"/>
                <a:ea typeface="楷体" panose="02010609060101010101" pitchFamily="49" charset="-122"/>
              </a:rPr>
              <a:t>对模型求解结果进行实证分析和敏感性分析</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理论模型</a:t>
            </a:r>
          </a:p>
        </p:txBody>
      </p:sp>
      <p:sp>
        <p:nvSpPr>
          <p:cNvPr id="34" name="Freeform 4"/>
          <p:cNvSpPr>
            <a:spLocks noChangeAspect="1"/>
          </p:cNvSpPr>
          <p:nvPr/>
        </p:nvSpPr>
        <p:spPr bwMode="auto">
          <a:xfrm>
            <a:off x="5244122" y="4116945"/>
            <a:ext cx="966345" cy="1775589"/>
          </a:xfrm>
          <a:custGeom>
            <a:avLst/>
            <a:gdLst>
              <a:gd name="T0" fmla="*/ 165 w 1384"/>
              <a:gd name="T1" fmla="*/ 636 h 2543"/>
              <a:gd name="T2" fmla="*/ 230 w 1384"/>
              <a:gd name="T3" fmla="*/ 645 h 2543"/>
              <a:gd name="T4" fmla="*/ 291 w 1384"/>
              <a:gd name="T5" fmla="*/ 659 h 2543"/>
              <a:gd name="T6" fmla="*/ 351 w 1384"/>
              <a:gd name="T7" fmla="*/ 679 h 2543"/>
              <a:gd name="T8" fmla="*/ 421 w 1384"/>
              <a:gd name="T9" fmla="*/ 711 h 2543"/>
              <a:gd name="T10" fmla="*/ 486 w 1384"/>
              <a:gd name="T11" fmla="*/ 753 h 2543"/>
              <a:gd name="T12" fmla="*/ 547 w 1384"/>
              <a:gd name="T13" fmla="*/ 801 h 2543"/>
              <a:gd name="T14" fmla="*/ 590 w 1384"/>
              <a:gd name="T15" fmla="*/ 844 h 2543"/>
              <a:gd name="T16" fmla="*/ 646 w 1384"/>
              <a:gd name="T17" fmla="*/ 917 h 2543"/>
              <a:gd name="T18" fmla="*/ 679 w 1384"/>
              <a:gd name="T19" fmla="*/ 969 h 2543"/>
              <a:gd name="T20" fmla="*/ 706 w 1384"/>
              <a:gd name="T21" fmla="*/ 1024 h 2543"/>
              <a:gd name="T22" fmla="*/ 727 w 1384"/>
              <a:gd name="T23" fmla="*/ 1084 h 2543"/>
              <a:gd name="T24" fmla="*/ 743 w 1384"/>
              <a:gd name="T25" fmla="*/ 1145 h 2543"/>
              <a:gd name="T26" fmla="*/ 752 w 1384"/>
              <a:gd name="T27" fmla="*/ 1209 h 2543"/>
              <a:gd name="T28" fmla="*/ 756 w 1384"/>
              <a:gd name="T29" fmla="*/ 1274 h 2543"/>
              <a:gd name="T30" fmla="*/ 753 w 1384"/>
              <a:gd name="T31" fmla="*/ 1331 h 2543"/>
              <a:gd name="T32" fmla="*/ 740 w 1384"/>
              <a:gd name="T33" fmla="*/ 1415 h 2543"/>
              <a:gd name="T34" fmla="*/ 716 w 1384"/>
              <a:gd name="T35" fmla="*/ 1494 h 2543"/>
              <a:gd name="T36" fmla="*/ 683 w 1384"/>
              <a:gd name="T37" fmla="*/ 1570 h 2543"/>
              <a:gd name="T38" fmla="*/ 624 w 1384"/>
              <a:gd name="T39" fmla="*/ 1661 h 2543"/>
              <a:gd name="T40" fmla="*/ 590 w 1384"/>
              <a:gd name="T41" fmla="*/ 1703 h 2543"/>
              <a:gd name="T42" fmla="*/ 532 w 1384"/>
              <a:gd name="T43" fmla="*/ 1759 h 2543"/>
              <a:gd name="T44" fmla="*/ 456 w 1384"/>
              <a:gd name="T45" fmla="*/ 1815 h 2543"/>
              <a:gd name="T46" fmla="*/ 372 w 1384"/>
              <a:gd name="T47" fmla="*/ 1860 h 2543"/>
              <a:gd name="T48" fmla="*/ 280 w 1384"/>
              <a:gd name="T49" fmla="*/ 1892 h 2543"/>
              <a:gd name="T50" fmla="*/ 0 w 1384"/>
              <a:gd name="T51" fmla="*/ 2230 h 2543"/>
              <a:gd name="T52" fmla="*/ 333 w 1384"/>
              <a:gd name="T53" fmla="*/ 2531 h 2543"/>
              <a:gd name="T54" fmla="*/ 449 w 1384"/>
              <a:gd name="T55" fmla="*/ 2505 h 2543"/>
              <a:gd name="T56" fmla="*/ 560 w 1384"/>
              <a:gd name="T57" fmla="*/ 2468 h 2543"/>
              <a:gd name="T58" fmla="*/ 666 w 1384"/>
              <a:gd name="T59" fmla="*/ 2422 h 2543"/>
              <a:gd name="T60" fmla="*/ 768 w 1384"/>
              <a:gd name="T61" fmla="*/ 2367 h 2543"/>
              <a:gd name="T62" fmla="*/ 864 w 1384"/>
              <a:gd name="T63" fmla="*/ 2302 h 2543"/>
              <a:gd name="T64" fmla="*/ 952 w 1384"/>
              <a:gd name="T65" fmla="*/ 2231 h 2543"/>
              <a:gd name="T66" fmla="*/ 1035 w 1384"/>
              <a:gd name="T67" fmla="*/ 2151 h 2543"/>
              <a:gd name="T68" fmla="*/ 1110 w 1384"/>
              <a:gd name="T69" fmla="*/ 2065 h 2543"/>
              <a:gd name="T70" fmla="*/ 1177 w 1384"/>
              <a:gd name="T71" fmla="*/ 1971 h 2543"/>
              <a:gd name="T72" fmla="*/ 1235 w 1384"/>
              <a:gd name="T73" fmla="*/ 1872 h 2543"/>
              <a:gd name="T74" fmla="*/ 1285 w 1384"/>
              <a:gd name="T75" fmla="*/ 1767 h 2543"/>
              <a:gd name="T76" fmla="*/ 1326 w 1384"/>
              <a:gd name="T77" fmla="*/ 1657 h 2543"/>
              <a:gd name="T78" fmla="*/ 1356 w 1384"/>
              <a:gd name="T79" fmla="*/ 1544 h 2543"/>
              <a:gd name="T80" fmla="*/ 1375 w 1384"/>
              <a:gd name="T81" fmla="*/ 1426 h 2543"/>
              <a:gd name="T82" fmla="*/ 1384 w 1384"/>
              <a:gd name="T83" fmla="*/ 1304 h 2543"/>
              <a:gd name="T84" fmla="*/ 1380 w 1384"/>
              <a:gd name="T85" fmla="*/ 1175 h 2543"/>
              <a:gd name="T86" fmla="*/ 1364 w 1384"/>
              <a:gd name="T87" fmla="*/ 1048 h 2543"/>
              <a:gd name="T88" fmla="*/ 1336 w 1384"/>
              <a:gd name="T89" fmla="*/ 925 h 2543"/>
              <a:gd name="T90" fmla="*/ 1295 w 1384"/>
              <a:gd name="T91" fmla="*/ 806 h 2543"/>
              <a:gd name="T92" fmla="*/ 1244 w 1384"/>
              <a:gd name="T93" fmla="*/ 693 h 2543"/>
              <a:gd name="T94" fmla="*/ 1182 w 1384"/>
              <a:gd name="T95" fmla="*/ 587 h 2543"/>
              <a:gd name="T96" fmla="*/ 1110 w 1384"/>
              <a:gd name="T97" fmla="*/ 487 h 2543"/>
              <a:gd name="T98" fmla="*/ 1030 w 1384"/>
              <a:gd name="T99" fmla="*/ 394 h 2543"/>
              <a:gd name="T100" fmla="*/ 941 w 1384"/>
              <a:gd name="T101" fmla="*/ 310 h 2543"/>
              <a:gd name="T102" fmla="*/ 845 w 1384"/>
              <a:gd name="T103" fmla="*/ 234 h 2543"/>
              <a:gd name="T104" fmla="*/ 741 w 1384"/>
              <a:gd name="T105" fmla="*/ 168 h 2543"/>
              <a:gd name="T106" fmla="*/ 630 w 1384"/>
              <a:gd name="T107" fmla="*/ 112 h 2543"/>
              <a:gd name="T108" fmla="*/ 515 w 1384"/>
              <a:gd name="T109" fmla="*/ 66 h 2543"/>
              <a:gd name="T110" fmla="*/ 394 w 1384"/>
              <a:gd name="T111" fmla="*/ 32 h 2543"/>
              <a:gd name="T112" fmla="*/ 268 w 1384"/>
              <a:gd name="T113" fmla="*/ 10 h 2543"/>
              <a:gd name="T114" fmla="*/ 138 w 1384"/>
              <a:gd name="T115" fmla="*/ 0 h 2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84" h="2543">
                <a:moveTo>
                  <a:pt x="114" y="635"/>
                </a:moveTo>
                <a:lnTo>
                  <a:pt x="117" y="635"/>
                </a:lnTo>
                <a:lnTo>
                  <a:pt x="149" y="635"/>
                </a:lnTo>
                <a:lnTo>
                  <a:pt x="165" y="636"/>
                </a:lnTo>
                <a:lnTo>
                  <a:pt x="181" y="638"/>
                </a:lnTo>
                <a:lnTo>
                  <a:pt x="198" y="640"/>
                </a:lnTo>
                <a:lnTo>
                  <a:pt x="214" y="642"/>
                </a:lnTo>
                <a:lnTo>
                  <a:pt x="230" y="645"/>
                </a:lnTo>
                <a:lnTo>
                  <a:pt x="246" y="648"/>
                </a:lnTo>
                <a:lnTo>
                  <a:pt x="261" y="651"/>
                </a:lnTo>
                <a:lnTo>
                  <a:pt x="276" y="655"/>
                </a:lnTo>
                <a:lnTo>
                  <a:pt x="291" y="659"/>
                </a:lnTo>
                <a:lnTo>
                  <a:pt x="306" y="663"/>
                </a:lnTo>
                <a:lnTo>
                  <a:pt x="321" y="668"/>
                </a:lnTo>
                <a:lnTo>
                  <a:pt x="336" y="673"/>
                </a:lnTo>
                <a:lnTo>
                  <a:pt x="351" y="679"/>
                </a:lnTo>
                <a:lnTo>
                  <a:pt x="366" y="685"/>
                </a:lnTo>
                <a:lnTo>
                  <a:pt x="380" y="691"/>
                </a:lnTo>
                <a:lnTo>
                  <a:pt x="394" y="697"/>
                </a:lnTo>
                <a:lnTo>
                  <a:pt x="421" y="711"/>
                </a:lnTo>
                <a:lnTo>
                  <a:pt x="448" y="728"/>
                </a:lnTo>
                <a:lnTo>
                  <a:pt x="461" y="736"/>
                </a:lnTo>
                <a:lnTo>
                  <a:pt x="474" y="744"/>
                </a:lnTo>
                <a:lnTo>
                  <a:pt x="486" y="753"/>
                </a:lnTo>
                <a:lnTo>
                  <a:pt x="498" y="762"/>
                </a:lnTo>
                <a:lnTo>
                  <a:pt x="512" y="771"/>
                </a:lnTo>
                <a:lnTo>
                  <a:pt x="523" y="781"/>
                </a:lnTo>
                <a:lnTo>
                  <a:pt x="547" y="801"/>
                </a:lnTo>
                <a:lnTo>
                  <a:pt x="558" y="811"/>
                </a:lnTo>
                <a:lnTo>
                  <a:pt x="569" y="822"/>
                </a:lnTo>
                <a:lnTo>
                  <a:pt x="579" y="833"/>
                </a:lnTo>
                <a:lnTo>
                  <a:pt x="590" y="844"/>
                </a:lnTo>
                <a:lnTo>
                  <a:pt x="610" y="867"/>
                </a:lnTo>
                <a:lnTo>
                  <a:pt x="619" y="880"/>
                </a:lnTo>
                <a:lnTo>
                  <a:pt x="628" y="892"/>
                </a:lnTo>
                <a:lnTo>
                  <a:pt x="646" y="917"/>
                </a:lnTo>
                <a:lnTo>
                  <a:pt x="655" y="929"/>
                </a:lnTo>
                <a:lnTo>
                  <a:pt x="663" y="942"/>
                </a:lnTo>
                <a:lnTo>
                  <a:pt x="671" y="956"/>
                </a:lnTo>
                <a:lnTo>
                  <a:pt x="679" y="969"/>
                </a:lnTo>
                <a:lnTo>
                  <a:pt x="686" y="983"/>
                </a:lnTo>
                <a:lnTo>
                  <a:pt x="693" y="996"/>
                </a:lnTo>
                <a:lnTo>
                  <a:pt x="699" y="1010"/>
                </a:lnTo>
                <a:lnTo>
                  <a:pt x="706" y="1024"/>
                </a:lnTo>
                <a:lnTo>
                  <a:pt x="712" y="1040"/>
                </a:lnTo>
                <a:lnTo>
                  <a:pt x="717" y="1054"/>
                </a:lnTo>
                <a:lnTo>
                  <a:pt x="722" y="1069"/>
                </a:lnTo>
                <a:lnTo>
                  <a:pt x="727" y="1084"/>
                </a:lnTo>
                <a:lnTo>
                  <a:pt x="731" y="1099"/>
                </a:lnTo>
                <a:lnTo>
                  <a:pt x="736" y="1114"/>
                </a:lnTo>
                <a:lnTo>
                  <a:pt x="739" y="1129"/>
                </a:lnTo>
                <a:lnTo>
                  <a:pt x="743" y="1145"/>
                </a:lnTo>
                <a:lnTo>
                  <a:pt x="746" y="1160"/>
                </a:lnTo>
                <a:lnTo>
                  <a:pt x="748" y="1176"/>
                </a:lnTo>
                <a:lnTo>
                  <a:pt x="750" y="1192"/>
                </a:lnTo>
                <a:lnTo>
                  <a:pt x="752" y="1209"/>
                </a:lnTo>
                <a:lnTo>
                  <a:pt x="754" y="1225"/>
                </a:lnTo>
                <a:lnTo>
                  <a:pt x="755" y="1241"/>
                </a:lnTo>
                <a:lnTo>
                  <a:pt x="755" y="1257"/>
                </a:lnTo>
                <a:lnTo>
                  <a:pt x="756" y="1274"/>
                </a:lnTo>
                <a:lnTo>
                  <a:pt x="755" y="1288"/>
                </a:lnTo>
                <a:lnTo>
                  <a:pt x="755" y="1302"/>
                </a:lnTo>
                <a:lnTo>
                  <a:pt x="754" y="1317"/>
                </a:lnTo>
                <a:lnTo>
                  <a:pt x="753" y="1331"/>
                </a:lnTo>
                <a:lnTo>
                  <a:pt x="752" y="1345"/>
                </a:lnTo>
                <a:lnTo>
                  <a:pt x="750" y="1360"/>
                </a:lnTo>
                <a:lnTo>
                  <a:pt x="746" y="1388"/>
                </a:lnTo>
                <a:lnTo>
                  <a:pt x="740" y="1415"/>
                </a:lnTo>
                <a:lnTo>
                  <a:pt x="733" y="1442"/>
                </a:lnTo>
                <a:lnTo>
                  <a:pt x="725" y="1469"/>
                </a:lnTo>
                <a:lnTo>
                  <a:pt x="721" y="1482"/>
                </a:lnTo>
                <a:lnTo>
                  <a:pt x="716" y="1494"/>
                </a:lnTo>
                <a:lnTo>
                  <a:pt x="706" y="1521"/>
                </a:lnTo>
                <a:lnTo>
                  <a:pt x="695" y="1546"/>
                </a:lnTo>
                <a:lnTo>
                  <a:pt x="690" y="1558"/>
                </a:lnTo>
                <a:lnTo>
                  <a:pt x="683" y="1570"/>
                </a:lnTo>
                <a:lnTo>
                  <a:pt x="670" y="1594"/>
                </a:lnTo>
                <a:lnTo>
                  <a:pt x="655" y="1617"/>
                </a:lnTo>
                <a:lnTo>
                  <a:pt x="640" y="1639"/>
                </a:lnTo>
                <a:lnTo>
                  <a:pt x="624" y="1661"/>
                </a:lnTo>
                <a:lnTo>
                  <a:pt x="616" y="1672"/>
                </a:lnTo>
                <a:lnTo>
                  <a:pt x="608" y="1683"/>
                </a:lnTo>
                <a:lnTo>
                  <a:pt x="599" y="1693"/>
                </a:lnTo>
                <a:lnTo>
                  <a:pt x="590" y="1703"/>
                </a:lnTo>
                <a:lnTo>
                  <a:pt x="581" y="1713"/>
                </a:lnTo>
                <a:lnTo>
                  <a:pt x="572" y="1723"/>
                </a:lnTo>
                <a:lnTo>
                  <a:pt x="552" y="1741"/>
                </a:lnTo>
                <a:lnTo>
                  <a:pt x="532" y="1759"/>
                </a:lnTo>
                <a:lnTo>
                  <a:pt x="512" y="1776"/>
                </a:lnTo>
                <a:lnTo>
                  <a:pt x="489" y="1793"/>
                </a:lnTo>
                <a:lnTo>
                  <a:pt x="467" y="1808"/>
                </a:lnTo>
                <a:lnTo>
                  <a:pt x="456" y="1815"/>
                </a:lnTo>
                <a:lnTo>
                  <a:pt x="444" y="1822"/>
                </a:lnTo>
                <a:lnTo>
                  <a:pt x="421" y="1837"/>
                </a:lnTo>
                <a:lnTo>
                  <a:pt x="396" y="1849"/>
                </a:lnTo>
                <a:lnTo>
                  <a:pt x="372" y="1860"/>
                </a:lnTo>
                <a:lnTo>
                  <a:pt x="346" y="1871"/>
                </a:lnTo>
                <a:lnTo>
                  <a:pt x="320" y="1880"/>
                </a:lnTo>
                <a:lnTo>
                  <a:pt x="294" y="1888"/>
                </a:lnTo>
                <a:lnTo>
                  <a:pt x="280" y="1892"/>
                </a:lnTo>
                <a:lnTo>
                  <a:pt x="267" y="1895"/>
                </a:lnTo>
                <a:lnTo>
                  <a:pt x="253" y="1898"/>
                </a:lnTo>
                <a:lnTo>
                  <a:pt x="240" y="1901"/>
                </a:lnTo>
                <a:lnTo>
                  <a:pt x="0" y="2230"/>
                </a:lnTo>
                <a:lnTo>
                  <a:pt x="244" y="2543"/>
                </a:lnTo>
                <a:lnTo>
                  <a:pt x="274" y="2540"/>
                </a:lnTo>
                <a:lnTo>
                  <a:pt x="304" y="2535"/>
                </a:lnTo>
                <a:lnTo>
                  <a:pt x="333" y="2531"/>
                </a:lnTo>
                <a:lnTo>
                  <a:pt x="363" y="2525"/>
                </a:lnTo>
                <a:lnTo>
                  <a:pt x="392" y="2519"/>
                </a:lnTo>
                <a:lnTo>
                  <a:pt x="420" y="2512"/>
                </a:lnTo>
                <a:lnTo>
                  <a:pt x="449" y="2505"/>
                </a:lnTo>
                <a:lnTo>
                  <a:pt x="477" y="2497"/>
                </a:lnTo>
                <a:lnTo>
                  <a:pt x="505" y="2488"/>
                </a:lnTo>
                <a:lnTo>
                  <a:pt x="533" y="2479"/>
                </a:lnTo>
                <a:lnTo>
                  <a:pt x="560" y="2468"/>
                </a:lnTo>
                <a:lnTo>
                  <a:pt x="587" y="2457"/>
                </a:lnTo>
                <a:lnTo>
                  <a:pt x="614" y="2446"/>
                </a:lnTo>
                <a:lnTo>
                  <a:pt x="640" y="2434"/>
                </a:lnTo>
                <a:lnTo>
                  <a:pt x="666" y="2422"/>
                </a:lnTo>
                <a:lnTo>
                  <a:pt x="693" y="2409"/>
                </a:lnTo>
                <a:lnTo>
                  <a:pt x="718" y="2395"/>
                </a:lnTo>
                <a:lnTo>
                  <a:pt x="743" y="2381"/>
                </a:lnTo>
                <a:lnTo>
                  <a:pt x="768" y="2367"/>
                </a:lnTo>
                <a:lnTo>
                  <a:pt x="792" y="2352"/>
                </a:lnTo>
                <a:lnTo>
                  <a:pt x="816" y="2336"/>
                </a:lnTo>
                <a:lnTo>
                  <a:pt x="841" y="2320"/>
                </a:lnTo>
                <a:lnTo>
                  <a:pt x="864" y="2302"/>
                </a:lnTo>
                <a:lnTo>
                  <a:pt x="887" y="2285"/>
                </a:lnTo>
                <a:lnTo>
                  <a:pt x="909" y="2268"/>
                </a:lnTo>
                <a:lnTo>
                  <a:pt x="931" y="2250"/>
                </a:lnTo>
                <a:lnTo>
                  <a:pt x="952" y="2231"/>
                </a:lnTo>
                <a:lnTo>
                  <a:pt x="973" y="2212"/>
                </a:lnTo>
                <a:lnTo>
                  <a:pt x="995" y="2192"/>
                </a:lnTo>
                <a:lnTo>
                  <a:pt x="1015" y="2172"/>
                </a:lnTo>
                <a:lnTo>
                  <a:pt x="1035" y="2151"/>
                </a:lnTo>
                <a:lnTo>
                  <a:pt x="1054" y="2130"/>
                </a:lnTo>
                <a:lnTo>
                  <a:pt x="1073" y="2109"/>
                </a:lnTo>
                <a:lnTo>
                  <a:pt x="1092" y="2087"/>
                </a:lnTo>
                <a:lnTo>
                  <a:pt x="1110" y="2065"/>
                </a:lnTo>
                <a:lnTo>
                  <a:pt x="1127" y="2042"/>
                </a:lnTo>
                <a:lnTo>
                  <a:pt x="1144" y="2019"/>
                </a:lnTo>
                <a:lnTo>
                  <a:pt x="1161" y="1996"/>
                </a:lnTo>
                <a:lnTo>
                  <a:pt x="1177" y="1971"/>
                </a:lnTo>
                <a:lnTo>
                  <a:pt x="1192" y="1947"/>
                </a:lnTo>
                <a:lnTo>
                  <a:pt x="1207" y="1922"/>
                </a:lnTo>
                <a:lnTo>
                  <a:pt x="1222" y="1898"/>
                </a:lnTo>
                <a:lnTo>
                  <a:pt x="1235" y="1872"/>
                </a:lnTo>
                <a:lnTo>
                  <a:pt x="1249" y="1847"/>
                </a:lnTo>
                <a:lnTo>
                  <a:pt x="1261" y="1820"/>
                </a:lnTo>
                <a:lnTo>
                  <a:pt x="1273" y="1794"/>
                </a:lnTo>
                <a:lnTo>
                  <a:pt x="1285" y="1767"/>
                </a:lnTo>
                <a:lnTo>
                  <a:pt x="1296" y="1741"/>
                </a:lnTo>
                <a:lnTo>
                  <a:pt x="1307" y="1714"/>
                </a:lnTo>
                <a:lnTo>
                  <a:pt x="1316" y="1686"/>
                </a:lnTo>
                <a:lnTo>
                  <a:pt x="1326" y="1657"/>
                </a:lnTo>
                <a:lnTo>
                  <a:pt x="1334" y="1630"/>
                </a:lnTo>
                <a:lnTo>
                  <a:pt x="1342" y="1601"/>
                </a:lnTo>
                <a:lnTo>
                  <a:pt x="1349" y="1573"/>
                </a:lnTo>
                <a:lnTo>
                  <a:pt x="1356" y="1544"/>
                </a:lnTo>
                <a:lnTo>
                  <a:pt x="1361" y="1515"/>
                </a:lnTo>
                <a:lnTo>
                  <a:pt x="1367" y="1485"/>
                </a:lnTo>
                <a:lnTo>
                  <a:pt x="1371" y="1456"/>
                </a:lnTo>
                <a:lnTo>
                  <a:pt x="1375" y="1426"/>
                </a:lnTo>
                <a:lnTo>
                  <a:pt x="1378" y="1396"/>
                </a:lnTo>
                <a:lnTo>
                  <a:pt x="1381" y="1366"/>
                </a:lnTo>
                <a:lnTo>
                  <a:pt x="1383" y="1335"/>
                </a:lnTo>
                <a:lnTo>
                  <a:pt x="1384" y="1304"/>
                </a:lnTo>
                <a:lnTo>
                  <a:pt x="1384" y="1274"/>
                </a:lnTo>
                <a:lnTo>
                  <a:pt x="1384" y="1241"/>
                </a:lnTo>
                <a:lnTo>
                  <a:pt x="1382" y="1208"/>
                </a:lnTo>
                <a:lnTo>
                  <a:pt x="1380" y="1175"/>
                </a:lnTo>
                <a:lnTo>
                  <a:pt x="1377" y="1143"/>
                </a:lnTo>
                <a:lnTo>
                  <a:pt x="1374" y="1111"/>
                </a:lnTo>
                <a:lnTo>
                  <a:pt x="1369" y="1080"/>
                </a:lnTo>
                <a:lnTo>
                  <a:pt x="1364" y="1048"/>
                </a:lnTo>
                <a:lnTo>
                  <a:pt x="1358" y="1016"/>
                </a:lnTo>
                <a:lnTo>
                  <a:pt x="1351" y="986"/>
                </a:lnTo>
                <a:lnTo>
                  <a:pt x="1344" y="955"/>
                </a:lnTo>
                <a:lnTo>
                  <a:pt x="1336" y="925"/>
                </a:lnTo>
                <a:lnTo>
                  <a:pt x="1327" y="895"/>
                </a:lnTo>
                <a:lnTo>
                  <a:pt x="1317" y="864"/>
                </a:lnTo>
                <a:lnTo>
                  <a:pt x="1307" y="835"/>
                </a:lnTo>
                <a:lnTo>
                  <a:pt x="1295" y="806"/>
                </a:lnTo>
                <a:lnTo>
                  <a:pt x="1283" y="778"/>
                </a:lnTo>
                <a:lnTo>
                  <a:pt x="1270" y="749"/>
                </a:lnTo>
                <a:lnTo>
                  <a:pt x="1257" y="721"/>
                </a:lnTo>
                <a:lnTo>
                  <a:pt x="1244" y="693"/>
                </a:lnTo>
                <a:lnTo>
                  <a:pt x="1229" y="666"/>
                </a:lnTo>
                <a:lnTo>
                  <a:pt x="1214" y="639"/>
                </a:lnTo>
                <a:lnTo>
                  <a:pt x="1199" y="613"/>
                </a:lnTo>
                <a:lnTo>
                  <a:pt x="1182" y="587"/>
                </a:lnTo>
                <a:lnTo>
                  <a:pt x="1165" y="561"/>
                </a:lnTo>
                <a:lnTo>
                  <a:pt x="1148" y="535"/>
                </a:lnTo>
                <a:lnTo>
                  <a:pt x="1129" y="511"/>
                </a:lnTo>
                <a:lnTo>
                  <a:pt x="1110" y="487"/>
                </a:lnTo>
                <a:lnTo>
                  <a:pt x="1091" y="463"/>
                </a:lnTo>
                <a:lnTo>
                  <a:pt x="1071" y="440"/>
                </a:lnTo>
                <a:lnTo>
                  <a:pt x="1051" y="417"/>
                </a:lnTo>
                <a:lnTo>
                  <a:pt x="1030" y="394"/>
                </a:lnTo>
                <a:lnTo>
                  <a:pt x="1009" y="372"/>
                </a:lnTo>
                <a:lnTo>
                  <a:pt x="987" y="351"/>
                </a:lnTo>
                <a:lnTo>
                  <a:pt x="964" y="330"/>
                </a:lnTo>
                <a:lnTo>
                  <a:pt x="941" y="310"/>
                </a:lnTo>
                <a:lnTo>
                  <a:pt x="918" y="290"/>
                </a:lnTo>
                <a:lnTo>
                  <a:pt x="894" y="271"/>
                </a:lnTo>
                <a:lnTo>
                  <a:pt x="870" y="253"/>
                </a:lnTo>
                <a:lnTo>
                  <a:pt x="845" y="234"/>
                </a:lnTo>
                <a:lnTo>
                  <a:pt x="819" y="217"/>
                </a:lnTo>
                <a:lnTo>
                  <a:pt x="793" y="200"/>
                </a:lnTo>
                <a:lnTo>
                  <a:pt x="767" y="184"/>
                </a:lnTo>
                <a:lnTo>
                  <a:pt x="741" y="168"/>
                </a:lnTo>
                <a:lnTo>
                  <a:pt x="714" y="153"/>
                </a:lnTo>
                <a:lnTo>
                  <a:pt x="687" y="139"/>
                </a:lnTo>
                <a:lnTo>
                  <a:pt x="658" y="125"/>
                </a:lnTo>
                <a:lnTo>
                  <a:pt x="630" y="112"/>
                </a:lnTo>
                <a:lnTo>
                  <a:pt x="602" y="100"/>
                </a:lnTo>
                <a:lnTo>
                  <a:pt x="573" y="88"/>
                </a:lnTo>
                <a:lnTo>
                  <a:pt x="544" y="76"/>
                </a:lnTo>
                <a:lnTo>
                  <a:pt x="515" y="66"/>
                </a:lnTo>
                <a:lnTo>
                  <a:pt x="484" y="56"/>
                </a:lnTo>
                <a:lnTo>
                  <a:pt x="454" y="48"/>
                </a:lnTo>
                <a:lnTo>
                  <a:pt x="424" y="39"/>
                </a:lnTo>
                <a:lnTo>
                  <a:pt x="394" y="32"/>
                </a:lnTo>
                <a:lnTo>
                  <a:pt x="363" y="25"/>
                </a:lnTo>
                <a:lnTo>
                  <a:pt x="331" y="19"/>
                </a:lnTo>
                <a:lnTo>
                  <a:pt x="299" y="14"/>
                </a:lnTo>
                <a:lnTo>
                  <a:pt x="268" y="10"/>
                </a:lnTo>
                <a:lnTo>
                  <a:pt x="236" y="6"/>
                </a:lnTo>
                <a:lnTo>
                  <a:pt x="204" y="3"/>
                </a:lnTo>
                <a:lnTo>
                  <a:pt x="170" y="1"/>
                </a:lnTo>
                <a:lnTo>
                  <a:pt x="138" y="0"/>
                </a:lnTo>
                <a:lnTo>
                  <a:pt x="105" y="0"/>
                </a:lnTo>
                <a:lnTo>
                  <a:pt x="340" y="337"/>
                </a:lnTo>
                <a:lnTo>
                  <a:pt x="114" y="635"/>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5" name="Freeform 5"/>
          <p:cNvSpPr>
            <a:spLocks noChangeAspect="1"/>
          </p:cNvSpPr>
          <p:nvPr/>
        </p:nvSpPr>
        <p:spPr bwMode="auto">
          <a:xfrm>
            <a:off x="4429292" y="4122531"/>
            <a:ext cx="962854" cy="1775589"/>
          </a:xfrm>
          <a:custGeom>
            <a:avLst/>
            <a:gdLst>
              <a:gd name="T0" fmla="*/ 1218 w 1379"/>
              <a:gd name="T1" fmla="*/ 1901 h 2543"/>
              <a:gd name="T2" fmla="*/ 1155 w 1379"/>
              <a:gd name="T3" fmla="*/ 1892 h 2543"/>
              <a:gd name="T4" fmla="*/ 1095 w 1379"/>
              <a:gd name="T5" fmla="*/ 1877 h 2543"/>
              <a:gd name="T6" fmla="*/ 1038 w 1379"/>
              <a:gd name="T7" fmla="*/ 1856 h 2543"/>
              <a:gd name="T8" fmla="*/ 969 w 1379"/>
              <a:gd name="T9" fmla="*/ 1821 h 2543"/>
              <a:gd name="T10" fmla="*/ 918 w 1379"/>
              <a:gd name="T11" fmla="*/ 1789 h 2543"/>
              <a:gd name="T12" fmla="*/ 858 w 1379"/>
              <a:gd name="T13" fmla="*/ 1743 h 2543"/>
              <a:gd name="T14" fmla="*/ 805 w 1379"/>
              <a:gd name="T15" fmla="*/ 1690 h 2543"/>
              <a:gd name="T16" fmla="*/ 759 w 1379"/>
              <a:gd name="T17" fmla="*/ 1630 h 2543"/>
              <a:gd name="T18" fmla="*/ 720 w 1379"/>
              <a:gd name="T19" fmla="*/ 1566 h 2543"/>
              <a:gd name="T20" fmla="*/ 687 w 1379"/>
              <a:gd name="T21" fmla="*/ 1496 h 2543"/>
              <a:gd name="T22" fmla="*/ 668 w 1379"/>
              <a:gd name="T23" fmla="*/ 1438 h 2543"/>
              <a:gd name="T24" fmla="*/ 652 w 1379"/>
              <a:gd name="T25" fmla="*/ 1362 h 2543"/>
              <a:gd name="T26" fmla="*/ 645 w 1379"/>
              <a:gd name="T27" fmla="*/ 1282 h 2543"/>
              <a:gd name="T28" fmla="*/ 648 w 1379"/>
              <a:gd name="T29" fmla="*/ 1197 h 2543"/>
              <a:gd name="T30" fmla="*/ 659 w 1379"/>
              <a:gd name="T31" fmla="*/ 1129 h 2543"/>
              <a:gd name="T32" fmla="*/ 686 w 1379"/>
              <a:gd name="T33" fmla="*/ 1039 h 2543"/>
              <a:gd name="T34" fmla="*/ 725 w 1379"/>
              <a:gd name="T35" fmla="*/ 955 h 2543"/>
              <a:gd name="T36" fmla="*/ 768 w 1379"/>
              <a:gd name="T37" fmla="*/ 889 h 2543"/>
              <a:gd name="T38" fmla="*/ 836 w 1379"/>
              <a:gd name="T39" fmla="*/ 810 h 2543"/>
              <a:gd name="T40" fmla="*/ 906 w 1379"/>
              <a:gd name="T41" fmla="*/ 751 h 2543"/>
              <a:gd name="T42" fmla="*/ 971 w 1379"/>
              <a:gd name="T43" fmla="*/ 707 h 2543"/>
              <a:gd name="T44" fmla="*/ 1056 w 1379"/>
              <a:gd name="T45" fmla="*/ 668 h 2543"/>
              <a:gd name="T46" fmla="*/ 1132 w 1379"/>
              <a:gd name="T47" fmla="*/ 645 h 2543"/>
              <a:gd name="T48" fmla="*/ 1076 w 1379"/>
              <a:gd name="T49" fmla="*/ 7 h 2543"/>
              <a:gd name="T50" fmla="*/ 959 w 1379"/>
              <a:gd name="T51" fmla="*/ 31 h 2543"/>
              <a:gd name="T52" fmla="*/ 847 w 1379"/>
              <a:gd name="T53" fmla="*/ 65 h 2543"/>
              <a:gd name="T54" fmla="*/ 740 w 1379"/>
              <a:gd name="T55" fmla="*/ 109 h 2543"/>
              <a:gd name="T56" fmla="*/ 638 w 1379"/>
              <a:gd name="T57" fmla="*/ 162 h 2543"/>
              <a:gd name="T58" fmla="*/ 541 w 1379"/>
              <a:gd name="T59" fmla="*/ 223 h 2543"/>
              <a:gd name="T60" fmla="*/ 451 w 1379"/>
              <a:gd name="T61" fmla="*/ 294 h 2543"/>
              <a:gd name="T62" fmla="*/ 367 w 1379"/>
              <a:gd name="T63" fmla="*/ 371 h 2543"/>
              <a:gd name="T64" fmla="*/ 291 w 1379"/>
              <a:gd name="T65" fmla="*/ 456 h 2543"/>
              <a:gd name="T66" fmla="*/ 222 w 1379"/>
              <a:gd name="T67" fmla="*/ 546 h 2543"/>
              <a:gd name="T68" fmla="*/ 162 w 1379"/>
              <a:gd name="T69" fmla="*/ 644 h 2543"/>
              <a:gd name="T70" fmla="*/ 110 w 1379"/>
              <a:gd name="T71" fmla="*/ 747 h 2543"/>
              <a:gd name="T72" fmla="*/ 67 w 1379"/>
              <a:gd name="T73" fmla="*/ 855 h 2543"/>
              <a:gd name="T74" fmla="*/ 35 w 1379"/>
              <a:gd name="T75" fmla="*/ 968 h 2543"/>
              <a:gd name="T76" fmla="*/ 13 w 1379"/>
              <a:gd name="T77" fmla="*/ 1084 h 2543"/>
              <a:gd name="T78" fmla="*/ 2 w 1379"/>
              <a:gd name="T79" fmla="*/ 1205 h 2543"/>
              <a:gd name="T80" fmla="*/ 2 w 1379"/>
              <a:gd name="T81" fmla="*/ 1331 h 2543"/>
              <a:gd name="T82" fmla="*/ 15 w 1379"/>
              <a:gd name="T83" fmla="*/ 1459 h 2543"/>
              <a:gd name="T84" fmla="*/ 40 w 1379"/>
              <a:gd name="T85" fmla="*/ 1584 h 2543"/>
              <a:gd name="T86" fmla="*/ 77 w 1379"/>
              <a:gd name="T87" fmla="*/ 1704 h 2543"/>
              <a:gd name="T88" fmla="*/ 126 w 1379"/>
              <a:gd name="T89" fmla="*/ 1817 h 2543"/>
              <a:gd name="T90" fmla="*/ 185 w 1379"/>
              <a:gd name="T91" fmla="*/ 1926 h 2543"/>
              <a:gd name="T92" fmla="*/ 254 w 1379"/>
              <a:gd name="T93" fmla="*/ 2028 h 2543"/>
              <a:gd name="T94" fmla="*/ 332 w 1379"/>
              <a:gd name="T95" fmla="*/ 2122 h 2543"/>
              <a:gd name="T96" fmla="*/ 419 w 1379"/>
              <a:gd name="T97" fmla="*/ 2209 h 2543"/>
              <a:gd name="T98" fmla="*/ 512 w 1379"/>
              <a:gd name="T99" fmla="*/ 2287 h 2543"/>
              <a:gd name="T100" fmla="*/ 614 w 1379"/>
              <a:gd name="T101" fmla="*/ 2356 h 2543"/>
              <a:gd name="T102" fmla="*/ 723 w 1379"/>
              <a:gd name="T103" fmla="*/ 2415 h 2543"/>
              <a:gd name="T104" fmla="*/ 836 w 1379"/>
              <a:gd name="T105" fmla="*/ 2465 h 2543"/>
              <a:gd name="T106" fmla="*/ 956 w 1379"/>
              <a:gd name="T107" fmla="*/ 2502 h 2543"/>
              <a:gd name="T108" fmla="*/ 1081 w 1379"/>
              <a:gd name="T109" fmla="*/ 2528 h 2543"/>
              <a:gd name="T110" fmla="*/ 1209 w 1379"/>
              <a:gd name="T111" fmla="*/ 2541 h 2543"/>
              <a:gd name="T112" fmla="*/ 1266 w 1379"/>
              <a:gd name="T113" fmla="*/ 1904 h 2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79" h="2543">
                <a:moveTo>
                  <a:pt x="1266" y="1904"/>
                </a:moveTo>
                <a:lnTo>
                  <a:pt x="1250" y="1904"/>
                </a:lnTo>
                <a:lnTo>
                  <a:pt x="1234" y="1903"/>
                </a:lnTo>
                <a:lnTo>
                  <a:pt x="1218" y="1901"/>
                </a:lnTo>
                <a:lnTo>
                  <a:pt x="1202" y="1900"/>
                </a:lnTo>
                <a:lnTo>
                  <a:pt x="1186" y="1897"/>
                </a:lnTo>
                <a:lnTo>
                  <a:pt x="1170" y="1895"/>
                </a:lnTo>
                <a:lnTo>
                  <a:pt x="1155" y="1892"/>
                </a:lnTo>
                <a:lnTo>
                  <a:pt x="1140" y="1889"/>
                </a:lnTo>
                <a:lnTo>
                  <a:pt x="1125" y="1885"/>
                </a:lnTo>
                <a:lnTo>
                  <a:pt x="1110" y="1881"/>
                </a:lnTo>
                <a:lnTo>
                  <a:pt x="1095" y="1877"/>
                </a:lnTo>
                <a:lnTo>
                  <a:pt x="1081" y="1872"/>
                </a:lnTo>
                <a:lnTo>
                  <a:pt x="1066" y="1867"/>
                </a:lnTo>
                <a:lnTo>
                  <a:pt x="1052" y="1861"/>
                </a:lnTo>
                <a:lnTo>
                  <a:pt x="1038" y="1856"/>
                </a:lnTo>
                <a:lnTo>
                  <a:pt x="1023" y="1850"/>
                </a:lnTo>
                <a:lnTo>
                  <a:pt x="995" y="1837"/>
                </a:lnTo>
                <a:lnTo>
                  <a:pt x="982" y="1830"/>
                </a:lnTo>
                <a:lnTo>
                  <a:pt x="969" y="1821"/>
                </a:lnTo>
                <a:lnTo>
                  <a:pt x="956" y="1814"/>
                </a:lnTo>
                <a:lnTo>
                  <a:pt x="943" y="1806"/>
                </a:lnTo>
                <a:lnTo>
                  <a:pt x="930" y="1798"/>
                </a:lnTo>
                <a:lnTo>
                  <a:pt x="918" y="1789"/>
                </a:lnTo>
                <a:lnTo>
                  <a:pt x="894" y="1772"/>
                </a:lnTo>
                <a:lnTo>
                  <a:pt x="882" y="1762"/>
                </a:lnTo>
                <a:lnTo>
                  <a:pt x="869" y="1753"/>
                </a:lnTo>
                <a:lnTo>
                  <a:pt x="858" y="1743"/>
                </a:lnTo>
                <a:lnTo>
                  <a:pt x="847" y="1733"/>
                </a:lnTo>
                <a:lnTo>
                  <a:pt x="836" y="1722"/>
                </a:lnTo>
                <a:lnTo>
                  <a:pt x="826" y="1712"/>
                </a:lnTo>
                <a:lnTo>
                  <a:pt x="805" y="1690"/>
                </a:lnTo>
                <a:lnTo>
                  <a:pt x="795" y="1679"/>
                </a:lnTo>
                <a:lnTo>
                  <a:pt x="786" y="1667"/>
                </a:lnTo>
                <a:lnTo>
                  <a:pt x="768" y="1642"/>
                </a:lnTo>
                <a:lnTo>
                  <a:pt x="759" y="1630"/>
                </a:lnTo>
                <a:lnTo>
                  <a:pt x="750" y="1618"/>
                </a:lnTo>
                <a:lnTo>
                  <a:pt x="734" y="1592"/>
                </a:lnTo>
                <a:lnTo>
                  <a:pt x="727" y="1579"/>
                </a:lnTo>
                <a:lnTo>
                  <a:pt x="720" y="1566"/>
                </a:lnTo>
                <a:lnTo>
                  <a:pt x="705" y="1539"/>
                </a:lnTo>
                <a:lnTo>
                  <a:pt x="699" y="1525"/>
                </a:lnTo>
                <a:lnTo>
                  <a:pt x="693" y="1511"/>
                </a:lnTo>
                <a:lnTo>
                  <a:pt x="687" y="1496"/>
                </a:lnTo>
                <a:lnTo>
                  <a:pt x="682" y="1482"/>
                </a:lnTo>
                <a:lnTo>
                  <a:pt x="677" y="1467"/>
                </a:lnTo>
                <a:lnTo>
                  <a:pt x="672" y="1452"/>
                </a:lnTo>
                <a:lnTo>
                  <a:pt x="668" y="1438"/>
                </a:lnTo>
                <a:lnTo>
                  <a:pt x="664" y="1423"/>
                </a:lnTo>
                <a:lnTo>
                  <a:pt x="660" y="1408"/>
                </a:lnTo>
                <a:lnTo>
                  <a:pt x="657" y="1393"/>
                </a:lnTo>
                <a:lnTo>
                  <a:pt x="652" y="1362"/>
                </a:lnTo>
                <a:lnTo>
                  <a:pt x="648" y="1329"/>
                </a:lnTo>
                <a:lnTo>
                  <a:pt x="646" y="1314"/>
                </a:lnTo>
                <a:lnTo>
                  <a:pt x="645" y="1298"/>
                </a:lnTo>
                <a:lnTo>
                  <a:pt x="645" y="1282"/>
                </a:lnTo>
                <a:lnTo>
                  <a:pt x="645" y="1266"/>
                </a:lnTo>
                <a:lnTo>
                  <a:pt x="645" y="1238"/>
                </a:lnTo>
                <a:lnTo>
                  <a:pt x="647" y="1210"/>
                </a:lnTo>
                <a:lnTo>
                  <a:pt x="648" y="1197"/>
                </a:lnTo>
                <a:lnTo>
                  <a:pt x="650" y="1182"/>
                </a:lnTo>
                <a:lnTo>
                  <a:pt x="654" y="1155"/>
                </a:lnTo>
                <a:lnTo>
                  <a:pt x="656" y="1142"/>
                </a:lnTo>
                <a:lnTo>
                  <a:pt x="659" y="1129"/>
                </a:lnTo>
                <a:lnTo>
                  <a:pt x="665" y="1103"/>
                </a:lnTo>
                <a:lnTo>
                  <a:pt x="673" y="1077"/>
                </a:lnTo>
                <a:lnTo>
                  <a:pt x="681" y="1052"/>
                </a:lnTo>
                <a:lnTo>
                  <a:pt x="686" y="1039"/>
                </a:lnTo>
                <a:lnTo>
                  <a:pt x="690" y="1026"/>
                </a:lnTo>
                <a:lnTo>
                  <a:pt x="701" y="1002"/>
                </a:lnTo>
                <a:lnTo>
                  <a:pt x="712" y="978"/>
                </a:lnTo>
                <a:lnTo>
                  <a:pt x="725" y="955"/>
                </a:lnTo>
                <a:lnTo>
                  <a:pt x="739" y="932"/>
                </a:lnTo>
                <a:lnTo>
                  <a:pt x="753" y="910"/>
                </a:lnTo>
                <a:lnTo>
                  <a:pt x="760" y="900"/>
                </a:lnTo>
                <a:lnTo>
                  <a:pt x="768" y="889"/>
                </a:lnTo>
                <a:lnTo>
                  <a:pt x="783" y="867"/>
                </a:lnTo>
                <a:lnTo>
                  <a:pt x="800" y="847"/>
                </a:lnTo>
                <a:lnTo>
                  <a:pt x="817" y="828"/>
                </a:lnTo>
                <a:lnTo>
                  <a:pt x="836" y="810"/>
                </a:lnTo>
                <a:lnTo>
                  <a:pt x="854" y="792"/>
                </a:lnTo>
                <a:lnTo>
                  <a:pt x="874" y="775"/>
                </a:lnTo>
                <a:lnTo>
                  <a:pt x="895" y="759"/>
                </a:lnTo>
                <a:lnTo>
                  <a:pt x="906" y="751"/>
                </a:lnTo>
                <a:lnTo>
                  <a:pt x="916" y="743"/>
                </a:lnTo>
                <a:lnTo>
                  <a:pt x="938" y="729"/>
                </a:lnTo>
                <a:lnTo>
                  <a:pt x="960" y="715"/>
                </a:lnTo>
                <a:lnTo>
                  <a:pt x="971" y="707"/>
                </a:lnTo>
                <a:lnTo>
                  <a:pt x="983" y="701"/>
                </a:lnTo>
                <a:lnTo>
                  <a:pt x="1006" y="689"/>
                </a:lnTo>
                <a:lnTo>
                  <a:pt x="1030" y="678"/>
                </a:lnTo>
                <a:lnTo>
                  <a:pt x="1056" y="668"/>
                </a:lnTo>
                <a:lnTo>
                  <a:pt x="1068" y="664"/>
                </a:lnTo>
                <a:lnTo>
                  <a:pt x="1081" y="659"/>
                </a:lnTo>
                <a:lnTo>
                  <a:pt x="1106" y="651"/>
                </a:lnTo>
                <a:lnTo>
                  <a:pt x="1132" y="645"/>
                </a:lnTo>
                <a:lnTo>
                  <a:pt x="1379" y="313"/>
                </a:lnTo>
                <a:lnTo>
                  <a:pt x="1135" y="0"/>
                </a:lnTo>
                <a:lnTo>
                  <a:pt x="1105" y="3"/>
                </a:lnTo>
                <a:lnTo>
                  <a:pt x="1076" y="7"/>
                </a:lnTo>
                <a:lnTo>
                  <a:pt x="1046" y="12"/>
                </a:lnTo>
                <a:lnTo>
                  <a:pt x="1016" y="18"/>
                </a:lnTo>
                <a:lnTo>
                  <a:pt x="988" y="24"/>
                </a:lnTo>
                <a:lnTo>
                  <a:pt x="959" y="31"/>
                </a:lnTo>
                <a:lnTo>
                  <a:pt x="931" y="39"/>
                </a:lnTo>
                <a:lnTo>
                  <a:pt x="903" y="47"/>
                </a:lnTo>
                <a:lnTo>
                  <a:pt x="874" y="56"/>
                </a:lnTo>
                <a:lnTo>
                  <a:pt x="847" y="65"/>
                </a:lnTo>
                <a:lnTo>
                  <a:pt x="820" y="76"/>
                </a:lnTo>
                <a:lnTo>
                  <a:pt x="793" y="87"/>
                </a:lnTo>
                <a:lnTo>
                  <a:pt x="766" y="98"/>
                </a:lnTo>
                <a:lnTo>
                  <a:pt x="740" y="109"/>
                </a:lnTo>
                <a:lnTo>
                  <a:pt x="713" y="122"/>
                </a:lnTo>
                <a:lnTo>
                  <a:pt x="688" y="135"/>
                </a:lnTo>
                <a:lnTo>
                  <a:pt x="663" y="148"/>
                </a:lnTo>
                <a:lnTo>
                  <a:pt x="638" y="162"/>
                </a:lnTo>
                <a:lnTo>
                  <a:pt x="613" y="177"/>
                </a:lnTo>
                <a:lnTo>
                  <a:pt x="589" y="192"/>
                </a:lnTo>
                <a:lnTo>
                  <a:pt x="565" y="207"/>
                </a:lnTo>
                <a:lnTo>
                  <a:pt x="541" y="223"/>
                </a:lnTo>
                <a:lnTo>
                  <a:pt x="518" y="241"/>
                </a:lnTo>
                <a:lnTo>
                  <a:pt x="495" y="258"/>
                </a:lnTo>
                <a:lnTo>
                  <a:pt x="473" y="276"/>
                </a:lnTo>
                <a:lnTo>
                  <a:pt x="451" y="294"/>
                </a:lnTo>
                <a:lnTo>
                  <a:pt x="430" y="312"/>
                </a:lnTo>
                <a:lnTo>
                  <a:pt x="409" y="331"/>
                </a:lnTo>
                <a:lnTo>
                  <a:pt x="387" y="351"/>
                </a:lnTo>
                <a:lnTo>
                  <a:pt x="367" y="371"/>
                </a:lnTo>
                <a:lnTo>
                  <a:pt x="347" y="392"/>
                </a:lnTo>
                <a:lnTo>
                  <a:pt x="328" y="413"/>
                </a:lnTo>
                <a:lnTo>
                  <a:pt x="309" y="434"/>
                </a:lnTo>
                <a:lnTo>
                  <a:pt x="291" y="456"/>
                </a:lnTo>
                <a:lnTo>
                  <a:pt x="273" y="478"/>
                </a:lnTo>
                <a:lnTo>
                  <a:pt x="256" y="500"/>
                </a:lnTo>
                <a:lnTo>
                  <a:pt x="238" y="523"/>
                </a:lnTo>
                <a:lnTo>
                  <a:pt x="222" y="546"/>
                </a:lnTo>
                <a:lnTo>
                  <a:pt x="206" y="571"/>
                </a:lnTo>
                <a:lnTo>
                  <a:pt x="191" y="595"/>
                </a:lnTo>
                <a:lnTo>
                  <a:pt x="176" y="619"/>
                </a:lnTo>
                <a:lnTo>
                  <a:pt x="162" y="644"/>
                </a:lnTo>
                <a:lnTo>
                  <a:pt x="148" y="669"/>
                </a:lnTo>
                <a:lnTo>
                  <a:pt x="135" y="695"/>
                </a:lnTo>
                <a:lnTo>
                  <a:pt x="122" y="721"/>
                </a:lnTo>
                <a:lnTo>
                  <a:pt x="110" y="747"/>
                </a:lnTo>
                <a:lnTo>
                  <a:pt x="99" y="774"/>
                </a:lnTo>
                <a:lnTo>
                  <a:pt x="88" y="800"/>
                </a:lnTo>
                <a:lnTo>
                  <a:pt x="77" y="827"/>
                </a:lnTo>
                <a:lnTo>
                  <a:pt x="67" y="855"/>
                </a:lnTo>
                <a:lnTo>
                  <a:pt x="58" y="883"/>
                </a:lnTo>
                <a:lnTo>
                  <a:pt x="50" y="911"/>
                </a:lnTo>
                <a:lnTo>
                  <a:pt x="42" y="939"/>
                </a:lnTo>
                <a:lnTo>
                  <a:pt x="35" y="968"/>
                </a:lnTo>
                <a:lnTo>
                  <a:pt x="28" y="996"/>
                </a:lnTo>
                <a:lnTo>
                  <a:pt x="23" y="1025"/>
                </a:lnTo>
                <a:lnTo>
                  <a:pt x="17" y="1055"/>
                </a:lnTo>
                <a:lnTo>
                  <a:pt x="13" y="1084"/>
                </a:lnTo>
                <a:lnTo>
                  <a:pt x="9" y="1114"/>
                </a:lnTo>
                <a:lnTo>
                  <a:pt x="6" y="1144"/>
                </a:lnTo>
                <a:lnTo>
                  <a:pt x="3" y="1174"/>
                </a:lnTo>
                <a:lnTo>
                  <a:pt x="2" y="1205"/>
                </a:lnTo>
                <a:lnTo>
                  <a:pt x="0" y="1235"/>
                </a:lnTo>
                <a:lnTo>
                  <a:pt x="0" y="1266"/>
                </a:lnTo>
                <a:lnTo>
                  <a:pt x="1" y="1298"/>
                </a:lnTo>
                <a:lnTo>
                  <a:pt x="2" y="1331"/>
                </a:lnTo>
                <a:lnTo>
                  <a:pt x="4" y="1364"/>
                </a:lnTo>
                <a:lnTo>
                  <a:pt x="7" y="1396"/>
                </a:lnTo>
                <a:lnTo>
                  <a:pt x="10" y="1428"/>
                </a:lnTo>
                <a:lnTo>
                  <a:pt x="15" y="1459"/>
                </a:lnTo>
                <a:lnTo>
                  <a:pt x="20" y="1491"/>
                </a:lnTo>
                <a:lnTo>
                  <a:pt x="26" y="1523"/>
                </a:lnTo>
                <a:lnTo>
                  <a:pt x="33" y="1553"/>
                </a:lnTo>
                <a:lnTo>
                  <a:pt x="40" y="1584"/>
                </a:lnTo>
                <a:lnTo>
                  <a:pt x="48" y="1614"/>
                </a:lnTo>
                <a:lnTo>
                  <a:pt x="57" y="1644"/>
                </a:lnTo>
                <a:lnTo>
                  <a:pt x="67" y="1674"/>
                </a:lnTo>
                <a:lnTo>
                  <a:pt x="77" y="1704"/>
                </a:lnTo>
                <a:lnTo>
                  <a:pt x="89" y="1733"/>
                </a:lnTo>
                <a:lnTo>
                  <a:pt x="101" y="1761"/>
                </a:lnTo>
                <a:lnTo>
                  <a:pt x="113" y="1789"/>
                </a:lnTo>
                <a:lnTo>
                  <a:pt x="126" y="1817"/>
                </a:lnTo>
                <a:lnTo>
                  <a:pt x="140" y="1846"/>
                </a:lnTo>
                <a:lnTo>
                  <a:pt x="154" y="1873"/>
                </a:lnTo>
                <a:lnTo>
                  <a:pt x="169" y="1900"/>
                </a:lnTo>
                <a:lnTo>
                  <a:pt x="185" y="1926"/>
                </a:lnTo>
                <a:lnTo>
                  <a:pt x="201" y="1952"/>
                </a:lnTo>
                <a:lnTo>
                  <a:pt x="218" y="1977"/>
                </a:lnTo>
                <a:lnTo>
                  <a:pt x="235" y="2003"/>
                </a:lnTo>
                <a:lnTo>
                  <a:pt x="254" y="2028"/>
                </a:lnTo>
                <a:lnTo>
                  <a:pt x="273" y="2052"/>
                </a:lnTo>
                <a:lnTo>
                  <a:pt x="292" y="2076"/>
                </a:lnTo>
                <a:lnTo>
                  <a:pt x="311" y="2099"/>
                </a:lnTo>
                <a:lnTo>
                  <a:pt x="332" y="2122"/>
                </a:lnTo>
                <a:lnTo>
                  <a:pt x="352" y="2145"/>
                </a:lnTo>
                <a:lnTo>
                  <a:pt x="374" y="2167"/>
                </a:lnTo>
                <a:lnTo>
                  <a:pt x="395" y="2188"/>
                </a:lnTo>
                <a:lnTo>
                  <a:pt x="419" y="2209"/>
                </a:lnTo>
                <a:lnTo>
                  <a:pt x="441" y="2229"/>
                </a:lnTo>
                <a:lnTo>
                  <a:pt x="464" y="2249"/>
                </a:lnTo>
                <a:lnTo>
                  <a:pt x="488" y="2268"/>
                </a:lnTo>
                <a:lnTo>
                  <a:pt x="512" y="2287"/>
                </a:lnTo>
                <a:lnTo>
                  <a:pt x="537" y="2306"/>
                </a:lnTo>
                <a:lnTo>
                  <a:pt x="563" y="2323"/>
                </a:lnTo>
                <a:lnTo>
                  <a:pt x="588" y="2340"/>
                </a:lnTo>
                <a:lnTo>
                  <a:pt x="614" y="2356"/>
                </a:lnTo>
                <a:lnTo>
                  <a:pt x="641" y="2372"/>
                </a:lnTo>
                <a:lnTo>
                  <a:pt x="667" y="2387"/>
                </a:lnTo>
                <a:lnTo>
                  <a:pt x="694" y="2401"/>
                </a:lnTo>
                <a:lnTo>
                  <a:pt x="723" y="2415"/>
                </a:lnTo>
                <a:lnTo>
                  <a:pt x="751" y="2428"/>
                </a:lnTo>
                <a:lnTo>
                  <a:pt x="779" y="2441"/>
                </a:lnTo>
                <a:lnTo>
                  <a:pt x="808" y="2452"/>
                </a:lnTo>
                <a:lnTo>
                  <a:pt x="836" y="2465"/>
                </a:lnTo>
                <a:lnTo>
                  <a:pt x="866" y="2475"/>
                </a:lnTo>
                <a:lnTo>
                  <a:pt x="896" y="2485"/>
                </a:lnTo>
                <a:lnTo>
                  <a:pt x="926" y="2494"/>
                </a:lnTo>
                <a:lnTo>
                  <a:pt x="956" y="2502"/>
                </a:lnTo>
                <a:lnTo>
                  <a:pt x="987" y="2510"/>
                </a:lnTo>
                <a:lnTo>
                  <a:pt x="1017" y="2516"/>
                </a:lnTo>
                <a:lnTo>
                  <a:pt x="1049" y="2522"/>
                </a:lnTo>
                <a:lnTo>
                  <a:pt x="1081" y="2528"/>
                </a:lnTo>
                <a:lnTo>
                  <a:pt x="1112" y="2532"/>
                </a:lnTo>
                <a:lnTo>
                  <a:pt x="1144" y="2536"/>
                </a:lnTo>
                <a:lnTo>
                  <a:pt x="1176" y="2539"/>
                </a:lnTo>
                <a:lnTo>
                  <a:pt x="1209" y="2541"/>
                </a:lnTo>
                <a:lnTo>
                  <a:pt x="1241" y="2543"/>
                </a:lnTo>
                <a:lnTo>
                  <a:pt x="1274" y="2543"/>
                </a:lnTo>
                <a:lnTo>
                  <a:pt x="1039" y="2206"/>
                </a:lnTo>
                <a:lnTo>
                  <a:pt x="1266" y="1904"/>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 name="AutoShape 4"/>
          <p:cNvSpPr>
            <a:spLocks noChangeArrowheads="1"/>
          </p:cNvSpPr>
          <p:nvPr/>
        </p:nvSpPr>
        <p:spPr bwMode="auto">
          <a:xfrm>
            <a:off x="1056890" y="3451783"/>
            <a:ext cx="3595687" cy="3111500"/>
          </a:xfrm>
          <a:prstGeom prst="homePlate">
            <a:avLst>
              <a:gd name="adj" fmla="val 9347"/>
            </a:avLst>
          </a:prstGeom>
          <a:solidFill>
            <a:schemeClr val="bg1"/>
          </a:solidFill>
          <a:ln w="6350">
            <a:solidFill>
              <a:schemeClr val="tx1">
                <a:lumMod val="60000"/>
                <a:lumOff val="40000"/>
              </a:schemeClr>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a:p>
        </p:txBody>
      </p:sp>
      <p:sp>
        <p:nvSpPr>
          <p:cNvPr id="37" name="Rectangle 6"/>
          <p:cNvSpPr>
            <a:spLocks noChangeArrowheads="1"/>
          </p:cNvSpPr>
          <p:nvPr/>
        </p:nvSpPr>
        <p:spPr bwMode="auto">
          <a:xfrm>
            <a:off x="1055302" y="2919970"/>
            <a:ext cx="3303588" cy="438150"/>
          </a:xfrm>
          <a:prstGeom prst="rect">
            <a:avLst/>
          </a:prstGeom>
          <a:solidFill>
            <a:schemeClr val="accent1"/>
          </a:solidFill>
          <a:ln>
            <a:solidFill>
              <a:schemeClr val="accent1"/>
            </a:solidFill>
          </a:ln>
          <a:effectLst/>
        </p:spPr>
        <p:txBody>
          <a:bodyPr lIns="0" tIns="0" rIns="0" bIns="0" anchor="ctr">
            <a:spAutoFit/>
          </a:bodyPr>
          <a:lstStyle/>
          <a:p>
            <a:endParaRPr lang="zh-CN" altLang="en-US"/>
          </a:p>
        </p:txBody>
      </p:sp>
      <p:sp>
        <p:nvSpPr>
          <p:cNvPr id="38" name="AutoShape 8"/>
          <p:cNvSpPr>
            <a:spLocks noChangeArrowheads="1"/>
          </p:cNvSpPr>
          <p:nvPr/>
        </p:nvSpPr>
        <p:spPr bwMode="auto">
          <a:xfrm flipH="1">
            <a:off x="5997190" y="3451783"/>
            <a:ext cx="3595687" cy="3111500"/>
          </a:xfrm>
          <a:prstGeom prst="homePlate">
            <a:avLst>
              <a:gd name="adj" fmla="val 9347"/>
            </a:avLst>
          </a:prstGeom>
          <a:solidFill>
            <a:schemeClr val="bg1"/>
          </a:solidFill>
          <a:ln w="6350">
            <a:solidFill>
              <a:schemeClr val="tx1">
                <a:lumMod val="60000"/>
                <a:lumOff val="40000"/>
              </a:schemeClr>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a:p>
        </p:txBody>
      </p:sp>
      <p:sp>
        <p:nvSpPr>
          <p:cNvPr id="50" name="Rectangle 10"/>
          <p:cNvSpPr>
            <a:spLocks noChangeArrowheads="1"/>
          </p:cNvSpPr>
          <p:nvPr/>
        </p:nvSpPr>
        <p:spPr bwMode="auto">
          <a:xfrm flipH="1">
            <a:off x="6279765" y="2919970"/>
            <a:ext cx="3303587" cy="438150"/>
          </a:xfrm>
          <a:prstGeom prst="rect">
            <a:avLst/>
          </a:prstGeom>
          <a:solidFill>
            <a:schemeClr val="accent1"/>
          </a:solidFill>
          <a:ln>
            <a:solidFill>
              <a:schemeClr val="accent1"/>
            </a:solidFill>
          </a:ln>
          <a:effectLst/>
        </p:spPr>
        <p:txBody>
          <a:bodyPr lIns="0" tIns="0" rIns="0" bIns="0" anchor="ctr">
            <a:spAutoFit/>
          </a:bodyPr>
          <a:lstStyle/>
          <a:p>
            <a:endParaRPr lang="zh-CN" altLang="en-US"/>
          </a:p>
        </p:txBody>
      </p:sp>
      <p:sp>
        <p:nvSpPr>
          <p:cNvPr id="59" name="文本框 58"/>
          <p:cNvSpPr txBox="1"/>
          <p:nvPr/>
        </p:nvSpPr>
        <p:spPr>
          <a:xfrm>
            <a:off x="1241528" y="3942910"/>
            <a:ext cx="2891991" cy="2123658"/>
          </a:xfrm>
          <a:prstGeom prst="rect">
            <a:avLst/>
          </a:prstGeom>
          <a:noFill/>
        </p:spPr>
        <p:txBody>
          <a:bodyPr wrap="square" rtlCol="0">
            <a:spAutoFit/>
          </a:bodyPr>
          <a:lstStyle/>
          <a:p>
            <a:pPr marL="342900" indent="-342900" algn="just">
              <a:lnSpc>
                <a:spcPct val="110000"/>
              </a:lnSpc>
              <a:buFont typeface="Wingdings" panose="05000000000000000000" pitchFamily="2" charset="2"/>
              <a:buChar char="ü"/>
            </a:pPr>
            <a:r>
              <a:rPr lang="zh-CN" altLang="en-US" sz="2400" dirty="0">
                <a:latin typeface="楷体" panose="02010609060101010101" pitchFamily="49" charset="-122"/>
                <a:ea typeface="楷体" panose="02010609060101010101" pitchFamily="49" charset="-122"/>
              </a:rPr>
              <a:t>二者基于</a:t>
            </a:r>
            <a:r>
              <a:rPr lang="zh-CN" altLang="en-US" sz="2400" b="1" dirty="0">
                <a:solidFill>
                  <a:schemeClr val="accent3">
                    <a:lumMod val="75000"/>
                  </a:schemeClr>
                </a:solidFill>
                <a:latin typeface="楷体" panose="02010609060101010101" pitchFamily="49" charset="-122"/>
                <a:ea typeface="楷体" panose="02010609060101010101" pitchFamily="49" charset="-122"/>
              </a:rPr>
              <a:t>纳什均衡同时</a:t>
            </a:r>
            <a:r>
              <a:rPr lang="zh-CN" altLang="en-US" sz="2400" dirty="0">
                <a:latin typeface="楷体" panose="02010609060101010101" pitchFamily="49" charset="-122"/>
                <a:ea typeface="楷体" panose="02010609060101010101" pitchFamily="49" charset="-122"/>
              </a:rPr>
              <a:t>做出决策</a:t>
            </a:r>
            <a:endParaRPr lang="en-US" altLang="zh-CN" sz="2400" dirty="0">
              <a:latin typeface="楷体" panose="02010609060101010101" pitchFamily="49" charset="-122"/>
              <a:ea typeface="楷体" panose="02010609060101010101" pitchFamily="49" charset="-122"/>
            </a:endParaRPr>
          </a:p>
          <a:p>
            <a:pPr algn="just">
              <a:lnSpc>
                <a:spcPct val="110000"/>
              </a:lnSpc>
            </a:pPr>
            <a:endParaRPr lang="en-US" altLang="zh-CN" sz="2400" dirty="0">
              <a:solidFill>
                <a:schemeClr val="tx1">
                  <a:lumMod val="60000"/>
                  <a:lumOff val="40000"/>
                </a:schemeClr>
              </a:solidFill>
              <a:latin typeface="楷体" panose="02010609060101010101" pitchFamily="49" charset="-122"/>
              <a:ea typeface="楷体" panose="02010609060101010101" pitchFamily="49" charset="-122"/>
              <a:cs typeface="Arial" panose="020B0604020202020204" pitchFamily="34" charset="0"/>
            </a:endParaRPr>
          </a:p>
          <a:p>
            <a:pPr marL="342900" indent="-342900" algn="just">
              <a:lnSpc>
                <a:spcPct val="110000"/>
              </a:lnSpc>
              <a:buFont typeface="Wingdings" panose="05000000000000000000" pitchFamily="2" charset="2"/>
              <a:buChar char="ü"/>
            </a:pPr>
            <a:r>
              <a:rPr lang="zh-CN" altLang="en-US" sz="2400" dirty="0">
                <a:latin typeface="楷体" panose="02010609060101010101" pitchFamily="49" charset="-122"/>
                <a:ea typeface="楷体" panose="02010609060101010101" pitchFamily="49" charset="-122"/>
              </a:rPr>
              <a:t>年长者和陪护者</a:t>
            </a:r>
            <a:r>
              <a:rPr lang="zh-CN" altLang="en-US" sz="2400" b="1" dirty="0">
                <a:solidFill>
                  <a:schemeClr val="accent3">
                    <a:lumMod val="75000"/>
                  </a:schemeClr>
                </a:solidFill>
                <a:latin typeface="楷体" panose="02010609060101010101" pitchFamily="49" charset="-122"/>
                <a:ea typeface="楷体" panose="02010609060101010101" pitchFamily="49" charset="-122"/>
              </a:rPr>
              <a:t>地位相同</a:t>
            </a:r>
            <a:endParaRPr lang="en-US" altLang="zh-CN" sz="2400" b="1" dirty="0">
              <a:solidFill>
                <a:schemeClr val="accent3">
                  <a:lumMod val="75000"/>
                </a:schemeClr>
              </a:solidFill>
              <a:latin typeface="楷体" panose="02010609060101010101" pitchFamily="49" charset="-122"/>
              <a:ea typeface="楷体" panose="02010609060101010101" pitchFamily="49" charset="-122"/>
            </a:endParaRPr>
          </a:p>
        </p:txBody>
      </p:sp>
      <p:sp>
        <p:nvSpPr>
          <p:cNvPr id="90" name="文本框 89"/>
          <p:cNvSpPr txBox="1"/>
          <p:nvPr/>
        </p:nvSpPr>
        <p:spPr>
          <a:xfrm>
            <a:off x="6411658" y="3796372"/>
            <a:ext cx="2980027" cy="2766911"/>
          </a:xfrm>
          <a:prstGeom prst="rect">
            <a:avLst/>
          </a:prstGeom>
          <a:noFill/>
        </p:spPr>
        <p:txBody>
          <a:bodyPr wrap="square" rtlCol="0">
            <a:spAutoFit/>
          </a:bodyPr>
          <a:lstStyle/>
          <a:p>
            <a:pPr marL="342900" lvl="0" indent="-342900" algn="just">
              <a:lnSpc>
                <a:spcPct val="110000"/>
              </a:lnSpc>
              <a:buFont typeface="Wingdings" panose="05000000000000000000" pitchFamily="2" charset="2"/>
              <a:buChar char="ü"/>
            </a:pPr>
            <a:r>
              <a:rPr lang="zh-CN" altLang="en-US" sz="2400" b="1" dirty="0">
                <a:solidFill>
                  <a:schemeClr val="accent3">
                    <a:lumMod val="75000"/>
                  </a:schemeClr>
                </a:solidFill>
                <a:latin typeface="楷体" panose="02010609060101010101" pitchFamily="49" charset="-122"/>
                <a:ea typeface="楷体" panose="02010609060101010101" pitchFamily="49" charset="-122"/>
              </a:rPr>
              <a:t>陪护者在年长者之后</a:t>
            </a:r>
            <a:r>
              <a:rPr lang="zh-CN" altLang="en-US" sz="2400" dirty="0">
                <a:latin typeface="楷体" panose="02010609060101010101" pitchFamily="49" charset="-122"/>
                <a:ea typeface="楷体" panose="02010609060101010101" pitchFamily="49" charset="-122"/>
              </a:rPr>
              <a:t>做出决策</a:t>
            </a:r>
            <a:endParaRPr lang="en-US" altLang="zh-CN" sz="2400" dirty="0">
              <a:latin typeface="楷体" panose="02010609060101010101" pitchFamily="49" charset="-122"/>
              <a:ea typeface="楷体" panose="02010609060101010101" pitchFamily="49" charset="-122"/>
            </a:endParaRPr>
          </a:p>
          <a:p>
            <a:pPr lvl="0" algn="just">
              <a:lnSpc>
                <a:spcPct val="110000"/>
              </a:lnSpc>
            </a:pPr>
            <a:endParaRPr lang="en-US" altLang="zh-CN" sz="2400" dirty="0">
              <a:latin typeface="楷体" panose="02010609060101010101" pitchFamily="49" charset="-122"/>
              <a:ea typeface="楷体" panose="02010609060101010101" pitchFamily="49" charset="-122"/>
            </a:endParaRPr>
          </a:p>
          <a:p>
            <a:pPr marL="342900" lvl="0" indent="-342900" algn="just">
              <a:lnSpc>
                <a:spcPct val="110000"/>
              </a:lnSpc>
              <a:buFont typeface="Wingdings" panose="05000000000000000000" pitchFamily="2" charset="2"/>
              <a:buChar char="ü"/>
            </a:pPr>
            <a:r>
              <a:rPr lang="zh-CN" altLang="en-US" sz="2400" dirty="0">
                <a:latin typeface="楷体" panose="02010609060101010101" pitchFamily="49" charset="-122"/>
                <a:ea typeface="楷体" panose="02010609060101010101" pitchFamily="49" charset="-122"/>
              </a:rPr>
              <a:t>年长者具体的决策方式会对陪护者的决策</a:t>
            </a:r>
            <a:r>
              <a:rPr lang="zh-CN" altLang="en-US" sz="2400" b="1" dirty="0">
                <a:solidFill>
                  <a:schemeClr val="accent3">
                    <a:lumMod val="75000"/>
                  </a:schemeClr>
                </a:solidFill>
                <a:latin typeface="楷体" panose="02010609060101010101" pitchFamily="49" charset="-122"/>
                <a:ea typeface="楷体" panose="02010609060101010101" pitchFamily="49" charset="-122"/>
              </a:rPr>
              <a:t>产生重要影响</a:t>
            </a:r>
          </a:p>
          <a:p>
            <a:pPr algn="just">
              <a:lnSpc>
                <a:spcPct val="110000"/>
              </a:lnSpc>
            </a:pPr>
            <a:r>
              <a:rPr lang="en-US" altLang="zh-CN" sz="1400" dirty="0">
                <a:solidFill>
                  <a:schemeClr val="tx1">
                    <a:lumMod val="60000"/>
                    <a:lumOff val="40000"/>
                  </a:schemeClr>
                </a:solidFill>
                <a:latin typeface="华文细黑" panose="02010600040101010101" pitchFamily="2" charset="-122"/>
                <a:ea typeface="华文细黑" panose="02010600040101010101" pitchFamily="2" charset="-122"/>
                <a:cs typeface="Arial" panose="020B0604020202020204" pitchFamily="34" charset="0"/>
              </a:rPr>
              <a:t>. </a:t>
            </a:r>
            <a:endParaRPr lang="zh-CN" altLang="en-US" sz="1400" dirty="0">
              <a:solidFill>
                <a:schemeClr val="tx1">
                  <a:lumMod val="60000"/>
                  <a:lumOff val="4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91" name="文本框 90"/>
          <p:cNvSpPr txBox="1"/>
          <p:nvPr/>
        </p:nvSpPr>
        <p:spPr>
          <a:xfrm>
            <a:off x="1900186" y="2896455"/>
            <a:ext cx="1434142" cy="461665"/>
          </a:xfrm>
          <a:prstGeom prst="rect">
            <a:avLst/>
          </a:prstGeom>
          <a:noFill/>
        </p:spPr>
        <p:txBody>
          <a:bodyPr wrap="square" rtlCol="0">
            <a:spAutoFit/>
          </a:bodyPr>
          <a:lstStyle/>
          <a:p>
            <a:r>
              <a:rPr lang="zh-CN" altLang="en-US" sz="2400" dirty="0">
                <a:solidFill>
                  <a:schemeClr val="bg1"/>
                </a:solidFill>
                <a:latin typeface="楷体" panose="02010609060101010101" pitchFamily="49" charset="-122"/>
                <a:ea typeface="楷体" panose="02010609060101010101" pitchFamily="49" charset="-122"/>
                <a:cs typeface="Arial" panose="020B0604020202020204" pitchFamily="34" charset="0"/>
              </a:rPr>
              <a:t>同时决策</a:t>
            </a:r>
            <a:endParaRPr lang="en-US" altLang="zh-CN" sz="2400" dirty="0">
              <a:solidFill>
                <a:schemeClr val="bg1"/>
              </a:solidFill>
              <a:latin typeface="楷体" panose="02010609060101010101" pitchFamily="49" charset="-122"/>
              <a:ea typeface="楷体" panose="02010609060101010101" pitchFamily="49" charset="-122"/>
              <a:cs typeface="Arial" panose="020B0604020202020204" pitchFamily="34" charset="0"/>
            </a:endParaRPr>
          </a:p>
        </p:txBody>
      </p:sp>
      <p:sp>
        <p:nvSpPr>
          <p:cNvPr id="97" name="文本框 96"/>
          <p:cNvSpPr txBox="1"/>
          <p:nvPr/>
        </p:nvSpPr>
        <p:spPr>
          <a:xfrm>
            <a:off x="7254663" y="2919343"/>
            <a:ext cx="1434142" cy="461665"/>
          </a:xfrm>
          <a:prstGeom prst="rect">
            <a:avLst/>
          </a:prstGeom>
          <a:noFill/>
        </p:spPr>
        <p:txBody>
          <a:bodyPr wrap="square" rtlCol="0">
            <a:spAutoFit/>
          </a:bodyPr>
          <a:lstStyle/>
          <a:p>
            <a:r>
              <a:rPr lang="zh-CN" altLang="en-US" sz="2400" dirty="0">
                <a:solidFill>
                  <a:schemeClr val="bg1"/>
                </a:solidFill>
                <a:latin typeface="楷体" panose="02010609060101010101" pitchFamily="49" charset="-122"/>
                <a:ea typeface="楷体" panose="02010609060101010101" pitchFamily="49" charset="-122"/>
                <a:cs typeface="Arial" panose="020B0604020202020204" pitchFamily="34" charset="0"/>
              </a:rPr>
              <a:t>先后决策</a:t>
            </a:r>
            <a:endParaRPr lang="en-US" altLang="zh-CN" sz="2400" dirty="0">
              <a:solidFill>
                <a:schemeClr val="bg1"/>
              </a:solidFill>
              <a:latin typeface="楷体" panose="02010609060101010101" pitchFamily="49" charset="-122"/>
              <a:ea typeface="楷体" panose="02010609060101010101" pitchFamily="49" charset="-122"/>
              <a:cs typeface="Arial" panose="020B0604020202020204" pitchFamily="34" charset="0"/>
            </a:endParaRPr>
          </a:p>
        </p:txBody>
      </p:sp>
      <p:sp>
        <p:nvSpPr>
          <p:cNvPr id="3" name="矩形 2"/>
          <p:cNvSpPr/>
          <p:nvPr/>
        </p:nvSpPr>
        <p:spPr>
          <a:xfrm>
            <a:off x="955107" y="1245006"/>
            <a:ext cx="9040332" cy="1477328"/>
          </a:xfrm>
          <a:prstGeom prst="rect">
            <a:avLst/>
          </a:prstGeom>
        </p:spPr>
        <p:txBody>
          <a:bodyPr wrap="square">
            <a:spAutoFit/>
          </a:bodyPr>
          <a:lstStyle/>
          <a:p>
            <a:pPr>
              <a:lnSpc>
                <a:spcPct val="150000"/>
              </a:lnSpc>
              <a:spcAft>
                <a:spcPts val="0"/>
              </a:spcAft>
            </a:pPr>
            <a:r>
              <a:rPr lang="zh-CN" altLang="zh-CN" sz="2000" b="1" kern="100" dirty="0">
                <a:solidFill>
                  <a:schemeClr val="accent3">
                    <a:lumMod val="75000"/>
                  </a:schemeClr>
                </a:solidFill>
                <a:latin typeface="Times New Roman" panose="02020603050405020304" pitchFamily="18" charset="0"/>
                <a:ea typeface="楷体" panose="02010609060101010101" pitchFamily="49" charset="-122"/>
              </a:rPr>
              <a:t>年长者和陪护者的两阶段决策模型</a:t>
            </a:r>
            <a:r>
              <a:rPr lang="zh-CN" altLang="en-US" sz="2000" kern="100" dirty="0">
                <a:latin typeface="Times New Roman" panose="02020603050405020304" pitchFamily="18" charset="0"/>
                <a:ea typeface="楷体" panose="02010609060101010101" pitchFamily="49" charset="-122"/>
              </a:rPr>
              <a:t>：</a:t>
            </a:r>
            <a:endParaRPr lang="en-US" altLang="zh-CN" sz="2000" kern="100" dirty="0">
              <a:latin typeface="Times New Roman" panose="02020603050405020304" pitchFamily="18" charset="0"/>
              <a:ea typeface="楷体" panose="02010609060101010101" pitchFamily="49" charset="-122"/>
            </a:endParaRPr>
          </a:p>
          <a:p>
            <a:pPr>
              <a:lnSpc>
                <a:spcPct val="150000"/>
              </a:lnSpc>
              <a:spcAft>
                <a:spcPts val="0"/>
              </a:spcAft>
            </a:pPr>
            <a:r>
              <a:rPr lang="en-US" altLang="zh-CN" sz="2000" kern="100" dirty="0">
                <a:latin typeface="Times New Roman" panose="02020603050405020304" pitchFamily="18" charset="0"/>
                <a:ea typeface="楷体" panose="02010609060101010101" pitchFamily="49" charset="-122"/>
              </a:rPr>
              <a:t>0</a:t>
            </a:r>
            <a:r>
              <a:rPr lang="zh-CN" altLang="zh-CN" sz="2000" kern="100" dirty="0">
                <a:latin typeface="Times New Roman" panose="02020603050405020304" pitchFamily="18" charset="0"/>
                <a:ea typeface="楷体" panose="02010609060101010101" pitchFamily="49" charset="-122"/>
              </a:rPr>
              <a:t>时刻，年长者和陪护者分别购买联合长期护理保险，并对各自的消费、储蓄、投保保额做出决策</a:t>
            </a:r>
            <a:r>
              <a:rPr lang="zh-CN" altLang="en-US" sz="2000" kern="100" dirty="0">
                <a:latin typeface="Times New Roman" panose="02020603050405020304" pitchFamily="18" charset="0"/>
                <a:ea typeface="楷体" panose="02010609060101010101" pitchFamily="49" charset="-122"/>
              </a:rPr>
              <a:t>。</a:t>
            </a:r>
            <a:r>
              <a:rPr lang="zh-CN" altLang="zh-CN" sz="2000" kern="100" dirty="0">
                <a:latin typeface="Times New Roman" panose="02020603050405020304" pitchFamily="18" charset="0"/>
                <a:ea typeface="楷体" panose="02010609060101010101" pitchFamily="49" charset="-122"/>
              </a:rPr>
              <a:t>此外陪护者还要对提供的家庭护理时间做出决策。</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同时决策</a:t>
            </a:r>
            <a:endParaRPr lang="zh-CN" altLang="en-US" dirty="0"/>
          </a:p>
        </p:txBody>
      </p:sp>
      <p:grpSp>
        <p:nvGrpSpPr>
          <p:cNvPr id="127" name="组合 126"/>
          <p:cNvGrpSpPr/>
          <p:nvPr/>
        </p:nvGrpSpPr>
        <p:grpSpPr>
          <a:xfrm>
            <a:off x="491927" y="2412718"/>
            <a:ext cx="919309" cy="2858582"/>
            <a:chOff x="11328108" y="3654177"/>
            <a:chExt cx="385617" cy="1199072"/>
          </a:xfrm>
        </p:grpSpPr>
        <p:sp>
          <p:nvSpPr>
            <p:cNvPr id="128" name="Rectangle 347"/>
            <p:cNvSpPr>
              <a:spLocks noChangeArrowheads="1"/>
            </p:cNvSpPr>
            <p:nvPr/>
          </p:nvSpPr>
          <p:spPr bwMode="auto">
            <a:xfrm>
              <a:off x="11480103" y="3946908"/>
              <a:ext cx="87257" cy="92887"/>
            </a:xfrm>
            <a:prstGeom prst="rect">
              <a:avLst/>
            </a:prstGeom>
            <a:solidFill>
              <a:srgbClr val="CF9E7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9" name="Freeform 348"/>
            <p:cNvSpPr/>
            <p:nvPr/>
          </p:nvSpPr>
          <p:spPr bwMode="auto">
            <a:xfrm>
              <a:off x="11392847" y="4332524"/>
              <a:ext cx="261770" cy="115404"/>
            </a:xfrm>
            <a:custGeom>
              <a:avLst/>
              <a:gdLst>
                <a:gd name="T0" fmla="*/ 88 w 93"/>
                <a:gd name="T1" fmla="*/ 41 h 41"/>
                <a:gd name="T2" fmla="*/ 5 w 93"/>
                <a:gd name="T3" fmla="*/ 41 h 41"/>
                <a:gd name="T4" fmla="*/ 0 w 93"/>
                <a:gd name="T5" fmla="*/ 0 h 41"/>
                <a:gd name="T6" fmla="*/ 93 w 93"/>
                <a:gd name="T7" fmla="*/ 0 h 41"/>
                <a:gd name="T8" fmla="*/ 88 w 93"/>
                <a:gd name="T9" fmla="*/ 41 h 41"/>
              </a:gdLst>
              <a:ahLst/>
              <a:cxnLst>
                <a:cxn ang="0">
                  <a:pos x="T0" y="T1"/>
                </a:cxn>
                <a:cxn ang="0">
                  <a:pos x="T2" y="T3"/>
                </a:cxn>
                <a:cxn ang="0">
                  <a:pos x="T4" y="T5"/>
                </a:cxn>
                <a:cxn ang="0">
                  <a:pos x="T6" y="T7"/>
                </a:cxn>
                <a:cxn ang="0">
                  <a:pos x="T8" y="T9"/>
                </a:cxn>
              </a:cxnLst>
              <a:rect l="0" t="0" r="r" b="b"/>
              <a:pathLst>
                <a:path w="93" h="41">
                  <a:moveTo>
                    <a:pt x="88" y="41"/>
                  </a:moveTo>
                  <a:lnTo>
                    <a:pt x="5" y="41"/>
                  </a:lnTo>
                  <a:lnTo>
                    <a:pt x="0" y="0"/>
                  </a:lnTo>
                  <a:lnTo>
                    <a:pt x="93" y="0"/>
                  </a:lnTo>
                  <a:lnTo>
                    <a:pt x="88" y="41"/>
                  </a:lnTo>
                  <a:close/>
                </a:path>
              </a:pathLst>
            </a:custGeom>
            <a:solidFill>
              <a:srgbClr val="3C151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349"/>
            <p:cNvSpPr/>
            <p:nvPr/>
          </p:nvSpPr>
          <p:spPr bwMode="auto">
            <a:xfrm>
              <a:off x="11401290" y="4332524"/>
              <a:ext cx="253325" cy="115404"/>
            </a:xfrm>
            <a:custGeom>
              <a:avLst/>
              <a:gdLst>
                <a:gd name="T0" fmla="*/ 3 w 38"/>
                <a:gd name="T1" fmla="*/ 0 h 17"/>
                <a:gd name="T2" fmla="*/ 28 w 38"/>
                <a:gd name="T3" fmla="*/ 3 h 17"/>
                <a:gd name="T4" fmla="*/ 32 w 38"/>
                <a:gd name="T5" fmla="*/ 12 h 17"/>
                <a:gd name="T6" fmla="*/ 12 w 38"/>
                <a:gd name="T7" fmla="*/ 13 h 17"/>
                <a:gd name="T8" fmla="*/ 0 w 38"/>
                <a:gd name="T9" fmla="*/ 10 h 17"/>
                <a:gd name="T10" fmla="*/ 1 w 38"/>
                <a:gd name="T11" fmla="*/ 17 h 17"/>
                <a:gd name="T12" fmla="*/ 36 w 38"/>
                <a:gd name="T13" fmla="*/ 17 h 17"/>
                <a:gd name="T14" fmla="*/ 38 w 38"/>
                <a:gd name="T15" fmla="*/ 0 h 17"/>
                <a:gd name="T16" fmla="*/ 3 w 38"/>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7">
                  <a:moveTo>
                    <a:pt x="3" y="0"/>
                  </a:moveTo>
                  <a:cubicBezTo>
                    <a:pt x="6" y="7"/>
                    <a:pt x="24" y="2"/>
                    <a:pt x="28" y="3"/>
                  </a:cubicBezTo>
                  <a:cubicBezTo>
                    <a:pt x="33" y="3"/>
                    <a:pt x="38" y="8"/>
                    <a:pt x="32" y="12"/>
                  </a:cubicBezTo>
                  <a:cubicBezTo>
                    <a:pt x="27" y="15"/>
                    <a:pt x="19" y="14"/>
                    <a:pt x="12" y="13"/>
                  </a:cubicBezTo>
                  <a:cubicBezTo>
                    <a:pt x="8" y="13"/>
                    <a:pt x="4" y="12"/>
                    <a:pt x="0" y="10"/>
                  </a:cubicBezTo>
                  <a:cubicBezTo>
                    <a:pt x="1" y="17"/>
                    <a:pt x="1" y="17"/>
                    <a:pt x="1" y="17"/>
                  </a:cubicBezTo>
                  <a:cubicBezTo>
                    <a:pt x="36" y="17"/>
                    <a:pt x="36" y="17"/>
                    <a:pt x="36" y="17"/>
                  </a:cubicBezTo>
                  <a:cubicBezTo>
                    <a:pt x="37" y="9"/>
                    <a:pt x="38" y="0"/>
                    <a:pt x="38" y="0"/>
                  </a:cubicBezTo>
                  <a:lnTo>
                    <a:pt x="3" y="0"/>
                  </a:lnTo>
                  <a:close/>
                </a:path>
              </a:pathLst>
            </a:custGeom>
            <a:solidFill>
              <a:srgbClr val="300B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350"/>
            <p:cNvSpPr/>
            <p:nvPr/>
          </p:nvSpPr>
          <p:spPr bwMode="auto">
            <a:xfrm>
              <a:off x="11406920" y="4447929"/>
              <a:ext cx="101330" cy="394061"/>
            </a:xfrm>
            <a:custGeom>
              <a:avLst/>
              <a:gdLst>
                <a:gd name="T0" fmla="*/ 21 w 36"/>
                <a:gd name="T1" fmla="*/ 130 h 140"/>
                <a:gd name="T2" fmla="*/ 0 w 36"/>
                <a:gd name="T3" fmla="*/ 0 h 140"/>
                <a:gd name="T4" fmla="*/ 33 w 36"/>
                <a:gd name="T5" fmla="*/ 0 h 140"/>
                <a:gd name="T6" fmla="*/ 36 w 36"/>
                <a:gd name="T7" fmla="*/ 140 h 140"/>
                <a:gd name="T8" fmla="*/ 21 w 36"/>
                <a:gd name="T9" fmla="*/ 130 h 140"/>
              </a:gdLst>
              <a:ahLst/>
              <a:cxnLst>
                <a:cxn ang="0">
                  <a:pos x="T0" y="T1"/>
                </a:cxn>
                <a:cxn ang="0">
                  <a:pos x="T2" y="T3"/>
                </a:cxn>
                <a:cxn ang="0">
                  <a:pos x="T4" y="T5"/>
                </a:cxn>
                <a:cxn ang="0">
                  <a:pos x="T6" y="T7"/>
                </a:cxn>
                <a:cxn ang="0">
                  <a:pos x="T8" y="T9"/>
                </a:cxn>
              </a:cxnLst>
              <a:rect l="0" t="0" r="r" b="b"/>
              <a:pathLst>
                <a:path w="36" h="140">
                  <a:moveTo>
                    <a:pt x="21" y="130"/>
                  </a:moveTo>
                  <a:lnTo>
                    <a:pt x="0" y="0"/>
                  </a:lnTo>
                  <a:lnTo>
                    <a:pt x="33" y="0"/>
                  </a:lnTo>
                  <a:lnTo>
                    <a:pt x="36" y="140"/>
                  </a:lnTo>
                  <a:lnTo>
                    <a:pt x="21" y="130"/>
                  </a:lnTo>
                  <a:close/>
                </a:path>
              </a:pathLst>
            </a:custGeom>
            <a:solidFill>
              <a:srgbClr val="3C151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351"/>
            <p:cNvSpPr/>
            <p:nvPr/>
          </p:nvSpPr>
          <p:spPr bwMode="auto">
            <a:xfrm>
              <a:off x="11446326" y="4447929"/>
              <a:ext cx="67553" cy="394061"/>
            </a:xfrm>
            <a:custGeom>
              <a:avLst/>
              <a:gdLst>
                <a:gd name="T0" fmla="*/ 8 w 10"/>
                <a:gd name="T1" fmla="*/ 0 h 59"/>
                <a:gd name="T2" fmla="*/ 6 w 10"/>
                <a:gd name="T3" fmla="*/ 0 h 59"/>
                <a:gd name="T4" fmla="*/ 1 w 10"/>
                <a:gd name="T5" fmla="*/ 36 h 59"/>
                <a:gd name="T6" fmla="*/ 0 w 10"/>
                <a:gd name="T7" fmla="*/ 37 h 59"/>
                <a:gd name="T8" fmla="*/ 3 w 10"/>
                <a:gd name="T9" fmla="*/ 55 h 59"/>
                <a:gd name="T10" fmla="*/ 9 w 10"/>
                <a:gd name="T11" fmla="*/ 59 h 59"/>
                <a:gd name="T12" fmla="*/ 8 w 10"/>
                <a:gd name="T13" fmla="*/ 0 h 59"/>
              </a:gdLst>
              <a:ahLst/>
              <a:cxnLst>
                <a:cxn ang="0">
                  <a:pos x="T0" y="T1"/>
                </a:cxn>
                <a:cxn ang="0">
                  <a:pos x="T2" y="T3"/>
                </a:cxn>
                <a:cxn ang="0">
                  <a:pos x="T4" y="T5"/>
                </a:cxn>
                <a:cxn ang="0">
                  <a:pos x="T6" y="T7"/>
                </a:cxn>
                <a:cxn ang="0">
                  <a:pos x="T8" y="T9"/>
                </a:cxn>
                <a:cxn ang="0">
                  <a:pos x="T10" y="T11"/>
                </a:cxn>
                <a:cxn ang="0">
                  <a:pos x="T12" y="T13"/>
                </a:cxn>
              </a:cxnLst>
              <a:rect l="0" t="0" r="r" b="b"/>
              <a:pathLst>
                <a:path w="10" h="59">
                  <a:moveTo>
                    <a:pt x="8" y="0"/>
                  </a:moveTo>
                  <a:cubicBezTo>
                    <a:pt x="6" y="0"/>
                    <a:pt x="6" y="0"/>
                    <a:pt x="6" y="0"/>
                  </a:cubicBezTo>
                  <a:cubicBezTo>
                    <a:pt x="8" y="12"/>
                    <a:pt x="10" y="30"/>
                    <a:pt x="1" y="36"/>
                  </a:cubicBezTo>
                  <a:cubicBezTo>
                    <a:pt x="0" y="37"/>
                    <a:pt x="0" y="37"/>
                    <a:pt x="0" y="37"/>
                  </a:cubicBezTo>
                  <a:cubicBezTo>
                    <a:pt x="3" y="55"/>
                    <a:pt x="3" y="55"/>
                    <a:pt x="3" y="55"/>
                  </a:cubicBezTo>
                  <a:cubicBezTo>
                    <a:pt x="9" y="59"/>
                    <a:pt x="9" y="59"/>
                    <a:pt x="9" y="59"/>
                  </a:cubicBezTo>
                  <a:lnTo>
                    <a:pt x="8" y="0"/>
                  </a:lnTo>
                  <a:close/>
                </a:path>
              </a:pathLst>
            </a:custGeom>
            <a:solidFill>
              <a:srgbClr val="300B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352"/>
            <p:cNvSpPr/>
            <p:nvPr/>
          </p:nvSpPr>
          <p:spPr bwMode="auto">
            <a:xfrm>
              <a:off x="11553285" y="4447929"/>
              <a:ext cx="87257" cy="394061"/>
            </a:xfrm>
            <a:custGeom>
              <a:avLst/>
              <a:gdLst>
                <a:gd name="T0" fmla="*/ 10 w 31"/>
                <a:gd name="T1" fmla="*/ 130 h 140"/>
                <a:gd name="T2" fmla="*/ 31 w 31"/>
                <a:gd name="T3" fmla="*/ 0 h 140"/>
                <a:gd name="T4" fmla="*/ 0 w 31"/>
                <a:gd name="T5" fmla="*/ 0 h 140"/>
                <a:gd name="T6" fmla="*/ 0 w 31"/>
                <a:gd name="T7" fmla="*/ 140 h 140"/>
                <a:gd name="T8" fmla="*/ 10 w 31"/>
                <a:gd name="T9" fmla="*/ 130 h 140"/>
              </a:gdLst>
              <a:ahLst/>
              <a:cxnLst>
                <a:cxn ang="0">
                  <a:pos x="T0" y="T1"/>
                </a:cxn>
                <a:cxn ang="0">
                  <a:pos x="T2" y="T3"/>
                </a:cxn>
                <a:cxn ang="0">
                  <a:pos x="T4" y="T5"/>
                </a:cxn>
                <a:cxn ang="0">
                  <a:pos x="T6" y="T7"/>
                </a:cxn>
                <a:cxn ang="0">
                  <a:pos x="T8" y="T9"/>
                </a:cxn>
              </a:cxnLst>
              <a:rect l="0" t="0" r="r" b="b"/>
              <a:pathLst>
                <a:path w="31" h="140">
                  <a:moveTo>
                    <a:pt x="10" y="130"/>
                  </a:moveTo>
                  <a:lnTo>
                    <a:pt x="31" y="0"/>
                  </a:lnTo>
                  <a:lnTo>
                    <a:pt x="0" y="0"/>
                  </a:lnTo>
                  <a:lnTo>
                    <a:pt x="0" y="140"/>
                  </a:lnTo>
                  <a:lnTo>
                    <a:pt x="10" y="130"/>
                  </a:lnTo>
                  <a:close/>
                </a:path>
              </a:pathLst>
            </a:custGeom>
            <a:solidFill>
              <a:srgbClr val="3C151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353"/>
            <p:cNvSpPr/>
            <p:nvPr/>
          </p:nvSpPr>
          <p:spPr bwMode="auto">
            <a:xfrm>
              <a:off x="11406920" y="4447929"/>
              <a:ext cx="92887" cy="132293"/>
            </a:xfrm>
            <a:custGeom>
              <a:avLst/>
              <a:gdLst>
                <a:gd name="T0" fmla="*/ 5 w 14"/>
                <a:gd name="T1" fmla="*/ 14 h 20"/>
                <a:gd name="T2" fmla="*/ 14 w 14"/>
                <a:gd name="T3" fmla="*/ 20 h 20"/>
                <a:gd name="T4" fmla="*/ 14 w 14"/>
                <a:gd name="T5" fmla="*/ 0 h 20"/>
                <a:gd name="T6" fmla="*/ 0 w 14"/>
                <a:gd name="T7" fmla="*/ 0 h 20"/>
                <a:gd name="T8" fmla="*/ 4 w 14"/>
                <a:gd name="T9" fmla="*/ 19 h 20"/>
                <a:gd name="T10" fmla="*/ 5 w 14"/>
                <a:gd name="T11" fmla="*/ 14 h 20"/>
              </a:gdLst>
              <a:ahLst/>
              <a:cxnLst>
                <a:cxn ang="0">
                  <a:pos x="T0" y="T1"/>
                </a:cxn>
                <a:cxn ang="0">
                  <a:pos x="T2" y="T3"/>
                </a:cxn>
                <a:cxn ang="0">
                  <a:pos x="T4" y="T5"/>
                </a:cxn>
                <a:cxn ang="0">
                  <a:pos x="T6" y="T7"/>
                </a:cxn>
                <a:cxn ang="0">
                  <a:pos x="T8" y="T9"/>
                </a:cxn>
                <a:cxn ang="0">
                  <a:pos x="T10" y="T11"/>
                </a:cxn>
              </a:cxnLst>
              <a:rect l="0" t="0" r="r" b="b"/>
              <a:pathLst>
                <a:path w="14" h="20">
                  <a:moveTo>
                    <a:pt x="5" y="14"/>
                  </a:moveTo>
                  <a:cubicBezTo>
                    <a:pt x="9" y="9"/>
                    <a:pt x="13" y="16"/>
                    <a:pt x="14" y="20"/>
                  </a:cubicBezTo>
                  <a:cubicBezTo>
                    <a:pt x="14" y="0"/>
                    <a:pt x="14" y="0"/>
                    <a:pt x="14" y="0"/>
                  </a:cubicBezTo>
                  <a:cubicBezTo>
                    <a:pt x="0" y="0"/>
                    <a:pt x="0" y="0"/>
                    <a:pt x="0" y="0"/>
                  </a:cubicBezTo>
                  <a:cubicBezTo>
                    <a:pt x="4" y="19"/>
                    <a:pt x="4" y="19"/>
                    <a:pt x="4" y="19"/>
                  </a:cubicBezTo>
                  <a:cubicBezTo>
                    <a:pt x="4" y="17"/>
                    <a:pt x="4" y="16"/>
                    <a:pt x="5" y="14"/>
                  </a:cubicBezTo>
                  <a:close/>
                </a:path>
              </a:pathLst>
            </a:custGeom>
            <a:solidFill>
              <a:srgbClr val="300B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354"/>
            <p:cNvSpPr/>
            <p:nvPr/>
          </p:nvSpPr>
          <p:spPr bwMode="auto">
            <a:xfrm>
              <a:off x="11553285" y="4447929"/>
              <a:ext cx="87257" cy="118218"/>
            </a:xfrm>
            <a:custGeom>
              <a:avLst/>
              <a:gdLst>
                <a:gd name="T0" fmla="*/ 11 w 13"/>
                <a:gd name="T1" fmla="*/ 9 h 18"/>
                <a:gd name="T2" fmla="*/ 12 w 13"/>
                <a:gd name="T3" fmla="*/ 10 h 18"/>
                <a:gd name="T4" fmla="*/ 13 w 13"/>
                <a:gd name="T5" fmla="*/ 0 h 18"/>
                <a:gd name="T6" fmla="*/ 0 w 13"/>
                <a:gd name="T7" fmla="*/ 0 h 18"/>
                <a:gd name="T8" fmla="*/ 0 w 13"/>
                <a:gd name="T9" fmla="*/ 18 h 18"/>
                <a:gd name="T10" fmla="*/ 11 w 13"/>
                <a:gd name="T11" fmla="*/ 9 h 18"/>
              </a:gdLst>
              <a:ahLst/>
              <a:cxnLst>
                <a:cxn ang="0">
                  <a:pos x="T0" y="T1"/>
                </a:cxn>
                <a:cxn ang="0">
                  <a:pos x="T2" y="T3"/>
                </a:cxn>
                <a:cxn ang="0">
                  <a:pos x="T4" y="T5"/>
                </a:cxn>
                <a:cxn ang="0">
                  <a:pos x="T6" y="T7"/>
                </a:cxn>
                <a:cxn ang="0">
                  <a:pos x="T8" y="T9"/>
                </a:cxn>
                <a:cxn ang="0">
                  <a:pos x="T10" y="T11"/>
                </a:cxn>
              </a:cxnLst>
              <a:rect l="0" t="0" r="r" b="b"/>
              <a:pathLst>
                <a:path w="13" h="18">
                  <a:moveTo>
                    <a:pt x="11" y="9"/>
                  </a:moveTo>
                  <a:cubicBezTo>
                    <a:pt x="12" y="10"/>
                    <a:pt x="12" y="10"/>
                    <a:pt x="12" y="10"/>
                  </a:cubicBezTo>
                  <a:cubicBezTo>
                    <a:pt x="13" y="0"/>
                    <a:pt x="13" y="0"/>
                    <a:pt x="13" y="0"/>
                  </a:cubicBezTo>
                  <a:cubicBezTo>
                    <a:pt x="0" y="0"/>
                    <a:pt x="0" y="0"/>
                    <a:pt x="0" y="0"/>
                  </a:cubicBezTo>
                  <a:cubicBezTo>
                    <a:pt x="0" y="18"/>
                    <a:pt x="0" y="18"/>
                    <a:pt x="0" y="18"/>
                  </a:cubicBezTo>
                  <a:cubicBezTo>
                    <a:pt x="2" y="12"/>
                    <a:pt x="7" y="3"/>
                    <a:pt x="11" y="9"/>
                  </a:cubicBezTo>
                  <a:close/>
                </a:path>
              </a:pathLst>
            </a:custGeom>
            <a:solidFill>
              <a:srgbClr val="300B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355"/>
            <p:cNvSpPr/>
            <p:nvPr/>
          </p:nvSpPr>
          <p:spPr bwMode="auto">
            <a:xfrm>
              <a:off x="11547656" y="4447929"/>
              <a:ext cx="67553" cy="394061"/>
            </a:xfrm>
            <a:custGeom>
              <a:avLst/>
              <a:gdLst>
                <a:gd name="T0" fmla="*/ 9 w 10"/>
                <a:gd name="T1" fmla="*/ 31 h 59"/>
                <a:gd name="T2" fmla="*/ 3 w 10"/>
                <a:gd name="T3" fmla="*/ 29 h 59"/>
                <a:gd name="T4" fmla="*/ 3 w 10"/>
                <a:gd name="T5" fmla="*/ 0 h 59"/>
                <a:gd name="T6" fmla="*/ 1 w 10"/>
                <a:gd name="T7" fmla="*/ 0 h 59"/>
                <a:gd name="T8" fmla="*/ 1 w 10"/>
                <a:gd name="T9" fmla="*/ 59 h 59"/>
                <a:gd name="T10" fmla="*/ 5 w 10"/>
                <a:gd name="T11" fmla="*/ 55 h 59"/>
                <a:gd name="T12" fmla="*/ 10 w 10"/>
                <a:gd name="T13" fmla="*/ 30 h 59"/>
                <a:gd name="T14" fmla="*/ 9 w 10"/>
                <a:gd name="T15" fmla="*/ 31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59">
                  <a:moveTo>
                    <a:pt x="9" y="31"/>
                  </a:moveTo>
                  <a:cubicBezTo>
                    <a:pt x="7" y="33"/>
                    <a:pt x="4" y="32"/>
                    <a:pt x="3" y="29"/>
                  </a:cubicBezTo>
                  <a:cubicBezTo>
                    <a:pt x="0" y="20"/>
                    <a:pt x="3" y="10"/>
                    <a:pt x="3" y="0"/>
                  </a:cubicBezTo>
                  <a:cubicBezTo>
                    <a:pt x="1" y="0"/>
                    <a:pt x="1" y="0"/>
                    <a:pt x="1" y="0"/>
                  </a:cubicBezTo>
                  <a:cubicBezTo>
                    <a:pt x="1" y="59"/>
                    <a:pt x="1" y="59"/>
                    <a:pt x="1" y="59"/>
                  </a:cubicBezTo>
                  <a:cubicBezTo>
                    <a:pt x="5" y="55"/>
                    <a:pt x="5" y="55"/>
                    <a:pt x="5" y="55"/>
                  </a:cubicBezTo>
                  <a:cubicBezTo>
                    <a:pt x="10" y="30"/>
                    <a:pt x="10" y="30"/>
                    <a:pt x="10" y="30"/>
                  </a:cubicBezTo>
                  <a:lnTo>
                    <a:pt x="9" y="31"/>
                  </a:lnTo>
                  <a:close/>
                </a:path>
              </a:pathLst>
            </a:custGeom>
            <a:solidFill>
              <a:srgbClr val="300B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356"/>
            <p:cNvSpPr/>
            <p:nvPr/>
          </p:nvSpPr>
          <p:spPr bwMode="auto">
            <a:xfrm>
              <a:off x="11367514" y="4006017"/>
              <a:ext cx="312435" cy="326508"/>
            </a:xfrm>
            <a:custGeom>
              <a:avLst/>
              <a:gdLst>
                <a:gd name="T0" fmla="*/ 44 w 47"/>
                <a:gd name="T1" fmla="*/ 5 h 49"/>
                <a:gd name="T2" fmla="*/ 24 w 47"/>
                <a:gd name="T3" fmla="*/ 0 h 49"/>
                <a:gd name="T4" fmla="*/ 24 w 47"/>
                <a:gd name="T5" fmla="*/ 0 h 49"/>
                <a:gd name="T6" fmla="*/ 23 w 47"/>
                <a:gd name="T7" fmla="*/ 0 h 49"/>
                <a:gd name="T8" fmla="*/ 22 w 47"/>
                <a:gd name="T9" fmla="*/ 0 h 49"/>
                <a:gd name="T10" fmla="*/ 22 w 47"/>
                <a:gd name="T11" fmla="*/ 0 h 49"/>
                <a:gd name="T12" fmla="*/ 3 w 47"/>
                <a:gd name="T13" fmla="*/ 5 h 49"/>
                <a:gd name="T14" fmla="*/ 4 w 47"/>
                <a:gd name="T15" fmla="*/ 49 h 49"/>
                <a:gd name="T16" fmla="*/ 22 w 47"/>
                <a:gd name="T17" fmla="*/ 49 h 49"/>
                <a:gd name="T18" fmla="*/ 24 w 47"/>
                <a:gd name="T19" fmla="*/ 49 h 49"/>
                <a:gd name="T20" fmla="*/ 43 w 47"/>
                <a:gd name="T21" fmla="*/ 49 h 49"/>
                <a:gd name="T22" fmla="*/ 44 w 47"/>
                <a:gd name="T23" fmla="*/ 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 h="49">
                  <a:moveTo>
                    <a:pt x="44" y="5"/>
                  </a:moveTo>
                  <a:cubicBezTo>
                    <a:pt x="41" y="2"/>
                    <a:pt x="34" y="1"/>
                    <a:pt x="24" y="0"/>
                  </a:cubicBezTo>
                  <a:cubicBezTo>
                    <a:pt x="24" y="0"/>
                    <a:pt x="24" y="0"/>
                    <a:pt x="24" y="0"/>
                  </a:cubicBezTo>
                  <a:cubicBezTo>
                    <a:pt x="23" y="0"/>
                    <a:pt x="23" y="0"/>
                    <a:pt x="23" y="0"/>
                  </a:cubicBezTo>
                  <a:cubicBezTo>
                    <a:pt x="22" y="0"/>
                    <a:pt x="22" y="0"/>
                    <a:pt x="22" y="0"/>
                  </a:cubicBezTo>
                  <a:cubicBezTo>
                    <a:pt x="22" y="0"/>
                    <a:pt x="22" y="0"/>
                    <a:pt x="22" y="0"/>
                  </a:cubicBezTo>
                  <a:cubicBezTo>
                    <a:pt x="13" y="1"/>
                    <a:pt x="6" y="2"/>
                    <a:pt x="3" y="5"/>
                  </a:cubicBezTo>
                  <a:cubicBezTo>
                    <a:pt x="0" y="9"/>
                    <a:pt x="4" y="49"/>
                    <a:pt x="4" y="49"/>
                  </a:cubicBezTo>
                  <a:cubicBezTo>
                    <a:pt x="22" y="49"/>
                    <a:pt x="22" y="49"/>
                    <a:pt x="22" y="49"/>
                  </a:cubicBezTo>
                  <a:cubicBezTo>
                    <a:pt x="24" y="49"/>
                    <a:pt x="24" y="49"/>
                    <a:pt x="24" y="49"/>
                  </a:cubicBezTo>
                  <a:cubicBezTo>
                    <a:pt x="43" y="49"/>
                    <a:pt x="43" y="49"/>
                    <a:pt x="43" y="49"/>
                  </a:cubicBezTo>
                  <a:cubicBezTo>
                    <a:pt x="43" y="49"/>
                    <a:pt x="47" y="9"/>
                    <a:pt x="44" y="5"/>
                  </a:cubicBezTo>
                  <a:close/>
                </a:path>
              </a:pathLst>
            </a:custGeom>
            <a:solidFill>
              <a:srgbClr val="63263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357"/>
            <p:cNvSpPr/>
            <p:nvPr/>
          </p:nvSpPr>
          <p:spPr bwMode="auto">
            <a:xfrm>
              <a:off x="11367514" y="4020091"/>
              <a:ext cx="312435" cy="312435"/>
            </a:xfrm>
            <a:custGeom>
              <a:avLst/>
              <a:gdLst>
                <a:gd name="T0" fmla="*/ 44 w 47"/>
                <a:gd name="T1" fmla="*/ 3 h 47"/>
                <a:gd name="T2" fmla="*/ 39 w 47"/>
                <a:gd name="T3" fmla="*/ 0 h 47"/>
                <a:gd name="T4" fmla="*/ 38 w 47"/>
                <a:gd name="T5" fmla="*/ 1 h 47"/>
                <a:gd name="T6" fmla="*/ 38 w 47"/>
                <a:gd name="T7" fmla="*/ 41 h 47"/>
                <a:gd name="T8" fmla="*/ 34 w 47"/>
                <a:gd name="T9" fmla="*/ 44 h 47"/>
                <a:gd name="T10" fmla="*/ 18 w 47"/>
                <a:gd name="T11" fmla="*/ 46 h 47"/>
                <a:gd name="T12" fmla="*/ 9 w 47"/>
                <a:gd name="T13" fmla="*/ 35 h 47"/>
                <a:gd name="T14" fmla="*/ 10 w 47"/>
                <a:gd name="T15" fmla="*/ 33 h 47"/>
                <a:gd name="T16" fmla="*/ 9 w 47"/>
                <a:gd name="T17" fmla="*/ 21 h 47"/>
                <a:gd name="T18" fmla="*/ 8 w 47"/>
                <a:gd name="T19" fmla="*/ 0 h 47"/>
                <a:gd name="T20" fmla="*/ 3 w 47"/>
                <a:gd name="T21" fmla="*/ 3 h 47"/>
                <a:gd name="T22" fmla="*/ 4 w 47"/>
                <a:gd name="T23" fmla="*/ 47 h 47"/>
                <a:gd name="T24" fmla="*/ 43 w 47"/>
                <a:gd name="T25" fmla="*/ 47 h 47"/>
                <a:gd name="T26" fmla="*/ 44 w 47"/>
                <a:gd name="T27" fmla="*/ 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47">
                  <a:moveTo>
                    <a:pt x="44" y="3"/>
                  </a:moveTo>
                  <a:cubicBezTo>
                    <a:pt x="43" y="2"/>
                    <a:pt x="41" y="1"/>
                    <a:pt x="39" y="0"/>
                  </a:cubicBezTo>
                  <a:cubicBezTo>
                    <a:pt x="38" y="1"/>
                    <a:pt x="38" y="1"/>
                    <a:pt x="38" y="1"/>
                  </a:cubicBezTo>
                  <a:cubicBezTo>
                    <a:pt x="41" y="14"/>
                    <a:pt x="41" y="29"/>
                    <a:pt x="38" y="41"/>
                  </a:cubicBezTo>
                  <a:cubicBezTo>
                    <a:pt x="37" y="43"/>
                    <a:pt x="36" y="44"/>
                    <a:pt x="34" y="44"/>
                  </a:cubicBezTo>
                  <a:cubicBezTo>
                    <a:pt x="31" y="47"/>
                    <a:pt x="22" y="46"/>
                    <a:pt x="18" y="46"/>
                  </a:cubicBezTo>
                  <a:cubicBezTo>
                    <a:pt x="12" y="45"/>
                    <a:pt x="9" y="42"/>
                    <a:pt x="9" y="35"/>
                  </a:cubicBezTo>
                  <a:cubicBezTo>
                    <a:pt x="9" y="34"/>
                    <a:pt x="10" y="34"/>
                    <a:pt x="10" y="33"/>
                  </a:cubicBezTo>
                  <a:cubicBezTo>
                    <a:pt x="9" y="29"/>
                    <a:pt x="9" y="25"/>
                    <a:pt x="9" y="21"/>
                  </a:cubicBezTo>
                  <a:cubicBezTo>
                    <a:pt x="8" y="14"/>
                    <a:pt x="7" y="7"/>
                    <a:pt x="8" y="0"/>
                  </a:cubicBezTo>
                  <a:cubicBezTo>
                    <a:pt x="6" y="1"/>
                    <a:pt x="4" y="2"/>
                    <a:pt x="3" y="3"/>
                  </a:cubicBezTo>
                  <a:cubicBezTo>
                    <a:pt x="0" y="7"/>
                    <a:pt x="4" y="47"/>
                    <a:pt x="4" y="47"/>
                  </a:cubicBezTo>
                  <a:cubicBezTo>
                    <a:pt x="43" y="47"/>
                    <a:pt x="43" y="47"/>
                    <a:pt x="43" y="47"/>
                  </a:cubicBezTo>
                  <a:cubicBezTo>
                    <a:pt x="43" y="47"/>
                    <a:pt x="47" y="7"/>
                    <a:pt x="44" y="3"/>
                  </a:cubicBezTo>
                  <a:close/>
                </a:path>
              </a:pathLst>
            </a:custGeom>
            <a:solidFill>
              <a:srgbClr val="5A1D2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Rectangle 358"/>
            <p:cNvSpPr>
              <a:spLocks noChangeArrowheads="1"/>
            </p:cNvSpPr>
            <p:nvPr/>
          </p:nvSpPr>
          <p:spPr bwMode="auto">
            <a:xfrm>
              <a:off x="11553285" y="4841990"/>
              <a:ext cx="61924" cy="1125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40" name="Freeform 359"/>
            <p:cNvSpPr/>
            <p:nvPr/>
          </p:nvSpPr>
          <p:spPr bwMode="auto">
            <a:xfrm>
              <a:off x="11553285" y="4808213"/>
              <a:ext cx="61924" cy="45036"/>
            </a:xfrm>
            <a:custGeom>
              <a:avLst/>
              <a:gdLst>
                <a:gd name="T0" fmla="*/ 0 w 9"/>
                <a:gd name="T1" fmla="*/ 5 h 7"/>
                <a:gd name="T2" fmla="*/ 3 w 9"/>
                <a:gd name="T3" fmla="*/ 1 h 7"/>
                <a:gd name="T4" fmla="*/ 9 w 9"/>
                <a:gd name="T5" fmla="*/ 5 h 7"/>
                <a:gd name="T6" fmla="*/ 0 w 9"/>
                <a:gd name="T7" fmla="*/ 5 h 7"/>
              </a:gdLst>
              <a:ahLst/>
              <a:cxnLst>
                <a:cxn ang="0">
                  <a:pos x="T0" y="T1"/>
                </a:cxn>
                <a:cxn ang="0">
                  <a:pos x="T2" y="T3"/>
                </a:cxn>
                <a:cxn ang="0">
                  <a:pos x="T4" y="T5"/>
                </a:cxn>
                <a:cxn ang="0">
                  <a:pos x="T6" y="T7"/>
                </a:cxn>
              </a:cxnLst>
              <a:rect l="0" t="0" r="r" b="b"/>
              <a:pathLst>
                <a:path w="9" h="7">
                  <a:moveTo>
                    <a:pt x="0" y="5"/>
                  </a:moveTo>
                  <a:cubicBezTo>
                    <a:pt x="0" y="5"/>
                    <a:pt x="0" y="0"/>
                    <a:pt x="3" y="1"/>
                  </a:cubicBezTo>
                  <a:cubicBezTo>
                    <a:pt x="7" y="1"/>
                    <a:pt x="9" y="3"/>
                    <a:pt x="9" y="5"/>
                  </a:cubicBezTo>
                  <a:cubicBezTo>
                    <a:pt x="9" y="7"/>
                    <a:pt x="0" y="5"/>
                    <a:pt x="0" y="5"/>
                  </a:cubicBez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Rectangle 360"/>
            <p:cNvSpPr>
              <a:spLocks noChangeArrowheads="1"/>
            </p:cNvSpPr>
            <p:nvPr/>
          </p:nvSpPr>
          <p:spPr bwMode="auto">
            <a:xfrm>
              <a:off x="11446326" y="4841990"/>
              <a:ext cx="61924" cy="1125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42" name="Freeform 361"/>
            <p:cNvSpPr/>
            <p:nvPr/>
          </p:nvSpPr>
          <p:spPr bwMode="auto">
            <a:xfrm>
              <a:off x="11446326" y="4808213"/>
              <a:ext cx="61924" cy="45036"/>
            </a:xfrm>
            <a:custGeom>
              <a:avLst/>
              <a:gdLst>
                <a:gd name="T0" fmla="*/ 9 w 9"/>
                <a:gd name="T1" fmla="*/ 5 h 7"/>
                <a:gd name="T2" fmla="*/ 6 w 9"/>
                <a:gd name="T3" fmla="*/ 1 h 7"/>
                <a:gd name="T4" fmla="*/ 0 w 9"/>
                <a:gd name="T5" fmla="*/ 5 h 7"/>
                <a:gd name="T6" fmla="*/ 9 w 9"/>
                <a:gd name="T7" fmla="*/ 5 h 7"/>
              </a:gdLst>
              <a:ahLst/>
              <a:cxnLst>
                <a:cxn ang="0">
                  <a:pos x="T0" y="T1"/>
                </a:cxn>
                <a:cxn ang="0">
                  <a:pos x="T2" y="T3"/>
                </a:cxn>
                <a:cxn ang="0">
                  <a:pos x="T4" y="T5"/>
                </a:cxn>
                <a:cxn ang="0">
                  <a:pos x="T6" y="T7"/>
                </a:cxn>
              </a:cxnLst>
              <a:rect l="0" t="0" r="r" b="b"/>
              <a:pathLst>
                <a:path w="9" h="7">
                  <a:moveTo>
                    <a:pt x="9" y="5"/>
                  </a:moveTo>
                  <a:cubicBezTo>
                    <a:pt x="9" y="5"/>
                    <a:pt x="9" y="0"/>
                    <a:pt x="6" y="1"/>
                  </a:cubicBezTo>
                  <a:cubicBezTo>
                    <a:pt x="2" y="1"/>
                    <a:pt x="0" y="3"/>
                    <a:pt x="0" y="5"/>
                  </a:cubicBezTo>
                  <a:cubicBezTo>
                    <a:pt x="0" y="7"/>
                    <a:pt x="9" y="5"/>
                    <a:pt x="9" y="5"/>
                  </a:cubicBez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362"/>
            <p:cNvSpPr/>
            <p:nvPr/>
          </p:nvSpPr>
          <p:spPr bwMode="auto">
            <a:xfrm>
              <a:off x="11553285" y="4813843"/>
              <a:ext cx="61924" cy="39406"/>
            </a:xfrm>
            <a:custGeom>
              <a:avLst/>
              <a:gdLst>
                <a:gd name="T0" fmla="*/ 0 w 9"/>
                <a:gd name="T1" fmla="*/ 4 h 6"/>
                <a:gd name="T2" fmla="*/ 2 w 9"/>
                <a:gd name="T3" fmla="*/ 0 h 6"/>
                <a:gd name="T4" fmla="*/ 9 w 9"/>
                <a:gd name="T5" fmla="*/ 4 h 6"/>
                <a:gd name="T6" fmla="*/ 0 w 9"/>
                <a:gd name="T7" fmla="*/ 4 h 6"/>
              </a:gdLst>
              <a:ahLst/>
              <a:cxnLst>
                <a:cxn ang="0">
                  <a:pos x="T0" y="T1"/>
                </a:cxn>
                <a:cxn ang="0">
                  <a:pos x="T2" y="T3"/>
                </a:cxn>
                <a:cxn ang="0">
                  <a:pos x="T4" y="T5"/>
                </a:cxn>
                <a:cxn ang="0">
                  <a:pos x="T6" y="T7"/>
                </a:cxn>
              </a:cxnLst>
              <a:rect l="0" t="0" r="r" b="b"/>
              <a:pathLst>
                <a:path w="9" h="6">
                  <a:moveTo>
                    <a:pt x="0" y="4"/>
                  </a:moveTo>
                  <a:cubicBezTo>
                    <a:pt x="0" y="4"/>
                    <a:pt x="0" y="0"/>
                    <a:pt x="2" y="0"/>
                  </a:cubicBezTo>
                  <a:cubicBezTo>
                    <a:pt x="6" y="6"/>
                    <a:pt x="9" y="2"/>
                    <a:pt x="9" y="4"/>
                  </a:cubicBezTo>
                  <a:cubicBezTo>
                    <a:pt x="9" y="6"/>
                    <a:pt x="0" y="4"/>
                    <a:pt x="0" y="4"/>
                  </a:cubicBezTo>
                  <a:close/>
                </a:path>
              </a:pathLst>
            </a:custGeom>
            <a:solidFill>
              <a:srgbClr val="0C0B0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363"/>
            <p:cNvSpPr/>
            <p:nvPr/>
          </p:nvSpPr>
          <p:spPr bwMode="auto">
            <a:xfrm>
              <a:off x="11446326" y="4808213"/>
              <a:ext cx="61924" cy="45036"/>
            </a:xfrm>
            <a:custGeom>
              <a:avLst/>
              <a:gdLst>
                <a:gd name="T0" fmla="*/ 9 w 9"/>
                <a:gd name="T1" fmla="*/ 5 h 7"/>
                <a:gd name="T2" fmla="*/ 6 w 9"/>
                <a:gd name="T3" fmla="*/ 1 h 7"/>
                <a:gd name="T4" fmla="*/ 0 w 9"/>
                <a:gd name="T5" fmla="*/ 5 h 7"/>
                <a:gd name="T6" fmla="*/ 9 w 9"/>
                <a:gd name="T7" fmla="*/ 5 h 7"/>
              </a:gdLst>
              <a:ahLst/>
              <a:cxnLst>
                <a:cxn ang="0">
                  <a:pos x="T0" y="T1"/>
                </a:cxn>
                <a:cxn ang="0">
                  <a:pos x="T2" y="T3"/>
                </a:cxn>
                <a:cxn ang="0">
                  <a:pos x="T4" y="T5"/>
                </a:cxn>
                <a:cxn ang="0">
                  <a:pos x="T6" y="T7"/>
                </a:cxn>
              </a:cxnLst>
              <a:rect l="0" t="0" r="r" b="b"/>
              <a:pathLst>
                <a:path w="9" h="7">
                  <a:moveTo>
                    <a:pt x="9" y="5"/>
                  </a:moveTo>
                  <a:cubicBezTo>
                    <a:pt x="9" y="5"/>
                    <a:pt x="9" y="0"/>
                    <a:pt x="6" y="1"/>
                  </a:cubicBezTo>
                  <a:cubicBezTo>
                    <a:pt x="8" y="7"/>
                    <a:pt x="0" y="3"/>
                    <a:pt x="0" y="5"/>
                  </a:cubicBezTo>
                  <a:cubicBezTo>
                    <a:pt x="0" y="7"/>
                    <a:pt x="9" y="5"/>
                    <a:pt x="9" y="5"/>
                  </a:cubicBezTo>
                  <a:close/>
                </a:path>
              </a:pathLst>
            </a:custGeom>
            <a:solidFill>
              <a:srgbClr val="0C0B0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364"/>
            <p:cNvSpPr/>
            <p:nvPr/>
          </p:nvSpPr>
          <p:spPr bwMode="auto">
            <a:xfrm>
              <a:off x="11387218" y="3679509"/>
              <a:ext cx="273029" cy="306806"/>
            </a:xfrm>
            <a:custGeom>
              <a:avLst/>
              <a:gdLst>
                <a:gd name="T0" fmla="*/ 41 w 41"/>
                <a:gd name="T1" fmla="*/ 19 h 46"/>
                <a:gd name="T2" fmla="*/ 20 w 41"/>
                <a:gd name="T3" fmla="*/ 46 h 46"/>
                <a:gd name="T4" fmla="*/ 0 w 41"/>
                <a:gd name="T5" fmla="*/ 19 h 46"/>
                <a:gd name="T6" fmla="*/ 20 w 41"/>
                <a:gd name="T7" fmla="*/ 0 h 46"/>
                <a:gd name="T8" fmla="*/ 41 w 41"/>
                <a:gd name="T9" fmla="*/ 19 h 46"/>
              </a:gdLst>
              <a:ahLst/>
              <a:cxnLst>
                <a:cxn ang="0">
                  <a:pos x="T0" y="T1"/>
                </a:cxn>
                <a:cxn ang="0">
                  <a:pos x="T2" y="T3"/>
                </a:cxn>
                <a:cxn ang="0">
                  <a:pos x="T4" y="T5"/>
                </a:cxn>
                <a:cxn ang="0">
                  <a:pos x="T6" y="T7"/>
                </a:cxn>
                <a:cxn ang="0">
                  <a:pos x="T8" y="T9"/>
                </a:cxn>
              </a:cxnLst>
              <a:rect l="0" t="0" r="r" b="b"/>
              <a:pathLst>
                <a:path w="41" h="46">
                  <a:moveTo>
                    <a:pt x="41" y="19"/>
                  </a:moveTo>
                  <a:cubicBezTo>
                    <a:pt x="41" y="31"/>
                    <a:pt x="34" y="46"/>
                    <a:pt x="20" y="46"/>
                  </a:cubicBezTo>
                  <a:cubicBezTo>
                    <a:pt x="9" y="46"/>
                    <a:pt x="0" y="31"/>
                    <a:pt x="0" y="19"/>
                  </a:cubicBezTo>
                  <a:cubicBezTo>
                    <a:pt x="0" y="8"/>
                    <a:pt x="9" y="0"/>
                    <a:pt x="20" y="0"/>
                  </a:cubicBezTo>
                  <a:cubicBezTo>
                    <a:pt x="31" y="0"/>
                    <a:pt x="41" y="8"/>
                    <a:pt x="41" y="19"/>
                  </a:cubicBezTo>
                  <a:close/>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365"/>
            <p:cNvSpPr/>
            <p:nvPr/>
          </p:nvSpPr>
          <p:spPr bwMode="auto">
            <a:xfrm>
              <a:off x="11606766" y="4014462"/>
              <a:ext cx="106959" cy="258954"/>
            </a:xfrm>
            <a:custGeom>
              <a:avLst/>
              <a:gdLst>
                <a:gd name="T0" fmla="*/ 5 w 16"/>
                <a:gd name="T1" fmla="*/ 2 h 39"/>
                <a:gd name="T2" fmla="*/ 4 w 16"/>
                <a:gd name="T3" fmla="*/ 21 h 39"/>
                <a:gd name="T4" fmla="*/ 0 w 16"/>
                <a:gd name="T5" fmla="*/ 29 h 39"/>
                <a:gd name="T6" fmla="*/ 10 w 16"/>
                <a:gd name="T7" fmla="*/ 39 h 39"/>
                <a:gd name="T8" fmla="*/ 5 w 16"/>
                <a:gd name="T9" fmla="*/ 2 h 39"/>
              </a:gdLst>
              <a:ahLst/>
              <a:cxnLst>
                <a:cxn ang="0">
                  <a:pos x="T0" y="T1"/>
                </a:cxn>
                <a:cxn ang="0">
                  <a:pos x="T2" y="T3"/>
                </a:cxn>
                <a:cxn ang="0">
                  <a:pos x="T4" y="T5"/>
                </a:cxn>
                <a:cxn ang="0">
                  <a:pos x="T6" y="T7"/>
                </a:cxn>
                <a:cxn ang="0">
                  <a:pos x="T8" y="T9"/>
                </a:cxn>
              </a:cxnLst>
              <a:rect l="0" t="0" r="r" b="b"/>
              <a:pathLst>
                <a:path w="16" h="39">
                  <a:moveTo>
                    <a:pt x="5" y="2"/>
                  </a:moveTo>
                  <a:cubicBezTo>
                    <a:pt x="5" y="2"/>
                    <a:pt x="7" y="13"/>
                    <a:pt x="4" y="21"/>
                  </a:cubicBezTo>
                  <a:cubicBezTo>
                    <a:pt x="2" y="25"/>
                    <a:pt x="0" y="29"/>
                    <a:pt x="0" y="29"/>
                  </a:cubicBezTo>
                  <a:cubicBezTo>
                    <a:pt x="0" y="29"/>
                    <a:pt x="6" y="39"/>
                    <a:pt x="10" y="39"/>
                  </a:cubicBezTo>
                  <a:cubicBezTo>
                    <a:pt x="14" y="38"/>
                    <a:pt x="16" y="0"/>
                    <a:pt x="5" y="2"/>
                  </a:cubicBezTo>
                  <a:close/>
                </a:path>
              </a:pathLst>
            </a:custGeom>
            <a:solidFill>
              <a:srgbClr val="72344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366"/>
            <p:cNvSpPr/>
            <p:nvPr/>
          </p:nvSpPr>
          <p:spPr bwMode="auto">
            <a:xfrm>
              <a:off x="11488548" y="4200233"/>
              <a:ext cx="205476" cy="87257"/>
            </a:xfrm>
            <a:custGeom>
              <a:avLst/>
              <a:gdLst>
                <a:gd name="T0" fmla="*/ 28 w 31"/>
                <a:gd name="T1" fmla="*/ 11 h 13"/>
                <a:gd name="T2" fmla="*/ 0 w 31"/>
                <a:gd name="T3" fmla="*/ 6 h 13"/>
                <a:gd name="T4" fmla="*/ 2 w 31"/>
                <a:gd name="T5" fmla="*/ 0 h 13"/>
                <a:gd name="T6" fmla="*/ 14 w 31"/>
                <a:gd name="T7" fmla="*/ 1 h 13"/>
                <a:gd name="T8" fmla="*/ 28 w 31"/>
                <a:gd name="T9" fmla="*/ 11 h 13"/>
              </a:gdLst>
              <a:ahLst/>
              <a:cxnLst>
                <a:cxn ang="0">
                  <a:pos x="T0" y="T1"/>
                </a:cxn>
                <a:cxn ang="0">
                  <a:pos x="T2" y="T3"/>
                </a:cxn>
                <a:cxn ang="0">
                  <a:pos x="T4" y="T5"/>
                </a:cxn>
                <a:cxn ang="0">
                  <a:pos x="T6" y="T7"/>
                </a:cxn>
                <a:cxn ang="0">
                  <a:pos x="T8" y="T9"/>
                </a:cxn>
              </a:cxnLst>
              <a:rect l="0" t="0" r="r" b="b"/>
              <a:pathLst>
                <a:path w="31" h="13">
                  <a:moveTo>
                    <a:pt x="28" y="11"/>
                  </a:moveTo>
                  <a:cubicBezTo>
                    <a:pt x="28" y="11"/>
                    <a:pt x="17" y="13"/>
                    <a:pt x="0" y="6"/>
                  </a:cubicBezTo>
                  <a:cubicBezTo>
                    <a:pt x="0" y="6"/>
                    <a:pt x="2" y="0"/>
                    <a:pt x="2" y="0"/>
                  </a:cubicBezTo>
                  <a:cubicBezTo>
                    <a:pt x="3" y="0"/>
                    <a:pt x="8" y="1"/>
                    <a:pt x="14" y="1"/>
                  </a:cubicBezTo>
                  <a:cubicBezTo>
                    <a:pt x="18" y="1"/>
                    <a:pt x="31" y="3"/>
                    <a:pt x="28" y="11"/>
                  </a:cubicBezTo>
                  <a:close/>
                </a:path>
              </a:pathLst>
            </a:custGeom>
            <a:solidFill>
              <a:srgbClr val="72344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367"/>
            <p:cNvSpPr/>
            <p:nvPr/>
          </p:nvSpPr>
          <p:spPr bwMode="auto">
            <a:xfrm>
              <a:off x="11606766" y="4025721"/>
              <a:ext cx="59110" cy="208289"/>
            </a:xfrm>
            <a:custGeom>
              <a:avLst/>
              <a:gdLst>
                <a:gd name="T0" fmla="*/ 4 w 9"/>
                <a:gd name="T1" fmla="*/ 31 h 31"/>
                <a:gd name="T2" fmla="*/ 5 w 9"/>
                <a:gd name="T3" fmla="*/ 31 h 31"/>
                <a:gd name="T4" fmla="*/ 5 w 9"/>
                <a:gd name="T5" fmla="*/ 30 h 31"/>
                <a:gd name="T6" fmla="*/ 6 w 9"/>
                <a:gd name="T7" fmla="*/ 19 h 31"/>
                <a:gd name="T8" fmla="*/ 7 w 9"/>
                <a:gd name="T9" fmla="*/ 1 h 31"/>
                <a:gd name="T10" fmla="*/ 7 w 9"/>
                <a:gd name="T11" fmla="*/ 0 h 31"/>
                <a:gd name="T12" fmla="*/ 5 w 9"/>
                <a:gd name="T13" fmla="*/ 0 h 31"/>
                <a:gd name="T14" fmla="*/ 4 w 9"/>
                <a:gd name="T15" fmla="*/ 19 h 31"/>
                <a:gd name="T16" fmla="*/ 0 w 9"/>
                <a:gd name="T17" fmla="*/ 27 h 31"/>
                <a:gd name="T18" fmla="*/ 3 w 9"/>
                <a:gd name="T19" fmla="*/ 31 h 31"/>
                <a:gd name="T20" fmla="*/ 4 w 9"/>
                <a:gd name="T21"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31">
                  <a:moveTo>
                    <a:pt x="4" y="31"/>
                  </a:moveTo>
                  <a:cubicBezTo>
                    <a:pt x="4" y="31"/>
                    <a:pt x="5" y="31"/>
                    <a:pt x="5" y="31"/>
                  </a:cubicBezTo>
                  <a:cubicBezTo>
                    <a:pt x="5" y="30"/>
                    <a:pt x="5" y="30"/>
                    <a:pt x="5" y="30"/>
                  </a:cubicBezTo>
                  <a:cubicBezTo>
                    <a:pt x="3" y="26"/>
                    <a:pt x="4" y="22"/>
                    <a:pt x="6" y="19"/>
                  </a:cubicBezTo>
                  <a:cubicBezTo>
                    <a:pt x="9" y="13"/>
                    <a:pt x="7" y="7"/>
                    <a:pt x="7" y="1"/>
                  </a:cubicBezTo>
                  <a:cubicBezTo>
                    <a:pt x="7" y="0"/>
                    <a:pt x="7" y="0"/>
                    <a:pt x="7" y="0"/>
                  </a:cubicBezTo>
                  <a:cubicBezTo>
                    <a:pt x="6" y="0"/>
                    <a:pt x="6" y="0"/>
                    <a:pt x="5" y="0"/>
                  </a:cubicBezTo>
                  <a:cubicBezTo>
                    <a:pt x="5" y="0"/>
                    <a:pt x="7" y="11"/>
                    <a:pt x="4" y="19"/>
                  </a:cubicBezTo>
                  <a:cubicBezTo>
                    <a:pt x="2" y="23"/>
                    <a:pt x="0" y="27"/>
                    <a:pt x="0" y="27"/>
                  </a:cubicBezTo>
                  <a:cubicBezTo>
                    <a:pt x="0" y="27"/>
                    <a:pt x="1" y="29"/>
                    <a:pt x="3" y="31"/>
                  </a:cubicBezTo>
                  <a:cubicBezTo>
                    <a:pt x="3" y="31"/>
                    <a:pt x="3" y="31"/>
                    <a:pt x="4" y="31"/>
                  </a:cubicBezTo>
                  <a:close/>
                </a:path>
              </a:pathLst>
            </a:custGeom>
            <a:solidFill>
              <a:srgbClr val="6A2B3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368"/>
            <p:cNvSpPr/>
            <p:nvPr/>
          </p:nvSpPr>
          <p:spPr bwMode="auto">
            <a:xfrm>
              <a:off x="11488548" y="4200233"/>
              <a:ext cx="151995" cy="59110"/>
            </a:xfrm>
            <a:custGeom>
              <a:avLst/>
              <a:gdLst>
                <a:gd name="T0" fmla="*/ 9 w 23"/>
                <a:gd name="T1" fmla="*/ 8 h 9"/>
                <a:gd name="T2" fmla="*/ 10 w 23"/>
                <a:gd name="T3" fmla="*/ 5 h 9"/>
                <a:gd name="T4" fmla="*/ 17 w 23"/>
                <a:gd name="T5" fmla="*/ 4 h 9"/>
                <a:gd name="T6" fmla="*/ 18 w 23"/>
                <a:gd name="T7" fmla="*/ 5 h 9"/>
                <a:gd name="T8" fmla="*/ 20 w 23"/>
                <a:gd name="T9" fmla="*/ 5 h 9"/>
                <a:gd name="T10" fmla="*/ 21 w 23"/>
                <a:gd name="T11" fmla="*/ 5 h 9"/>
                <a:gd name="T12" fmla="*/ 22 w 23"/>
                <a:gd name="T13" fmla="*/ 5 h 9"/>
                <a:gd name="T14" fmla="*/ 23 w 23"/>
                <a:gd name="T15" fmla="*/ 5 h 9"/>
                <a:gd name="T16" fmla="*/ 23 w 23"/>
                <a:gd name="T17" fmla="*/ 4 h 9"/>
                <a:gd name="T18" fmla="*/ 22 w 23"/>
                <a:gd name="T19" fmla="*/ 2 h 9"/>
                <a:gd name="T20" fmla="*/ 14 w 23"/>
                <a:gd name="T21" fmla="*/ 1 h 9"/>
                <a:gd name="T22" fmla="*/ 2 w 23"/>
                <a:gd name="T23" fmla="*/ 0 h 9"/>
                <a:gd name="T24" fmla="*/ 0 w 23"/>
                <a:gd name="T25" fmla="*/ 6 h 9"/>
                <a:gd name="T26" fmla="*/ 9 w 23"/>
                <a:gd name="T27" fmla="*/ 9 h 9"/>
                <a:gd name="T28" fmla="*/ 9 w 23"/>
                <a:gd name="T2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9">
                  <a:moveTo>
                    <a:pt x="9" y="8"/>
                  </a:moveTo>
                  <a:cubicBezTo>
                    <a:pt x="9" y="7"/>
                    <a:pt x="9" y="6"/>
                    <a:pt x="10" y="5"/>
                  </a:cubicBezTo>
                  <a:cubicBezTo>
                    <a:pt x="11" y="3"/>
                    <a:pt x="15" y="2"/>
                    <a:pt x="17" y="4"/>
                  </a:cubicBezTo>
                  <a:cubicBezTo>
                    <a:pt x="18" y="5"/>
                    <a:pt x="18" y="5"/>
                    <a:pt x="18" y="5"/>
                  </a:cubicBezTo>
                  <a:cubicBezTo>
                    <a:pt x="19" y="5"/>
                    <a:pt x="19" y="5"/>
                    <a:pt x="20" y="5"/>
                  </a:cubicBezTo>
                  <a:cubicBezTo>
                    <a:pt x="21" y="5"/>
                    <a:pt x="21" y="5"/>
                    <a:pt x="21" y="5"/>
                  </a:cubicBezTo>
                  <a:cubicBezTo>
                    <a:pt x="21" y="5"/>
                    <a:pt x="21" y="5"/>
                    <a:pt x="22" y="5"/>
                  </a:cubicBezTo>
                  <a:cubicBezTo>
                    <a:pt x="22" y="5"/>
                    <a:pt x="23" y="5"/>
                    <a:pt x="23" y="5"/>
                  </a:cubicBezTo>
                  <a:cubicBezTo>
                    <a:pt x="23" y="4"/>
                    <a:pt x="23" y="4"/>
                    <a:pt x="23" y="4"/>
                  </a:cubicBezTo>
                  <a:cubicBezTo>
                    <a:pt x="22" y="3"/>
                    <a:pt x="22" y="3"/>
                    <a:pt x="22" y="2"/>
                  </a:cubicBezTo>
                  <a:cubicBezTo>
                    <a:pt x="19" y="1"/>
                    <a:pt x="15" y="1"/>
                    <a:pt x="14" y="1"/>
                  </a:cubicBezTo>
                  <a:cubicBezTo>
                    <a:pt x="8" y="1"/>
                    <a:pt x="3" y="0"/>
                    <a:pt x="2" y="0"/>
                  </a:cubicBezTo>
                  <a:cubicBezTo>
                    <a:pt x="2" y="0"/>
                    <a:pt x="0" y="6"/>
                    <a:pt x="0" y="6"/>
                  </a:cubicBezTo>
                  <a:cubicBezTo>
                    <a:pt x="3" y="7"/>
                    <a:pt x="6" y="8"/>
                    <a:pt x="9" y="9"/>
                  </a:cubicBezTo>
                  <a:lnTo>
                    <a:pt x="9" y="8"/>
                  </a:lnTo>
                  <a:close/>
                </a:path>
              </a:pathLst>
            </a:custGeom>
            <a:solidFill>
              <a:srgbClr val="6A2B3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369"/>
            <p:cNvSpPr/>
            <p:nvPr/>
          </p:nvSpPr>
          <p:spPr bwMode="auto">
            <a:xfrm>
              <a:off x="11406920" y="4174900"/>
              <a:ext cx="81628" cy="25333"/>
            </a:xfrm>
            <a:custGeom>
              <a:avLst/>
              <a:gdLst>
                <a:gd name="T0" fmla="*/ 12 w 12"/>
                <a:gd name="T1" fmla="*/ 2 h 4"/>
                <a:gd name="T2" fmla="*/ 3 w 12"/>
                <a:gd name="T3" fmla="*/ 1 h 4"/>
                <a:gd name="T4" fmla="*/ 3 w 12"/>
                <a:gd name="T5" fmla="*/ 3 h 4"/>
                <a:gd name="T6" fmla="*/ 12 w 12"/>
                <a:gd name="T7" fmla="*/ 2 h 4"/>
              </a:gdLst>
              <a:ahLst/>
              <a:cxnLst>
                <a:cxn ang="0">
                  <a:pos x="T0" y="T1"/>
                </a:cxn>
                <a:cxn ang="0">
                  <a:pos x="T2" y="T3"/>
                </a:cxn>
                <a:cxn ang="0">
                  <a:pos x="T4" y="T5"/>
                </a:cxn>
                <a:cxn ang="0">
                  <a:pos x="T6" y="T7"/>
                </a:cxn>
              </a:cxnLst>
              <a:rect l="0" t="0" r="r" b="b"/>
              <a:pathLst>
                <a:path w="12" h="4">
                  <a:moveTo>
                    <a:pt x="12" y="2"/>
                  </a:moveTo>
                  <a:cubicBezTo>
                    <a:pt x="12" y="2"/>
                    <a:pt x="5" y="0"/>
                    <a:pt x="3" y="1"/>
                  </a:cubicBezTo>
                  <a:cubicBezTo>
                    <a:pt x="1" y="3"/>
                    <a:pt x="0" y="4"/>
                    <a:pt x="3" y="3"/>
                  </a:cubicBezTo>
                  <a:cubicBezTo>
                    <a:pt x="5" y="3"/>
                    <a:pt x="12" y="2"/>
                    <a:pt x="12" y="2"/>
                  </a:cubicBezTo>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370"/>
            <p:cNvSpPr/>
            <p:nvPr/>
          </p:nvSpPr>
          <p:spPr bwMode="auto">
            <a:xfrm>
              <a:off x="11333737" y="4014462"/>
              <a:ext cx="92887" cy="264584"/>
            </a:xfrm>
            <a:custGeom>
              <a:avLst/>
              <a:gdLst>
                <a:gd name="T0" fmla="*/ 11 w 14"/>
                <a:gd name="T1" fmla="*/ 2 h 40"/>
                <a:gd name="T2" fmla="*/ 11 w 14"/>
                <a:gd name="T3" fmla="*/ 16 h 40"/>
                <a:gd name="T4" fmla="*/ 14 w 14"/>
                <a:gd name="T5" fmla="*/ 31 h 40"/>
                <a:gd name="T6" fmla="*/ 4 w 14"/>
                <a:gd name="T7" fmla="*/ 38 h 40"/>
                <a:gd name="T8" fmla="*/ 11 w 14"/>
                <a:gd name="T9" fmla="*/ 2 h 40"/>
              </a:gdLst>
              <a:ahLst/>
              <a:cxnLst>
                <a:cxn ang="0">
                  <a:pos x="T0" y="T1"/>
                </a:cxn>
                <a:cxn ang="0">
                  <a:pos x="T2" y="T3"/>
                </a:cxn>
                <a:cxn ang="0">
                  <a:pos x="T4" y="T5"/>
                </a:cxn>
                <a:cxn ang="0">
                  <a:pos x="T6" y="T7"/>
                </a:cxn>
                <a:cxn ang="0">
                  <a:pos x="T8" y="T9"/>
                </a:cxn>
              </a:cxnLst>
              <a:rect l="0" t="0" r="r" b="b"/>
              <a:pathLst>
                <a:path w="14" h="40">
                  <a:moveTo>
                    <a:pt x="11" y="2"/>
                  </a:moveTo>
                  <a:cubicBezTo>
                    <a:pt x="11" y="2"/>
                    <a:pt x="9" y="9"/>
                    <a:pt x="11" y="16"/>
                  </a:cubicBezTo>
                  <a:cubicBezTo>
                    <a:pt x="13" y="23"/>
                    <a:pt x="14" y="31"/>
                    <a:pt x="14" y="31"/>
                  </a:cubicBezTo>
                  <a:cubicBezTo>
                    <a:pt x="14" y="31"/>
                    <a:pt x="8" y="40"/>
                    <a:pt x="4" y="38"/>
                  </a:cubicBezTo>
                  <a:cubicBezTo>
                    <a:pt x="1" y="37"/>
                    <a:pt x="0" y="0"/>
                    <a:pt x="11" y="2"/>
                  </a:cubicBezTo>
                  <a:close/>
                </a:path>
              </a:pathLst>
            </a:custGeom>
            <a:solidFill>
              <a:srgbClr val="72344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371"/>
            <p:cNvSpPr/>
            <p:nvPr/>
          </p:nvSpPr>
          <p:spPr bwMode="auto">
            <a:xfrm>
              <a:off x="11328108" y="4180529"/>
              <a:ext cx="244882" cy="112589"/>
            </a:xfrm>
            <a:custGeom>
              <a:avLst/>
              <a:gdLst>
                <a:gd name="T0" fmla="*/ 5 w 37"/>
                <a:gd name="T1" fmla="*/ 13 h 17"/>
                <a:gd name="T2" fmla="*/ 37 w 37"/>
                <a:gd name="T3" fmla="*/ 5 h 17"/>
                <a:gd name="T4" fmla="*/ 34 w 37"/>
                <a:gd name="T5" fmla="*/ 0 h 17"/>
                <a:gd name="T6" fmla="*/ 15 w 37"/>
                <a:gd name="T7" fmla="*/ 2 h 17"/>
                <a:gd name="T8" fmla="*/ 5 w 37"/>
                <a:gd name="T9" fmla="*/ 13 h 17"/>
              </a:gdLst>
              <a:ahLst/>
              <a:cxnLst>
                <a:cxn ang="0">
                  <a:pos x="T0" y="T1"/>
                </a:cxn>
                <a:cxn ang="0">
                  <a:pos x="T2" y="T3"/>
                </a:cxn>
                <a:cxn ang="0">
                  <a:pos x="T4" y="T5"/>
                </a:cxn>
                <a:cxn ang="0">
                  <a:pos x="T6" y="T7"/>
                </a:cxn>
                <a:cxn ang="0">
                  <a:pos x="T8" y="T9"/>
                </a:cxn>
              </a:cxnLst>
              <a:rect l="0" t="0" r="r" b="b"/>
              <a:pathLst>
                <a:path w="37" h="17">
                  <a:moveTo>
                    <a:pt x="5" y="13"/>
                  </a:moveTo>
                  <a:cubicBezTo>
                    <a:pt x="5" y="13"/>
                    <a:pt x="15" y="17"/>
                    <a:pt x="37" y="5"/>
                  </a:cubicBezTo>
                  <a:cubicBezTo>
                    <a:pt x="37" y="5"/>
                    <a:pt x="35" y="0"/>
                    <a:pt x="34" y="0"/>
                  </a:cubicBezTo>
                  <a:cubicBezTo>
                    <a:pt x="33" y="0"/>
                    <a:pt x="24" y="1"/>
                    <a:pt x="15" y="2"/>
                  </a:cubicBezTo>
                  <a:cubicBezTo>
                    <a:pt x="12" y="3"/>
                    <a:pt x="0" y="6"/>
                    <a:pt x="5" y="13"/>
                  </a:cubicBezTo>
                  <a:close/>
                </a:path>
              </a:pathLst>
            </a:custGeom>
            <a:solidFill>
              <a:srgbClr val="72344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372"/>
            <p:cNvSpPr/>
            <p:nvPr/>
          </p:nvSpPr>
          <p:spPr bwMode="auto">
            <a:xfrm>
              <a:off x="11367514" y="4025721"/>
              <a:ext cx="59110" cy="188587"/>
            </a:xfrm>
            <a:custGeom>
              <a:avLst/>
              <a:gdLst>
                <a:gd name="T0" fmla="*/ 3 w 9"/>
                <a:gd name="T1" fmla="*/ 1 h 28"/>
                <a:gd name="T2" fmla="*/ 3 w 9"/>
                <a:gd name="T3" fmla="*/ 16 h 28"/>
                <a:gd name="T4" fmla="*/ 6 w 9"/>
                <a:gd name="T5" fmla="*/ 23 h 28"/>
                <a:gd name="T6" fmla="*/ 6 w 9"/>
                <a:gd name="T7" fmla="*/ 28 h 28"/>
                <a:gd name="T8" fmla="*/ 9 w 9"/>
                <a:gd name="T9" fmla="*/ 27 h 28"/>
                <a:gd name="T10" fmla="*/ 6 w 9"/>
                <a:gd name="T11" fmla="*/ 14 h 28"/>
                <a:gd name="T12" fmla="*/ 6 w 9"/>
                <a:gd name="T13" fmla="*/ 0 h 28"/>
                <a:gd name="T14" fmla="*/ 3 w 9"/>
                <a:gd name="T15" fmla="*/ 0 h 28"/>
                <a:gd name="T16" fmla="*/ 3 w 9"/>
                <a:gd name="T17" fmla="*/ 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28">
                  <a:moveTo>
                    <a:pt x="3" y="1"/>
                  </a:moveTo>
                  <a:cubicBezTo>
                    <a:pt x="2" y="5"/>
                    <a:pt x="0" y="11"/>
                    <a:pt x="3" y="16"/>
                  </a:cubicBezTo>
                  <a:cubicBezTo>
                    <a:pt x="4" y="18"/>
                    <a:pt x="5" y="20"/>
                    <a:pt x="6" y="23"/>
                  </a:cubicBezTo>
                  <a:cubicBezTo>
                    <a:pt x="6" y="25"/>
                    <a:pt x="6" y="26"/>
                    <a:pt x="6" y="28"/>
                  </a:cubicBezTo>
                  <a:cubicBezTo>
                    <a:pt x="7" y="28"/>
                    <a:pt x="8" y="27"/>
                    <a:pt x="9" y="27"/>
                  </a:cubicBezTo>
                  <a:cubicBezTo>
                    <a:pt x="8" y="24"/>
                    <a:pt x="8" y="19"/>
                    <a:pt x="6" y="14"/>
                  </a:cubicBezTo>
                  <a:cubicBezTo>
                    <a:pt x="4" y="7"/>
                    <a:pt x="6" y="0"/>
                    <a:pt x="6" y="0"/>
                  </a:cubicBezTo>
                  <a:cubicBezTo>
                    <a:pt x="5" y="0"/>
                    <a:pt x="4" y="0"/>
                    <a:pt x="3" y="0"/>
                  </a:cubicBezTo>
                  <a:lnTo>
                    <a:pt x="3" y="1"/>
                  </a:lnTo>
                  <a:close/>
                </a:path>
              </a:pathLst>
            </a:custGeom>
            <a:solidFill>
              <a:srgbClr val="6A2B3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373"/>
            <p:cNvSpPr/>
            <p:nvPr/>
          </p:nvSpPr>
          <p:spPr bwMode="auto">
            <a:xfrm>
              <a:off x="11406920" y="4180529"/>
              <a:ext cx="166069" cy="39406"/>
            </a:xfrm>
            <a:custGeom>
              <a:avLst/>
              <a:gdLst>
                <a:gd name="T0" fmla="*/ 0 w 25"/>
                <a:gd name="T1" fmla="*/ 5 h 6"/>
                <a:gd name="T2" fmla="*/ 19 w 25"/>
                <a:gd name="T3" fmla="*/ 1 h 6"/>
                <a:gd name="T4" fmla="*/ 23 w 25"/>
                <a:gd name="T5" fmla="*/ 6 h 6"/>
                <a:gd name="T6" fmla="*/ 25 w 25"/>
                <a:gd name="T7" fmla="*/ 5 h 6"/>
                <a:gd name="T8" fmla="*/ 22 w 25"/>
                <a:gd name="T9" fmla="*/ 0 h 6"/>
                <a:gd name="T10" fmla="*/ 3 w 25"/>
                <a:gd name="T11" fmla="*/ 2 h 6"/>
                <a:gd name="T12" fmla="*/ 0 w 25"/>
                <a:gd name="T13" fmla="*/ 3 h 6"/>
                <a:gd name="T14" fmla="*/ 0 w 25"/>
                <a:gd name="T15" fmla="*/ 5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6">
                  <a:moveTo>
                    <a:pt x="0" y="5"/>
                  </a:moveTo>
                  <a:cubicBezTo>
                    <a:pt x="6" y="2"/>
                    <a:pt x="14" y="2"/>
                    <a:pt x="19" y="1"/>
                  </a:cubicBezTo>
                  <a:cubicBezTo>
                    <a:pt x="22" y="1"/>
                    <a:pt x="23" y="4"/>
                    <a:pt x="23" y="6"/>
                  </a:cubicBezTo>
                  <a:cubicBezTo>
                    <a:pt x="23" y="6"/>
                    <a:pt x="24" y="6"/>
                    <a:pt x="25" y="5"/>
                  </a:cubicBezTo>
                  <a:cubicBezTo>
                    <a:pt x="25" y="5"/>
                    <a:pt x="23" y="0"/>
                    <a:pt x="22" y="0"/>
                  </a:cubicBezTo>
                  <a:cubicBezTo>
                    <a:pt x="21" y="0"/>
                    <a:pt x="12" y="1"/>
                    <a:pt x="3" y="2"/>
                  </a:cubicBezTo>
                  <a:cubicBezTo>
                    <a:pt x="2" y="2"/>
                    <a:pt x="1" y="3"/>
                    <a:pt x="0" y="3"/>
                  </a:cubicBezTo>
                  <a:cubicBezTo>
                    <a:pt x="0" y="4"/>
                    <a:pt x="0" y="4"/>
                    <a:pt x="0" y="5"/>
                  </a:cubicBezTo>
                  <a:close/>
                </a:path>
              </a:pathLst>
            </a:custGeom>
            <a:solidFill>
              <a:srgbClr val="6A2B3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374"/>
            <p:cNvSpPr/>
            <p:nvPr/>
          </p:nvSpPr>
          <p:spPr bwMode="auto">
            <a:xfrm>
              <a:off x="11553285" y="4174900"/>
              <a:ext cx="67553" cy="45036"/>
            </a:xfrm>
            <a:custGeom>
              <a:avLst/>
              <a:gdLst>
                <a:gd name="T0" fmla="*/ 0 w 10"/>
                <a:gd name="T1" fmla="*/ 1 h 7"/>
                <a:gd name="T2" fmla="*/ 10 w 10"/>
                <a:gd name="T3" fmla="*/ 2 h 7"/>
                <a:gd name="T4" fmla="*/ 8 w 10"/>
                <a:gd name="T5" fmla="*/ 5 h 7"/>
                <a:gd name="T6" fmla="*/ 3 w 10"/>
                <a:gd name="T7" fmla="*/ 6 h 7"/>
                <a:gd name="T8" fmla="*/ 0 w 10"/>
                <a:gd name="T9" fmla="*/ 1 h 7"/>
              </a:gdLst>
              <a:ahLst/>
              <a:cxnLst>
                <a:cxn ang="0">
                  <a:pos x="T0" y="T1"/>
                </a:cxn>
                <a:cxn ang="0">
                  <a:pos x="T2" y="T3"/>
                </a:cxn>
                <a:cxn ang="0">
                  <a:pos x="T4" y="T5"/>
                </a:cxn>
                <a:cxn ang="0">
                  <a:pos x="T6" y="T7"/>
                </a:cxn>
                <a:cxn ang="0">
                  <a:pos x="T8" y="T9"/>
                </a:cxn>
              </a:cxnLst>
              <a:rect l="0" t="0" r="r" b="b"/>
              <a:pathLst>
                <a:path w="10" h="7">
                  <a:moveTo>
                    <a:pt x="0" y="1"/>
                  </a:moveTo>
                  <a:cubicBezTo>
                    <a:pt x="0" y="1"/>
                    <a:pt x="7" y="0"/>
                    <a:pt x="10" y="2"/>
                  </a:cubicBezTo>
                  <a:cubicBezTo>
                    <a:pt x="8" y="5"/>
                    <a:pt x="8" y="5"/>
                    <a:pt x="8" y="5"/>
                  </a:cubicBezTo>
                  <a:cubicBezTo>
                    <a:pt x="8" y="5"/>
                    <a:pt x="5" y="7"/>
                    <a:pt x="3" y="6"/>
                  </a:cubicBezTo>
                  <a:lnTo>
                    <a:pt x="0" y="1"/>
                  </a:lnTo>
                  <a:close/>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375"/>
            <p:cNvSpPr/>
            <p:nvPr/>
          </p:nvSpPr>
          <p:spPr bwMode="auto">
            <a:xfrm>
              <a:off x="11620839" y="3859651"/>
              <a:ext cx="39406" cy="81628"/>
            </a:xfrm>
            <a:custGeom>
              <a:avLst/>
              <a:gdLst>
                <a:gd name="T0" fmla="*/ 3 w 6"/>
                <a:gd name="T1" fmla="*/ 4 h 12"/>
                <a:gd name="T2" fmla="*/ 4 w 6"/>
                <a:gd name="T3" fmla="*/ 8 h 12"/>
                <a:gd name="T4" fmla="*/ 0 w 6"/>
                <a:gd name="T5" fmla="*/ 9 h 12"/>
              </a:gdLst>
              <a:ahLst/>
              <a:cxnLst>
                <a:cxn ang="0">
                  <a:pos x="T0" y="T1"/>
                </a:cxn>
                <a:cxn ang="0">
                  <a:pos x="T2" y="T3"/>
                </a:cxn>
                <a:cxn ang="0">
                  <a:pos x="T4" y="T5"/>
                </a:cxn>
              </a:cxnLst>
              <a:rect l="0" t="0" r="r" b="b"/>
              <a:pathLst>
                <a:path w="6" h="12">
                  <a:moveTo>
                    <a:pt x="3" y="4"/>
                  </a:moveTo>
                  <a:cubicBezTo>
                    <a:pt x="3" y="4"/>
                    <a:pt x="6" y="0"/>
                    <a:pt x="4" y="8"/>
                  </a:cubicBezTo>
                  <a:cubicBezTo>
                    <a:pt x="3" y="12"/>
                    <a:pt x="1" y="12"/>
                    <a:pt x="0" y="9"/>
                  </a:cubicBezTo>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376"/>
            <p:cNvSpPr/>
            <p:nvPr/>
          </p:nvSpPr>
          <p:spPr bwMode="auto">
            <a:xfrm>
              <a:off x="11381588" y="3859651"/>
              <a:ext cx="39406" cy="81628"/>
            </a:xfrm>
            <a:custGeom>
              <a:avLst/>
              <a:gdLst>
                <a:gd name="T0" fmla="*/ 4 w 6"/>
                <a:gd name="T1" fmla="*/ 4 h 12"/>
                <a:gd name="T2" fmla="*/ 2 w 6"/>
                <a:gd name="T3" fmla="*/ 8 h 12"/>
                <a:gd name="T4" fmla="*/ 6 w 6"/>
                <a:gd name="T5" fmla="*/ 9 h 12"/>
              </a:gdLst>
              <a:ahLst/>
              <a:cxnLst>
                <a:cxn ang="0">
                  <a:pos x="T0" y="T1"/>
                </a:cxn>
                <a:cxn ang="0">
                  <a:pos x="T2" y="T3"/>
                </a:cxn>
                <a:cxn ang="0">
                  <a:pos x="T4" y="T5"/>
                </a:cxn>
              </a:cxnLst>
              <a:rect l="0" t="0" r="r" b="b"/>
              <a:pathLst>
                <a:path w="6" h="12">
                  <a:moveTo>
                    <a:pt x="4" y="4"/>
                  </a:moveTo>
                  <a:cubicBezTo>
                    <a:pt x="4" y="4"/>
                    <a:pt x="0" y="0"/>
                    <a:pt x="2" y="8"/>
                  </a:cubicBezTo>
                  <a:cubicBezTo>
                    <a:pt x="4" y="12"/>
                    <a:pt x="6" y="12"/>
                    <a:pt x="6" y="9"/>
                  </a:cubicBezTo>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377"/>
            <p:cNvSpPr/>
            <p:nvPr/>
          </p:nvSpPr>
          <p:spPr bwMode="auto">
            <a:xfrm>
              <a:off x="11373143" y="3654177"/>
              <a:ext cx="292731" cy="253325"/>
            </a:xfrm>
            <a:custGeom>
              <a:avLst/>
              <a:gdLst>
                <a:gd name="T0" fmla="*/ 8 w 44"/>
                <a:gd name="T1" fmla="*/ 25 h 38"/>
                <a:gd name="T2" fmla="*/ 16 w 44"/>
                <a:gd name="T3" fmla="*/ 22 h 38"/>
                <a:gd name="T4" fmla="*/ 36 w 44"/>
                <a:gd name="T5" fmla="*/ 24 h 38"/>
                <a:gd name="T6" fmla="*/ 39 w 44"/>
                <a:gd name="T7" fmla="*/ 38 h 38"/>
                <a:gd name="T8" fmla="*/ 43 w 44"/>
                <a:gd name="T9" fmla="*/ 16 h 38"/>
                <a:gd name="T10" fmla="*/ 15 w 44"/>
                <a:gd name="T11" fmla="*/ 4 h 38"/>
                <a:gd name="T12" fmla="*/ 2 w 44"/>
                <a:gd name="T13" fmla="*/ 28 h 38"/>
                <a:gd name="T14" fmla="*/ 6 w 44"/>
                <a:gd name="T15" fmla="*/ 38 h 38"/>
                <a:gd name="T16" fmla="*/ 8 w 44"/>
                <a:gd name="T17" fmla="*/ 2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8">
                  <a:moveTo>
                    <a:pt x="8" y="25"/>
                  </a:moveTo>
                  <a:cubicBezTo>
                    <a:pt x="8" y="25"/>
                    <a:pt x="9" y="22"/>
                    <a:pt x="16" y="22"/>
                  </a:cubicBezTo>
                  <a:cubicBezTo>
                    <a:pt x="26" y="21"/>
                    <a:pt x="35" y="21"/>
                    <a:pt x="36" y="24"/>
                  </a:cubicBezTo>
                  <a:cubicBezTo>
                    <a:pt x="36" y="26"/>
                    <a:pt x="38" y="38"/>
                    <a:pt x="39" y="38"/>
                  </a:cubicBezTo>
                  <a:cubicBezTo>
                    <a:pt x="41" y="37"/>
                    <a:pt x="44" y="26"/>
                    <a:pt x="43" y="16"/>
                  </a:cubicBezTo>
                  <a:cubicBezTo>
                    <a:pt x="41" y="7"/>
                    <a:pt x="27" y="0"/>
                    <a:pt x="15" y="4"/>
                  </a:cubicBezTo>
                  <a:cubicBezTo>
                    <a:pt x="4" y="8"/>
                    <a:pt x="0" y="13"/>
                    <a:pt x="2" y="28"/>
                  </a:cubicBezTo>
                  <a:cubicBezTo>
                    <a:pt x="2" y="28"/>
                    <a:pt x="4" y="38"/>
                    <a:pt x="6" y="38"/>
                  </a:cubicBezTo>
                  <a:cubicBezTo>
                    <a:pt x="8" y="38"/>
                    <a:pt x="8" y="25"/>
                    <a:pt x="8" y="25"/>
                  </a:cubicBezTo>
                  <a:close/>
                </a:path>
              </a:pathLst>
            </a:custGeom>
            <a:solidFill>
              <a:srgbClr val="D1D3D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378"/>
            <p:cNvSpPr/>
            <p:nvPr/>
          </p:nvSpPr>
          <p:spPr bwMode="auto">
            <a:xfrm>
              <a:off x="11454771" y="3727360"/>
              <a:ext cx="199846" cy="180142"/>
            </a:xfrm>
            <a:custGeom>
              <a:avLst/>
              <a:gdLst>
                <a:gd name="T0" fmla="*/ 30 w 30"/>
                <a:gd name="T1" fmla="*/ 19 h 27"/>
                <a:gd name="T2" fmla="*/ 27 w 30"/>
                <a:gd name="T3" fmla="*/ 19 h 27"/>
                <a:gd name="T4" fmla="*/ 25 w 30"/>
                <a:gd name="T5" fmla="*/ 5 h 27"/>
                <a:gd name="T6" fmla="*/ 22 w 30"/>
                <a:gd name="T7" fmla="*/ 10 h 27"/>
                <a:gd name="T8" fmla="*/ 20 w 30"/>
                <a:gd name="T9" fmla="*/ 9 h 27"/>
                <a:gd name="T10" fmla="*/ 17 w 30"/>
                <a:gd name="T11" fmla="*/ 3 h 27"/>
                <a:gd name="T12" fmla="*/ 13 w 30"/>
                <a:gd name="T13" fmla="*/ 9 h 27"/>
                <a:gd name="T14" fmla="*/ 10 w 30"/>
                <a:gd name="T15" fmla="*/ 7 h 27"/>
                <a:gd name="T16" fmla="*/ 10 w 30"/>
                <a:gd name="T17" fmla="*/ 7 h 27"/>
                <a:gd name="T18" fmla="*/ 7 w 30"/>
                <a:gd name="T19" fmla="*/ 7 h 27"/>
                <a:gd name="T20" fmla="*/ 5 w 30"/>
                <a:gd name="T21" fmla="*/ 0 h 27"/>
                <a:gd name="T22" fmla="*/ 1 w 30"/>
                <a:gd name="T23" fmla="*/ 11 h 27"/>
                <a:gd name="T24" fmla="*/ 0 w 30"/>
                <a:gd name="T25" fmla="*/ 11 h 27"/>
                <a:gd name="T26" fmla="*/ 4 w 30"/>
                <a:gd name="T27" fmla="*/ 11 h 27"/>
                <a:gd name="T28" fmla="*/ 24 w 30"/>
                <a:gd name="T29" fmla="*/ 13 h 27"/>
                <a:gd name="T30" fmla="*/ 27 w 30"/>
                <a:gd name="T31" fmla="*/ 27 h 27"/>
                <a:gd name="T32" fmla="*/ 30 w 30"/>
                <a:gd name="T33" fmla="*/ 18 h 27"/>
                <a:gd name="T34" fmla="*/ 30 w 30"/>
                <a:gd name="T35"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27">
                  <a:moveTo>
                    <a:pt x="30" y="19"/>
                  </a:moveTo>
                  <a:cubicBezTo>
                    <a:pt x="30" y="20"/>
                    <a:pt x="28" y="21"/>
                    <a:pt x="27" y="19"/>
                  </a:cubicBezTo>
                  <a:cubicBezTo>
                    <a:pt x="25" y="15"/>
                    <a:pt x="26" y="10"/>
                    <a:pt x="25" y="5"/>
                  </a:cubicBezTo>
                  <a:cubicBezTo>
                    <a:pt x="24" y="7"/>
                    <a:pt x="24" y="9"/>
                    <a:pt x="22" y="10"/>
                  </a:cubicBezTo>
                  <a:cubicBezTo>
                    <a:pt x="21" y="10"/>
                    <a:pt x="20" y="10"/>
                    <a:pt x="20" y="9"/>
                  </a:cubicBezTo>
                  <a:cubicBezTo>
                    <a:pt x="18" y="7"/>
                    <a:pt x="18" y="5"/>
                    <a:pt x="17" y="3"/>
                  </a:cubicBezTo>
                  <a:cubicBezTo>
                    <a:pt x="17" y="6"/>
                    <a:pt x="16" y="9"/>
                    <a:pt x="13" y="9"/>
                  </a:cubicBezTo>
                  <a:cubicBezTo>
                    <a:pt x="11" y="9"/>
                    <a:pt x="10" y="8"/>
                    <a:pt x="10" y="7"/>
                  </a:cubicBezTo>
                  <a:cubicBezTo>
                    <a:pt x="10" y="7"/>
                    <a:pt x="10" y="7"/>
                    <a:pt x="10" y="7"/>
                  </a:cubicBezTo>
                  <a:cubicBezTo>
                    <a:pt x="9" y="8"/>
                    <a:pt x="7" y="8"/>
                    <a:pt x="7" y="7"/>
                  </a:cubicBezTo>
                  <a:cubicBezTo>
                    <a:pt x="5" y="5"/>
                    <a:pt x="5" y="3"/>
                    <a:pt x="5" y="0"/>
                  </a:cubicBezTo>
                  <a:cubicBezTo>
                    <a:pt x="4" y="4"/>
                    <a:pt x="3" y="8"/>
                    <a:pt x="1" y="11"/>
                  </a:cubicBezTo>
                  <a:cubicBezTo>
                    <a:pt x="0" y="11"/>
                    <a:pt x="0" y="11"/>
                    <a:pt x="0" y="11"/>
                  </a:cubicBezTo>
                  <a:cubicBezTo>
                    <a:pt x="1" y="11"/>
                    <a:pt x="2" y="11"/>
                    <a:pt x="4" y="11"/>
                  </a:cubicBezTo>
                  <a:cubicBezTo>
                    <a:pt x="14" y="10"/>
                    <a:pt x="23" y="10"/>
                    <a:pt x="24" y="13"/>
                  </a:cubicBezTo>
                  <a:cubicBezTo>
                    <a:pt x="24" y="15"/>
                    <a:pt x="26" y="27"/>
                    <a:pt x="27" y="27"/>
                  </a:cubicBezTo>
                  <a:cubicBezTo>
                    <a:pt x="28" y="26"/>
                    <a:pt x="29" y="23"/>
                    <a:pt x="30" y="18"/>
                  </a:cubicBezTo>
                  <a:lnTo>
                    <a:pt x="30" y="19"/>
                  </a:lnTo>
                  <a:close/>
                </a:path>
              </a:pathLst>
            </a:custGeom>
            <a:solidFill>
              <a:srgbClr val="C2C3C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379"/>
            <p:cNvSpPr/>
            <p:nvPr/>
          </p:nvSpPr>
          <p:spPr bwMode="auto">
            <a:xfrm>
              <a:off x="11387218" y="3752692"/>
              <a:ext cx="67553" cy="154811"/>
            </a:xfrm>
            <a:custGeom>
              <a:avLst/>
              <a:gdLst>
                <a:gd name="T0" fmla="*/ 8 w 10"/>
                <a:gd name="T1" fmla="*/ 7 h 23"/>
                <a:gd name="T2" fmla="*/ 7 w 10"/>
                <a:gd name="T3" fmla="*/ 0 h 23"/>
                <a:gd name="T4" fmla="*/ 6 w 10"/>
                <a:gd name="T5" fmla="*/ 2 h 23"/>
                <a:gd name="T6" fmla="*/ 5 w 10"/>
                <a:gd name="T7" fmla="*/ 14 h 23"/>
                <a:gd name="T8" fmla="*/ 2 w 10"/>
                <a:gd name="T9" fmla="*/ 15 h 23"/>
                <a:gd name="T10" fmla="*/ 0 w 10"/>
                <a:gd name="T11" fmla="*/ 10 h 23"/>
                <a:gd name="T12" fmla="*/ 0 w 10"/>
                <a:gd name="T13" fmla="*/ 11 h 23"/>
                <a:gd name="T14" fmla="*/ 0 w 10"/>
                <a:gd name="T15" fmla="*/ 13 h 23"/>
                <a:gd name="T16" fmla="*/ 4 w 10"/>
                <a:gd name="T17" fmla="*/ 23 h 23"/>
                <a:gd name="T18" fmla="*/ 6 w 10"/>
                <a:gd name="T19" fmla="*/ 10 h 23"/>
                <a:gd name="T20" fmla="*/ 10 w 10"/>
                <a:gd name="T21" fmla="*/ 7 h 23"/>
                <a:gd name="T22" fmla="*/ 8 w 10"/>
                <a:gd name="T23"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23">
                  <a:moveTo>
                    <a:pt x="8" y="7"/>
                  </a:moveTo>
                  <a:cubicBezTo>
                    <a:pt x="7" y="4"/>
                    <a:pt x="6" y="2"/>
                    <a:pt x="7" y="0"/>
                  </a:cubicBezTo>
                  <a:cubicBezTo>
                    <a:pt x="6" y="0"/>
                    <a:pt x="6" y="1"/>
                    <a:pt x="6" y="2"/>
                  </a:cubicBezTo>
                  <a:cubicBezTo>
                    <a:pt x="5" y="6"/>
                    <a:pt x="5" y="10"/>
                    <a:pt x="5" y="14"/>
                  </a:cubicBezTo>
                  <a:cubicBezTo>
                    <a:pt x="5" y="15"/>
                    <a:pt x="3" y="16"/>
                    <a:pt x="2" y="15"/>
                  </a:cubicBezTo>
                  <a:cubicBezTo>
                    <a:pt x="1" y="13"/>
                    <a:pt x="1" y="12"/>
                    <a:pt x="0" y="10"/>
                  </a:cubicBezTo>
                  <a:cubicBezTo>
                    <a:pt x="0" y="11"/>
                    <a:pt x="0" y="11"/>
                    <a:pt x="0" y="11"/>
                  </a:cubicBezTo>
                  <a:cubicBezTo>
                    <a:pt x="0" y="12"/>
                    <a:pt x="0" y="12"/>
                    <a:pt x="0" y="13"/>
                  </a:cubicBezTo>
                  <a:cubicBezTo>
                    <a:pt x="0" y="13"/>
                    <a:pt x="2" y="23"/>
                    <a:pt x="4" y="23"/>
                  </a:cubicBezTo>
                  <a:cubicBezTo>
                    <a:pt x="6" y="23"/>
                    <a:pt x="6" y="10"/>
                    <a:pt x="6" y="10"/>
                  </a:cubicBezTo>
                  <a:cubicBezTo>
                    <a:pt x="6" y="10"/>
                    <a:pt x="7" y="8"/>
                    <a:pt x="10" y="7"/>
                  </a:cubicBezTo>
                  <a:cubicBezTo>
                    <a:pt x="9" y="7"/>
                    <a:pt x="8" y="7"/>
                    <a:pt x="8" y="7"/>
                  </a:cubicBezTo>
                  <a:close/>
                </a:path>
              </a:pathLst>
            </a:custGeom>
            <a:solidFill>
              <a:srgbClr val="C2C3C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4" name="文本框 3"/>
          <p:cNvSpPr txBox="1"/>
          <p:nvPr/>
        </p:nvSpPr>
        <p:spPr>
          <a:xfrm>
            <a:off x="406291" y="1803431"/>
            <a:ext cx="1124129" cy="461665"/>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年长者</a:t>
            </a:r>
          </a:p>
        </p:txBody>
      </p:sp>
      <mc:AlternateContent xmlns:mc="http://schemas.openxmlformats.org/markup-compatibility/2006" xmlns:a14="http://schemas.microsoft.com/office/drawing/2010/main">
        <mc:Choice Requires="a14">
          <p:sp>
            <p:nvSpPr>
              <p:cNvPr id="174" name="文本框 173"/>
              <p:cNvSpPr txBox="1"/>
              <p:nvPr/>
            </p:nvSpPr>
            <p:spPr>
              <a:xfrm>
                <a:off x="2818269" y="1753642"/>
                <a:ext cx="955445" cy="400110"/>
              </a:xfrm>
              <a:prstGeom prst="rect">
                <a:avLst/>
              </a:prstGeom>
              <a:noFill/>
            </p:spPr>
            <p:txBody>
              <a:bodyPr wrap="square" rtlCol="0">
                <a:spAutoFit/>
              </a:bodyPr>
              <a:lstStyle/>
              <a:p>
                <a:r>
                  <a:rPr lang="zh-CN" altLang="zh-CN" sz="2000" dirty="0">
                    <a:latin typeface="楷体" panose="02010609060101010101" pitchFamily="49" charset="-122"/>
                    <a:ea typeface="楷体" panose="02010609060101010101" pitchFamily="49" charset="-122"/>
                    <a:cs typeface="Times New Roman" panose="02020603050405020304" pitchFamily="18" charset="0"/>
                  </a:rPr>
                  <a:t>消费</a:t>
                </a:r>
                <a14:m>
                  <m:oMath xmlns:m="http://schemas.openxmlformats.org/officeDocument/2006/math">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𝐶</m:t>
                        </m:r>
                      </m:e>
                      <m:sub>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1</m:t>
                        </m:r>
                      </m:sub>
                    </m:sSub>
                  </m:oMath>
                </a14:m>
                <a:endParaRPr lang="zh-CN" altLang="en-US" sz="2000" dirty="0">
                  <a:latin typeface="楷体" panose="02010609060101010101" pitchFamily="49" charset="-122"/>
                  <a:ea typeface="楷体" panose="02010609060101010101" pitchFamily="49" charset="-122"/>
                </a:endParaRPr>
              </a:p>
            </p:txBody>
          </p:sp>
        </mc:Choice>
        <mc:Fallback xmlns="">
          <p:sp>
            <p:nvSpPr>
              <p:cNvPr id="174" name="文本框 173"/>
              <p:cNvSpPr txBox="1">
                <a:spLocks noRot="1" noChangeAspect="1" noMove="1" noResize="1" noEditPoints="1" noAdjustHandles="1" noChangeArrowheads="1" noChangeShapeType="1" noTextEdit="1"/>
              </p:cNvSpPr>
              <p:nvPr/>
            </p:nvSpPr>
            <p:spPr>
              <a:xfrm>
                <a:off x="2818269" y="1753642"/>
                <a:ext cx="955445" cy="400110"/>
              </a:xfrm>
              <a:prstGeom prst="rect">
                <a:avLst/>
              </a:prstGeom>
              <a:blipFill rotWithShape="1">
                <a:blip r:embed="rId2"/>
                <a:stretch>
                  <a:fillRect l="-15" t="-102" r="57" b="-636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5" name="文本框 174"/>
              <p:cNvSpPr txBox="1"/>
              <p:nvPr/>
            </p:nvSpPr>
            <p:spPr>
              <a:xfrm>
                <a:off x="2395391" y="2363478"/>
                <a:ext cx="1801201" cy="400110"/>
              </a:xfrm>
              <a:prstGeom prst="rect">
                <a:avLst/>
              </a:prstGeom>
              <a:noFill/>
            </p:spPr>
            <p:txBody>
              <a:bodyPr wrap="square" rtlCol="0">
                <a:spAutoFit/>
              </a:bodyPr>
              <a:lstStyle/>
              <a:p>
                <a:r>
                  <a:rPr lang="zh-CN" altLang="zh-CN" sz="2000" dirty="0">
                    <a:latin typeface="楷体" panose="02010609060101010101" pitchFamily="49" charset="-122"/>
                    <a:ea typeface="楷体" panose="02010609060101010101" pitchFamily="49" charset="-122"/>
                    <a:cs typeface="Times New Roman" panose="02020603050405020304" pitchFamily="18" charset="0"/>
                  </a:rPr>
                  <a:t>储蓄</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rPr>
                        </m:ctrlPr>
                      </m:sSubPr>
                      <m:e>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𝑆</m:t>
                        </m:r>
                      </m:e>
                      <m:sub>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1</m:t>
                        </m:r>
                      </m:sub>
                    </m:sSub>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𝑤</m:t>
                        </m:r>
                      </m:e>
                      <m:sub>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0</m:t>
                        </m:r>
                      </m:sub>
                    </m:sSub>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𝑠</m:t>
                        </m:r>
                      </m:e>
                      <m:sub>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1</m:t>
                        </m:r>
                      </m:sub>
                    </m:sSub>
                  </m:oMath>
                </a14:m>
                <a:endParaRPr lang="zh-CN" altLang="en-US" sz="2000" dirty="0">
                  <a:latin typeface="楷体" panose="02010609060101010101" pitchFamily="49" charset="-122"/>
                  <a:ea typeface="楷体" panose="02010609060101010101" pitchFamily="49" charset="-122"/>
                </a:endParaRPr>
              </a:p>
            </p:txBody>
          </p:sp>
        </mc:Choice>
        <mc:Fallback xmlns="">
          <p:sp>
            <p:nvSpPr>
              <p:cNvPr id="175" name="文本框 174"/>
              <p:cNvSpPr txBox="1">
                <a:spLocks noRot="1" noChangeAspect="1" noMove="1" noResize="1" noEditPoints="1" noAdjustHandles="1" noChangeArrowheads="1" noChangeShapeType="1" noTextEdit="1"/>
              </p:cNvSpPr>
              <p:nvPr/>
            </p:nvSpPr>
            <p:spPr>
              <a:xfrm>
                <a:off x="2395391" y="2363478"/>
                <a:ext cx="1801201" cy="400110"/>
              </a:xfrm>
              <a:prstGeom prst="rect">
                <a:avLst/>
              </a:prstGeom>
              <a:blipFill rotWithShape="1">
                <a:blip r:embed="rId3"/>
                <a:stretch>
                  <a:fillRect l="-9" t="-2" r="28" b="-637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2261051" y="2973314"/>
                <a:ext cx="1942391" cy="400110"/>
              </a:xfrm>
              <a:prstGeom prst="rect">
                <a:avLst/>
              </a:prstGeom>
            </p:spPr>
            <p:txBody>
              <a:bodyPr wrap="none">
                <a:spAutoFit/>
              </a:bodyPr>
              <a:lstStyle/>
              <a:p>
                <a:r>
                  <a:rPr lang="zh-CN" altLang="zh-CN" sz="2000" dirty="0">
                    <a:latin typeface="楷体" panose="02010609060101010101" pitchFamily="49" charset="-122"/>
                    <a:ea typeface="楷体" panose="02010609060101010101" pitchFamily="49" charset="-122"/>
                    <a:cs typeface="Times New Roman" panose="02020603050405020304" pitchFamily="18" charset="0"/>
                  </a:rPr>
                  <a:t>长护险保费</a:t>
                </a:r>
                <a14:m>
                  <m:oMath xmlns:m="http://schemas.openxmlformats.org/officeDocument/2006/math">
                    <m:r>
                      <a:rPr lang="en-US" altLang="zh-CN" sz="2000" i="1">
                        <a:latin typeface="Cambria Math" panose="02040503050406030204" pitchFamily="18" charset="0"/>
                        <a:ea typeface="仿宋" panose="02010609060101010101" pitchFamily="49" charset="-122"/>
                        <a:cs typeface="Times New Roman" panose="02020603050405020304" pitchFamily="18" charset="0"/>
                      </a:rPr>
                      <m:t>𝜋</m:t>
                    </m:r>
                    <m:r>
                      <a:rPr lang="en-US" altLang="zh-CN" sz="2000" i="1">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𝐼</m:t>
                    </m:r>
                    <m:r>
                      <a:rPr lang="en-US" altLang="zh-CN" sz="2000" i="1">
                        <a:latin typeface="Cambria Math" panose="02040503050406030204" pitchFamily="18" charset="0"/>
                        <a:ea typeface="仿宋" panose="02010609060101010101" pitchFamily="49" charset="-122"/>
                        <a:cs typeface="Times New Roman" panose="02020603050405020304" pitchFamily="18" charset="0"/>
                      </a:rPr>
                      <m:t>)</m:t>
                    </m:r>
                  </m:oMath>
                </a14:m>
                <a:endParaRPr lang="zh-CN" altLang="en-US" sz="2000" dirty="0">
                  <a:latin typeface="楷体" panose="02010609060101010101" pitchFamily="49" charset="-122"/>
                  <a:ea typeface="楷体" panose="02010609060101010101" pitchFamily="49"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2261051" y="2973314"/>
                <a:ext cx="1942391" cy="400110"/>
              </a:xfrm>
              <a:prstGeom prst="rect">
                <a:avLst/>
              </a:prstGeom>
              <a:blipFill rotWithShape="1">
                <a:blip r:embed="rId4"/>
                <a:stretch>
                  <a:fillRect l="-23" t="-61" r="-177" b="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277794" y="4482702"/>
                <a:ext cx="383989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2000" i="1">
                              <a:latin typeface="Cambria Math" panose="02040503050406030204" pitchFamily="18" charset="0"/>
                            </a:rPr>
                          </m:ctrlPr>
                        </m:dPr>
                        <m:e>
                          <m:r>
                            <m:rPr>
                              <m:nor/>
                            </m:rPr>
                            <a:rPr lang="zh-CN" altLang="zh-CN" sz="2000" dirty="0">
                              <a:latin typeface="楷体" panose="02010609060101010101" pitchFamily="49" charset="-122"/>
                              <a:ea typeface="楷体" panose="02010609060101010101" pitchFamily="49" charset="-122"/>
                              <a:cs typeface="Times New Roman" panose="02020603050405020304" pitchFamily="18" charset="0"/>
                            </a:rPr>
                            <m:t>初始财富</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𝑤</m:t>
                              </m:r>
                            </m:e>
                            <m:sub>
                              <m:r>
                                <a:rPr lang="zh-CN" altLang="en-US" sz="2000" i="0">
                                  <a:latin typeface="Cambria Math" panose="02040503050406030204" pitchFamily="18" charset="0"/>
                                </a:rPr>
                                <m:t>0</m:t>
                              </m:r>
                            </m:sub>
                          </m:sSub>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𝐶</m:t>
                              </m:r>
                            </m:e>
                            <m:sub>
                              <m:r>
                                <a:rPr lang="zh-CN" altLang="en-US" sz="2000" i="0">
                                  <a:latin typeface="Cambria Math" panose="02040503050406030204" pitchFamily="18" charset="0"/>
                                </a:rPr>
                                <m:t>1</m:t>
                              </m:r>
                            </m:sub>
                          </m:sSub>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𝑤</m:t>
                              </m:r>
                            </m:e>
                            <m:sub>
                              <m:r>
                                <a:rPr lang="zh-CN" altLang="en-US" sz="2000" i="0">
                                  <a:latin typeface="Cambria Math" panose="02040503050406030204" pitchFamily="18" charset="0"/>
                                </a:rPr>
                                <m:t>0</m:t>
                              </m:r>
                            </m:sub>
                          </m:sSub>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𝑠</m:t>
                              </m:r>
                            </m:e>
                            <m:sub>
                              <m:r>
                                <a:rPr lang="zh-CN" altLang="en-US" sz="2000" i="0">
                                  <a:latin typeface="Cambria Math" panose="02040503050406030204" pitchFamily="18" charset="0"/>
                                </a:rPr>
                                <m:t>1</m:t>
                              </m:r>
                            </m:sub>
                          </m:sSub>
                          <m:r>
                            <a:rPr lang="zh-CN" altLang="en-US" sz="2000" i="0">
                              <a:latin typeface="Cambria Math" panose="02040503050406030204" pitchFamily="18" charset="0"/>
                            </a:rPr>
                            <m:t>+</m:t>
                          </m:r>
                          <m:r>
                            <a:rPr lang="zh-CN" altLang="en-US" sz="2000" i="1">
                              <a:latin typeface="Cambria Math" panose="02040503050406030204" pitchFamily="18" charset="0"/>
                            </a:rPr>
                            <m:t>𝜋</m:t>
                          </m:r>
                          <m:r>
                            <a:rPr lang="zh-CN" altLang="en-US" sz="2000" i="0">
                              <a:latin typeface="Cambria Math" panose="02040503050406030204" pitchFamily="18" charset="0"/>
                            </a:rPr>
                            <m:t>(</m:t>
                          </m:r>
                          <m:r>
                            <a:rPr lang="zh-CN" altLang="en-US" sz="2000" i="1">
                              <a:latin typeface="Cambria Math" panose="02040503050406030204" pitchFamily="18" charset="0"/>
                            </a:rPr>
                            <m:t>𝐼</m:t>
                          </m:r>
                        </m:e>
                      </m:d>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6" name="矩形 5"/>
              <p:cNvSpPr>
                <a:spLocks noRot="1" noChangeAspect="1" noMove="1" noResize="1" noEditPoints="1" noAdjustHandles="1" noChangeArrowheads="1" noChangeShapeType="1" noTextEdit="1"/>
              </p:cNvSpPr>
              <p:nvPr/>
            </p:nvSpPr>
            <p:spPr>
              <a:xfrm>
                <a:off x="1277794" y="4482702"/>
                <a:ext cx="3839897" cy="400110"/>
              </a:xfrm>
              <a:prstGeom prst="rect">
                <a:avLst/>
              </a:prstGeom>
              <a:blipFill rotWithShape="1">
                <a:blip r:embed="rId5"/>
                <a:stretch>
                  <a:fillRect l="-5" t="-59" r="6" b="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6439863" y="2480934"/>
                <a:ext cx="3300112" cy="400110"/>
              </a:xfrm>
              <a:prstGeom prst="rect">
                <a:avLst/>
              </a:prstGeom>
            </p:spPr>
            <p:txBody>
              <a:bodyPr wrap="square">
                <a:spAutoFit/>
              </a:bodyPr>
              <a:lstStyle/>
              <a:p>
                <a:r>
                  <a:rPr lang="zh-CN" altLang="zh-CN" sz="2000" dirty="0">
                    <a:latin typeface="楷体" panose="02010609060101010101" pitchFamily="49" charset="-122"/>
                    <a:ea typeface="楷体" panose="02010609060101010101" pitchFamily="49" charset="-122"/>
                    <a:cs typeface="Times New Roman" panose="02020603050405020304" pitchFamily="18" charset="0"/>
                  </a:rPr>
                  <a:t>节省雇佣护理人员的花费</a:t>
                </a:r>
                <a14:m>
                  <m:oMath xmlns:m="http://schemas.openxmlformats.org/officeDocument/2006/math">
                    <m:r>
                      <a:rPr lang="en-US" altLang="zh-CN" sz="2000" i="1">
                        <a:latin typeface="Cambria Math" panose="02040503050406030204" pitchFamily="18" charset="0"/>
                        <a:ea typeface="仿宋" panose="02010609060101010101" pitchFamily="49" charset="-122"/>
                        <a:cs typeface="Times New Roman" panose="02020603050405020304" pitchFamily="18" charset="0"/>
                      </a:rPr>
                      <m:t>𝜃</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𝑒</m:t>
                    </m:r>
                  </m:oMath>
                </a14:m>
                <a:endParaRPr lang="zh-CN" altLang="en-US" sz="2000" dirty="0">
                  <a:latin typeface="楷体" panose="02010609060101010101" pitchFamily="49" charset="-122"/>
                  <a:ea typeface="楷体" panose="02010609060101010101" pitchFamily="49" charset="-122"/>
                </a:endParaRPr>
              </a:p>
            </p:txBody>
          </p:sp>
        </mc:Choice>
        <mc:Fallback xmlns="">
          <p:sp>
            <p:nvSpPr>
              <p:cNvPr id="8" name="矩形 7"/>
              <p:cNvSpPr>
                <a:spLocks noRot="1" noChangeAspect="1" noMove="1" noResize="1" noEditPoints="1" noAdjustHandles="1" noChangeArrowheads="1" noChangeShapeType="1" noTextEdit="1"/>
              </p:cNvSpPr>
              <p:nvPr/>
            </p:nvSpPr>
            <p:spPr>
              <a:xfrm>
                <a:off x="6439863" y="2480934"/>
                <a:ext cx="3300112" cy="400110"/>
              </a:xfrm>
              <a:prstGeom prst="rect">
                <a:avLst/>
              </a:prstGeom>
              <a:blipFill rotWithShape="1">
                <a:blip r:embed="rId6"/>
                <a:stretch>
                  <a:fillRect l="-10" t="-156" r="10" b="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6302650" y="3377721"/>
                <a:ext cx="3826112" cy="707886"/>
              </a:xfrm>
              <a:prstGeom prst="rect">
                <a:avLst/>
              </a:prstGeom>
            </p:spPr>
            <p:txBody>
              <a:bodyPr wrap="none">
                <a:spAutoFit/>
              </a:bodyPr>
              <a:lstStyle/>
              <a:p>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年长者失能但陪护者健康</a:t>
                </a:r>
                <a:r>
                  <a:rPr lang="en-US" altLang="zh-CN" sz="2000" dirty="0">
                    <a:latin typeface="楷体" panose="02010609060101010101" pitchFamily="49" charset="-122"/>
                    <a:ea typeface="楷体" panose="02010609060101010101" pitchFamily="49" charset="-122"/>
                  </a:rPr>
                  <a:t>:</a:t>
                </a:r>
                <a:endParaRPr lang="en-US" altLang="zh-CN" sz="200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𝐷</m:t>
                          </m:r>
                        </m:e>
                        <m:sub>
                          <m:r>
                            <a:rPr lang="zh-CN" altLang="en-US" sz="2000" i="0">
                              <a:latin typeface="Cambria Math" panose="02040503050406030204" pitchFamily="18" charset="0"/>
                            </a:rPr>
                            <m:t>1</m:t>
                          </m:r>
                        </m:sub>
                      </m:sSub>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𝑤</m:t>
                          </m:r>
                        </m:e>
                        <m:sub>
                          <m:r>
                            <a:rPr lang="zh-CN" altLang="en-US" sz="2000" i="0">
                              <a:latin typeface="Cambria Math" panose="02040503050406030204" pitchFamily="18" charset="0"/>
                            </a:rPr>
                            <m:t>0</m:t>
                          </m:r>
                        </m:sub>
                      </m:sSub>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𝑠</m:t>
                          </m:r>
                        </m:e>
                        <m:sub>
                          <m:r>
                            <a:rPr lang="zh-CN" altLang="en-US" sz="2000" i="0">
                              <a:latin typeface="Cambria Math" panose="02040503050406030204" pitchFamily="18" charset="0"/>
                            </a:rPr>
                            <m:t>1</m:t>
                          </m:r>
                        </m:sub>
                      </m:sSub>
                      <m:d>
                        <m:dPr>
                          <m:ctrlPr>
                            <a:rPr lang="zh-CN" altLang="en-US" sz="2000" i="1">
                              <a:latin typeface="Cambria Math" panose="02040503050406030204" pitchFamily="18" charset="0"/>
                            </a:rPr>
                          </m:ctrlPr>
                        </m:dPr>
                        <m:e>
                          <m:r>
                            <a:rPr lang="zh-CN" altLang="en-US" sz="2000" i="0">
                              <a:latin typeface="Cambria Math" panose="02040503050406030204" pitchFamily="18" charset="0"/>
                            </a:rPr>
                            <m:t>1+</m:t>
                          </m:r>
                          <m:r>
                            <a:rPr lang="zh-CN" altLang="en-US" sz="2000" i="1">
                              <a:latin typeface="Cambria Math" panose="02040503050406030204" pitchFamily="18" charset="0"/>
                            </a:rPr>
                            <m:t>𝑖</m:t>
                          </m:r>
                        </m:e>
                      </m:d>
                      <m:r>
                        <a:rPr lang="zh-CN" altLang="en-US" sz="2000" i="0">
                          <a:latin typeface="Cambria Math" panose="02040503050406030204" pitchFamily="18" charset="0"/>
                        </a:rPr>
                        <m:t>−</m:t>
                      </m:r>
                      <m:r>
                        <a:rPr lang="zh-CN" altLang="en-US" sz="2000" i="1">
                          <a:latin typeface="Cambria Math" panose="02040503050406030204" pitchFamily="18" charset="0"/>
                        </a:rPr>
                        <m:t>𝑁</m:t>
                      </m:r>
                      <m:r>
                        <a:rPr lang="zh-CN" altLang="en-US" sz="2000" i="0">
                          <a:latin typeface="Cambria Math" panose="02040503050406030204" pitchFamily="18" charset="0"/>
                        </a:rPr>
                        <m:t>+</m:t>
                      </m:r>
                      <m:r>
                        <a:rPr lang="zh-CN" altLang="en-US" sz="2000" i="1">
                          <a:latin typeface="Cambria Math" panose="02040503050406030204" pitchFamily="18" charset="0"/>
                        </a:rPr>
                        <m:t>𝐼</m:t>
                      </m:r>
                      <m:r>
                        <a:rPr lang="zh-CN" altLang="en-US" sz="2000" i="0">
                          <a:latin typeface="Cambria Math" panose="02040503050406030204" pitchFamily="18" charset="0"/>
                        </a:rPr>
                        <m:t>+</m:t>
                      </m:r>
                      <m:r>
                        <a:rPr lang="zh-CN" altLang="en-US" sz="2000" i="1">
                          <a:latin typeface="Cambria Math" panose="02040503050406030204" pitchFamily="18" charset="0"/>
                        </a:rPr>
                        <m:t>𝜃</m:t>
                      </m:r>
                      <m:r>
                        <a:rPr lang="zh-CN" altLang="en-US" sz="2000" i="1">
                          <a:latin typeface="Cambria Math" panose="02040503050406030204" pitchFamily="18" charset="0"/>
                        </a:rPr>
                        <m:t>𝑒</m:t>
                      </m:r>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6302650" y="3377721"/>
                <a:ext cx="3826112" cy="707886"/>
              </a:xfrm>
              <a:prstGeom prst="rect">
                <a:avLst/>
              </a:prstGeom>
              <a:blipFill rotWithShape="1">
                <a:blip r:embed="rId7"/>
                <a:stretch>
                  <a:fillRect l="-7" t="-22" r="13" b="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6489694" y="4159162"/>
                <a:ext cx="3452025" cy="707886"/>
              </a:xfrm>
              <a:prstGeom prst="rect">
                <a:avLst/>
              </a:prstGeom>
            </p:spPr>
            <p:txBody>
              <a:bodyPr wrap="square">
                <a:spAutoFit/>
              </a:bodyPr>
              <a:lstStyle/>
              <a:p>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年长者和陪护者都失能</a:t>
                </a:r>
                <a:r>
                  <a:rPr lang="en-US" altLang="zh-CN" sz="2000" dirty="0">
                    <a:latin typeface="楷体" panose="02010609060101010101" pitchFamily="49" charset="-122"/>
                    <a:ea typeface="楷体" panose="02010609060101010101" pitchFamily="49" charset="-122"/>
                  </a:rPr>
                  <a:t>:</a:t>
                </a:r>
                <a:endParaRPr lang="en-US" altLang="zh-CN" sz="200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en-US" sz="2000" i="1" smtClean="0">
                              <a:latin typeface="Cambria Math" panose="02040503050406030204" pitchFamily="18" charset="0"/>
                            </a:rPr>
                          </m:ctrlPr>
                        </m:sSubPr>
                        <m:e>
                          <m:r>
                            <a:rPr lang="zh-CN" altLang="en-US" sz="2000" i="1">
                              <a:latin typeface="Cambria Math" panose="02040503050406030204" pitchFamily="18" charset="0"/>
                            </a:rPr>
                            <m:t>𝐷</m:t>
                          </m:r>
                        </m:e>
                        <m:sub>
                          <m:r>
                            <a:rPr lang="zh-CN" altLang="en-US" sz="2000" i="0">
                              <a:latin typeface="Cambria Math" panose="02040503050406030204" pitchFamily="18" charset="0"/>
                            </a:rPr>
                            <m:t>2</m:t>
                          </m:r>
                        </m:sub>
                      </m:sSub>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𝑤</m:t>
                          </m:r>
                        </m:e>
                        <m:sub>
                          <m:r>
                            <a:rPr lang="zh-CN" altLang="en-US" sz="2000" i="0">
                              <a:latin typeface="Cambria Math" panose="02040503050406030204" pitchFamily="18" charset="0"/>
                            </a:rPr>
                            <m:t>0</m:t>
                          </m:r>
                        </m:sub>
                      </m:sSub>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𝑠</m:t>
                          </m:r>
                        </m:e>
                        <m:sub>
                          <m:r>
                            <a:rPr lang="zh-CN" altLang="en-US" sz="2000" i="0">
                              <a:latin typeface="Cambria Math" panose="02040503050406030204" pitchFamily="18" charset="0"/>
                            </a:rPr>
                            <m:t>1</m:t>
                          </m:r>
                        </m:sub>
                      </m:sSub>
                      <m:d>
                        <m:dPr>
                          <m:ctrlPr>
                            <a:rPr lang="zh-CN" altLang="en-US" sz="2000" i="1">
                              <a:latin typeface="Cambria Math" panose="02040503050406030204" pitchFamily="18" charset="0"/>
                            </a:rPr>
                          </m:ctrlPr>
                        </m:dPr>
                        <m:e>
                          <m:r>
                            <a:rPr lang="zh-CN" altLang="en-US" sz="2000" i="0">
                              <a:latin typeface="Cambria Math" panose="02040503050406030204" pitchFamily="18" charset="0"/>
                            </a:rPr>
                            <m:t>1+</m:t>
                          </m:r>
                          <m:r>
                            <a:rPr lang="zh-CN" altLang="en-US" sz="2000" i="1">
                              <a:latin typeface="Cambria Math" panose="02040503050406030204" pitchFamily="18" charset="0"/>
                            </a:rPr>
                            <m:t>𝑖</m:t>
                          </m:r>
                        </m:e>
                      </m:d>
                      <m:r>
                        <a:rPr lang="zh-CN" altLang="en-US" sz="2000" i="0">
                          <a:latin typeface="Cambria Math" panose="02040503050406030204" pitchFamily="18" charset="0"/>
                        </a:rPr>
                        <m:t>−</m:t>
                      </m:r>
                      <m:r>
                        <a:rPr lang="zh-CN" altLang="en-US" sz="2000" i="1">
                          <a:latin typeface="Cambria Math" panose="02040503050406030204" pitchFamily="18" charset="0"/>
                        </a:rPr>
                        <m:t>𝑁</m:t>
                      </m:r>
                      <m:r>
                        <a:rPr lang="zh-CN" altLang="en-US" sz="2000" i="0">
                          <a:latin typeface="Cambria Math" panose="02040503050406030204" pitchFamily="18" charset="0"/>
                        </a:rPr>
                        <m:t>+</m:t>
                      </m:r>
                      <m:r>
                        <a:rPr lang="zh-CN" altLang="en-US" sz="2000" i="1">
                          <a:latin typeface="Cambria Math" panose="02040503050406030204" pitchFamily="18" charset="0"/>
                        </a:rPr>
                        <m:t>𝐼</m:t>
                      </m:r>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6489694" y="4159162"/>
                <a:ext cx="3452025" cy="707886"/>
              </a:xfrm>
              <a:prstGeom prst="rect">
                <a:avLst/>
              </a:prstGeom>
              <a:blipFill rotWithShape="1">
                <a:blip r:embed="rId8"/>
                <a:stretch>
                  <a:fillRect l="-18" t="-77" r="5" b="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7165515" y="4917357"/>
                <a:ext cx="2100383" cy="707886"/>
              </a:xfrm>
              <a:prstGeom prst="rect">
                <a:avLst/>
              </a:prstGeom>
            </p:spPr>
            <p:txBody>
              <a:bodyPr wrap="none">
                <a:spAutoFit/>
              </a:bodyPr>
              <a:lstStyle/>
              <a:p>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年长者健康</a:t>
                </a:r>
                <a:r>
                  <a:rPr lang="en-US" altLang="zh-CN" sz="2000" dirty="0">
                    <a:latin typeface="楷体" panose="02010609060101010101" pitchFamily="49" charset="-122"/>
                    <a:ea typeface="楷体" panose="02010609060101010101" pitchFamily="49" charset="-122"/>
                  </a:rPr>
                  <a:t>:</a:t>
                </a:r>
                <a:endParaRPr lang="en-US" altLang="zh-CN" sz="200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d>
                        <m:dPr>
                          <m:begChr m:val=""/>
                          <m:ctrlPr>
                            <a:rPr lang="zh-CN" altLang="en-US" sz="2000" i="1">
                              <a:latin typeface="Cambria Math" panose="02040503050406030204" pitchFamily="18" charset="0"/>
                            </a:rPr>
                          </m:ctrlPr>
                        </m:dPr>
                        <m:e>
                          <m:r>
                            <a:rPr lang="zh-CN" altLang="en-US" sz="2000" i="1">
                              <a:latin typeface="Cambria Math" panose="02040503050406030204" pitchFamily="18" charset="0"/>
                            </a:rPr>
                            <m:t>𝐵</m:t>
                          </m:r>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𝑤</m:t>
                              </m:r>
                            </m:e>
                            <m:sub>
                              <m:r>
                                <a:rPr lang="zh-CN" altLang="en-US" sz="2000" i="0">
                                  <a:latin typeface="Cambria Math" panose="02040503050406030204" pitchFamily="18" charset="0"/>
                                </a:rPr>
                                <m:t>0</m:t>
                              </m:r>
                            </m:sub>
                          </m:sSub>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𝑠</m:t>
                              </m:r>
                            </m:e>
                            <m:sub>
                              <m:r>
                                <a:rPr lang="zh-CN" altLang="en-US" sz="2000" i="0">
                                  <a:latin typeface="Cambria Math" panose="02040503050406030204" pitchFamily="18" charset="0"/>
                                </a:rPr>
                                <m:t>1</m:t>
                              </m:r>
                            </m:sub>
                          </m:sSub>
                          <m:r>
                            <a:rPr lang="zh-CN" altLang="en-US" sz="2000" i="0">
                              <a:latin typeface="Cambria Math" panose="02040503050406030204" pitchFamily="18" charset="0"/>
                            </a:rPr>
                            <m:t>(1+</m:t>
                          </m:r>
                          <m:r>
                            <a:rPr lang="zh-CN" altLang="en-US" sz="2000" i="1">
                              <a:latin typeface="Cambria Math" panose="02040503050406030204" pitchFamily="18" charset="0"/>
                            </a:rPr>
                            <m:t>𝑖</m:t>
                          </m:r>
                        </m:e>
                      </m:d>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11" name="矩形 10"/>
              <p:cNvSpPr>
                <a:spLocks noRot="1" noChangeAspect="1" noMove="1" noResize="1" noEditPoints="1" noAdjustHandles="1" noChangeArrowheads="1" noChangeShapeType="1" noTextEdit="1"/>
              </p:cNvSpPr>
              <p:nvPr/>
            </p:nvSpPr>
            <p:spPr>
              <a:xfrm>
                <a:off x="7165515" y="4917357"/>
                <a:ext cx="2100383" cy="707886"/>
              </a:xfrm>
              <a:prstGeom prst="rect">
                <a:avLst/>
              </a:prstGeom>
              <a:blipFill rotWithShape="1">
                <a:blip r:embed="rId9"/>
                <a:stretch>
                  <a:fillRect l="-8" t="-78" r="29" b="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65123" y="5871251"/>
                <a:ext cx="10336773" cy="613438"/>
              </a:xfrm>
              <a:prstGeom prst="rect">
                <a:avLst/>
              </a:prstGeom>
            </p:spPr>
            <p:txBody>
              <a:bodyPr wrap="square">
                <a:spAutoFit/>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000" i="1" kern="100" smtClean="0">
                          <a:solidFill>
                            <a:schemeClr val="accent3">
                              <a:lumMod val="75000"/>
                            </a:schemeClr>
                          </a:solidFill>
                          <a:latin typeface="Cambria Math" panose="02040503050406030204" pitchFamily="18" charset="0"/>
                          <a:ea typeface="仿宋" panose="02010609060101010101" pitchFamily="49" charset="-122"/>
                        </a:rPr>
                        <m:t>𝐸𝑈</m:t>
                      </m:r>
                      <m:r>
                        <a:rPr lang="en-US" altLang="zh-CN" sz="2000" i="1" kern="100">
                          <a:solidFill>
                            <a:schemeClr val="accent3">
                              <a:lumMod val="75000"/>
                            </a:schemeClr>
                          </a:solidFill>
                          <a:latin typeface="Cambria Math" panose="02040503050406030204" pitchFamily="18" charset="0"/>
                          <a:ea typeface="仿宋" panose="02010609060101010101" pitchFamily="49" charset="-122"/>
                        </a:rPr>
                        <m:t>=</m:t>
                      </m:r>
                      <m:r>
                        <a:rPr lang="en-US" altLang="zh-CN" sz="2000" i="1" kern="100">
                          <a:solidFill>
                            <a:schemeClr val="accent3">
                              <a:lumMod val="75000"/>
                            </a:schemeClr>
                          </a:solidFill>
                          <a:latin typeface="Cambria Math" panose="02040503050406030204" pitchFamily="18" charset="0"/>
                          <a:ea typeface="仿宋" panose="02010609060101010101" pitchFamily="49" charset="-122"/>
                        </a:rPr>
                        <m:t>𝑢</m:t>
                      </m:r>
                      <m:d>
                        <m:d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dPr>
                        <m:e>
                          <m:sSub>
                            <m:sSub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sSubPr>
                            <m:e>
                              <m:r>
                                <a:rPr lang="en-US" altLang="zh-CN" sz="2000" i="1" kern="100">
                                  <a:solidFill>
                                    <a:schemeClr val="accent3">
                                      <a:lumMod val="75000"/>
                                    </a:schemeClr>
                                  </a:solidFill>
                                  <a:latin typeface="Cambria Math" panose="02040503050406030204" pitchFamily="18" charset="0"/>
                                  <a:ea typeface="仿宋" panose="02010609060101010101" pitchFamily="49" charset="-122"/>
                                </a:rPr>
                                <m:t>𝐶</m:t>
                              </m:r>
                            </m:e>
                            <m:sub>
                              <m:r>
                                <a:rPr lang="en-US" altLang="zh-CN" sz="2000" i="1" kern="100">
                                  <a:solidFill>
                                    <a:schemeClr val="accent3">
                                      <a:lumMod val="75000"/>
                                    </a:schemeClr>
                                  </a:solidFill>
                                  <a:latin typeface="Cambria Math" panose="02040503050406030204" pitchFamily="18" charset="0"/>
                                  <a:ea typeface="仿宋" panose="02010609060101010101" pitchFamily="49" charset="-122"/>
                                </a:rPr>
                                <m:t>1</m:t>
                              </m:r>
                            </m:sub>
                          </m:sSub>
                        </m:e>
                      </m:d>
                      <m:r>
                        <a:rPr lang="en-US" altLang="zh-CN" sz="2000" i="1" kern="100">
                          <a:solidFill>
                            <a:schemeClr val="accent3">
                              <a:lumMod val="75000"/>
                            </a:schemeClr>
                          </a:solidFill>
                          <a:latin typeface="Cambria Math" panose="02040503050406030204" pitchFamily="18" charset="0"/>
                          <a:ea typeface="仿宋" panose="02010609060101010101" pitchFamily="49" charset="-122"/>
                        </a:rPr>
                        <m:t>+</m:t>
                      </m:r>
                      <m:r>
                        <a:rPr lang="en-US" altLang="zh-CN" sz="2000" i="1" kern="100">
                          <a:solidFill>
                            <a:schemeClr val="accent3">
                              <a:lumMod val="75000"/>
                            </a:schemeClr>
                          </a:solidFill>
                          <a:latin typeface="Cambria Math" panose="02040503050406030204" pitchFamily="18" charset="0"/>
                          <a:ea typeface="仿宋" panose="02010609060101010101" pitchFamily="49" charset="-122"/>
                        </a:rPr>
                        <m:t>𝑝</m:t>
                      </m:r>
                      <m:d>
                        <m:d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dPr>
                        <m:e>
                          <m:r>
                            <a:rPr lang="en-US" altLang="zh-CN" sz="2000" i="1" kern="100">
                              <a:solidFill>
                                <a:schemeClr val="accent3">
                                  <a:lumMod val="75000"/>
                                </a:schemeClr>
                              </a:solidFill>
                              <a:latin typeface="Cambria Math" panose="02040503050406030204" pitchFamily="18" charset="0"/>
                              <a:ea typeface="仿宋" panose="02010609060101010101" pitchFamily="49" charset="-122"/>
                            </a:rPr>
                            <m:t>1−</m:t>
                          </m:r>
                          <m:r>
                            <a:rPr lang="en-US" altLang="zh-CN" sz="2000" i="1" kern="100">
                              <a:solidFill>
                                <a:schemeClr val="accent3">
                                  <a:lumMod val="75000"/>
                                </a:schemeClr>
                              </a:solidFill>
                              <a:latin typeface="Cambria Math" panose="02040503050406030204" pitchFamily="18" charset="0"/>
                              <a:ea typeface="仿宋" panose="02010609060101010101" pitchFamily="49" charset="-122"/>
                            </a:rPr>
                            <m:t>𝑞</m:t>
                          </m:r>
                        </m:e>
                      </m:d>
                      <m:sSup>
                        <m:sSup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sSupPr>
                        <m:e>
                          <m:r>
                            <a:rPr lang="en-US" altLang="zh-CN" sz="2000" i="1" kern="100">
                              <a:solidFill>
                                <a:schemeClr val="accent3">
                                  <a:lumMod val="75000"/>
                                </a:schemeClr>
                              </a:solidFill>
                              <a:latin typeface="Cambria Math" panose="02040503050406030204" pitchFamily="18" charset="0"/>
                              <a:ea typeface="仿宋" panose="02010609060101010101" pitchFamily="49" charset="-122"/>
                            </a:rPr>
                            <m:t>𝑣</m:t>
                          </m:r>
                        </m:e>
                        <m:sup>
                          <m:r>
                            <a:rPr lang="en-US" altLang="zh-CN" sz="2000" i="1" kern="100">
                              <a:solidFill>
                                <a:schemeClr val="accent3">
                                  <a:lumMod val="75000"/>
                                </a:schemeClr>
                              </a:solidFill>
                              <a:latin typeface="Cambria Math" panose="02040503050406030204" pitchFamily="18" charset="0"/>
                              <a:ea typeface="仿宋" panose="02010609060101010101" pitchFamily="49" charset="-122"/>
                            </a:rPr>
                            <m:t>1</m:t>
                          </m:r>
                        </m:sup>
                      </m:sSup>
                      <m:d>
                        <m:d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dPr>
                        <m:e>
                          <m:d>
                            <m:d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dPr>
                            <m:e>
                              <m:r>
                                <a:rPr lang="en-US" altLang="zh-CN" sz="2000" i="1" kern="100">
                                  <a:solidFill>
                                    <a:schemeClr val="accent3">
                                      <a:lumMod val="75000"/>
                                    </a:schemeClr>
                                  </a:solidFill>
                                  <a:latin typeface="Cambria Math" panose="02040503050406030204" pitchFamily="18" charset="0"/>
                                  <a:ea typeface="仿宋" panose="02010609060101010101" pitchFamily="49" charset="-122"/>
                                </a:rPr>
                                <m:t>1−</m:t>
                              </m:r>
                              <m:r>
                                <a:rPr lang="en-US" altLang="zh-CN" sz="2000" i="1" kern="100">
                                  <a:solidFill>
                                    <a:schemeClr val="accent3">
                                      <a:lumMod val="75000"/>
                                    </a:schemeClr>
                                  </a:solidFill>
                                  <a:latin typeface="Cambria Math" panose="02040503050406030204" pitchFamily="18" charset="0"/>
                                  <a:ea typeface="仿宋" panose="02010609060101010101" pitchFamily="49" charset="-122"/>
                                </a:rPr>
                                <m:t>𝑘</m:t>
                              </m:r>
                            </m:e>
                          </m:d>
                          <m:sSub>
                            <m:sSub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sSubPr>
                            <m:e>
                              <m:r>
                                <a:rPr lang="en-US" altLang="zh-CN" sz="2000" i="1" kern="100">
                                  <a:solidFill>
                                    <a:schemeClr val="accent3">
                                      <a:lumMod val="75000"/>
                                    </a:schemeClr>
                                  </a:solidFill>
                                  <a:latin typeface="Cambria Math" panose="02040503050406030204" pitchFamily="18" charset="0"/>
                                  <a:ea typeface="仿宋" panose="02010609060101010101" pitchFamily="49" charset="-122"/>
                                </a:rPr>
                                <m:t>𝐷</m:t>
                              </m:r>
                            </m:e>
                            <m:sub>
                              <m:r>
                                <a:rPr lang="en-US" altLang="zh-CN" sz="2000" i="1" kern="100">
                                  <a:solidFill>
                                    <a:schemeClr val="accent3">
                                      <a:lumMod val="75000"/>
                                    </a:schemeClr>
                                  </a:solidFill>
                                  <a:latin typeface="Cambria Math" panose="02040503050406030204" pitchFamily="18" charset="0"/>
                                  <a:ea typeface="仿宋" panose="02010609060101010101" pitchFamily="49" charset="-122"/>
                                </a:rPr>
                                <m:t>1</m:t>
                              </m:r>
                            </m:sub>
                          </m:sSub>
                        </m:e>
                      </m:d>
                      <m:sSup>
                        <m:sSup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sSupPr>
                        <m:e>
                          <m:r>
                            <a:rPr lang="en-US" altLang="zh-CN" sz="2000" i="1" kern="100">
                              <a:solidFill>
                                <a:schemeClr val="accent3">
                                  <a:lumMod val="75000"/>
                                </a:schemeClr>
                              </a:solidFill>
                              <a:latin typeface="Cambria Math" panose="02040503050406030204" pitchFamily="18" charset="0"/>
                              <a:ea typeface="仿宋" panose="02010609060101010101" pitchFamily="49" charset="-122"/>
                            </a:rPr>
                            <m:t>𝑒</m:t>
                          </m:r>
                        </m:e>
                        <m:sup>
                          <m:r>
                            <a:rPr lang="en-US" altLang="zh-CN" sz="2000" i="1" kern="100">
                              <a:solidFill>
                                <a:schemeClr val="accent3">
                                  <a:lumMod val="75000"/>
                                </a:schemeClr>
                              </a:solidFill>
                              <a:latin typeface="Cambria Math" panose="02040503050406030204" pitchFamily="18" charset="0"/>
                              <a:ea typeface="仿宋" panose="02010609060101010101" pitchFamily="49" charset="-122"/>
                            </a:rPr>
                            <m:t>−</m:t>
                          </m:r>
                          <m:r>
                            <a:rPr lang="en-US" altLang="zh-CN" sz="2000" i="1" kern="100">
                              <a:solidFill>
                                <a:schemeClr val="accent3">
                                  <a:lumMod val="75000"/>
                                </a:schemeClr>
                              </a:solidFill>
                              <a:latin typeface="Cambria Math" panose="02040503050406030204" pitchFamily="18" charset="0"/>
                              <a:ea typeface="仿宋" panose="02010609060101010101" pitchFamily="49" charset="-122"/>
                            </a:rPr>
                            <m:t>𝜌</m:t>
                          </m:r>
                        </m:sup>
                      </m:sSup>
                      <m:r>
                        <a:rPr lang="en-US" altLang="zh-CN" sz="2000" i="1" kern="100">
                          <a:solidFill>
                            <a:schemeClr val="accent3">
                              <a:lumMod val="75000"/>
                            </a:schemeClr>
                          </a:solidFill>
                          <a:latin typeface="Cambria Math" panose="02040503050406030204" pitchFamily="18" charset="0"/>
                          <a:ea typeface="仿宋" panose="02010609060101010101" pitchFamily="49" charset="-122"/>
                        </a:rPr>
                        <m:t>+</m:t>
                      </m:r>
                      <m:r>
                        <a:rPr lang="en-US" altLang="zh-CN" sz="2000" i="1" kern="100">
                          <a:solidFill>
                            <a:schemeClr val="accent3">
                              <a:lumMod val="75000"/>
                            </a:schemeClr>
                          </a:solidFill>
                          <a:latin typeface="Cambria Math" panose="02040503050406030204" pitchFamily="18" charset="0"/>
                          <a:ea typeface="仿宋" panose="02010609060101010101" pitchFamily="49" charset="-122"/>
                        </a:rPr>
                        <m:t>𝑝𝑞</m:t>
                      </m:r>
                      <m:sSup>
                        <m:sSup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sSupPr>
                        <m:e>
                          <m:r>
                            <a:rPr lang="en-US" altLang="zh-CN" sz="2000" i="1" kern="100">
                              <a:solidFill>
                                <a:schemeClr val="accent3">
                                  <a:lumMod val="75000"/>
                                </a:schemeClr>
                              </a:solidFill>
                              <a:latin typeface="Cambria Math" panose="02040503050406030204" pitchFamily="18" charset="0"/>
                              <a:ea typeface="仿宋" panose="02010609060101010101" pitchFamily="49" charset="-122"/>
                            </a:rPr>
                            <m:t>𝑣</m:t>
                          </m:r>
                        </m:e>
                        <m:sup>
                          <m:r>
                            <a:rPr lang="en-US" altLang="zh-CN" sz="2000" i="1" kern="100">
                              <a:solidFill>
                                <a:schemeClr val="accent3">
                                  <a:lumMod val="75000"/>
                                </a:schemeClr>
                              </a:solidFill>
                              <a:latin typeface="Cambria Math" panose="02040503050406030204" pitchFamily="18" charset="0"/>
                              <a:ea typeface="仿宋" panose="02010609060101010101" pitchFamily="49" charset="-122"/>
                            </a:rPr>
                            <m:t>1</m:t>
                          </m:r>
                        </m:sup>
                      </m:sSup>
                      <m:d>
                        <m:d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dPr>
                        <m:e>
                          <m:d>
                            <m:d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dPr>
                            <m:e>
                              <m:r>
                                <a:rPr lang="en-US" altLang="zh-CN" sz="2000" i="1" kern="100">
                                  <a:solidFill>
                                    <a:schemeClr val="accent3">
                                      <a:lumMod val="75000"/>
                                    </a:schemeClr>
                                  </a:solidFill>
                                  <a:latin typeface="Cambria Math" panose="02040503050406030204" pitchFamily="18" charset="0"/>
                                  <a:ea typeface="仿宋" panose="02010609060101010101" pitchFamily="49" charset="-122"/>
                                </a:rPr>
                                <m:t>1−</m:t>
                              </m:r>
                              <m:r>
                                <a:rPr lang="en-US" altLang="zh-CN" sz="2000" i="1" kern="100">
                                  <a:solidFill>
                                    <a:schemeClr val="accent3">
                                      <a:lumMod val="75000"/>
                                    </a:schemeClr>
                                  </a:solidFill>
                                  <a:latin typeface="Cambria Math" panose="02040503050406030204" pitchFamily="18" charset="0"/>
                                  <a:ea typeface="仿宋" panose="02010609060101010101" pitchFamily="49" charset="-122"/>
                                </a:rPr>
                                <m:t>𝑘</m:t>
                              </m:r>
                            </m:e>
                          </m:d>
                          <m:sSub>
                            <m:sSub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sSubPr>
                            <m:e>
                              <m:r>
                                <a:rPr lang="en-US" altLang="zh-CN" sz="2000" i="1" kern="100">
                                  <a:solidFill>
                                    <a:schemeClr val="accent3">
                                      <a:lumMod val="75000"/>
                                    </a:schemeClr>
                                  </a:solidFill>
                                  <a:latin typeface="Cambria Math" panose="02040503050406030204" pitchFamily="18" charset="0"/>
                                  <a:ea typeface="仿宋" panose="02010609060101010101" pitchFamily="49" charset="-122"/>
                                </a:rPr>
                                <m:t>𝐷</m:t>
                              </m:r>
                            </m:e>
                            <m:sub>
                              <m:r>
                                <a:rPr lang="en-US" altLang="zh-CN" sz="2000" i="1" kern="100">
                                  <a:solidFill>
                                    <a:schemeClr val="accent3">
                                      <a:lumMod val="75000"/>
                                    </a:schemeClr>
                                  </a:solidFill>
                                  <a:latin typeface="Cambria Math" panose="02040503050406030204" pitchFamily="18" charset="0"/>
                                  <a:ea typeface="仿宋" panose="02010609060101010101" pitchFamily="49" charset="-122"/>
                                </a:rPr>
                                <m:t>2</m:t>
                              </m:r>
                            </m:sub>
                          </m:sSub>
                        </m:e>
                      </m:d>
                      <m:sSup>
                        <m:sSupPr>
                          <m:ctrlPr>
                            <a:rPr lang="zh-CN" altLang="zh-CN" sz="2000" i="1" kern="100">
                              <a:solidFill>
                                <a:schemeClr val="accent3">
                                  <a:lumMod val="75000"/>
                                </a:schemeClr>
                              </a:solidFill>
                              <a:latin typeface="Cambria Math" panose="02040503050406030204" pitchFamily="18" charset="0"/>
                              <a:ea typeface="Cambria Math" panose="02040503050406030204" pitchFamily="18" charset="0"/>
                            </a:rPr>
                          </m:ctrlPr>
                        </m:sSupPr>
                        <m:e>
                          <m:r>
                            <a:rPr lang="en-US" altLang="zh-CN" sz="2000" i="1" kern="100">
                              <a:solidFill>
                                <a:schemeClr val="accent3">
                                  <a:lumMod val="75000"/>
                                </a:schemeClr>
                              </a:solidFill>
                              <a:latin typeface="Cambria Math" panose="02040503050406030204" pitchFamily="18" charset="0"/>
                              <a:ea typeface="仿宋" panose="02010609060101010101" pitchFamily="49" charset="-122"/>
                            </a:rPr>
                            <m:t>𝑒</m:t>
                          </m:r>
                        </m:e>
                        <m:sup>
                          <m:r>
                            <a:rPr lang="en-US" altLang="zh-CN" sz="2000" i="1" kern="100">
                              <a:solidFill>
                                <a:schemeClr val="accent3">
                                  <a:lumMod val="75000"/>
                                </a:schemeClr>
                              </a:solidFill>
                              <a:latin typeface="Cambria Math" panose="02040503050406030204" pitchFamily="18" charset="0"/>
                              <a:ea typeface="仿宋" panose="02010609060101010101" pitchFamily="49" charset="-122"/>
                            </a:rPr>
                            <m:t>−</m:t>
                          </m:r>
                          <m:r>
                            <a:rPr lang="en-US" altLang="zh-CN" sz="2000" i="1" kern="100">
                              <a:solidFill>
                                <a:schemeClr val="accent3">
                                  <a:lumMod val="75000"/>
                                </a:schemeClr>
                              </a:solidFill>
                              <a:latin typeface="Cambria Math" panose="02040503050406030204" pitchFamily="18" charset="0"/>
                              <a:ea typeface="仿宋" panose="02010609060101010101" pitchFamily="49" charset="-122"/>
                            </a:rPr>
                            <m:t>𝜌</m:t>
                          </m:r>
                        </m:sup>
                      </m:sSup>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+(1−</m:t>
                      </m:r>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𝑝</m:t>
                      </m:r>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m:t>
                      </m:r>
                      <m:sSup>
                        <m:sSupPr>
                          <m:ctrlPr>
                            <a:rPr lang="zh-CN" altLang="zh-CN" sz="2000" i="1">
                              <a:solidFill>
                                <a:schemeClr val="accent3">
                                  <a:lumMod val="75000"/>
                                </a:schemeClr>
                              </a:solidFill>
                              <a:effectLst/>
                              <a:latin typeface="Cambria Math" panose="02040503050406030204" pitchFamily="18" charset="0"/>
                              <a:ea typeface="Cambria Math" panose="02040503050406030204" pitchFamily="18" charset="0"/>
                            </a:rPr>
                          </m:ctrlPr>
                        </m:sSupPr>
                        <m:e>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𝑣</m:t>
                          </m:r>
                        </m:e>
                        <m:sup>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0</m:t>
                          </m:r>
                        </m:sup>
                      </m:sSup>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((1−</m:t>
                      </m:r>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𝑘</m:t>
                      </m:r>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𝐵</m:t>
                      </m:r>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m:t>
                      </m:r>
                      <m:sSup>
                        <m:sSupPr>
                          <m:ctrlPr>
                            <a:rPr lang="zh-CN" altLang="zh-CN" sz="2000" i="1">
                              <a:solidFill>
                                <a:schemeClr val="accent3">
                                  <a:lumMod val="75000"/>
                                </a:schemeClr>
                              </a:solidFill>
                              <a:effectLst/>
                              <a:latin typeface="Cambria Math" panose="02040503050406030204" pitchFamily="18" charset="0"/>
                              <a:ea typeface="Cambria Math" panose="02040503050406030204" pitchFamily="18" charset="0"/>
                            </a:rPr>
                          </m:ctrlPr>
                        </m:sSupPr>
                        <m:e>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𝑒</m:t>
                          </m:r>
                        </m:e>
                        <m:sup>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𝜌</m:t>
                          </m:r>
                        </m:sup>
                      </m:sSup>
                    </m:oMath>
                  </m:oMathPara>
                </a14:m>
                <a:endParaRPr lang="zh-CN" altLang="en-US" sz="2000" dirty="0">
                  <a:solidFill>
                    <a:schemeClr val="accent3">
                      <a:lumMod val="75000"/>
                    </a:schemeClr>
                  </a:solidFill>
                  <a:latin typeface="楷体" panose="02010609060101010101" pitchFamily="49" charset="-122"/>
                  <a:ea typeface="楷体" panose="02010609060101010101" pitchFamily="49"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265123" y="5871251"/>
                <a:ext cx="10336773" cy="613438"/>
              </a:xfrm>
              <a:prstGeom prst="rect">
                <a:avLst/>
              </a:prstGeom>
              <a:blipFill rotWithShape="1">
                <a:blip r:embed="rId10"/>
                <a:stretch>
                  <a:fillRect l="-3" t="-7" r="6" b="11"/>
                </a:stretch>
              </a:blipFill>
            </p:spPr>
            <p:txBody>
              <a:bodyPr/>
              <a:lstStyle/>
              <a:p>
                <a:r>
                  <a:rPr lang="zh-CN" altLang="en-US">
                    <a:noFill/>
                  </a:rPr>
                  <a:t> </a:t>
                </a:r>
              </a:p>
            </p:txBody>
          </p:sp>
        </mc:Fallback>
      </mc:AlternateContent>
      <p:sp>
        <p:nvSpPr>
          <p:cNvPr id="177" name="矩形 176"/>
          <p:cNvSpPr/>
          <p:nvPr/>
        </p:nvSpPr>
        <p:spPr>
          <a:xfrm>
            <a:off x="2798657" y="1111795"/>
            <a:ext cx="957313" cy="461665"/>
          </a:xfrm>
          <a:prstGeom prst="rect">
            <a:avLst/>
          </a:prstGeom>
        </p:spPr>
        <p:txBody>
          <a:bodyPr wrap="none">
            <a:spAutoFit/>
          </a:bodyPr>
          <a:lstStyle/>
          <a:p>
            <a:r>
              <a:rPr lang="en-US" altLang="zh-CN" sz="2400" b="1" dirty="0">
                <a:solidFill>
                  <a:schemeClr val="accent3">
                    <a:lumMod val="75000"/>
                  </a:schemeClr>
                </a:solidFill>
                <a:latin typeface="Times New Roman" panose="02020603050405020304" pitchFamily="18" charset="0"/>
                <a:ea typeface="仿宋" panose="02010609060101010101" pitchFamily="49" charset="-122"/>
              </a:rPr>
              <a:t>0</a:t>
            </a:r>
            <a:r>
              <a:rPr lang="zh-CN" altLang="zh-CN" sz="2400" b="1" dirty="0">
                <a:solidFill>
                  <a:schemeClr val="accent3">
                    <a:lumMod val="75000"/>
                  </a:schemeClr>
                </a:solidFill>
                <a:latin typeface="Times New Roman" panose="02020603050405020304" pitchFamily="18" charset="0"/>
                <a:ea typeface="仿宋" panose="02010609060101010101" pitchFamily="49" charset="-122"/>
                <a:cs typeface="Times New Roman" panose="02020603050405020304" pitchFamily="18" charset="0"/>
              </a:rPr>
              <a:t>时刻</a:t>
            </a:r>
            <a:endParaRPr lang="zh-CN" altLang="en-US" sz="2400" b="1" dirty="0">
              <a:solidFill>
                <a:schemeClr val="accent3">
                  <a:lumMod val="75000"/>
                </a:schemeClr>
              </a:solidFill>
            </a:endParaRPr>
          </a:p>
        </p:txBody>
      </p:sp>
      <p:sp>
        <p:nvSpPr>
          <p:cNvPr id="178" name="矩形 177"/>
          <p:cNvSpPr/>
          <p:nvPr/>
        </p:nvSpPr>
        <p:spPr>
          <a:xfrm>
            <a:off x="7611264" y="1060657"/>
            <a:ext cx="957313" cy="461665"/>
          </a:xfrm>
          <a:prstGeom prst="rect">
            <a:avLst/>
          </a:prstGeom>
        </p:spPr>
        <p:txBody>
          <a:bodyPr wrap="none">
            <a:spAutoFit/>
          </a:bodyPr>
          <a:lstStyle/>
          <a:p>
            <a:r>
              <a:rPr lang="en-US" altLang="zh-CN" sz="2400" b="1" dirty="0">
                <a:solidFill>
                  <a:schemeClr val="accent3">
                    <a:lumMod val="75000"/>
                  </a:schemeClr>
                </a:solidFill>
                <a:latin typeface="Times New Roman" panose="02020603050405020304" pitchFamily="18" charset="0"/>
                <a:ea typeface="仿宋" panose="02010609060101010101" pitchFamily="49" charset="-122"/>
              </a:rPr>
              <a:t>1</a:t>
            </a:r>
            <a:r>
              <a:rPr lang="zh-CN" altLang="zh-CN" sz="2400" b="1" dirty="0">
                <a:solidFill>
                  <a:schemeClr val="accent3">
                    <a:lumMod val="75000"/>
                  </a:schemeClr>
                </a:solidFill>
                <a:latin typeface="Times New Roman" panose="02020603050405020304" pitchFamily="18" charset="0"/>
                <a:ea typeface="仿宋" panose="02010609060101010101" pitchFamily="49" charset="-122"/>
                <a:cs typeface="Times New Roman" panose="02020603050405020304" pitchFamily="18" charset="0"/>
              </a:rPr>
              <a:t>时刻</a:t>
            </a:r>
            <a:endParaRPr lang="zh-CN" altLang="en-US" sz="2400" b="1" dirty="0">
              <a:solidFill>
                <a:schemeClr val="accent3">
                  <a:lumMod val="75000"/>
                </a:schemeClr>
              </a:solidFill>
            </a:endParaRPr>
          </a:p>
        </p:txBody>
      </p:sp>
      <mc:AlternateContent xmlns:mc="http://schemas.openxmlformats.org/markup-compatibility/2006" xmlns:a14="http://schemas.microsoft.com/office/drawing/2010/main">
        <mc:Choice Requires="a14">
          <p:sp>
            <p:nvSpPr>
              <p:cNvPr id="179" name="矩形 178"/>
              <p:cNvSpPr/>
              <p:nvPr/>
            </p:nvSpPr>
            <p:spPr>
              <a:xfrm>
                <a:off x="7387708" y="2076496"/>
                <a:ext cx="1404423" cy="400110"/>
              </a:xfrm>
              <a:prstGeom prst="rect">
                <a:avLst/>
              </a:prstGeom>
            </p:spPr>
            <p:txBody>
              <a:bodyPr wrap="none">
                <a:spAutoFit/>
              </a:bodyPr>
              <a:lstStyle/>
              <a:p>
                <a:r>
                  <a:rPr lang="zh-CN" altLang="en-US" sz="2000" dirty="0">
                    <a:latin typeface="楷体" panose="02010609060101010101" pitchFamily="49" charset="-122"/>
                    <a:ea typeface="楷体" panose="02010609060101010101" pitchFamily="49" charset="-122"/>
                    <a:cs typeface="Times New Roman" panose="02020603050405020304" pitchFamily="18" charset="0"/>
                  </a:rPr>
                  <a:t>失能</a:t>
                </a:r>
                <a:r>
                  <a:rPr lang="zh-CN" altLang="zh-CN" sz="2000" dirty="0">
                    <a:latin typeface="楷体" panose="02010609060101010101" pitchFamily="49" charset="-122"/>
                    <a:ea typeface="楷体" panose="02010609060101010101" pitchFamily="49" charset="-122"/>
                    <a:cs typeface="Times New Roman" panose="02020603050405020304" pitchFamily="18" charset="0"/>
                  </a:rPr>
                  <a:t>花费</a:t>
                </a:r>
                <a14:m>
                  <m:oMath xmlns:m="http://schemas.openxmlformats.org/officeDocument/2006/math">
                    <m:r>
                      <a:rPr lang="en-US" altLang="zh-CN" sz="2000" i="1">
                        <a:latin typeface="Cambria Math" panose="02040503050406030204" pitchFamily="18" charset="0"/>
                        <a:ea typeface="仿宋" panose="02010609060101010101" pitchFamily="49" charset="-122"/>
                        <a:cs typeface="Times New Roman" panose="02020603050405020304" pitchFamily="18" charset="0"/>
                      </a:rPr>
                      <m:t>𝑁</m:t>
                    </m:r>
                  </m:oMath>
                </a14:m>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p:txBody>
          </p:sp>
        </mc:Choice>
        <mc:Fallback xmlns="">
          <p:sp>
            <p:nvSpPr>
              <p:cNvPr id="179" name="矩形 178"/>
              <p:cNvSpPr>
                <a:spLocks noRot="1" noChangeAspect="1" noMove="1" noResize="1" noEditPoints="1" noAdjustHandles="1" noChangeArrowheads="1" noChangeShapeType="1" noTextEdit="1"/>
              </p:cNvSpPr>
              <p:nvPr/>
            </p:nvSpPr>
            <p:spPr>
              <a:xfrm>
                <a:off x="7387708" y="2076496"/>
                <a:ext cx="1404423" cy="400110"/>
              </a:xfrm>
              <a:prstGeom prst="rect">
                <a:avLst/>
              </a:prstGeom>
              <a:blipFill rotWithShape="1">
                <a:blip r:embed="rId11"/>
                <a:stretch>
                  <a:fillRect l="-8" t="-11" r="-1136" b="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0" name="矩形 179"/>
              <p:cNvSpPr/>
              <p:nvPr/>
            </p:nvSpPr>
            <p:spPr>
              <a:xfrm>
                <a:off x="2463368" y="5631621"/>
                <a:ext cx="6096000" cy="400110"/>
              </a:xfrm>
              <a:prstGeom prst="rect">
                <a:avLst/>
              </a:prstGeom>
            </p:spPr>
            <p:txBody>
              <a:bodyPr>
                <a:spAutoFit/>
              </a:bodyPr>
              <a:lstStyle/>
              <a:p>
                <a:r>
                  <a:rPr lang="zh-CN" altLang="en-US" sz="20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决策变量：</a:t>
                </a:r>
                <a:r>
                  <a:rPr lang="zh-CN" altLang="zh-CN" sz="20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储蓄</a:t>
                </a:r>
                <a14:m>
                  <m:oMath xmlns:m="http://schemas.openxmlformats.org/officeDocument/2006/math">
                    <m:sSub>
                      <m:sSubPr>
                        <m:ctrlPr>
                          <a:rPr lang="zh-CN" altLang="zh-CN" sz="2000" i="1">
                            <a:solidFill>
                              <a:schemeClr val="accent3">
                                <a:lumMod val="75000"/>
                              </a:schemeClr>
                            </a:solidFill>
                            <a:effectLst/>
                            <a:latin typeface="Cambria Math" panose="02040503050406030204" pitchFamily="18" charset="0"/>
                            <a:ea typeface="Cambria Math" panose="02040503050406030204" pitchFamily="18" charset="0"/>
                          </a:rPr>
                        </m:ctrlPr>
                      </m:sSubPr>
                      <m:e>
                        <m:r>
                          <a:rPr lang="en-US" altLang="zh-CN" sz="2000" i="1" smtClean="0">
                            <a:solidFill>
                              <a:schemeClr val="accent3">
                                <a:lumMod val="75000"/>
                              </a:schemeClr>
                            </a:solidFill>
                            <a:latin typeface="Cambria Math" panose="02040503050406030204" pitchFamily="18" charset="0"/>
                            <a:ea typeface="Cambria Math" panose="02040503050406030204" pitchFamily="18" charset="0"/>
                          </a:rPr>
                          <m:t>𝑠</m:t>
                        </m:r>
                      </m:e>
                      <m:sub>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1</m:t>
                        </m:r>
                      </m:sub>
                    </m:sSub>
                  </m:oMath>
                </a14:m>
                <a:r>
                  <a:rPr lang="zh-CN" altLang="zh-CN" sz="20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和投保的长期护理保险保额</a:t>
                </a:r>
                <a14:m>
                  <m:oMath xmlns:m="http://schemas.openxmlformats.org/officeDocument/2006/math">
                    <m:r>
                      <a:rPr lang="en-US" altLang="zh-CN" sz="2000" i="1">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𝐼</m:t>
                    </m:r>
                  </m:oMath>
                </a14:m>
                <a:endParaRPr lang="zh-CN" altLang="en-US" sz="2000" dirty="0">
                  <a:solidFill>
                    <a:schemeClr val="accent3">
                      <a:lumMod val="75000"/>
                    </a:schemeClr>
                  </a:solidFill>
                  <a:latin typeface="楷体" panose="02010609060101010101" pitchFamily="49" charset="-122"/>
                  <a:ea typeface="楷体" panose="02010609060101010101" pitchFamily="49" charset="-122"/>
                </a:endParaRPr>
              </a:p>
            </p:txBody>
          </p:sp>
        </mc:Choice>
        <mc:Fallback xmlns="">
          <p:sp>
            <p:nvSpPr>
              <p:cNvPr id="180" name="矩形 179"/>
              <p:cNvSpPr>
                <a:spLocks noRot="1" noChangeAspect="1" noMove="1" noResize="1" noEditPoints="1" noAdjustHandles="1" noChangeArrowheads="1" noChangeShapeType="1" noTextEdit="1"/>
              </p:cNvSpPr>
              <p:nvPr/>
            </p:nvSpPr>
            <p:spPr>
              <a:xfrm>
                <a:off x="2463368" y="5631621"/>
                <a:ext cx="6096000" cy="400110"/>
              </a:xfrm>
              <a:prstGeom prst="rect">
                <a:avLst/>
              </a:prstGeom>
              <a:blipFill rotWithShape="1">
                <a:blip r:embed="rId12"/>
                <a:stretch>
                  <a:fillRect l="-3" t="-110" r="3" b="125"/>
                </a:stretch>
              </a:blipFill>
            </p:spPr>
            <p:txBody>
              <a:bodyPr/>
              <a:lstStyle/>
              <a:p>
                <a:r>
                  <a:rPr lang="zh-CN" altLang="en-US">
                    <a:noFill/>
                  </a:rPr>
                  <a:t> </a:t>
                </a:r>
              </a:p>
            </p:txBody>
          </p:sp>
        </mc:Fallback>
      </mc:AlternateContent>
      <p:sp>
        <p:nvSpPr>
          <p:cNvPr id="181" name="下箭头 180"/>
          <p:cNvSpPr/>
          <p:nvPr/>
        </p:nvSpPr>
        <p:spPr>
          <a:xfrm>
            <a:off x="2937892" y="3620991"/>
            <a:ext cx="421860" cy="807691"/>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3" name="矩形 182"/>
              <p:cNvSpPr/>
              <p:nvPr/>
            </p:nvSpPr>
            <p:spPr>
              <a:xfrm>
                <a:off x="7303423" y="1667953"/>
                <a:ext cx="1572995" cy="400110"/>
              </a:xfrm>
              <a:prstGeom prst="rect">
                <a:avLst/>
              </a:prstGeom>
            </p:spPr>
            <p:txBody>
              <a:bodyPr wrap="none">
                <a:spAutoFit/>
              </a:bodyPr>
              <a:lstStyle/>
              <a:p>
                <a:r>
                  <a:rPr lang="zh-CN" altLang="zh-CN" sz="2000" dirty="0">
                    <a:latin typeface="楷体" panose="02010609060101010101" pitchFamily="49" charset="-122"/>
                    <a:ea typeface="楷体" panose="02010609060101010101" pitchFamily="49" charset="-122"/>
                    <a:cs typeface="Times New Roman" panose="02020603050405020304" pitchFamily="18" charset="0"/>
                  </a:rPr>
                  <a:t>长护险</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保额</a:t>
                </a:r>
                <a14:m>
                  <m:oMath xmlns:m="http://schemas.openxmlformats.org/officeDocument/2006/math">
                    <m:r>
                      <a:rPr lang="en-US" altLang="zh-CN" sz="2000" i="1">
                        <a:latin typeface="Cambria Math" panose="02040503050406030204" pitchFamily="18" charset="0"/>
                        <a:ea typeface="仿宋" panose="02010609060101010101" pitchFamily="49" charset="-122"/>
                        <a:cs typeface="Times New Roman" panose="02020603050405020304" pitchFamily="18" charset="0"/>
                      </a:rPr>
                      <m:t>𝐼</m:t>
                    </m:r>
                  </m:oMath>
                </a14:m>
                <a:endParaRPr lang="zh-CN" altLang="en-US" sz="2000" dirty="0">
                  <a:latin typeface="楷体" panose="02010609060101010101" pitchFamily="49" charset="-122"/>
                  <a:ea typeface="楷体" panose="02010609060101010101" pitchFamily="49" charset="-122"/>
                </a:endParaRPr>
              </a:p>
            </p:txBody>
          </p:sp>
        </mc:Choice>
        <mc:Fallback xmlns="">
          <p:sp>
            <p:nvSpPr>
              <p:cNvPr id="183" name="矩形 182"/>
              <p:cNvSpPr>
                <a:spLocks noRot="1" noChangeAspect="1" noMove="1" noResize="1" noEditPoints="1" noAdjustHandles="1" noChangeArrowheads="1" noChangeShapeType="1" noTextEdit="1"/>
              </p:cNvSpPr>
              <p:nvPr/>
            </p:nvSpPr>
            <p:spPr>
              <a:xfrm>
                <a:off x="7303423" y="1667953"/>
                <a:ext cx="1572995" cy="400110"/>
              </a:xfrm>
              <a:prstGeom prst="rect">
                <a:avLst/>
              </a:prstGeom>
              <a:blipFill rotWithShape="1">
                <a:blip r:embed="rId13"/>
                <a:stretch>
                  <a:fillRect l="-18" t="-111" r="-742" b="126"/>
                </a:stretch>
              </a:blipFill>
            </p:spPr>
            <p:txBody>
              <a:bodyPr/>
              <a:lstStyle/>
              <a:p>
                <a:r>
                  <a:rPr lang="zh-CN" altLang="en-US">
                    <a:noFill/>
                  </a:rPr>
                  <a:t> </a:t>
                </a:r>
              </a:p>
            </p:txBody>
          </p:sp>
        </mc:Fallback>
      </mc:AlternateContent>
      <p:sp>
        <p:nvSpPr>
          <p:cNvPr id="184" name="下箭头 183"/>
          <p:cNvSpPr/>
          <p:nvPr/>
        </p:nvSpPr>
        <p:spPr>
          <a:xfrm rot="16200000">
            <a:off x="5506808" y="4422199"/>
            <a:ext cx="421860" cy="568456"/>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下箭头 184"/>
          <p:cNvSpPr/>
          <p:nvPr/>
        </p:nvSpPr>
        <p:spPr>
          <a:xfrm>
            <a:off x="7910155" y="2945041"/>
            <a:ext cx="359528" cy="365219"/>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fade">
                                      <p:cBhvr>
                                        <p:cTn id="7" dur="250"/>
                                        <p:tgtEl>
                                          <p:spTgt spid="17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4"/>
                                        </p:tgtEl>
                                        <p:attrNameLst>
                                          <p:attrName>style.visibility</p:attrName>
                                        </p:attrNameLst>
                                      </p:cBhvr>
                                      <p:to>
                                        <p:strVal val="visible"/>
                                      </p:to>
                                    </p:set>
                                    <p:animEffect transition="in" filter="fade">
                                      <p:cBhvr>
                                        <p:cTn id="10" dur="250"/>
                                        <p:tgtEl>
                                          <p:spTgt spid="17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5"/>
                                        </p:tgtEl>
                                        <p:attrNameLst>
                                          <p:attrName>style.visibility</p:attrName>
                                        </p:attrNameLst>
                                      </p:cBhvr>
                                      <p:to>
                                        <p:strVal val="visible"/>
                                      </p:to>
                                    </p:set>
                                    <p:animEffect transition="in" filter="fade">
                                      <p:cBhvr>
                                        <p:cTn id="13" dur="250"/>
                                        <p:tgtEl>
                                          <p:spTgt spid="17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250"/>
                                        <p:tgtEl>
                                          <p:spTgt spid="5"/>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81"/>
                                        </p:tgtEl>
                                        <p:attrNameLst>
                                          <p:attrName>style.visibility</p:attrName>
                                        </p:attrNameLst>
                                      </p:cBhvr>
                                      <p:to>
                                        <p:strVal val="visible"/>
                                      </p:to>
                                    </p:set>
                                    <p:animEffect transition="in" filter="fade">
                                      <p:cBhvr>
                                        <p:cTn id="20" dur="250"/>
                                        <p:tgtEl>
                                          <p:spTgt spid="181"/>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25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80"/>
                                        </p:tgtEl>
                                        <p:attrNameLst>
                                          <p:attrName>style.visibility</p:attrName>
                                        </p:attrNameLst>
                                      </p:cBhvr>
                                      <p:to>
                                        <p:strVal val="visible"/>
                                      </p:to>
                                    </p:set>
                                    <p:animEffect transition="in" filter="fade">
                                      <p:cBhvr>
                                        <p:cTn id="29" dur="250"/>
                                        <p:tgtEl>
                                          <p:spTgt spid="18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78"/>
                                        </p:tgtEl>
                                        <p:attrNameLst>
                                          <p:attrName>style.visibility</p:attrName>
                                        </p:attrNameLst>
                                      </p:cBhvr>
                                      <p:to>
                                        <p:strVal val="visible"/>
                                      </p:to>
                                    </p:set>
                                    <p:animEffect transition="in" filter="fade">
                                      <p:cBhvr>
                                        <p:cTn id="34" dur="250"/>
                                        <p:tgtEl>
                                          <p:spTgt spid="17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3"/>
                                        </p:tgtEl>
                                        <p:attrNameLst>
                                          <p:attrName>style.visibility</p:attrName>
                                        </p:attrNameLst>
                                      </p:cBhvr>
                                      <p:to>
                                        <p:strVal val="visible"/>
                                      </p:to>
                                    </p:set>
                                    <p:animEffect transition="in" filter="fade">
                                      <p:cBhvr>
                                        <p:cTn id="37" dur="250"/>
                                        <p:tgtEl>
                                          <p:spTgt spid="18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9"/>
                                        </p:tgtEl>
                                        <p:attrNameLst>
                                          <p:attrName>style.visibility</p:attrName>
                                        </p:attrNameLst>
                                      </p:cBhvr>
                                      <p:to>
                                        <p:strVal val="visible"/>
                                      </p:to>
                                    </p:set>
                                    <p:animEffect transition="in" filter="fade">
                                      <p:cBhvr>
                                        <p:cTn id="40" dur="250"/>
                                        <p:tgtEl>
                                          <p:spTgt spid="17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25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5"/>
                                        </p:tgtEl>
                                        <p:attrNameLst>
                                          <p:attrName>style.visibility</p:attrName>
                                        </p:attrNameLst>
                                      </p:cBhvr>
                                      <p:to>
                                        <p:strVal val="visible"/>
                                      </p:to>
                                    </p:set>
                                    <p:animEffect transition="in" filter="fade">
                                      <p:cBhvr>
                                        <p:cTn id="48" dur="250"/>
                                        <p:tgtEl>
                                          <p:spTgt spid="18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250"/>
                                        <p:tgtEl>
                                          <p:spTgt spid="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250"/>
                                        <p:tgtEl>
                                          <p:spTgt spid="1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250"/>
                                        <p:tgtEl>
                                          <p:spTgt spid="1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84"/>
                                        </p:tgtEl>
                                        <p:attrNameLst>
                                          <p:attrName>style.visibility</p:attrName>
                                        </p:attrNameLst>
                                      </p:cBhvr>
                                      <p:to>
                                        <p:strVal val="visible"/>
                                      </p:to>
                                    </p:set>
                                    <p:animEffect transition="in" filter="fade">
                                      <p:cBhvr>
                                        <p:cTn id="60" dur="250"/>
                                        <p:tgtEl>
                                          <p:spTgt spid="18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fade">
                                      <p:cBhvr>
                                        <p:cTn id="65"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0"/>
      <p:bldP spid="175" grpId="0"/>
      <p:bldP spid="5" grpId="0"/>
      <p:bldP spid="6" grpId="0"/>
      <p:bldP spid="8" grpId="0"/>
      <p:bldP spid="9" grpId="0"/>
      <p:bldP spid="10" grpId="0"/>
      <p:bldP spid="11" grpId="0"/>
      <p:bldP spid="12" grpId="0"/>
      <p:bldP spid="177" grpId="0"/>
      <p:bldP spid="178" grpId="0"/>
      <p:bldP spid="179" grpId="0"/>
      <p:bldP spid="180" grpId="0"/>
      <p:bldP spid="181" grpId="0" animBg="1"/>
      <p:bldP spid="183" grpId="0"/>
      <p:bldP spid="184" grpId="0" animBg="1"/>
      <p:bldP spid="18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1897652" cy="682623"/>
          </a:xfrm>
        </p:spPr>
        <p:txBody>
          <a:bodyPr/>
          <a:lstStyle/>
          <a:p>
            <a:r>
              <a:rPr lang="zh-CN" altLang="en-US" dirty="0"/>
              <a:t>同时决策</a:t>
            </a:r>
          </a:p>
        </p:txBody>
      </p:sp>
      <p:sp>
        <p:nvSpPr>
          <p:cNvPr id="4" name="文本框 3"/>
          <p:cNvSpPr txBox="1"/>
          <p:nvPr/>
        </p:nvSpPr>
        <p:spPr>
          <a:xfrm>
            <a:off x="406291" y="1803431"/>
            <a:ext cx="1124129" cy="461665"/>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陪护者</a:t>
            </a:r>
          </a:p>
        </p:txBody>
      </p:sp>
      <mc:AlternateContent xmlns:mc="http://schemas.openxmlformats.org/markup-compatibility/2006" xmlns:a14="http://schemas.microsoft.com/office/drawing/2010/main">
        <mc:Choice Requires="a14">
          <p:sp>
            <p:nvSpPr>
              <p:cNvPr id="174" name="文本框 173"/>
              <p:cNvSpPr txBox="1"/>
              <p:nvPr/>
            </p:nvSpPr>
            <p:spPr>
              <a:xfrm>
                <a:off x="2754615" y="1738253"/>
                <a:ext cx="955445" cy="400110"/>
              </a:xfrm>
              <a:prstGeom prst="rect">
                <a:avLst/>
              </a:prstGeom>
              <a:noFill/>
            </p:spPr>
            <p:txBody>
              <a:bodyPr wrap="square" rtlCol="0">
                <a:spAutoFit/>
              </a:bodyPr>
              <a:lstStyle/>
              <a:p>
                <a:r>
                  <a:rPr lang="zh-CN" altLang="zh-CN" sz="2000" dirty="0">
                    <a:latin typeface="楷体" panose="02010609060101010101" pitchFamily="49" charset="-122"/>
                    <a:ea typeface="楷体" panose="02010609060101010101" pitchFamily="49" charset="-122"/>
                    <a:cs typeface="Times New Roman" panose="02020603050405020304" pitchFamily="18" charset="0"/>
                  </a:rPr>
                  <a:t>消费</a:t>
                </a:r>
                <a14:m>
                  <m:oMath xmlns:m="http://schemas.openxmlformats.org/officeDocument/2006/math">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𝐶</m:t>
                        </m:r>
                      </m:e>
                      <m:sub>
                        <m:r>
                          <a:rPr lang="en-US" altLang="zh-CN" sz="2000" b="0" i="1" smtClean="0">
                            <a:effectLst/>
                            <a:latin typeface="Cambria Math" panose="02040503050406030204" pitchFamily="18" charset="0"/>
                            <a:ea typeface="仿宋" panose="02010609060101010101" pitchFamily="49" charset="-122"/>
                            <a:cs typeface="Times New Roman" panose="02020603050405020304" pitchFamily="18" charset="0"/>
                          </a:rPr>
                          <m:t>2</m:t>
                        </m:r>
                      </m:sub>
                    </m:sSub>
                  </m:oMath>
                </a14:m>
                <a:endParaRPr lang="zh-CN" altLang="en-US" sz="2000" dirty="0">
                  <a:latin typeface="楷体" panose="02010609060101010101" pitchFamily="49" charset="-122"/>
                  <a:ea typeface="楷体" panose="02010609060101010101" pitchFamily="49" charset="-122"/>
                </a:endParaRPr>
              </a:p>
            </p:txBody>
          </p:sp>
        </mc:Choice>
        <mc:Fallback xmlns="">
          <p:sp>
            <p:nvSpPr>
              <p:cNvPr id="174" name="文本框 173"/>
              <p:cNvSpPr txBox="1">
                <a:spLocks noRot="1" noChangeAspect="1" noMove="1" noResize="1" noEditPoints="1" noAdjustHandles="1" noChangeArrowheads="1" noChangeShapeType="1" noTextEdit="1"/>
              </p:cNvSpPr>
              <p:nvPr/>
            </p:nvSpPr>
            <p:spPr>
              <a:xfrm>
                <a:off x="2754615" y="1738253"/>
                <a:ext cx="955445" cy="400110"/>
              </a:xfrm>
              <a:prstGeom prst="rect">
                <a:avLst/>
              </a:prstGeom>
              <a:blipFill rotWithShape="1">
                <a:blip r:embed="rId2"/>
                <a:stretch>
                  <a:fillRect l="-65" t="-64" r="41" b="-637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5" name="文本框 174"/>
              <p:cNvSpPr txBox="1"/>
              <p:nvPr/>
            </p:nvSpPr>
            <p:spPr>
              <a:xfrm>
                <a:off x="2331737" y="2348089"/>
                <a:ext cx="1801201" cy="400110"/>
              </a:xfrm>
              <a:prstGeom prst="rect">
                <a:avLst/>
              </a:prstGeom>
              <a:noFill/>
            </p:spPr>
            <p:txBody>
              <a:bodyPr wrap="square" rtlCol="0">
                <a:spAutoFit/>
              </a:bodyPr>
              <a:lstStyle/>
              <a:p>
                <a:r>
                  <a:rPr lang="zh-CN" altLang="zh-CN" sz="2000" dirty="0">
                    <a:latin typeface="楷体" panose="02010609060101010101" pitchFamily="49" charset="-122"/>
                    <a:ea typeface="楷体" panose="02010609060101010101" pitchFamily="49" charset="-122"/>
                    <a:cs typeface="Times New Roman" panose="02020603050405020304" pitchFamily="18" charset="0"/>
                  </a:rPr>
                  <a:t>储蓄</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rPr>
                        </m:ctrlPr>
                      </m:sSubPr>
                      <m:e>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𝑆</m:t>
                        </m:r>
                      </m:e>
                      <m:sub>
                        <m:r>
                          <a:rPr lang="en-US" altLang="zh-CN" sz="2000" b="0" i="1" smtClean="0">
                            <a:effectLst/>
                            <a:latin typeface="Cambria Math" panose="02040503050406030204" pitchFamily="18" charset="0"/>
                            <a:ea typeface="仿宋" panose="02010609060101010101" pitchFamily="49" charset="-122"/>
                            <a:cs typeface="Times New Roman" panose="02020603050405020304" pitchFamily="18" charset="0"/>
                          </a:rPr>
                          <m:t>2</m:t>
                        </m:r>
                      </m:sub>
                    </m:sSub>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b="0" i="1" smtClean="0">
                            <a:effectLst/>
                            <a:latin typeface="Cambria Math" panose="02040503050406030204" pitchFamily="18" charset="0"/>
                            <a:ea typeface="Cambria Math" panose="02040503050406030204" pitchFamily="18" charset="0"/>
                          </a:rPr>
                          <m:t>𝑧</m:t>
                        </m:r>
                      </m:e>
                      <m:sub>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0</m:t>
                        </m:r>
                      </m:sub>
                    </m:sSub>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i="1">
                            <a:effectLst/>
                            <a:latin typeface="Cambria Math" panose="02040503050406030204" pitchFamily="18" charset="0"/>
                            <a:ea typeface="仿宋" panose="02010609060101010101" pitchFamily="49" charset="-122"/>
                            <a:cs typeface="Times New Roman" panose="02020603050405020304" pitchFamily="18" charset="0"/>
                          </a:rPr>
                          <m:t>𝑠</m:t>
                        </m:r>
                      </m:e>
                      <m:sub>
                        <m:r>
                          <a:rPr lang="en-US" altLang="zh-CN" sz="2000" b="0" i="1" smtClean="0">
                            <a:effectLst/>
                            <a:latin typeface="Cambria Math" panose="02040503050406030204" pitchFamily="18" charset="0"/>
                            <a:ea typeface="仿宋" panose="02010609060101010101" pitchFamily="49" charset="-122"/>
                            <a:cs typeface="Times New Roman" panose="02020603050405020304" pitchFamily="18" charset="0"/>
                          </a:rPr>
                          <m:t>2</m:t>
                        </m:r>
                      </m:sub>
                    </m:sSub>
                  </m:oMath>
                </a14:m>
                <a:endParaRPr lang="zh-CN" altLang="en-US" sz="2000" dirty="0">
                  <a:latin typeface="楷体" panose="02010609060101010101" pitchFamily="49" charset="-122"/>
                  <a:ea typeface="楷体" panose="02010609060101010101" pitchFamily="49" charset="-122"/>
                </a:endParaRPr>
              </a:p>
            </p:txBody>
          </p:sp>
        </mc:Choice>
        <mc:Fallback xmlns="">
          <p:sp>
            <p:nvSpPr>
              <p:cNvPr id="175" name="文本框 174"/>
              <p:cNvSpPr txBox="1">
                <a:spLocks noRot="1" noChangeAspect="1" noMove="1" noResize="1" noEditPoints="1" noAdjustHandles="1" noChangeArrowheads="1" noChangeShapeType="1" noTextEdit="1"/>
              </p:cNvSpPr>
              <p:nvPr/>
            </p:nvSpPr>
            <p:spPr>
              <a:xfrm>
                <a:off x="2331737" y="2348089"/>
                <a:ext cx="1801201" cy="400110"/>
              </a:xfrm>
              <a:prstGeom prst="rect">
                <a:avLst/>
              </a:prstGeom>
              <a:blipFill rotWithShape="1">
                <a:blip r:embed="rId3"/>
                <a:stretch>
                  <a:fillRect l="-1" t="-123" r="20" b="1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2197397" y="2957925"/>
                <a:ext cx="1893275" cy="400110"/>
              </a:xfrm>
              <a:prstGeom prst="rect">
                <a:avLst/>
              </a:prstGeom>
            </p:spPr>
            <p:txBody>
              <a:bodyPr wrap="none">
                <a:spAutoFit/>
              </a:bodyPr>
              <a:lstStyle/>
              <a:p>
                <a:r>
                  <a:rPr lang="zh-CN" altLang="zh-CN" sz="2000" dirty="0">
                    <a:latin typeface="楷体" panose="02010609060101010101" pitchFamily="49" charset="-122"/>
                    <a:ea typeface="楷体" panose="02010609060101010101" pitchFamily="49" charset="-122"/>
                    <a:cs typeface="Times New Roman" panose="02020603050405020304" pitchFamily="18" charset="0"/>
                  </a:rPr>
                  <a:t>长护险保费</a:t>
                </a:r>
                <a14:m>
                  <m:oMath xmlns:m="http://schemas.openxmlformats.org/officeDocument/2006/math">
                    <m:bar>
                      <m:barPr>
                        <m:pos m:val="top"/>
                        <m:ctrlPr>
                          <a:rPr lang="zh-CN" altLang="zh-CN" i="1">
                            <a:latin typeface="Cambria Math" panose="02040503050406030204" pitchFamily="18" charset="0"/>
                          </a:rPr>
                        </m:ctrlPr>
                      </m:barPr>
                      <m:e>
                        <m:r>
                          <a:rPr lang="en-US" altLang="zh-CN" i="1">
                            <a:latin typeface="Cambria Math" panose="02040503050406030204" pitchFamily="18" charset="0"/>
                          </a:rPr>
                          <m:t>𝜋</m:t>
                        </m:r>
                      </m:e>
                    </m:bar>
                    <m:r>
                      <a:rPr lang="en-US" altLang="zh-CN" i="1">
                        <a:latin typeface="Cambria Math" panose="02040503050406030204" pitchFamily="18" charset="0"/>
                      </a:rPr>
                      <m:t>(</m:t>
                    </m:r>
                    <m:r>
                      <a:rPr lang="en-US" altLang="zh-CN" i="1">
                        <a:latin typeface="Cambria Math" panose="02040503050406030204" pitchFamily="18" charset="0"/>
                      </a:rPr>
                      <m:t>𝐽</m:t>
                    </m:r>
                    <m:r>
                      <a:rPr lang="en-US" altLang="zh-CN" i="1">
                        <a:latin typeface="Cambria Math" panose="02040503050406030204" pitchFamily="18" charset="0"/>
                      </a:rPr>
                      <m:t>)</m:t>
                    </m:r>
                  </m:oMath>
                </a14:m>
                <a:endParaRPr lang="zh-CN" altLang="en-US" sz="2000" dirty="0">
                  <a:latin typeface="楷体" panose="02010609060101010101" pitchFamily="49" charset="-122"/>
                  <a:ea typeface="楷体" panose="02010609060101010101" pitchFamily="49"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2197397" y="2957925"/>
                <a:ext cx="1893275" cy="400110"/>
              </a:xfrm>
              <a:prstGeom prst="rect">
                <a:avLst/>
              </a:prstGeom>
              <a:blipFill rotWithShape="1">
                <a:blip r:embed="rId4"/>
                <a:stretch>
                  <a:fillRect l="-16" t="-24" r="-335" b="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447393" y="4233682"/>
                <a:ext cx="350583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2000" i="1">
                              <a:latin typeface="Cambria Math" panose="02040503050406030204" pitchFamily="18" charset="0"/>
                            </a:rPr>
                          </m:ctrlPr>
                        </m:dPr>
                        <m:e>
                          <m:r>
                            <m:rPr>
                              <m:nor/>
                            </m:rPr>
                            <a:rPr lang="zh-CN" altLang="zh-CN" sz="2000" dirty="0">
                              <a:latin typeface="楷体" panose="02010609060101010101" pitchFamily="49" charset="-122"/>
                              <a:ea typeface="楷体" panose="02010609060101010101" pitchFamily="49" charset="-122"/>
                              <a:cs typeface="Times New Roman" panose="02020603050405020304" pitchFamily="18" charset="0"/>
                            </a:rPr>
                            <m:t>初始财富</m:t>
                          </m:r>
                          <m:sSub>
                            <m:sSubPr>
                              <m:ctrlPr>
                                <a:rPr lang="zh-CN" altLang="en-US"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0</m:t>
                              </m:r>
                            </m:sub>
                          </m:sSub>
                          <m:r>
                            <a:rPr lang="zh-CN" altLang="en-US" sz="2000" i="0">
                              <a:latin typeface="Cambria Math" panose="02040503050406030204" pitchFamily="18" charset="0"/>
                            </a:rPr>
                            <m:t>=</m:t>
                          </m:r>
                          <m:sSub>
                            <m:sSubPr>
                              <m:ctrlPr>
                                <a:rPr lang="zh-CN" altLang="en-US"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en-US"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0</m:t>
                              </m:r>
                            </m:sub>
                          </m:sSub>
                          <m:sSub>
                            <m:sSubPr>
                              <m:ctrlPr>
                                <a:rPr lang="zh-CN" altLang="en-US"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2</m:t>
                              </m:r>
                            </m:sub>
                          </m:sSub>
                          <m:r>
                            <a:rPr lang="en-US" altLang="zh-CN" i="1">
                              <a:latin typeface="Cambria Math" panose="02040503050406030204" pitchFamily="18" charset="0"/>
                            </a:rPr>
                            <m:t>+</m:t>
                          </m:r>
                          <m:bar>
                            <m:barPr>
                              <m:pos m:val="top"/>
                              <m:ctrlPr>
                                <a:rPr lang="zh-CN" altLang="en-US" i="1">
                                  <a:latin typeface="Cambria Math" panose="02040503050406030204" pitchFamily="18" charset="0"/>
                                </a:rPr>
                              </m:ctrlPr>
                            </m:barPr>
                            <m:e>
                              <m:r>
                                <a:rPr lang="en-US" altLang="zh-CN" i="1">
                                  <a:latin typeface="Cambria Math" panose="02040503050406030204" pitchFamily="18" charset="0"/>
                                </a:rPr>
                                <m:t>𝜋</m:t>
                              </m:r>
                            </m:e>
                          </m:bar>
                          <m:r>
                            <a:rPr lang="en-US" altLang="zh-CN" i="1">
                              <a:latin typeface="Cambria Math" panose="02040503050406030204" pitchFamily="18" charset="0"/>
                            </a:rPr>
                            <m:t>(</m:t>
                          </m:r>
                          <m:r>
                            <a:rPr lang="en-US" altLang="zh-CN" i="1">
                              <a:latin typeface="Cambria Math" panose="02040503050406030204" pitchFamily="18" charset="0"/>
                            </a:rPr>
                            <m:t>𝐽</m:t>
                          </m:r>
                        </m:e>
                      </m:d>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6" name="矩形 5"/>
              <p:cNvSpPr>
                <a:spLocks noRot="1" noChangeAspect="1" noMove="1" noResize="1" noEditPoints="1" noAdjustHandles="1" noChangeArrowheads="1" noChangeShapeType="1" noTextEdit="1"/>
              </p:cNvSpPr>
              <p:nvPr/>
            </p:nvSpPr>
            <p:spPr>
              <a:xfrm>
                <a:off x="1447393" y="4233682"/>
                <a:ext cx="3505832" cy="400110"/>
              </a:xfrm>
              <a:prstGeom prst="rect">
                <a:avLst/>
              </a:prstGeom>
              <a:blipFill rotWithShape="1">
                <a:blip r:embed="rId5"/>
                <a:stretch>
                  <a:fillRect l="-7" t="-34" r="6" b="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6350492" y="2964625"/>
                <a:ext cx="3390672" cy="698717"/>
              </a:xfrm>
              <a:prstGeom prst="rect">
                <a:avLst/>
              </a:prstGeom>
            </p:spPr>
            <p:txBody>
              <a:bodyPr wrap="none">
                <a:spAutoFit/>
              </a:bodyPr>
              <a:lstStyle/>
              <a:p>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年长者和陪护者均健康</a:t>
                </a:r>
                <a:r>
                  <a:rPr lang="en-US" altLang="zh-CN" sz="2000" dirty="0">
                    <a:latin typeface="楷体" panose="02010609060101010101" pitchFamily="49" charset="-122"/>
                    <a:ea typeface="楷体" panose="02010609060101010101" pitchFamily="49" charset="-122"/>
                  </a:rPr>
                  <a:t>:</a:t>
                </a:r>
                <a:endParaRPr lang="en-US" altLang="zh-CN" sz="200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0</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2</m:t>
                          </m:r>
                        </m:sub>
                      </m:sSub>
                      <m:d>
                        <m:dPr>
                          <m:ctrlPr>
                            <a:rPr lang="zh-CN"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𝑖</m:t>
                          </m:r>
                        </m:e>
                      </m:d>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𝜃</m:t>
                          </m:r>
                        </m:e>
                        <m:sup>
                          <m:r>
                            <a:rPr lang="en-US" altLang="zh-CN" i="1">
                              <a:latin typeface="Cambria Math" panose="02040503050406030204" pitchFamily="18" charset="0"/>
                            </a:rPr>
                            <m:t>′</m:t>
                          </m:r>
                        </m:sup>
                      </m:sSup>
                      <m:r>
                        <a:rPr lang="en-US" altLang="zh-CN" i="1">
                          <a:latin typeface="Cambria Math" panose="02040503050406030204" pitchFamily="18" charset="0"/>
                        </a:rPr>
                        <m:t>𝑒</m:t>
                      </m:r>
                      <m:r>
                        <a:rPr lang="en-US" altLang="zh-CN" i="1">
                          <a:latin typeface="Cambria Math" panose="02040503050406030204" pitchFamily="18" charset="0"/>
                        </a:rPr>
                        <m:t>+</m:t>
                      </m:r>
                      <m:r>
                        <a:rPr lang="en-US" altLang="zh-CN" i="1">
                          <a:latin typeface="Cambria Math" panose="02040503050406030204" pitchFamily="18" charset="0"/>
                        </a:rPr>
                        <m:t>𝑘𝐵</m:t>
                      </m:r>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6350492" y="2964625"/>
                <a:ext cx="3390672" cy="698717"/>
              </a:xfrm>
              <a:prstGeom prst="rect">
                <a:avLst/>
              </a:prstGeom>
              <a:blipFill rotWithShape="1">
                <a:blip r:embed="rId6"/>
                <a:stretch>
                  <a:fillRect l="-15" t="-64" r="8" b="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6350492" y="3677074"/>
                <a:ext cx="3452025" cy="698717"/>
              </a:xfrm>
              <a:prstGeom prst="rect">
                <a:avLst/>
              </a:prstGeom>
            </p:spPr>
            <p:txBody>
              <a:bodyPr wrap="square">
                <a:spAutoFit/>
              </a:bodyPr>
              <a:lstStyle/>
              <a:p>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年长者失能、陪护者健康</a:t>
                </a:r>
                <a:r>
                  <a:rPr lang="en-US" altLang="zh-CN" sz="2000" dirty="0">
                    <a:latin typeface="楷体" panose="02010609060101010101" pitchFamily="49" charset="-122"/>
                    <a:ea typeface="楷体" panose="02010609060101010101" pitchFamily="49" charset="-122"/>
                  </a:rPr>
                  <a:t>:</a:t>
                </a:r>
                <a:endParaRPr lang="en-US" altLang="zh-CN" sz="200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0</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2</m:t>
                          </m:r>
                        </m:sub>
                      </m:sSub>
                      <m:d>
                        <m:dPr>
                          <m:ctrlPr>
                            <a:rPr lang="zh-CN"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𝑖</m:t>
                          </m:r>
                        </m:e>
                      </m:d>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𝜃</m:t>
                          </m:r>
                        </m:e>
                        <m:sup>
                          <m:r>
                            <a:rPr lang="en-US" altLang="zh-CN" i="1">
                              <a:latin typeface="Cambria Math" panose="02040503050406030204" pitchFamily="18" charset="0"/>
                            </a:rPr>
                            <m:t>′</m:t>
                          </m:r>
                        </m:sup>
                      </m:sSup>
                      <m:r>
                        <a:rPr lang="en-US" altLang="zh-CN" i="1">
                          <a:latin typeface="Cambria Math" panose="02040503050406030204" pitchFamily="18" charset="0"/>
                        </a:rPr>
                        <m:t>𝑒</m:t>
                      </m:r>
                      <m:r>
                        <a:rPr lang="en-US" altLang="zh-CN" i="1">
                          <a:latin typeface="Cambria Math" panose="02040503050406030204" pitchFamily="18" charset="0"/>
                        </a:rPr>
                        <m:t>+</m:t>
                      </m:r>
                      <m:r>
                        <a:rPr lang="en-US" altLang="zh-CN" i="1">
                          <a:latin typeface="Cambria Math" panose="02040503050406030204" pitchFamily="18" charset="0"/>
                        </a:rPr>
                        <m:t>𝑘</m:t>
                      </m:r>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1</m:t>
                          </m:r>
                        </m:sub>
                      </m:sSub>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6350492" y="3677074"/>
                <a:ext cx="3452025" cy="698717"/>
              </a:xfrm>
              <a:prstGeom prst="rect">
                <a:avLst/>
              </a:prstGeom>
              <a:blipFill rotWithShape="1">
                <a:blip r:embed="rId7"/>
                <a:stretch>
                  <a:fillRect l="-14" t="-61" r="1" b="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6350492" y="4380783"/>
                <a:ext cx="3647152" cy="677108"/>
              </a:xfrm>
              <a:prstGeom prst="rect">
                <a:avLst/>
              </a:prstGeom>
            </p:spPr>
            <p:txBody>
              <a:bodyPr wrap="none">
                <a:spAutoFit/>
              </a:bodyPr>
              <a:lstStyle/>
              <a:p>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年长者健康、陪护者失能：</a:t>
                </a:r>
                <a:endParaRPr lang="en-US" altLang="zh-CN" sz="200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3</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0</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2</m:t>
                          </m:r>
                        </m:sub>
                      </m:sSub>
                      <m:d>
                        <m:dPr>
                          <m:ctrlPr>
                            <a:rPr lang="zh-CN"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𝑖</m:t>
                          </m:r>
                        </m:e>
                      </m:d>
                      <m:r>
                        <a:rPr lang="en-US" altLang="zh-CN" i="1">
                          <a:latin typeface="Cambria Math" panose="02040503050406030204" pitchFamily="18" charset="0"/>
                        </a:rPr>
                        <m:t>+</m:t>
                      </m:r>
                      <m:r>
                        <a:rPr lang="en-US" altLang="zh-CN" i="1">
                          <a:latin typeface="Cambria Math" panose="02040503050406030204" pitchFamily="18" charset="0"/>
                        </a:rPr>
                        <m:t>𝐽</m:t>
                      </m:r>
                      <m:r>
                        <a:rPr lang="en-US" altLang="zh-CN" i="1">
                          <a:latin typeface="Cambria Math" panose="02040503050406030204" pitchFamily="18" charset="0"/>
                        </a:rPr>
                        <m:t>−</m:t>
                      </m:r>
                      <m:r>
                        <a:rPr lang="en-US" altLang="zh-CN" i="1">
                          <a:latin typeface="Cambria Math" panose="02040503050406030204" pitchFamily="18" charset="0"/>
                        </a:rPr>
                        <m:t>𝑀</m:t>
                      </m:r>
                      <m:r>
                        <a:rPr lang="en-US" altLang="zh-CN" i="1">
                          <a:latin typeface="Cambria Math" panose="02040503050406030204" pitchFamily="18" charset="0"/>
                        </a:rPr>
                        <m:t>+</m:t>
                      </m:r>
                      <m:r>
                        <a:rPr lang="en-US" altLang="zh-CN" i="1">
                          <a:latin typeface="Cambria Math" panose="02040503050406030204" pitchFamily="18" charset="0"/>
                        </a:rPr>
                        <m:t>𝑘𝐵</m:t>
                      </m:r>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11" name="矩形 10"/>
              <p:cNvSpPr>
                <a:spLocks noRot="1" noChangeAspect="1" noMove="1" noResize="1" noEditPoints="1" noAdjustHandles="1" noChangeArrowheads="1" noChangeShapeType="1" noTextEdit="1"/>
              </p:cNvSpPr>
              <p:nvPr/>
            </p:nvSpPr>
            <p:spPr>
              <a:xfrm>
                <a:off x="6350492" y="4380783"/>
                <a:ext cx="3647152" cy="677108"/>
              </a:xfrm>
              <a:prstGeom prst="rect">
                <a:avLst/>
              </a:prstGeom>
              <a:blipFill rotWithShape="1">
                <a:blip r:embed="rId8"/>
                <a:stretch>
                  <a:fillRect l="-13" t="-82" r="6" b="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406291" y="6048364"/>
                <a:ext cx="10336773" cy="597664"/>
              </a:xfrm>
              <a:prstGeom prst="rect">
                <a:avLst/>
              </a:prstGeom>
            </p:spPr>
            <p:txBody>
              <a:bodyPr wrap="square">
                <a:spAutoFit/>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smtClean="0">
                          <a:solidFill>
                            <a:schemeClr val="accent3">
                              <a:lumMod val="75000"/>
                            </a:schemeClr>
                          </a:solidFill>
                          <a:latin typeface="Cambria Math" panose="02040503050406030204" pitchFamily="18" charset="0"/>
                        </a:rPr>
                        <m:t>𝐸</m:t>
                      </m:r>
                      <m:bar>
                        <m:barPr>
                          <m:pos m:val="top"/>
                          <m:ctrlPr>
                            <a:rPr lang="zh-CN" altLang="zh-CN" i="1">
                              <a:solidFill>
                                <a:schemeClr val="accent3">
                                  <a:lumMod val="75000"/>
                                </a:schemeClr>
                              </a:solidFill>
                              <a:latin typeface="Cambria Math" panose="02040503050406030204" pitchFamily="18" charset="0"/>
                            </a:rPr>
                          </m:ctrlPr>
                        </m:barPr>
                        <m:e>
                          <m:r>
                            <a:rPr lang="en-US" altLang="zh-CN" i="1">
                              <a:solidFill>
                                <a:schemeClr val="accent3">
                                  <a:lumMod val="75000"/>
                                </a:schemeClr>
                              </a:solidFill>
                              <a:latin typeface="Cambria Math" panose="02040503050406030204" pitchFamily="18" charset="0"/>
                            </a:rPr>
                            <m:t>𝑈</m:t>
                          </m:r>
                        </m:e>
                      </m:bar>
                      <m:r>
                        <a:rPr lang="en-US" altLang="zh-CN" i="1">
                          <a:solidFill>
                            <a:schemeClr val="accent3">
                              <a:lumMod val="75000"/>
                            </a:schemeClr>
                          </a:solidFill>
                          <a:latin typeface="Cambria Math" panose="02040503050406030204" pitchFamily="18" charset="0"/>
                        </a:rPr>
                        <m:t>=</m:t>
                      </m:r>
                      <m:bar>
                        <m:barPr>
                          <m:pos m:val="top"/>
                          <m:ctrlPr>
                            <a:rPr lang="zh-CN" altLang="zh-CN" i="1">
                              <a:solidFill>
                                <a:schemeClr val="accent3">
                                  <a:lumMod val="75000"/>
                                </a:schemeClr>
                              </a:solidFill>
                              <a:latin typeface="Cambria Math" panose="02040503050406030204" pitchFamily="18" charset="0"/>
                            </a:rPr>
                          </m:ctrlPr>
                        </m:barPr>
                        <m:e>
                          <m:r>
                            <a:rPr lang="en-US" altLang="zh-CN" i="1">
                              <a:solidFill>
                                <a:schemeClr val="accent3">
                                  <a:lumMod val="75000"/>
                                </a:schemeClr>
                              </a:solidFill>
                              <a:latin typeface="Cambria Math" panose="02040503050406030204" pitchFamily="18" charset="0"/>
                            </a:rPr>
                            <m:t>𝑢</m:t>
                          </m:r>
                        </m:e>
                      </m:bar>
                      <m:d>
                        <m:dPr>
                          <m:ctrlPr>
                            <a:rPr lang="zh-CN" altLang="zh-CN" i="1">
                              <a:solidFill>
                                <a:schemeClr val="accent3">
                                  <a:lumMod val="75000"/>
                                </a:schemeClr>
                              </a:solidFill>
                              <a:latin typeface="Cambria Math" panose="02040503050406030204" pitchFamily="18" charset="0"/>
                            </a:rPr>
                          </m:ctrlPr>
                        </m:dPr>
                        <m:e>
                          <m:sSub>
                            <m:sSubPr>
                              <m:ctrlPr>
                                <a:rPr lang="zh-CN" altLang="zh-CN" i="1">
                                  <a:solidFill>
                                    <a:schemeClr val="accent3">
                                      <a:lumMod val="75000"/>
                                    </a:schemeClr>
                                  </a:solidFill>
                                  <a:latin typeface="Cambria Math" panose="02040503050406030204" pitchFamily="18" charset="0"/>
                                </a:rPr>
                              </m:ctrlPr>
                            </m:sSubPr>
                            <m:e>
                              <m:r>
                                <a:rPr lang="en-US" altLang="zh-CN" i="1">
                                  <a:solidFill>
                                    <a:schemeClr val="accent3">
                                      <a:lumMod val="75000"/>
                                    </a:schemeClr>
                                  </a:solidFill>
                                  <a:latin typeface="Cambria Math" panose="02040503050406030204" pitchFamily="18" charset="0"/>
                                </a:rPr>
                                <m:t>𝐶</m:t>
                              </m:r>
                            </m:e>
                            <m:sub>
                              <m:r>
                                <a:rPr lang="en-US" altLang="zh-CN" i="1">
                                  <a:solidFill>
                                    <a:schemeClr val="accent3">
                                      <a:lumMod val="75000"/>
                                    </a:schemeClr>
                                  </a:solidFill>
                                  <a:latin typeface="Cambria Math" panose="02040503050406030204" pitchFamily="18" charset="0"/>
                                </a:rPr>
                                <m:t>2</m:t>
                              </m:r>
                            </m:sub>
                          </m:sSub>
                        </m:e>
                      </m:d>
                      <m:r>
                        <a:rPr lang="en-US" altLang="zh-CN" i="1">
                          <a:solidFill>
                            <a:schemeClr val="accent3">
                              <a:lumMod val="75000"/>
                            </a:schemeClr>
                          </a:solidFill>
                          <a:latin typeface="Cambria Math" panose="02040503050406030204" pitchFamily="18" charset="0"/>
                        </a:rPr>
                        <m:t>+</m:t>
                      </m:r>
                      <m:d>
                        <m:dPr>
                          <m:ctrlPr>
                            <a:rPr lang="zh-CN" altLang="zh-CN" i="1">
                              <a:solidFill>
                                <a:schemeClr val="accent3">
                                  <a:lumMod val="75000"/>
                                </a:schemeClr>
                              </a:solidFill>
                              <a:latin typeface="Cambria Math" panose="02040503050406030204" pitchFamily="18" charset="0"/>
                            </a:rPr>
                          </m:ctrlPr>
                        </m:dPr>
                        <m:e>
                          <m:r>
                            <a:rPr lang="en-US" altLang="zh-CN" i="1">
                              <a:solidFill>
                                <a:schemeClr val="accent3">
                                  <a:lumMod val="75000"/>
                                </a:schemeClr>
                              </a:solidFill>
                              <a:latin typeface="Cambria Math" panose="02040503050406030204" pitchFamily="18" charset="0"/>
                            </a:rPr>
                            <m:t>1−</m:t>
                          </m:r>
                          <m:r>
                            <a:rPr lang="en-US" altLang="zh-CN" i="1">
                              <a:solidFill>
                                <a:schemeClr val="accent3">
                                  <a:lumMod val="75000"/>
                                </a:schemeClr>
                              </a:solidFill>
                              <a:latin typeface="Cambria Math" panose="02040503050406030204" pitchFamily="18" charset="0"/>
                            </a:rPr>
                            <m:t>𝑝</m:t>
                          </m:r>
                        </m:e>
                      </m:d>
                      <m:d>
                        <m:dPr>
                          <m:ctrlPr>
                            <a:rPr lang="zh-CN" altLang="zh-CN" i="1">
                              <a:solidFill>
                                <a:schemeClr val="accent3">
                                  <a:lumMod val="75000"/>
                                </a:schemeClr>
                              </a:solidFill>
                              <a:latin typeface="Cambria Math" panose="02040503050406030204" pitchFamily="18" charset="0"/>
                            </a:rPr>
                          </m:ctrlPr>
                        </m:dPr>
                        <m:e>
                          <m:r>
                            <a:rPr lang="en-US" altLang="zh-CN" i="1">
                              <a:solidFill>
                                <a:schemeClr val="accent3">
                                  <a:lumMod val="75000"/>
                                </a:schemeClr>
                              </a:solidFill>
                              <a:latin typeface="Cambria Math" panose="02040503050406030204" pitchFamily="18" charset="0"/>
                            </a:rPr>
                            <m:t>1−</m:t>
                          </m:r>
                          <m:r>
                            <a:rPr lang="en-US" altLang="zh-CN" i="1">
                              <a:solidFill>
                                <a:schemeClr val="accent3">
                                  <a:lumMod val="75000"/>
                                </a:schemeClr>
                              </a:solidFill>
                              <a:latin typeface="Cambria Math" panose="02040503050406030204" pitchFamily="18" charset="0"/>
                            </a:rPr>
                            <m:t>𝑞</m:t>
                          </m:r>
                        </m:e>
                      </m:d>
                      <m:bar>
                        <m:barPr>
                          <m:pos m:val="top"/>
                          <m:ctrlPr>
                            <a:rPr lang="zh-CN" altLang="zh-CN" i="1">
                              <a:solidFill>
                                <a:schemeClr val="accent3">
                                  <a:lumMod val="75000"/>
                                </a:schemeClr>
                              </a:solidFill>
                              <a:latin typeface="Cambria Math" panose="02040503050406030204" pitchFamily="18" charset="0"/>
                            </a:rPr>
                          </m:ctrlPr>
                        </m:barPr>
                        <m:e>
                          <m:sSup>
                            <m:sSupPr>
                              <m:ctrlPr>
                                <a:rPr lang="zh-CN" altLang="zh-CN" i="1">
                                  <a:solidFill>
                                    <a:schemeClr val="accent3">
                                      <a:lumMod val="75000"/>
                                    </a:schemeClr>
                                  </a:solidFill>
                                  <a:latin typeface="Cambria Math" panose="02040503050406030204" pitchFamily="18" charset="0"/>
                                </a:rPr>
                              </m:ctrlPr>
                            </m:sSupPr>
                            <m:e>
                              <m:r>
                                <a:rPr lang="en-US" altLang="zh-CN" i="1">
                                  <a:solidFill>
                                    <a:schemeClr val="accent3">
                                      <a:lumMod val="75000"/>
                                    </a:schemeClr>
                                  </a:solidFill>
                                  <a:latin typeface="Cambria Math" panose="02040503050406030204" pitchFamily="18" charset="0"/>
                                </a:rPr>
                                <m:t>𝑣</m:t>
                              </m:r>
                            </m:e>
                            <m:sup>
                              <m:r>
                                <a:rPr lang="en-US" altLang="zh-CN" i="1">
                                  <a:solidFill>
                                    <a:schemeClr val="accent3">
                                      <a:lumMod val="75000"/>
                                    </a:schemeClr>
                                  </a:solidFill>
                                  <a:latin typeface="Cambria Math" panose="02040503050406030204" pitchFamily="18" charset="0"/>
                                </a:rPr>
                                <m:t>0</m:t>
                              </m:r>
                            </m:sup>
                          </m:sSup>
                        </m:e>
                      </m:bar>
                      <m:d>
                        <m:dPr>
                          <m:ctrlPr>
                            <a:rPr lang="zh-CN" altLang="zh-CN" i="1">
                              <a:solidFill>
                                <a:schemeClr val="accent3">
                                  <a:lumMod val="75000"/>
                                </a:schemeClr>
                              </a:solidFill>
                              <a:latin typeface="Cambria Math" panose="02040503050406030204" pitchFamily="18" charset="0"/>
                            </a:rPr>
                          </m:ctrlPr>
                        </m:dPr>
                        <m:e>
                          <m:sSub>
                            <m:sSubPr>
                              <m:ctrlPr>
                                <a:rPr lang="zh-CN" altLang="zh-CN" i="1">
                                  <a:solidFill>
                                    <a:schemeClr val="accent3">
                                      <a:lumMod val="75000"/>
                                    </a:schemeClr>
                                  </a:solidFill>
                                  <a:latin typeface="Cambria Math" panose="02040503050406030204" pitchFamily="18" charset="0"/>
                                </a:rPr>
                              </m:ctrlPr>
                            </m:sSubPr>
                            <m:e>
                              <m:r>
                                <a:rPr lang="en-US" altLang="zh-CN" i="1">
                                  <a:solidFill>
                                    <a:schemeClr val="accent3">
                                      <a:lumMod val="75000"/>
                                    </a:schemeClr>
                                  </a:solidFill>
                                  <a:latin typeface="Cambria Math" panose="02040503050406030204" pitchFamily="18" charset="0"/>
                                </a:rPr>
                                <m:t>𝑧</m:t>
                              </m:r>
                            </m:e>
                            <m:sub>
                              <m:r>
                                <a:rPr lang="en-US" altLang="zh-CN" i="1">
                                  <a:solidFill>
                                    <a:schemeClr val="accent3">
                                      <a:lumMod val="75000"/>
                                    </a:schemeClr>
                                  </a:solidFill>
                                  <a:latin typeface="Cambria Math" panose="02040503050406030204" pitchFamily="18" charset="0"/>
                                </a:rPr>
                                <m:t>1</m:t>
                              </m:r>
                            </m:sub>
                          </m:sSub>
                        </m:e>
                      </m:d>
                      <m:sSup>
                        <m:sSupPr>
                          <m:ctrlPr>
                            <a:rPr lang="zh-CN" altLang="zh-CN" i="1">
                              <a:solidFill>
                                <a:schemeClr val="accent3">
                                  <a:lumMod val="75000"/>
                                </a:schemeClr>
                              </a:solidFill>
                              <a:latin typeface="Cambria Math" panose="02040503050406030204" pitchFamily="18" charset="0"/>
                            </a:rPr>
                          </m:ctrlPr>
                        </m:sSupPr>
                        <m:e>
                          <m:r>
                            <a:rPr lang="en-US" altLang="zh-CN" i="1">
                              <a:solidFill>
                                <a:schemeClr val="accent3">
                                  <a:lumMod val="75000"/>
                                </a:schemeClr>
                              </a:solidFill>
                              <a:latin typeface="Cambria Math" panose="02040503050406030204" pitchFamily="18" charset="0"/>
                            </a:rPr>
                            <m:t>𝑒</m:t>
                          </m:r>
                        </m:e>
                        <m:sup>
                          <m:r>
                            <a:rPr lang="en-US" altLang="zh-CN" i="1">
                              <a:solidFill>
                                <a:schemeClr val="accent3">
                                  <a:lumMod val="75000"/>
                                </a:schemeClr>
                              </a:solidFill>
                              <a:latin typeface="Cambria Math" panose="02040503050406030204" pitchFamily="18" charset="0"/>
                            </a:rPr>
                            <m:t>−</m:t>
                          </m:r>
                          <m:r>
                            <a:rPr lang="en-US" altLang="zh-CN" i="1">
                              <a:solidFill>
                                <a:schemeClr val="accent3">
                                  <a:lumMod val="75000"/>
                                </a:schemeClr>
                              </a:solidFill>
                              <a:latin typeface="Cambria Math" panose="02040503050406030204" pitchFamily="18" charset="0"/>
                            </a:rPr>
                            <m:t>𝜌</m:t>
                          </m:r>
                        </m:sup>
                      </m:sSup>
                      <m:r>
                        <a:rPr lang="en-US" altLang="zh-CN" i="1">
                          <a:solidFill>
                            <a:schemeClr val="accent3">
                              <a:lumMod val="75000"/>
                            </a:schemeClr>
                          </a:solidFill>
                          <a:latin typeface="Cambria Math" panose="02040503050406030204" pitchFamily="18" charset="0"/>
                        </a:rPr>
                        <m:t>+</m:t>
                      </m:r>
                      <m:r>
                        <a:rPr lang="en-US" altLang="zh-CN" i="1">
                          <a:solidFill>
                            <a:schemeClr val="accent3">
                              <a:lumMod val="75000"/>
                            </a:schemeClr>
                          </a:solidFill>
                          <a:latin typeface="Cambria Math" panose="02040503050406030204" pitchFamily="18" charset="0"/>
                        </a:rPr>
                        <m:t>𝑝</m:t>
                      </m:r>
                      <m:d>
                        <m:dPr>
                          <m:ctrlPr>
                            <a:rPr lang="zh-CN" altLang="zh-CN" i="1">
                              <a:solidFill>
                                <a:schemeClr val="accent3">
                                  <a:lumMod val="75000"/>
                                </a:schemeClr>
                              </a:solidFill>
                              <a:latin typeface="Cambria Math" panose="02040503050406030204" pitchFamily="18" charset="0"/>
                            </a:rPr>
                          </m:ctrlPr>
                        </m:dPr>
                        <m:e>
                          <m:r>
                            <a:rPr lang="en-US" altLang="zh-CN" i="1">
                              <a:solidFill>
                                <a:schemeClr val="accent3">
                                  <a:lumMod val="75000"/>
                                </a:schemeClr>
                              </a:solidFill>
                              <a:latin typeface="Cambria Math" panose="02040503050406030204" pitchFamily="18" charset="0"/>
                            </a:rPr>
                            <m:t>1−</m:t>
                          </m:r>
                          <m:r>
                            <a:rPr lang="en-US" altLang="zh-CN" i="1">
                              <a:solidFill>
                                <a:schemeClr val="accent3">
                                  <a:lumMod val="75000"/>
                                </a:schemeClr>
                              </a:solidFill>
                              <a:latin typeface="Cambria Math" panose="02040503050406030204" pitchFamily="18" charset="0"/>
                            </a:rPr>
                            <m:t>𝑞</m:t>
                          </m:r>
                        </m:e>
                      </m:d>
                      <m:bar>
                        <m:barPr>
                          <m:pos m:val="top"/>
                          <m:ctrlPr>
                            <a:rPr lang="zh-CN" altLang="zh-CN" i="1">
                              <a:solidFill>
                                <a:schemeClr val="accent3">
                                  <a:lumMod val="75000"/>
                                </a:schemeClr>
                              </a:solidFill>
                              <a:latin typeface="Cambria Math" panose="02040503050406030204" pitchFamily="18" charset="0"/>
                            </a:rPr>
                          </m:ctrlPr>
                        </m:barPr>
                        <m:e>
                          <m:sSup>
                            <m:sSupPr>
                              <m:ctrlPr>
                                <a:rPr lang="zh-CN" altLang="zh-CN" i="1">
                                  <a:solidFill>
                                    <a:schemeClr val="accent3">
                                      <a:lumMod val="75000"/>
                                    </a:schemeClr>
                                  </a:solidFill>
                                  <a:latin typeface="Cambria Math" panose="02040503050406030204" pitchFamily="18" charset="0"/>
                                </a:rPr>
                              </m:ctrlPr>
                            </m:sSupPr>
                            <m:e>
                              <m:r>
                                <a:rPr lang="en-US" altLang="zh-CN" i="1">
                                  <a:solidFill>
                                    <a:schemeClr val="accent3">
                                      <a:lumMod val="75000"/>
                                    </a:schemeClr>
                                  </a:solidFill>
                                  <a:latin typeface="Cambria Math" panose="02040503050406030204" pitchFamily="18" charset="0"/>
                                </a:rPr>
                                <m:t>𝑣</m:t>
                              </m:r>
                            </m:e>
                            <m:sup>
                              <m:r>
                                <a:rPr lang="en-US" altLang="zh-CN" i="1">
                                  <a:solidFill>
                                    <a:schemeClr val="accent3">
                                      <a:lumMod val="75000"/>
                                    </a:schemeClr>
                                  </a:solidFill>
                                  <a:latin typeface="Cambria Math" panose="02040503050406030204" pitchFamily="18" charset="0"/>
                                </a:rPr>
                                <m:t>0</m:t>
                              </m:r>
                            </m:sup>
                          </m:sSup>
                        </m:e>
                      </m:bar>
                      <m:d>
                        <m:dPr>
                          <m:ctrlPr>
                            <a:rPr lang="zh-CN" altLang="zh-CN" i="1">
                              <a:solidFill>
                                <a:schemeClr val="accent3">
                                  <a:lumMod val="75000"/>
                                </a:schemeClr>
                              </a:solidFill>
                              <a:latin typeface="Cambria Math" panose="02040503050406030204" pitchFamily="18" charset="0"/>
                            </a:rPr>
                          </m:ctrlPr>
                        </m:dPr>
                        <m:e>
                          <m:sSub>
                            <m:sSubPr>
                              <m:ctrlPr>
                                <a:rPr lang="zh-CN" altLang="zh-CN" i="1">
                                  <a:solidFill>
                                    <a:schemeClr val="accent3">
                                      <a:lumMod val="75000"/>
                                    </a:schemeClr>
                                  </a:solidFill>
                                  <a:latin typeface="Cambria Math" panose="02040503050406030204" pitchFamily="18" charset="0"/>
                                </a:rPr>
                              </m:ctrlPr>
                            </m:sSubPr>
                            <m:e>
                              <m:r>
                                <a:rPr lang="en-US" altLang="zh-CN" i="1">
                                  <a:solidFill>
                                    <a:schemeClr val="accent3">
                                      <a:lumMod val="75000"/>
                                    </a:schemeClr>
                                  </a:solidFill>
                                  <a:latin typeface="Cambria Math" panose="02040503050406030204" pitchFamily="18" charset="0"/>
                                </a:rPr>
                                <m:t>𝑧</m:t>
                              </m:r>
                            </m:e>
                            <m:sub>
                              <m:r>
                                <a:rPr lang="en-US" altLang="zh-CN" i="1">
                                  <a:solidFill>
                                    <a:schemeClr val="accent3">
                                      <a:lumMod val="75000"/>
                                    </a:schemeClr>
                                  </a:solidFill>
                                  <a:latin typeface="Cambria Math" panose="02040503050406030204" pitchFamily="18" charset="0"/>
                                </a:rPr>
                                <m:t>2</m:t>
                              </m:r>
                            </m:sub>
                          </m:sSub>
                        </m:e>
                      </m:d>
                      <m:sSup>
                        <m:sSupPr>
                          <m:ctrlPr>
                            <a:rPr lang="zh-CN" altLang="zh-CN" i="1">
                              <a:solidFill>
                                <a:schemeClr val="accent3">
                                  <a:lumMod val="75000"/>
                                </a:schemeClr>
                              </a:solidFill>
                              <a:latin typeface="Cambria Math" panose="02040503050406030204" pitchFamily="18" charset="0"/>
                            </a:rPr>
                          </m:ctrlPr>
                        </m:sSupPr>
                        <m:e>
                          <m:r>
                            <a:rPr lang="en-US" altLang="zh-CN" i="1">
                              <a:solidFill>
                                <a:schemeClr val="accent3">
                                  <a:lumMod val="75000"/>
                                </a:schemeClr>
                              </a:solidFill>
                              <a:latin typeface="Cambria Math" panose="02040503050406030204" pitchFamily="18" charset="0"/>
                            </a:rPr>
                            <m:t>𝑒</m:t>
                          </m:r>
                        </m:e>
                        <m:sup>
                          <m:r>
                            <a:rPr lang="en-US" altLang="zh-CN" i="1">
                              <a:solidFill>
                                <a:schemeClr val="accent3">
                                  <a:lumMod val="75000"/>
                                </a:schemeClr>
                              </a:solidFill>
                              <a:latin typeface="Cambria Math" panose="02040503050406030204" pitchFamily="18" charset="0"/>
                            </a:rPr>
                            <m:t>−</m:t>
                          </m:r>
                          <m:r>
                            <a:rPr lang="en-US" altLang="zh-CN" i="1">
                              <a:solidFill>
                                <a:schemeClr val="accent3">
                                  <a:lumMod val="75000"/>
                                </a:schemeClr>
                              </a:solidFill>
                              <a:latin typeface="Cambria Math" panose="02040503050406030204" pitchFamily="18" charset="0"/>
                            </a:rPr>
                            <m:t>𝜌</m:t>
                          </m:r>
                        </m:sup>
                      </m:sSup>
                      <m:r>
                        <a:rPr lang="en-US" altLang="zh-CN" i="1">
                          <a:solidFill>
                            <a:schemeClr val="accent3">
                              <a:lumMod val="75000"/>
                            </a:schemeClr>
                          </a:solidFill>
                          <a:latin typeface="Cambria Math" panose="02040503050406030204" pitchFamily="18" charset="0"/>
                        </a:rPr>
                        <m:t>+</m:t>
                      </m:r>
                      <m:r>
                        <a:rPr lang="en-US" altLang="zh-CN" i="1">
                          <a:solidFill>
                            <a:schemeClr val="accent3">
                              <a:lumMod val="75000"/>
                            </a:schemeClr>
                          </a:solidFill>
                          <a:latin typeface="Cambria Math" panose="02040503050406030204" pitchFamily="18" charset="0"/>
                        </a:rPr>
                        <m:t>𝑞</m:t>
                      </m:r>
                      <m:d>
                        <m:dPr>
                          <m:ctrlPr>
                            <a:rPr lang="zh-CN" altLang="zh-CN" i="1">
                              <a:solidFill>
                                <a:schemeClr val="accent3">
                                  <a:lumMod val="75000"/>
                                </a:schemeClr>
                              </a:solidFill>
                              <a:latin typeface="Cambria Math" panose="02040503050406030204" pitchFamily="18" charset="0"/>
                            </a:rPr>
                          </m:ctrlPr>
                        </m:dPr>
                        <m:e>
                          <m:r>
                            <a:rPr lang="en-US" altLang="zh-CN" i="1">
                              <a:solidFill>
                                <a:schemeClr val="accent3">
                                  <a:lumMod val="75000"/>
                                </a:schemeClr>
                              </a:solidFill>
                              <a:latin typeface="Cambria Math" panose="02040503050406030204" pitchFamily="18" charset="0"/>
                            </a:rPr>
                            <m:t>1−</m:t>
                          </m:r>
                          <m:r>
                            <a:rPr lang="en-US" altLang="zh-CN" i="1">
                              <a:solidFill>
                                <a:schemeClr val="accent3">
                                  <a:lumMod val="75000"/>
                                </a:schemeClr>
                              </a:solidFill>
                              <a:latin typeface="Cambria Math" panose="02040503050406030204" pitchFamily="18" charset="0"/>
                            </a:rPr>
                            <m:t>𝑝</m:t>
                          </m:r>
                        </m:e>
                      </m:d>
                      <m:bar>
                        <m:barPr>
                          <m:pos m:val="top"/>
                          <m:ctrlPr>
                            <a:rPr lang="zh-CN" altLang="zh-CN" i="1">
                              <a:solidFill>
                                <a:schemeClr val="accent3">
                                  <a:lumMod val="75000"/>
                                </a:schemeClr>
                              </a:solidFill>
                              <a:latin typeface="Cambria Math" panose="02040503050406030204" pitchFamily="18" charset="0"/>
                            </a:rPr>
                          </m:ctrlPr>
                        </m:barPr>
                        <m:e>
                          <m:sSup>
                            <m:sSupPr>
                              <m:ctrlPr>
                                <a:rPr lang="zh-CN" altLang="zh-CN" i="1">
                                  <a:solidFill>
                                    <a:schemeClr val="accent3">
                                      <a:lumMod val="75000"/>
                                    </a:schemeClr>
                                  </a:solidFill>
                                  <a:latin typeface="Cambria Math" panose="02040503050406030204" pitchFamily="18" charset="0"/>
                                </a:rPr>
                              </m:ctrlPr>
                            </m:sSupPr>
                            <m:e>
                              <m:r>
                                <a:rPr lang="en-US" altLang="zh-CN" i="1">
                                  <a:solidFill>
                                    <a:schemeClr val="accent3">
                                      <a:lumMod val="75000"/>
                                    </a:schemeClr>
                                  </a:solidFill>
                                  <a:latin typeface="Cambria Math" panose="02040503050406030204" pitchFamily="18" charset="0"/>
                                </a:rPr>
                                <m:t>𝑣</m:t>
                              </m:r>
                            </m:e>
                            <m:sup>
                              <m:r>
                                <a:rPr lang="en-US" altLang="zh-CN" i="1">
                                  <a:solidFill>
                                    <a:schemeClr val="accent3">
                                      <a:lumMod val="75000"/>
                                    </a:schemeClr>
                                  </a:solidFill>
                                  <a:latin typeface="Cambria Math" panose="02040503050406030204" pitchFamily="18" charset="0"/>
                                </a:rPr>
                                <m:t>1</m:t>
                              </m:r>
                            </m:sup>
                          </m:sSup>
                        </m:e>
                      </m:bar>
                      <m:r>
                        <a:rPr lang="en-US" altLang="zh-CN" i="1">
                          <a:solidFill>
                            <a:schemeClr val="accent3">
                              <a:lumMod val="75000"/>
                            </a:schemeClr>
                          </a:solidFill>
                          <a:latin typeface="Cambria Math" panose="02040503050406030204" pitchFamily="18" charset="0"/>
                        </a:rPr>
                        <m:t>(</m:t>
                      </m:r>
                      <m:sSub>
                        <m:sSubPr>
                          <m:ctrlPr>
                            <a:rPr lang="zh-CN" altLang="zh-CN" i="1">
                              <a:solidFill>
                                <a:schemeClr val="accent3">
                                  <a:lumMod val="75000"/>
                                </a:schemeClr>
                              </a:solidFill>
                              <a:latin typeface="Cambria Math" panose="02040503050406030204" pitchFamily="18" charset="0"/>
                            </a:rPr>
                          </m:ctrlPr>
                        </m:sSubPr>
                        <m:e>
                          <m:r>
                            <a:rPr lang="en-US" altLang="zh-CN" i="1">
                              <a:solidFill>
                                <a:schemeClr val="accent3">
                                  <a:lumMod val="75000"/>
                                </a:schemeClr>
                              </a:solidFill>
                              <a:latin typeface="Cambria Math" panose="02040503050406030204" pitchFamily="18" charset="0"/>
                            </a:rPr>
                            <m:t>𝑧</m:t>
                          </m:r>
                        </m:e>
                        <m:sub>
                          <m:r>
                            <a:rPr lang="en-US" altLang="zh-CN" i="1">
                              <a:solidFill>
                                <a:schemeClr val="accent3">
                                  <a:lumMod val="75000"/>
                                </a:schemeClr>
                              </a:solidFill>
                              <a:latin typeface="Cambria Math" panose="02040503050406030204" pitchFamily="18" charset="0"/>
                            </a:rPr>
                            <m:t>3</m:t>
                          </m:r>
                        </m:sub>
                      </m:sSub>
                      <m:r>
                        <a:rPr lang="en-US" altLang="zh-CN" i="1">
                          <a:solidFill>
                            <a:schemeClr val="accent3">
                              <a:lumMod val="75000"/>
                            </a:schemeClr>
                          </a:solidFill>
                          <a:latin typeface="Cambria Math" panose="02040503050406030204" pitchFamily="18" charset="0"/>
                        </a:rPr>
                        <m:t>)</m:t>
                      </m:r>
                      <m:sSup>
                        <m:sSupPr>
                          <m:ctrlPr>
                            <a:rPr lang="zh-CN" altLang="zh-CN" i="1">
                              <a:solidFill>
                                <a:schemeClr val="accent3">
                                  <a:lumMod val="75000"/>
                                </a:schemeClr>
                              </a:solidFill>
                              <a:latin typeface="Cambria Math" panose="02040503050406030204" pitchFamily="18" charset="0"/>
                            </a:rPr>
                          </m:ctrlPr>
                        </m:sSupPr>
                        <m:e>
                          <m:r>
                            <a:rPr lang="en-US" altLang="zh-CN" i="1">
                              <a:solidFill>
                                <a:schemeClr val="accent3">
                                  <a:lumMod val="75000"/>
                                </a:schemeClr>
                              </a:solidFill>
                              <a:latin typeface="Cambria Math" panose="02040503050406030204" pitchFamily="18" charset="0"/>
                            </a:rPr>
                            <m:t>𝑒</m:t>
                          </m:r>
                        </m:e>
                        <m:sup>
                          <m:r>
                            <a:rPr lang="en-US" altLang="zh-CN" i="1">
                              <a:solidFill>
                                <a:schemeClr val="accent3">
                                  <a:lumMod val="75000"/>
                                </a:schemeClr>
                              </a:solidFill>
                              <a:latin typeface="Cambria Math" panose="02040503050406030204" pitchFamily="18" charset="0"/>
                            </a:rPr>
                            <m:t>−</m:t>
                          </m:r>
                          <m:r>
                            <a:rPr lang="en-US" altLang="zh-CN" i="1">
                              <a:solidFill>
                                <a:schemeClr val="accent3">
                                  <a:lumMod val="75000"/>
                                </a:schemeClr>
                              </a:solidFill>
                              <a:latin typeface="Cambria Math" panose="02040503050406030204" pitchFamily="18" charset="0"/>
                            </a:rPr>
                            <m:t>𝜌</m:t>
                          </m:r>
                        </m:sup>
                      </m:sSup>
                      <m:r>
                        <a:rPr lang="en-US" altLang="zh-CN" i="1">
                          <a:solidFill>
                            <a:schemeClr val="accent3">
                              <a:lumMod val="75000"/>
                            </a:schemeClr>
                          </a:solidFill>
                          <a:latin typeface="Cambria Math" panose="02040503050406030204" pitchFamily="18" charset="0"/>
                        </a:rPr>
                        <m:t>+</m:t>
                      </m:r>
                      <m:r>
                        <a:rPr lang="en-US" altLang="zh-CN" i="1">
                          <a:solidFill>
                            <a:schemeClr val="accent3">
                              <a:lumMod val="75000"/>
                            </a:schemeClr>
                          </a:solidFill>
                          <a:latin typeface="Cambria Math" panose="02040503050406030204" pitchFamily="18" charset="0"/>
                        </a:rPr>
                        <m:t>𝑝𝑞</m:t>
                      </m:r>
                      <m:bar>
                        <m:barPr>
                          <m:pos m:val="top"/>
                          <m:ctrlPr>
                            <a:rPr lang="zh-CN" altLang="zh-CN" i="1">
                              <a:solidFill>
                                <a:schemeClr val="accent3">
                                  <a:lumMod val="75000"/>
                                </a:schemeClr>
                              </a:solidFill>
                              <a:latin typeface="Cambria Math" panose="02040503050406030204" pitchFamily="18" charset="0"/>
                            </a:rPr>
                          </m:ctrlPr>
                        </m:barPr>
                        <m:e>
                          <m:sSup>
                            <m:sSupPr>
                              <m:ctrlPr>
                                <a:rPr lang="zh-CN" altLang="zh-CN" i="1">
                                  <a:solidFill>
                                    <a:schemeClr val="accent3">
                                      <a:lumMod val="75000"/>
                                    </a:schemeClr>
                                  </a:solidFill>
                                  <a:latin typeface="Cambria Math" panose="02040503050406030204" pitchFamily="18" charset="0"/>
                                </a:rPr>
                              </m:ctrlPr>
                            </m:sSupPr>
                            <m:e>
                              <m:r>
                                <a:rPr lang="en-US" altLang="zh-CN" i="1">
                                  <a:solidFill>
                                    <a:schemeClr val="accent3">
                                      <a:lumMod val="75000"/>
                                    </a:schemeClr>
                                  </a:solidFill>
                                  <a:latin typeface="Cambria Math" panose="02040503050406030204" pitchFamily="18" charset="0"/>
                                </a:rPr>
                                <m:t>𝑣</m:t>
                              </m:r>
                            </m:e>
                            <m:sup>
                              <m:r>
                                <a:rPr lang="en-US" altLang="zh-CN" i="1">
                                  <a:solidFill>
                                    <a:schemeClr val="accent3">
                                      <a:lumMod val="75000"/>
                                    </a:schemeClr>
                                  </a:solidFill>
                                  <a:latin typeface="Cambria Math" panose="02040503050406030204" pitchFamily="18" charset="0"/>
                                </a:rPr>
                                <m:t>1</m:t>
                              </m:r>
                            </m:sup>
                          </m:sSup>
                        </m:e>
                      </m:bar>
                      <m:r>
                        <a:rPr lang="en-US" altLang="zh-CN" i="1">
                          <a:solidFill>
                            <a:schemeClr val="accent3">
                              <a:lumMod val="75000"/>
                            </a:schemeClr>
                          </a:solidFill>
                          <a:latin typeface="Cambria Math" panose="02040503050406030204" pitchFamily="18" charset="0"/>
                        </a:rPr>
                        <m:t>(</m:t>
                      </m:r>
                      <m:sSub>
                        <m:sSubPr>
                          <m:ctrlPr>
                            <a:rPr lang="zh-CN" altLang="zh-CN" i="1">
                              <a:solidFill>
                                <a:schemeClr val="accent3">
                                  <a:lumMod val="75000"/>
                                </a:schemeClr>
                              </a:solidFill>
                              <a:latin typeface="Cambria Math" panose="02040503050406030204" pitchFamily="18" charset="0"/>
                            </a:rPr>
                          </m:ctrlPr>
                        </m:sSubPr>
                        <m:e>
                          <m:r>
                            <a:rPr lang="en-US" altLang="zh-CN" i="1">
                              <a:solidFill>
                                <a:schemeClr val="accent3">
                                  <a:lumMod val="75000"/>
                                </a:schemeClr>
                              </a:solidFill>
                              <a:latin typeface="Cambria Math" panose="02040503050406030204" pitchFamily="18" charset="0"/>
                            </a:rPr>
                            <m:t>𝑧</m:t>
                          </m:r>
                        </m:e>
                        <m:sub>
                          <m:r>
                            <a:rPr lang="en-US" altLang="zh-CN" i="1">
                              <a:solidFill>
                                <a:schemeClr val="accent3">
                                  <a:lumMod val="75000"/>
                                </a:schemeClr>
                              </a:solidFill>
                              <a:latin typeface="Cambria Math" panose="02040503050406030204" pitchFamily="18" charset="0"/>
                            </a:rPr>
                            <m:t>4</m:t>
                          </m:r>
                        </m:sub>
                      </m:sSub>
                      <m:r>
                        <a:rPr lang="en-US" altLang="zh-CN" i="1">
                          <a:solidFill>
                            <a:schemeClr val="accent3">
                              <a:lumMod val="75000"/>
                            </a:schemeClr>
                          </a:solidFill>
                          <a:latin typeface="Cambria Math" panose="02040503050406030204" pitchFamily="18" charset="0"/>
                        </a:rPr>
                        <m:t>)</m:t>
                      </m:r>
                      <m:sSup>
                        <m:sSupPr>
                          <m:ctrlPr>
                            <a:rPr lang="zh-CN" altLang="zh-CN" i="1">
                              <a:solidFill>
                                <a:schemeClr val="accent3">
                                  <a:lumMod val="75000"/>
                                </a:schemeClr>
                              </a:solidFill>
                              <a:latin typeface="Cambria Math" panose="02040503050406030204" pitchFamily="18" charset="0"/>
                            </a:rPr>
                          </m:ctrlPr>
                        </m:sSupPr>
                        <m:e>
                          <m:r>
                            <a:rPr lang="en-US" altLang="zh-CN" i="1">
                              <a:solidFill>
                                <a:schemeClr val="accent3">
                                  <a:lumMod val="75000"/>
                                </a:schemeClr>
                              </a:solidFill>
                              <a:latin typeface="Cambria Math" panose="02040503050406030204" pitchFamily="18" charset="0"/>
                            </a:rPr>
                            <m:t>𝑒</m:t>
                          </m:r>
                        </m:e>
                        <m:sup>
                          <m:r>
                            <a:rPr lang="en-US" altLang="zh-CN" i="1">
                              <a:solidFill>
                                <a:schemeClr val="accent3">
                                  <a:lumMod val="75000"/>
                                </a:schemeClr>
                              </a:solidFill>
                              <a:latin typeface="Cambria Math" panose="02040503050406030204" pitchFamily="18" charset="0"/>
                            </a:rPr>
                            <m:t>−</m:t>
                          </m:r>
                          <m:r>
                            <a:rPr lang="en-US" altLang="zh-CN" i="1">
                              <a:solidFill>
                                <a:schemeClr val="accent3">
                                  <a:lumMod val="75000"/>
                                </a:schemeClr>
                              </a:solidFill>
                              <a:latin typeface="Cambria Math" panose="02040503050406030204" pitchFamily="18" charset="0"/>
                            </a:rPr>
                            <m:t>𝜌</m:t>
                          </m:r>
                        </m:sup>
                      </m:sSup>
                    </m:oMath>
                  </m:oMathPara>
                </a14:m>
                <a:endParaRPr lang="zh-CN" altLang="en-US" sz="2000" dirty="0">
                  <a:solidFill>
                    <a:schemeClr val="accent3">
                      <a:lumMod val="75000"/>
                    </a:schemeClr>
                  </a:solidFill>
                  <a:latin typeface="楷体" panose="02010609060101010101" pitchFamily="49" charset="-122"/>
                  <a:ea typeface="楷体" panose="02010609060101010101" pitchFamily="49"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406291" y="6048364"/>
                <a:ext cx="10336773" cy="597664"/>
              </a:xfrm>
              <a:prstGeom prst="rect">
                <a:avLst/>
              </a:prstGeom>
              <a:blipFill rotWithShape="1">
                <a:blip r:embed="rId9"/>
                <a:stretch>
                  <a:fillRect l="-5" t="-104" r="1" b="20"/>
                </a:stretch>
              </a:blipFill>
            </p:spPr>
            <p:txBody>
              <a:bodyPr/>
              <a:lstStyle/>
              <a:p>
                <a:r>
                  <a:rPr lang="zh-CN" altLang="en-US">
                    <a:noFill/>
                  </a:rPr>
                  <a:t> </a:t>
                </a:r>
              </a:p>
            </p:txBody>
          </p:sp>
        </mc:Fallback>
      </mc:AlternateContent>
      <p:sp>
        <p:nvSpPr>
          <p:cNvPr id="177" name="矩形 176"/>
          <p:cNvSpPr/>
          <p:nvPr/>
        </p:nvSpPr>
        <p:spPr>
          <a:xfrm>
            <a:off x="2721652" y="1073363"/>
            <a:ext cx="957313" cy="461665"/>
          </a:xfrm>
          <a:prstGeom prst="rect">
            <a:avLst/>
          </a:prstGeom>
        </p:spPr>
        <p:txBody>
          <a:bodyPr wrap="none">
            <a:spAutoFit/>
          </a:bodyPr>
          <a:lstStyle/>
          <a:p>
            <a:r>
              <a:rPr lang="en-US" altLang="zh-CN" sz="2400" b="1" dirty="0">
                <a:solidFill>
                  <a:schemeClr val="accent3">
                    <a:lumMod val="75000"/>
                  </a:schemeClr>
                </a:solidFill>
                <a:latin typeface="Times New Roman" panose="02020603050405020304" pitchFamily="18" charset="0"/>
                <a:ea typeface="仿宋" panose="02010609060101010101" pitchFamily="49" charset="-122"/>
              </a:rPr>
              <a:t>0</a:t>
            </a:r>
            <a:r>
              <a:rPr lang="zh-CN" altLang="zh-CN" sz="2400" b="1" dirty="0">
                <a:solidFill>
                  <a:schemeClr val="accent3">
                    <a:lumMod val="75000"/>
                  </a:schemeClr>
                </a:solidFill>
                <a:latin typeface="Times New Roman" panose="02020603050405020304" pitchFamily="18" charset="0"/>
                <a:ea typeface="仿宋" panose="02010609060101010101" pitchFamily="49" charset="-122"/>
                <a:cs typeface="Times New Roman" panose="02020603050405020304" pitchFamily="18" charset="0"/>
              </a:rPr>
              <a:t>时刻</a:t>
            </a:r>
            <a:endParaRPr lang="zh-CN" altLang="en-US" sz="2400" b="1" dirty="0">
              <a:solidFill>
                <a:schemeClr val="accent3">
                  <a:lumMod val="75000"/>
                </a:schemeClr>
              </a:solidFill>
            </a:endParaRPr>
          </a:p>
        </p:txBody>
      </p:sp>
      <p:sp>
        <p:nvSpPr>
          <p:cNvPr id="178" name="矩形 177"/>
          <p:cNvSpPr/>
          <p:nvPr/>
        </p:nvSpPr>
        <p:spPr>
          <a:xfrm>
            <a:off x="7503810" y="973366"/>
            <a:ext cx="957313" cy="461665"/>
          </a:xfrm>
          <a:prstGeom prst="rect">
            <a:avLst/>
          </a:prstGeom>
        </p:spPr>
        <p:txBody>
          <a:bodyPr wrap="none">
            <a:spAutoFit/>
          </a:bodyPr>
          <a:lstStyle/>
          <a:p>
            <a:r>
              <a:rPr lang="en-US" altLang="zh-CN" sz="2400" b="1" dirty="0">
                <a:solidFill>
                  <a:schemeClr val="accent3">
                    <a:lumMod val="75000"/>
                  </a:schemeClr>
                </a:solidFill>
                <a:latin typeface="Times New Roman" panose="02020603050405020304" pitchFamily="18" charset="0"/>
                <a:ea typeface="仿宋" panose="02010609060101010101" pitchFamily="49" charset="-122"/>
              </a:rPr>
              <a:t>1</a:t>
            </a:r>
            <a:r>
              <a:rPr lang="zh-CN" altLang="zh-CN" sz="2400" b="1" dirty="0">
                <a:solidFill>
                  <a:schemeClr val="accent3">
                    <a:lumMod val="75000"/>
                  </a:schemeClr>
                </a:solidFill>
                <a:latin typeface="Times New Roman" panose="02020603050405020304" pitchFamily="18" charset="0"/>
                <a:ea typeface="仿宋" panose="02010609060101010101" pitchFamily="49" charset="-122"/>
                <a:cs typeface="Times New Roman" panose="02020603050405020304" pitchFamily="18" charset="0"/>
              </a:rPr>
              <a:t>时刻</a:t>
            </a:r>
            <a:endParaRPr lang="zh-CN" altLang="en-US" sz="2400" b="1" dirty="0">
              <a:solidFill>
                <a:schemeClr val="accent3">
                  <a:lumMod val="75000"/>
                </a:schemeClr>
              </a:solidFill>
            </a:endParaRPr>
          </a:p>
        </p:txBody>
      </p:sp>
      <mc:AlternateContent xmlns:mc="http://schemas.openxmlformats.org/markup-compatibility/2006" xmlns:a14="http://schemas.microsoft.com/office/drawing/2010/main">
        <mc:Choice Requires="a14">
          <p:sp>
            <p:nvSpPr>
              <p:cNvPr id="179" name="矩形 178"/>
              <p:cNvSpPr/>
              <p:nvPr/>
            </p:nvSpPr>
            <p:spPr>
              <a:xfrm>
                <a:off x="7265027" y="1876517"/>
                <a:ext cx="1434880" cy="400110"/>
              </a:xfrm>
              <a:prstGeom prst="rect">
                <a:avLst/>
              </a:prstGeom>
            </p:spPr>
            <p:txBody>
              <a:bodyPr wrap="none">
                <a:spAutoFit/>
              </a:bodyPr>
              <a:lstStyle/>
              <a:p>
                <a:r>
                  <a:rPr lang="zh-CN" altLang="en-US" sz="2000" dirty="0">
                    <a:latin typeface="楷体" panose="02010609060101010101" pitchFamily="49" charset="-122"/>
                    <a:ea typeface="楷体" panose="02010609060101010101" pitchFamily="49" charset="-122"/>
                    <a:cs typeface="Times New Roman" panose="02020603050405020304" pitchFamily="18" charset="0"/>
                  </a:rPr>
                  <a:t>失能</a:t>
                </a:r>
                <a:r>
                  <a:rPr lang="zh-CN" altLang="zh-CN" sz="2000" dirty="0">
                    <a:latin typeface="楷体" panose="02010609060101010101" pitchFamily="49" charset="-122"/>
                    <a:ea typeface="楷体" panose="02010609060101010101" pitchFamily="49" charset="-122"/>
                    <a:cs typeface="Times New Roman" panose="02020603050405020304" pitchFamily="18" charset="0"/>
                  </a:rPr>
                  <a:t>花费</a:t>
                </a:r>
                <a14:m>
                  <m:oMath xmlns:m="http://schemas.openxmlformats.org/officeDocument/2006/math">
                    <m:r>
                      <a:rPr lang="en-US" altLang="zh-CN" sz="2000" b="0" i="1" smtClean="0">
                        <a:latin typeface="Cambria Math" panose="02040503050406030204" pitchFamily="18" charset="0"/>
                        <a:ea typeface="楷体" panose="02010609060101010101" pitchFamily="49" charset="-122"/>
                        <a:cs typeface="Times New Roman" panose="02020603050405020304" pitchFamily="18" charset="0"/>
                      </a:rPr>
                      <m:t>𝑀</m:t>
                    </m:r>
                  </m:oMath>
                </a14:m>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p:txBody>
          </p:sp>
        </mc:Choice>
        <mc:Fallback xmlns="">
          <p:sp>
            <p:nvSpPr>
              <p:cNvPr id="179" name="矩形 178"/>
              <p:cNvSpPr>
                <a:spLocks noRot="1" noChangeAspect="1" noMove="1" noResize="1" noEditPoints="1" noAdjustHandles="1" noChangeArrowheads="1" noChangeShapeType="1" noTextEdit="1"/>
              </p:cNvSpPr>
              <p:nvPr/>
            </p:nvSpPr>
            <p:spPr>
              <a:xfrm>
                <a:off x="7265027" y="1876517"/>
                <a:ext cx="1434880" cy="400110"/>
              </a:xfrm>
              <a:prstGeom prst="rect">
                <a:avLst/>
              </a:prstGeom>
              <a:blipFill rotWithShape="1">
                <a:blip r:embed="rId10"/>
                <a:stretch>
                  <a:fillRect l="-44" t="-23" r="-1034" b="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0" name="矩形 179"/>
              <p:cNvSpPr/>
              <p:nvPr/>
            </p:nvSpPr>
            <p:spPr>
              <a:xfrm>
                <a:off x="1626757" y="5800001"/>
                <a:ext cx="8910485" cy="400110"/>
              </a:xfrm>
              <a:prstGeom prst="rect">
                <a:avLst/>
              </a:prstGeom>
            </p:spPr>
            <p:txBody>
              <a:bodyPr wrap="square">
                <a:spAutoFit/>
              </a:bodyPr>
              <a:lstStyle/>
              <a:p>
                <a:r>
                  <a:rPr lang="zh-CN" altLang="en-US" sz="20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决策变量：</a:t>
                </a:r>
                <a:r>
                  <a:rPr lang="zh-CN" altLang="zh-CN" sz="20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储蓄</a:t>
                </a:r>
                <a14:m>
                  <m:oMath xmlns:m="http://schemas.openxmlformats.org/officeDocument/2006/math">
                    <m:sSub>
                      <m:sSubPr>
                        <m:ctrlPr>
                          <a:rPr lang="zh-CN" altLang="zh-CN" sz="2000" i="1">
                            <a:solidFill>
                              <a:schemeClr val="accent3">
                                <a:lumMod val="75000"/>
                              </a:schemeClr>
                            </a:solidFill>
                            <a:effectLst/>
                            <a:latin typeface="Cambria Math" panose="02040503050406030204" pitchFamily="18" charset="0"/>
                            <a:ea typeface="Cambria Math" panose="02040503050406030204" pitchFamily="18" charset="0"/>
                          </a:rPr>
                        </m:ctrlPr>
                      </m:sSubPr>
                      <m:e>
                        <m:r>
                          <a:rPr lang="en-US" altLang="zh-CN" sz="2000" i="1" smtClean="0">
                            <a:solidFill>
                              <a:schemeClr val="accent3">
                                <a:lumMod val="75000"/>
                              </a:schemeClr>
                            </a:solidFill>
                            <a:latin typeface="Cambria Math" panose="02040503050406030204" pitchFamily="18" charset="0"/>
                            <a:ea typeface="Cambria Math" panose="02040503050406030204" pitchFamily="18" charset="0"/>
                          </a:rPr>
                          <m:t>𝑠</m:t>
                        </m:r>
                      </m:e>
                      <m:sub>
                        <m:r>
                          <a:rPr lang="en-US" altLang="zh-CN" sz="2000" b="0" i="1" smtClean="0">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2</m:t>
                        </m:r>
                      </m:sub>
                    </m:sSub>
                    <m:r>
                      <a:rPr lang="zh-CN" altLang="en-US" sz="2000" i="1" smtClean="0">
                        <a:solidFill>
                          <a:schemeClr val="accent3">
                            <a:lumMod val="75000"/>
                          </a:schemeClr>
                        </a:solidFill>
                        <a:latin typeface="Cambria Math" panose="02040503050406030204" pitchFamily="18" charset="0"/>
                        <a:ea typeface="仿宋" panose="02010609060101010101" pitchFamily="49" charset="-122"/>
                        <a:cs typeface="Times New Roman" panose="02020603050405020304" pitchFamily="18" charset="0"/>
                      </a:rPr>
                      <m:t>、</m:t>
                    </m:r>
                  </m:oMath>
                </a14:m>
                <a:r>
                  <a:rPr lang="zh-CN" altLang="zh-CN" sz="20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投保的长期护理保险保额</a:t>
                </a:r>
                <a14:m>
                  <m:oMath xmlns:m="http://schemas.openxmlformats.org/officeDocument/2006/math">
                    <m:r>
                      <a:rPr lang="en-US" altLang="zh-CN" sz="2000" b="0" i="1" smtClean="0">
                        <a:solidFill>
                          <a:schemeClr val="accent3">
                            <a:lumMod val="75000"/>
                          </a:schemeClr>
                        </a:solidFill>
                        <a:latin typeface="Cambria Math" panose="02040503050406030204" pitchFamily="18" charset="0"/>
                        <a:ea typeface="楷体" panose="02010609060101010101" pitchFamily="49" charset="-122"/>
                        <a:cs typeface="Times New Roman" panose="02020603050405020304" pitchFamily="18" charset="0"/>
                      </a:rPr>
                      <m:t>𝐽</m:t>
                    </m:r>
                  </m:oMath>
                </a14:m>
                <a:r>
                  <a:rPr lang="zh-CN" altLang="en-US" sz="2000" dirty="0">
                    <a:solidFill>
                      <a:schemeClr val="accent3">
                        <a:lumMod val="75000"/>
                      </a:schemeClr>
                    </a:solidFill>
                    <a:latin typeface="楷体" panose="02010609060101010101" pitchFamily="49" charset="-122"/>
                    <a:ea typeface="楷体" panose="02010609060101010101" pitchFamily="49" charset="-122"/>
                  </a:rPr>
                  <a:t>和</a:t>
                </a:r>
                <a:r>
                  <a:rPr lang="zh-CN" altLang="zh-CN" sz="20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家庭护理时长</a:t>
                </a:r>
                <a14:m>
                  <m:oMath xmlns:m="http://schemas.openxmlformats.org/officeDocument/2006/math">
                    <m:r>
                      <a:rPr lang="en-US" altLang="zh-CN" sz="2000">
                        <a:solidFill>
                          <a:schemeClr val="accent3">
                            <a:lumMod val="75000"/>
                          </a:schemeClr>
                        </a:solidFill>
                        <a:latin typeface="Cambria Math" panose="02040503050406030204" pitchFamily="18" charset="0"/>
                        <a:ea typeface="楷体" panose="02010609060101010101" pitchFamily="49" charset="-122"/>
                        <a:cs typeface="Times New Roman" panose="02020603050405020304" pitchFamily="18" charset="0"/>
                      </a:rPr>
                      <m:t>𝑒</m:t>
                    </m:r>
                  </m:oMath>
                </a14:m>
                <a:endParaRPr lang="zh-CN" altLang="en-US" sz="20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endParaRPr>
              </a:p>
            </p:txBody>
          </p:sp>
        </mc:Choice>
        <mc:Fallback xmlns="">
          <p:sp>
            <p:nvSpPr>
              <p:cNvPr id="180" name="矩形 179"/>
              <p:cNvSpPr>
                <a:spLocks noRot="1" noChangeAspect="1" noMove="1" noResize="1" noEditPoints="1" noAdjustHandles="1" noChangeArrowheads="1" noChangeShapeType="1" noTextEdit="1"/>
              </p:cNvSpPr>
              <p:nvPr/>
            </p:nvSpPr>
            <p:spPr>
              <a:xfrm>
                <a:off x="1626757" y="5800001"/>
                <a:ext cx="8910485" cy="400110"/>
              </a:xfrm>
              <a:prstGeom prst="rect">
                <a:avLst/>
              </a:prstGeom>
              <a:blipFill rotWithShape="1">
                <a:blip r:embed="rId11"/>
                <a:stretch>
                  <a:fillRect l="-6" t="-136" r="1" b="151"/>
                </a:stretch>
              </a:blipFill>
            </p:spPr>
            <p:txBody>
              <a:bodyPr/>
              <a:lstStyle/>
              <a:p>
                <a:r>
                  <a:rPr lang="zh-CN" altLang="en-US">
                    <a:noFill/>
                  </a:rPr>
                  <a:t> </a:t>
                </a:r>
              </a:p>
            </p:txBody>
          </p:sp>
        </mc:Fallback>
      </mc:AlternateContent>
      <p:sp>
        <p:nvSpPr>
          <p:cNvPr id="181" name="下箭头 180"/>
          <p:cNvSpPr/>
          <p:nvPr/>
        </p:nvSpPr>
        <p:spPr>
          <a:xfrm>
            <a:off x="2872274" y="3567039"/>
            <a:ext cx="421860" cy="603480"/>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3" name="矩形 182"/>
              <p:cNvSpPr/>
              <p:nvPr/>
            </p:nvSpPr>
            <p:spPr>
              <a:xfrm>
                <a:off x="7180742" y="1467974"/>
                <a:ext cx="1569853" cy="400110"/>
              </a:xfrm>
              <a:prstGeom prst="rect">
                <a:avLst/>
              </a:prstGeom>
            </p:spPr>
            <p:txBody>
              <a:bodyPr wrap="none">
                <a:spAutoFit/>
              </a:bodyPr>
              <a:lstStyle/>
              <a:p>
                <a:r>
                  <a:rPr lang="zh-CN" altLang="zh-CN" sz="2000" dirty="0">
                    <a:latin typeface="楷体" panose="02010609060101010101" pitchFamily="49" charset="-122"/>
                    <a:ea typeface="楷体" panose="02010609060101010101" pitchFamily="49" charset="-122"/>
                    <a:cs typeface="Times New Roman" panose="02020603050405020304" pitchFamily="18" charset="0"/>
                  </a:rPr>
                  <a:t>长护险</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保额</a:t>
                </a:r>
                <a14:m>
                  <m:oMath xmlns:m="http://schemas.openxmlformats.org/officeDocument/2006/math">
                    <m:r>
                      <a:rPr lang="en-US" altLang="zh-CN" sz="2000" b="0" i="1" smtClean="0">
                        <a:latin typeface="Cambria Math" panose="02040503050406030204" pitchFamily="18" charset="0"/>
                        <a:ea typeface="楷体" panose="02010609060101010101" pitchFamily="49" charset="-122"/>
                        <a:cs typeface="Times New Roman" panose="02020603050405020304" pitchFamily="18" charset="0"/>
                      </a:rPr>
                      <m:t>𝐽</m:t>
                    </m:r>
                  </m:oMath>
                </a14:m>
                <a:endParaRPr lang="zh-CN" altLang="en-US" sz="2000" dirty="0">
                  <a:latin typeface="楷体" panose="02010609060101010101" pitchFamily="49" charset="-122"/>
                  <a:ea typeface="楷体" panose="02010609060101010101" pitchFamily="49" charset="-122"/>
                </a:endParaRPr>
              </a:p>
            </p:txBody>
          </p:sp>
        </mc:Choice>
        <mc:Fallback xmlns="">
          <p:sp>
            <p:nvSpPr>
              <p:cNvPr id="183" name="矩形 182"/>
              <p:cNvSpPr>
                <a:spLocks noRot="1" noChangeAspect="1" noMove="1" noResize="1" noEditPoints="1" noAdjustHandles="1" noChangeArrowheads="1" noChangeShapeType="1" noTextEdit="1"/>
              </p:cNvSpPr>
              <p:nvPr/>
            </p:nvSpPr>
            <p:spPr>
              <a:xfrm>
                <a:off x="7180742" y="1467974"/>
                <a:ext cx="1569853" cy="400110"/>
              </a:xfrm>
              <a:prstGeom prst="rect">
                <a:avLst/>
              </a:prstGeom>
              <a:blipFill rotWithShape="1">
                <a:blip r:embed="rId12"/>
                <a:stretch>
                  <a:fillRect l="-10" t="-122" r="-992" b="137"/>
                </a:stretch>
              </a:blipFill>
            </p:spPr>
            <p:txBody>
              <a:bodyPr/>
              <a:lstStyle/>
              <a:p>
                <a:r>
                  <a:rPr lang="zh-CN" altLang="en-US">
                    <a:noFill/>
                  </a:rPr>
                  <a:t> </a:t>
                </a:r>
              </a:p>
            </p:txBody>
          </p:sp>
        </mc:Fallback>
      </mc:AlternateContent>
      <p:sp>
        <p:nvSpPr>
          <p:cNvPr id="184" name="下箭头 183"/>
          <p:cNvSpPr/>
          <p:nvPr/>
        </p:nvSpPr>
        <p:spPr>
          <a:xfrm rot="16200000">
            <a:off x="5433687" y="4170664"/>
            <a:ext cx="421860" cy="568456"/>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下箭头 184"/>
          <p:cNvSpPr/>
          <p:nvPr/>
        </p:nvSpPr>
        <p:spPr>
          <a:xfrm>
            <a:off x="7776855" y="2748199"/>
            <a:ext cx="387976" cy="277559"/>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5" name="组合 54"/>
          <p:cNvGrpSpPr/>
          <p:nvPr/>
        </p:nvGrpSpPr>
        <p:grpSpPr>
          <a:xfrm>
            <a:off x="472934" y="2504726"/>
            <a:ext cx="904813" cy="2751785"/>
            <a:chOff x="5791550" y="296215"/>
            <a:chExt cx="385618" cy="1187811"/>
          </a:xfrm>
        </p:grpSpPr>
        <p:sp>
          <p:nvSpPr>
            <p:cNvPr id="56" name="Rectangle 1565"/>
            <p:cNvSpPr>
              <a:spLocks noChangeArrowheads="1"/>
            </p:cNvSpPr>
            <p:nvPr/>
          </p:nvSpPr>
          <p:spPr bwMode="auto">
            <a:xfrm>
              <a:off x="5951990" y="583315"/>
              <a:ext cx="87257" cy="87255"/>
            </a:xfrm>
            <a:prstGeom prst="rect">
              <a:avLst/>
            </a:prstGeom>
            <a:solidFill>
              <a:srgbClr val="CF9E7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7" name="Rectangle 1566"/>
            <p:cNvSpPr>
              <a:spLocks noChangeArrowheads="1"/>
            </p:cNvSpPr>
            <p:nvPr/>
          </p:nvSpPr>
          <p:spPr bwMode="auto">
            <a:xfrm>
              <a:off x="5951990" y="583315"/>
              <a:ext cx="87257" cy="87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8" name="Freeform 1567"/>
            <p:cNvSpPr/>
            <p:nvPr/>
          </p:nvSpPr>
          <p:spPr bwMode="auto">
            <a:xfrm>
              <a:off x="5859104" y="963303"/>
              <a:ext cx="258954" cy="121032"/>
            </a:xfrm>
            <a:custGeom>
              <a:avLst/>
              <a:gdLst>
                <a:gd name="T0" fmla="*/ 90 w 92"/>
                <a:gd name="T1" fmla="*/ 43 h 43"/>
                <a:gd name="T2" fmla="*/ 7 w 92"/>
                <a:gd name="T3" fmla="*/ 43 h 43"/>
                <a:gd name="T4" fmla="*/ 0 w 92"/>
                <a:gd name="T5" fmla="*/ 0 h 43"/>
                <a:gd name="T6" fmla="*/ 92 w 92"/>
                <a:gd name="T7" fmla="*/ 0 h 43"/>
                <a:gd name="T8" fmla="*/ 90 w 92"/>
                <a:gd name="T9" fmla="*/ 43 h 43"/>
              </a:gdLst>
              <a:ahLst/>
              <a:cxnLst>
                <a:cxn ang="0">
                  <a:pos x="T0" y="T1"/>
                </a:cxn>
                <a:cxn ang="0">
                  <a:pos x="T2" y="T3"/>
                </a:cxn>
                <a:cxn ang="0">
                  <a:pos x="T4" y="T5"/>
                </a:cxn>
                <a:cxn ang="0">
                  <a:pos x="T6" y="T7"/>
                </a:cxn>
                <a:cxn ang="0">
                  <a:pos x="T8" y="T9"/>
                </a:cxn>
              </a:cxnLst>
              <a:rect l="0" t="0" r="r" b="b"/>
              <a:pathLst>
                <a:path w="92" h="43">
                  <a:moveTo>
                    <a:pt x="90" y="43"/>
                  </a:moveTo>
                  <a:lnTo>
                    <a:pt x="7" y="43"/>
                  </a:lnTo>
                  <a:lnTo>
                    <a:pt x="0" y="0"/>
                  </a:lnTo>
                  <a:lnTo>
                    <a:pt x="92" y="0"/>
                  </a:lnTo>
                  <a:lnTo>
                    <a:pt x="90" y="43"/>
                  </a:lnTo>
                  <a:close/>
                </a:path>
              </a:pathLst>
            </a:custGeom>
            <a:solidFill>
              <a:srgbClr val="14141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1568"/>
            <p:cNvSpPr/>
            <p:nvPr/>
          </p:nvSpPr>
          <p:spPr bwMode="auto">
            <a:xfrm>
              <a:off x="5859104" y="963303"/>
              <a:ext cx="258954" cy="121032"/>
            </a:xfrm>
            <a:custGeom>
              <a:avLst/>
              <a:gdLst>
                <a:gd name="T0" fmla="*/ 90 w 92"/>
                <a:gd name="T1" fmla="*/ 43 h 43"/>
                <a:gd name="T2" fmla="*/ 7 w 92"/>
                <a:gd name="T3" fmla="*/ 43 h 43"/>
                <a:gd name="T4" fmla="*/ 0 w 92"/>
                <a:gd name="T5" fmla="*/ 0 h 43"/>
                <a:gd name="T6" fmla="*/ 92 w 92"/>
                <a:gd name="T7" fmla="*/ 0 h 43"/>
                <a:gd name="T8" fmla="*/ 90 w 92"/>
                <a:gd name="T9" fmla="*/ 43 h 43"/>
              </a:gdLst>
              <a:ahLst/>
              <a:cxnLst>
                <a:cxn ang="0">
                  <a:pos x="T0" y="T1"/>
                </a:cxn>
                <a:cxn ang="0">
                  <a:pos x="T2" y="T3"/>
                </a:cxn>
                <a:cxn ang="0">
                  <a:pos x="T4" y="T5"/>
                </a:cxn>
                <a:cxn ang="0">
                  <a:pos x="T6" y="T7"/>
                </a:cxn>
                <a:cxn ang="0">
                  <a:pos x="T8" y="T9"/>
                </a:cxn>
              </a:cxnLst>
              <a:rect l="0" t="0" r="r" b="b"/>
              <a:pathLst>
                <a:path w="92" h="43">
                  <a:moveTo>
                    <a:pt x="90" y="43"/>
                  </a:moveTo>
                  <a:lnTo>
                    <a:pt x="7" y="43"/>
                  </a:lnTo>
                  <a:lnTo>
                    <a:pt x="0" y="0"/>
                  </a:lnTo>
                  <a:lnTo>
                    <a:pt x="92" y="0"/>
                  </a:lnTo>
                  <a:lnTo>
                    <a:pt x="90" y="4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1569"/>
            <p:cNvSpPr/>
            <p:nvPr/>
          </p:nvSpPr>
          <p:spPr bwMode="auto">
            <a:xfrm>
              <a:off x="5878807" y="1084335"/>
              <a:ext cx="92887" cy="388432"/>
            </a:xfrm>
            <a:custGeom>
              <a:avLst/>
              <a:gdLst>
                <a:gd name="T0" fmla="*/ 21 w 33"/>
                <a:gd name="T1" fmla="*/ 128 h 138"/>
                <a:gd name="T2" fmla="*/ 0 w 33"/>
                <a:gd name="T3" fmla="*/ 0 h 138"/>
                <a:gd name="T4" fmla="*/ 31 w 33"/>
                <a:gd name="T5" fmla="*/ 0 h 138"/>
                <a:gd name="T6" fmla="*/ 33 w 33"/>
                <a:gd name="T7" fmla="*/ 138 h 138"/>
                <a:gd name="T8" fmla="*/ 21 w 33"/>
                <a:gd name="T9" fmla="*/ 128 h 138"/>
              </a:gdLst>
              <a:ahLst/>
              <a:cxnLst>
                <a:cxn ang="0">
                  <a:pos x="T0" y="T1"/>
                </a:cxn>
                <a:cxn ang="0">
                  <a:pos x="T2" y="T3"/>
                </a:cxn>
                <a:cxn ang="0">
                  <a:pos x="T4" y="T5"/>
                </a:cxn>
                <a:cxn ang="0">
                  <a:pos x="T6" y="T7"/>
                </a:cxn>
                <a:cxn ang="0">
                  <a:pos x="T8" y="T9"/>
                </a:cxn>
              </a:cxnLst>
              <a:rect l="0" t="0" r="r" b="b"/>
              <a:pathLst>
                <a:path w="33" h="138">
                  <a:moveTo>
                    <a:pt x="21" y="128"/>
                  </a:moveTo>
                  <a:lnTo>
                    <a:pt x="0" y="0"/>
                  </a:lnTo>
                  <a:lnTo>
                    <a:pt x="31" y="0"/>
                  </a:lnTo>
                  <a:lnTo>
                    <a:pt x="33" y="138"/>
                  </a:lnTo>
                  <a:lnTo>
                    <a:pt x="21" y="128"/>
                  </a:lnTo>
                  <a:close/>
                </a:path>
              </a:pathLst>
            </a:custGeom>
            <a:solidFill>
              <a:srgbClr val="14141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1570"/>
            <p:cNvSpPr/>
            <p:nvPr/>
          </p:nvSpPr>
          <p:spPr bwMode="auto">
            <a:xfrm>
              <a:off x="5918214" y="1084335"/>
              <a:ext cx="59110" cy="388432"/>
            </a:xfrm>
            <a:custGeom>
              <a:avLst/>
              <a:gdLst>
                <a:gd name="T0" fmla="*/ 7 w 9"/>
                <a:gd name="T1" fmla="*/ 0 h 58"/>
                <a:gd name="T2" fmla="*/ 5 w 9"/>
                <a:gd name="T3" fmla="*/ 0 h 58"/>
                <a:gd name="T4" fmla="*/ 0 w 9"/>
                <a:gd name="T5" fmla="*/ 36 h 58"/>
                <a:gd name="T6" fmla="*/ 0 w 9"/>
                <a:gd name="T7" fmla="*/ 36 h 58"/>
                <a:gd name="T8" fmla="*/ 3 w 9"/>
                <a:gd name="T9" fmla="*/ 54 h 58"/>
                <a:gd name="T10" fmla="*/ 8 w 9"/>
                <a:gd name="T11" fmla="*/ 58 h 58"/>
                <a:gd name="T12" fmla="*/ 7 w 9"/>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9" h="58">
                  <a:moveTo>
                    <a:pt x="7" y="0"/>
                  </a:moveTo>
                  <a:cubicBezTo>
                    <a:pt x="5" y="0"/>
                    <a:pt x="5" y="0"/>
                    <a:pt x="5" y="0"/>
                  </a:cubicBezTo>
                  <a:cubicBezTo>
                    <a:pt x="7" y="11"/>
                    <a:pt x="9" y="29"/>
                    <a:pt x="0" y="36"/>
                  </a:cubicBezTo>
                  <a:cubicBezTo>
                    <a:pt x="0" y="36"/>
                    <a:pt x="0" y="36"/>
                    <a:pt x="0" y="36"/>
                  </a:cubicBezTo>
                  <a:cubicBezTo>
                    <a:pt x="3" y="54"/>
                    <a:pt x="3" y="54"/>
                    <a:pt x="3" y="54"/>
                  </a:cubicBezTo>
                  <a:cubicBezTo>
                    <a:pt x="8" y="58"/>
                    <a:pt x="8" y="58"/>
                    <a:pt x="8" y="58"/>
                  </a:cubicBez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1571"/>
            <p:cNvSpPr/>
            <p:nvPr/>
          </p:nvSpPr>
          <p:spPr bwMode="auto">
            <a:xfrm>
              <a:off x="6019544" y="1084335"/>
              <a:ext cx="92887" cy="388432"/>
            </a:xfrm>
            <a:custGeom>
              <a:avLst/>
              <a:gdLst>
                <a:gd name="T0" fmla="*/ 11 w 33"/>
                <a:gd name="T1" fmla="*/ 128 h 138"/>
                <a:gd name="T2" fmla="*/ 33 w 33"/>
                <a:gd name="T3" fmla="*/ 0 h 138"/>
                <a:gd name="T4" fmla="*/ 0 w 33"/>
                <a:gd name="T5" fmla="*/ 0 h 138"/>
                <a:gd name="T6" fmla="*/ 0 w 33"/>
                <a:gd name="T7" fmla="*/ 138 h 138"/>
                <a:gd name="T8" fmla="*/ 11 w 33"/>
                <a:gd name="T9" fmla="*/ 128 h 138"/>
              </a:gdLst>
              <a:ahLst/>
              <a:cxnLst>
                <a:cxn ang="0">
                  <a:pos x="T0" y="T1"/>
                </a:cxn>
                <a:cxn ang="0">
                  <a:pos x="T2" y="T3"/>
                </a:cxn>
                <a:cxn ang="0">
                  <a:pos x="T4" y="T5"/>
                </a:cxn>
                <a:cxn ang="0">
                  <a:pos x="T6" y="T7"/>
                </a:cxn>
                <a:cxn ang="0">
                  <a:pos x="T8" y="T9"/>
                </a:cxn>
              </a:cxnLst>
              <a:rect l="0" t="0" r="r" b="b"/>
              <a:pathLst>
                <a:path w="33" h="138">
                  <a:moveTo>
                    <a:pt x="11" y="128"/>
                  </a:moveTo>
                  <a:lnTo>
                    <a:pt x="33" y="0"/>
                  </a:lnTo>
                  <a:lnTo>
                    <a:pt x="0" y="0"/>
                  </a:lnTo>
                  <a:lnTo>
                    <a:pt x="0" y="138"/>
                  </a:lnTo>
                  <a:lnTo>
                    <a:pt x="11" y="128"/>
                  </a:lnTo>
                  <a:close/>
                </a:path>
              </a:pathLst>
            </a:custGeom>
            <a:solidFill>
              <a:srgbClr val="14141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1572"/>
            <p:cNvSpPr/>
            <p:nvPr/>
          </p:nvSpPr>
          <p:spPr bwMode="auto">
            <a:xfrm>
              <a:off x="6011099" y="1084335"/>
              <a:ext cx="67553" cy="388432"/>
            </a:xfrm>
            <a:custGeom>
              <a:avLst/>
              <a:gdLst>
                <a:gd name="T0" fmla="*/ 9 w 10"/>
                <a:gd name="T1" fmla="*/ 30 h 58"/>
                <a:gd name="T2" fmla="*/ 3 w 10"/>
                <a:gd name="T3" fmla="*/ 28 h 58"/>
                <a:gd name="T4" fmla="*/ 4 w 10"/>
                <a:gd name="T5" fmla="*/ 0 h 58"/>
                <a:gd name="T6" fmla="*/ 1 w 10"/>
                <a:gd name="T7" fmla="*/ 0 h 58"/>
                <a:gd name="T8" fmla="*/ 1 w 10"/>
                <a:gd name="T9" fmla="*/ 58 h 58"/>
                <a:gd name="T10" fmla="*/ 6 w 10"/>
                <a:gd name="T11" fmla="*/ 54 h 58"/>
                <a:gd name="T12" fmla="*/ 10 w 10"/>
                <a:gd name="T13" fmla="*/ 29 h 58"/>
                <a:gd name="T14" fmla="*/ 9 w 10"/>
                <a:gd name="T15" fmla="*/ 3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58">
                  <a:moveTo>
                    <a:pt x="9" y="30"/>
                  </a:moveTo>
                  <a:cubicBezTo>
                    <a:pt x="7" y="32"/>
                    <a:pt x="4" y="31"/>
                    <a:pt x="3" y="28"/>
                  </a:cubicBezTo>
                  <a:cubicBezTo>
                    <a:pt x="0" y="19"/>
                    <a:pt x="3" y="9"/>
                    <a:pt x="4" y="0"/>
                  </a:cubicBezTo>
                  <a:cubicBezTo>
                    <a:pt x="1" y="0"/>
                    <a:pt x="1" y="0"/>
                    <a:pt x="1" y="0"/>
                  </a:cubicBezTo>
                  <a:cubicBezTo>
                    <a:pt x="1" y="58"/>
                    <a:pt x="1" y="58"/>
                    <a:pt x="1" y="58"/>
                  </a:cubicBezTo>
                  <a:cubicBezTo>
                    <a:pt x="6" y="54"/>
                    <a:pt x="6" y="54"/>
                    <a:pt x="6" y="54"/>
                  </a:cubicBezTo>
                  <a:cubicBezTo>
                    <a:pt x="10" y="29"/>
                    <a:pt x="10" y="29"/>
                    <a:pt x="10" y="29"/>
                  </a:cubicBezTo>
                  <a:lnTo>
                    <a:pt x="9" y="3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1573"/>
            <p:cNvSpPr/>
            <p:nvPr/>
          </p:nvSpPr>
          <p:spPr bwMode="auto">
            <a:xfrm>
              <a:off x="5830956" y="645239"/>
              <a:ext cx="315249" cy="318063"/>
            </a:xfrm>
            <a:custGeom>
              <a:avLst/>
              <a:gdLst>
                <a:gd name="T0" fmla="*/ 44 w 47"/>
                <a:gd name="T1" fmla="*/ 4 h 48"/>
                <a:gd name="T2" fmla="*/ 24 w 47"/>
                <a:gd name="T3" fmla="*/ 0 h 48"/>
                <a:gd name="T4" fmla="*/ 24 w 47"/>
                <a:gd name="T5" fmla="*/ 0 h 48"/>
                <a:gd name="T6" fmla="*/ 24 w 47"/>
                <a:gd name="T7" fmla="*/ 0 h 48"/>
                <a:gd name="T8" fmla="*/ 23 w 47"/>
                <a:gd name="T9" fmla="*/ 0 h 48"/>
                <a:gd name="T10" fmla="*/ 23 w 47"/>
                <a:gd name="T11" fmla="*/ 0 h 48"/>
                <a:gd name="T12" fmla="*/ 3 w 47"/>
                <a:gd name="T13" fmla="*/ 4 h 48"/>
                <a:gd name="T14" fmla="*/ 4 w 47"/>
                <a:gd name="T15" fmla="*/ 48 h 48"/>
                <a:gd name="T16" fmla="*/ 23 w 47"/>
                <a:gd name="T17" fmla="*/ 48 h 48"/>
                <a:gd name="T18" fmla="*/ 24 w 47"/>
                <a:gd name="T19" fmla="*/ 48 h 48"/>
                <a:gd name="T20" fmla="*/ 43 w 47"/>
                <a:gd name="T21" fmla="*/ 48 h 48"/>
                <a:gd name="T22" fmla="*/ 44 w 47"/>
                <a:gd name="T23"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 h="48">
                  <a:moveTo>
                    <a:pt x="44" y="4"/>
                  </a:moveTo>
                  <a:cubicBezTo>
                    <a:pt x="42" y="1"/>
                    <a:pt x="34" y="0"/>
                    <a:pt x="24" y="0"/>
                  </a:cubicBezTo>
                  <a:cubicBezTo>
                    <a:pt x="24" y="0"/>
                    <a:pt x="24" y="0"/>
                    <a:pt x="24" y="0"/>
                  </a:cubicBezTo>
                  <a:cubicBezTo>
                    <a:pt x="24" y="0"/>
                    <a:pt x="24" y="0"/>
                    <a:pt x="24" y="0"/>
                  </a:cubicBezTo>
                  <a:cubicBezTo>
                    <a:pt x="23" y="0"/>
                    <a:pt x="23" y="0"/>
                    <a:pt x="23" y="0"/>
                  </a:cubicBezTo>
                  <a:cubicBezTo>
                    <a:pt x="23" y="0"/>
                    <a:pt x="23" y="0"/>
                    <a:pt x="23" y="0"/>
                  </a:cubicBezTo>
                  <a:cubicBezTo>
                    <a:pt x="13" y="0"/>
                    <a:pt x="6" y="1"/>
                    <a:pt x="3" y="4"/>
                  </a:cubicBezTo>
                  <a:cubicBezTo>
                    <a:pt x="0" y="8"/>
                    <a:pt x="4" y="48"/>
                    <a:pt x="4" y="48"/>
                  </a:cubicBezTo>
                  <a:cubicBezTo>
                    <a:pt x="23" y="48"/>
                    <a:pt x="23" y="48"/>
                    <a:pt x="23" y="48"/>
                  </a:cubicBezTo>
                  <a:cubicBezTo>
                    <a:pt x="24" y="48"/>
                    <a:pt x="24" y="48"/>
                    <a:pt x="24" y="48"/>
                  </a:cubicBezTo>
                  <a:cubicBezTo>
                    <a:pt x="43" y="48"/>
                    <a:pt x="43" y="48"/>
                    <a:pt x="43" y="48"/>
                  </a:cubicBezTo>
                  <a:cubicBezTo>
                    <a:pt x="43" y="48"/>
                    <a:pt x="47" y="9"/>
                    <a:pt x="44" y="4"/>
                  </a:cubicBezTo>
                </a:path>
              </a:pathLst>
            </a:custGeom>
            <a:solidFill>
              <a:srgbClr val="D1DB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1574"/>
            <p:cNvSpPr/>
            <p:nvPr/>
          </p:nvSpPr>
          <p:spPr bwMode="auto">
            <a:xfrm>
              <a:off x="5904139" y="650868"/>
              <a:ext cx="168883" cy="301174"/>
            </a:xfrm>
            <a:custGeom>
              <a:avLst/>
              <a:gdLst>
                <a:gd name="T0" fmla="*/ 23 w 25"/>
                <a:gd name="T1" fmla="*/ 4 h 45"/>
                <a:gd name="T2" fmla="*/ 21 w 25"/>
                <a:gd name="T3" fmla="*/ 1 h 45"/>
                <a:gd name="T4" fmla="*/ 19 w 25"/>
                <a:gd name="T5" fmla="*/ 0 h 45"/>
                <a:gd name="T6" fmla="*/ 20 w 25"/>
                <a:gd name="T7" fmla="*/ 33 h 45"/>
                <a:gd name="T8" fmla="*/ 18 w 25"/>
                <a:gd name="T9" fmla="*/ 41 h 45"/>
                <a:gd name="T10" fmla="*/ 10 w 25"/>
                <a:gd name="T11" fmla="*/ 43 h 45"/>
                <a:gd name="T12" fmla="*/ 5 w 25"/>
                <a:gd name="T13" fmla="*/ 33 h 45"/>
                <a:gd name="T14" fmla="*/ 6 w 25"/>
                <a:gd name="T15" fmla="*/ 31 h 45"/>
                <a:gd name="T16" fmla="*/ 6 w 25"/>
                <a:gd name="T17" fmla="*/ 21 h 45"/>
                <a:gd name="T18" fmla="*/ 7 w 25"/>
                <a:gd name="T19" fmla="*/ 0 h 45"/>
                <a:gd name="T20" fmla="*/ 2 w 25"/>
                <a:gd name="T21" fmla="*/ 3 h 45"/>
                <a:gd name="T22" fmla="*/ 2 w 25"/>
                <a:gd name="T23" fmla="*/ 44 h 45"/>
                <a:gd name="T24" fmla="*/ 23 w 25"/>
                <a:gd name="T25" fmla="*/ 44 h 45"/>
                <a:gd name="T26" fmla="*/ 23 w 25"/>
                <a:gd name="T2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45">
                  <a:moveTo>
                    <a:pt x="23" y="4"/>
                  </a:moveTo>
                  <a:cubicBezTo>
                    <a:pt x="23" y="2"/>
                    <a:pt x="22" y="2"/>
                    <a:pt x="21" y="1"/>
                  </a:cubicBezTo>
                  <a:cubicBezTo>
                    <a:pt x="19" y="0"/>
                    <a:pt x="19" y="0"/>
                    <a:pt x="19" y="0"/>
                  </a:cubicBezTo>
                  <a:cubicBezTo>
                    <a:pt x="19" y="13"/>
                    <a:pt x="18" y="21"/>
                    <a:pt x="20" y="33"/>
                  </a:cubicBezTo>
                  <a:cubicBezTo>
                    <a:pt x="20" y="36"/>
                    <a:pt x="19" y="41"/>
                    <a:pt x="18" y="41"/>
                  </a:cubicBezTo>
                  <a:cubicBezTo>
                    <a:pt x="16" y="45"/>
                    <a:pt x="13" y="43"/>
                    <a:pt x="10" y="43"/>
                  </a:cubicBezTo>
                  <a:cubicBezTo>
                    <a:pt x="7" y="42"/>
                    <a:pt x="5" y="39"/>
                    <a:pt x="5" y="33"/>
                  </a:cubicBezTo>
                  <a:cubicBezTo>
                    <a:pt x="5" y="32"/>
                    <a:pt x="5" y="32"/>
                    <a:pt x="6" y="31"/>
                  </a:cubicBezTo>
                  <a:cubicBezTo>
                    <a:pt x="5" y="27"/>
                    <a:pt x="6" y="24"/>
                    <a:pt x="6" y="21"/>
                  </a:cubicBezTo>
                  <a:cubicBezTo>
                    <a:pt x="6" y="14"/>
                    <a:pt x="11" y="11"/>
                    <a:pt x="7" y="0"/>
                  </a:cubicBezTo>
                  <a:cubicBezTo>
                    <a:pt x="6" y="0"/>
                    <a:pt x="3" y="2"/>
                    <a:pt x="2" y="3"/>
                  </a:cubicBezTo>
                  <a:cubicBezTo>
                    <a:pt x="0" y="7"/>
                    <a:pt x="2" y="44"/>
                    <a:pt x="2" y="44"/>
                  </a:cubicBezTo>
                  <a:cubicBezTo>
                    <a:pt x="23" y="44"/>
                    <a:pt x="23" y="44"/>
                    <a:pt x="23" y="44"/>
                  </a:cubicBezTo>
                  <a:cubicBezTo>
                    <a:pt x="23" y="44"/>
                    <a:pt x="25" y="7"/>
                    <a:pt x="23" y="4"/>
                  </a:cubicBezTo>
                </a:path>
              </a:pathLst>
            </a:custGeom>
            <a:solidFill>
              <a:srgbClr val="C7D3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Rectangle 1575"/>
            <p:cNvSpPr>
              <a:spLocks noChangeArrowheads="1"/>
            </p:cNvSpPr>
            <p:nvPr/>
          </p:nvSpPr>
          <p:spPr bwMode="auto">
            <a:xfrm>
              <a:off x="6019544" y="1472767"/>
              <a:ext cx="59110" cy="1125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7" name="Freeform 1576"/>
            <p:cNvSpPr/>
            <p:nvPr/>
          </p:nvSpPr>
          <p:spPr bwMode="auto">
            <a:xfrm>
              <a:off x="5859104" y="943599"/>
              <a:ext cx="258954" cy="19702"/>
            </a:xfrm>
            <a:custGeom>
              <a:avLst/>
              <a:gdLst>
                <a:gd name="T0" fmla="*/ 90 w 92"/>
                <a:gd name="T1" fmla="*/ 7 h 7"/>
                <a:gd name="T2" fmla="*/ 7 w 92"/>
                <a:gd name="T3" fmla="*/ 7 h 7"/>
                <a:gd name="T4" fmla="*/ 0 w 92"/>
                <a:gd name="T5" fmla="*/ 0 h 7"/>
                <a:gd name="T6" fmla="*/ 92 w 92"/>
                <a:gd name="T7" fmla="*/ 0 h 7"/>
                <a:gd name="T8" fmla="*/ 90 w 92"/>
                <a:gd name="T9" fmla="*/ 7 h 7"/>
              </a:gdLst>
              <a:ahLst/>
              <a:cxnLst>
                <a:cxn ang="0">
                  <a:pos x="T0" y="T1"/>
                </a:cxn>
                <a:cxn ang="0">
                  <a:pos x="T2" y="T3"/>
                </a:cxn>
                <a:cxn ang="0">
                  <a:pos x="T4" y="T5"/>
                </a:cxn>
                <a:cxn ang="0">
                  <a:pos x="T6" y="T7"/>
                </a:cxn>
                <a:cxn ang="0">
                  <a:pos x="T8" y="T9"/>
                </a:cxn>
              </a:cxnLst>
              <a:rect l="0" t="0" r="r" b="b"/>
              <a:pathLst>
                <a:path w="92" h="7">
                  <a:moveTo>
                    <a:pt x="90" y="7"/>
                  </a:moveTo>
                  <a:lnTo>
                    <a:pt x="7" y="7"/>
                  </a:lnTo>
                  <a:lnTo>
                    <a:pt x="0" y="0"/>
                  </a:lnTo>
                  <a:lnTo>
                    <a:pt x="92" y="0"/>
                  </a:lnTo>
                  <a:lnTo>
                    <a:pt x="90" y="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1577"/>
            <p:cNvSpPr/>
            <p:nvPr/>
          </p:nvSpPr>
          <p:spPr bwMode="auto">
            <a:xfrm>
              <a:off x="5859104" y="943599"/>
              <a:ext cx="258954" cy="19702"/>
            </a:xfrm>
            <a:custGeom>
              <a:avLst/>
              <a:gdLst>
                <a:gd name="T0" fmla="*/ 90 w 92"/>
                <a:gd name="T1" fmla="*/ 7 h 7"/>
                <a:gd name="T2" fmla="*/ 7 w 92"/>
                <a:gd name="T3" fmla="*/ 7 h 7"/>
                <a:gd name="T4" fmla="*/ 0 w 92"/>
                <a:gd name="T5" fmla="*/ 0 h 7"/>
                <a:gd name="T6" fmla="*/ 92 w 92"/>
                <a:gd name="T7" fmla="*/ 0 h 7"/>
                <a:gd name="T8" fmla="*/ 90 w 92"/>
                <a:gd name="T9" fmla="*/ 7 h 7"/>
              </a:gdLst>
              <a:ahLst/>
              <a:cxnLst>
                <a:cxn ang="0">
                  <a:pos x="T0" y="T1"/>
                </a:cxn>
                <a:cxn ang="0">
                  <a:pos x="T2" y="T3"/>
                </a:cxn>
                <a:cxn ang="0">
                  <a:pos x="T4" y="T5"/>
                </a:cxn>
                <a:cxn ang="0">
                  <a:pos x="T6" y="T7"/>
                </a:cxn>
                <a:cxn ang="0">
                  <a:pos x="T8" y="T9"/>
                </a:cxn>
              </a:cxnLst>
              <a:rect l="0" t="0" r="r" b="b"/>
              <a:pathLst>
                <a:path w="92" h="7">
                  <a:moveTo>
                    <a:pt x="90" y="7"/>
                  </a:moveTo>
                  <a:lnTo>
                    <a:pt x="7" y="7"/>
                  </a:lnTo>
                  <a:lnTo>
                    <a:pt x="0" y="0"/>
                  </a:lnTo>
                  <a:lnTo>
                    <a:pt x="92" y="0"/>
                  </a:lnTo>
                  <a:lnTo>
                    <a:pt x="90" y="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1578"/>
            <p:cNvSpPr/>
            <p:nvPr/>
          </p:nvSpPr>
          <p:spPr bwMode="auto">
            <a:xfrm>
              <a:off x="6019544" y="1444620"/>
              <a:ext cx="59110" cy="39406"/>
            </a:xfrm>
            <a:custGeom>
              <a:avLst/>
              <a:gdLst>
                <a:gd name="T0" fmla="*/ 0 w 9"/>
                <a:gd name="T1" fmla="*/ 4 h 6"/>
                <a:gd name="T2" fmla="*/ 3 w 9"/>
                <a:gd name="T3" fmla="*/ 0 h 6"/>
                <a:gd name="T4" fmla="*/ 9 w 9"/>
                <a:gd name="T5" fmla="*/ 4 h 6"/>
                <a:gd name="T6" fmla="*/ 0 w 9"/>
                <a:gd name="T7" fmla="*/ 4 h 6"/>
              </a:gdLst>
              <a:ahLst/>
              <a:cxnLst>
                <a:cxn ang="0">
                  <a:pos x="T0" y="T1"/>
                </a:cxn>
                <a:cxn ang="0">
                  <a:pos x="T2" y="T3"/>
                </a:cxn>
                <a:cxn ang="0">
                  <a:pos x="T4" y="T5"/>
                </a:cxn>
                <a:cxn ang="0">
                  <a:pos x="T6" y="T7"/>
                </a:cxn>
              </a:cxnLst>
              <a:rect l="0" t="0" r="r" b="b"/>
              <a:pathLst>
                <a:path w="9" h="6">
                  <a:moveTo>
                    <a:pt x="0" y="4"/>
                  </a:moveTo>
                  <a:cubicBezTo>
                    <a:pt x="0" y="4"/>
                    <a:pt x="0" y="0"/>
                    <a:pt x="3" y="0"/>
                  </a:cubicBezTo>
                  <a:cubicBezTo>
                    <a:pt x="7" y="0"/>
                    <a:pt x="9" y="2"/>
                    <a:pt x="9" y="4"/>
                  </a:cubicBezTo>
                  <a:cubicBezTo>
                    <a:pt x="9" y="6"/>
                    <a:pt x="0" y="4"/>
                    <a:pt x="0" y="4"/>
                  </a:cubicBez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Rectangle 1579"/>
            <p:cNvSpPr>
              <a:spLocks noChangeArrowheads="1"/>
            </p:cNvSpPr>
            <p:nvPr/>
          </p:nvSpPr>
          <p:spPr bwMode="auto">
            <a:xfrm>
              <a:off x="5912584" y="1472767"/>
              <a:ext cx="59110" cy="1125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1" name="Freeform 1580"/>
            <p:cNvSpPr/>
            <p:nvPr/>
          </p:nvSpPr>
          <p:spPr bwMode="auto">
            <a:xfrm>
              <a:off x="5912584" y="1444620"/>
              <a:ext cx="59110" cy="39406"/>
            </a:xfrm>
            <a:custGeom>
              <a:avLst/>
              <a:gdLst>
                <a:gd name="T0" fmla="*/ 9 w 9"/>
                <a:gd name="T1" fmla="*/ 4 h 6"/>
                <a:gd name="T2" fmla="*/ 6 w 9"/>
                <a:gd name="T3" fmla="*/ 0 h 6"/>
                <a:gd name="T4" fmla="*/ 0 w 9"/>
                <a:gd name="T5" fmla="*/ 4 h 6"/>
                <a:gd name="T6" fmla="*/ 9 w 9"/>
                <a:gd name="T7" fmla="*/ 4 h 6"/>
              </a:gdLst>
              <a:ahLst/>
              <a:cxnLst>
                <a:cxn ang="0">
                  <a:pos x="T0" y="T1"/>
                </a:cxn>
                <a:cxn ang="0">
                  <a:pos x="T2" y="T3"/>
                </a:cxn>
                <a:cxn ang="0">
                  <a:pos x="T4" y="T5"/>
                </a:cxn>
                <a:cxn ang="0">
                  <a:pos x="T6" y="T7"/>
                </a:cxn>
              </a:cxnLst>
              <a:rect l="0" t="0" r="r" b="b"/>
              <a:pathLst>
                <a:path w="9" h="6">
                  <a:moveTo>
                    <a:pt x="9" y="4"/>
                  </a:moveTo>
                  <a:cubicBezTo>
                    <a:pt x="9" y="4"/>
                    <a:pt x="9" y="0"/>
                    <a:pt x="6" y="0"/>
                  </a:cubicBezTo>
                  <a:cubicBezTo>
                    <a:pt x="2" y="0"/>
                    <a:pt x="0" y="2"/>
                    <a:pt x="0" y="4"/>
                  </a:cubicBezTo>
                  <a:cubicBezTo>
                    <a:pt x="0" y="6"/>
                    <a:pt x="9" y="4"/>
                    <a:pt x="9" y="4"/>
                  </a:cubicBez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1581"/>
            <p:cNvSpPr/>
            <p:nvPr/>
          </p:nvSpPr>
          <p:spPr bwMode="auto">
            <a:xfrm>
              <a:off x="6019544" y="1444620"/>
              <a:ext cx="59110" cy="39406"/>
            </a:xfrm>
            <a:custGeom>
              <a:avLst/>
              <a:gdLst>
                <a:gd name="T0" fmla="*/ 0 w 9"/>
                <a:gd name="T1" fmla="*/ 4 h 6"/>
                <a:gd name="T2" fmla="*/ 3 w 9"/>
                <a:gd name="T3" fmla="*/ 0 h 6"/>
                <a:gd name="T4" fmla="*/ 9 w 9"/>
                <a:gd name="T5" fmla="*/ 4 h 6"/>
                <a:gd name="T6" fmla="*/ 0 w 9"/>
                <a:gd name="T7" fmla="*/ 4 h 6"/>
              </a:gdLst>
              <a:ahLst/>
              <a:cxnLst>
                <a:cxn ang="0">
                  <a:pos x="T0" y="T1"/>
                </a:cxn>
                <a:cxn ang="0">
                  <a:pos x="T2" y="T3"/>
                </a:cxn>
                <a:cxn ang="0">
                  <a:pos x="T4" y="T5"/>
                </a:cxn>
                <a:cxn ang="0">
                  <a:pos x="T6" y="T7"/>
                </a:cxn>
              </a:cxnLst>
              <a:rect l="0" t="0" r="r" b="b"/>
              <a:pathLst>
                <a:path w="9" h="6">
                  <a:moveTo>
                    <a:pt x="0" y="4"/>
                  </a:moveTo>
                  <a:cubicBezTo>
                    <a:pt x="0" y="4"/>
                    <a:pt x="0" y="0"/>
                    <a:pt x="3" y="0"/>
                  </a:cubicBezTo>
                  <a:cubicBezTo>
                    <a:pt x="6" y="6"/>
                    <a:pt x="9" y="2"/>
                    <a:pt x="9" y="4"/>
                  </a:cubicBezTo>
                  <a:cubicBezTo>
                    <a:pt x="9" y="6"/>
                    <a:pt x="0" y="4"/>
                    <a:pt x="0" y="4"/>
                  </a:cubicBezTo>
                  <a:close/>
                </a:path>
              </a:pathLst>
            </a:custGeom>
            <a:solidFill>
              <a:srgbClr val="0C0B0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1582"/>
            <p:cNvSpPr/>
            <p:nvPr/>
          </p:nvSpPr>
          <p:spPr bwMode="auto">
            <a:xfrm>
              <a:off x="5912584" y="1444620"/>
              <a:ext cx="59110" cy="39406"/>
            </a:xfrm>
            <a:custGeom>
              <a:avLst/>
              <a:gdLst>
                <a:gd name="T0" fmla="*/ 9 w 9"/>
                <a:gd name="T1" fmla="*/ 4 h 6"/>
                <a:gd name="T2" fmla="*/ 6 w 9"/>
                <a:gd name="T3" fmla="*/ 0 h 6"/>
                <a:gd name="T4" fmla="*/ 0 w 9"/>
                <a:gd name="T5" fmla="*/ 4 h 6"/>
                <a:gd name="T6" fmla="*/ 9 w 9"/>
                <a:gd name="T7" fmla="*/ 4 h 6"/>
              </a:gdLst>
              <a:ahLst/>
              <a:cxnLst>
                <a:cxn ang="0">
                  <a:pos x="T0" y="T1"/>
                </a:cxn>
                <a:cxn ang="0">
                  <a:pos x="T2" y="T3"/>
                </a:cxn>
                <a:cxn ang="0">
                  <a:pos x="T4" y="T5"/>
                </a:cxn>
                <a:cxn ang="0">
                  <a:pos x="T6" y="T7"/>
                </a:cxn>
              </a:cxnLst>
              <a:rect l="0" t="0" r="r" b="b"/>
              <a:pathLst>
                <a:path w="9" h="6">
                  <a:moveTo>
                    <a:pt x="9" y="4"/>
                  </a:moveTo>
                  <a:cubicBezTo>
                    <a:pt x="9" y="4"/>
                    <a:pt x="9" y="0"/>
                    <a:pt x="6" y="0"/>
                  </a:cubicBezTo>
                  <a:cubicBezTo>
                    <a:pt x="8" y="6"/>
                    <a:pt x="0" y="2"/>
                    <a:pt x="0" y="4"/>
                  </a:cubicBezTo>
                  <a:cubicBezTo>
                    <a:pt x="0" y="6"/>
                    <a:pt x="9" y="4"/>
                    <a:pt x="9" y="4"/>
                  </a:cubicBezTo>
                  <a:close/>
                </a:path>
              </a:pathLst>
            </a:custGeom>
            <a:solidFill>
              <a:srgbClr val="0C0B0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1583"/>
            <p:cNvSpPr/>
            <p:nvPr/>
          </p:nvSpPr>
          <p:spPr bwMode="auto">
            <a:xfrm>
              <a:off x="5859104" y="310288"/>
              <a:ext cx="273029" cy="306804"/>
            </a:xfrm>
            <a:custGeom>
              <a:avLst/>
              <a:gdLst>
                <a:gd name="T0" fmla="*/ 41 w 41"/>
                <a:gd name="T1" fmla="*/ 20 h 46"/>
                <a:gd name="T2" fmla="*/ 20 w 41"/>
                <a:gd name="T3" fmla="*/ 46 h 46"/>
                <a:gd name="T4" fmla="*/ 0 w 41"/>
                <a:gd name="T5" fmla="*/ 20 h 46"/>
                <a:gd name="T6" fmla="*/ 20 w 41"/>
                <a:gd name="T7" fmla="*/ 0 h 46"/>
                <a:gd name="T8" fmla="*/ 41 w 41"/>
                <a:gd name="T9" fmla="*/ 20 h 46"/>
              </a:gdLst>
              <a:ahLst/>
              <a:cxnLst>
                <a:cxn ang="0">
                  <a:pos x="T0" y="T1"/>
                </a:cxn>
                <a:cxn ang="0">
                  <a:pos x="T2" y="T3"/>
                </a:cxn>
                <a:cxn ang="0">
                  <a:pos x="T4" y="T5"/>
                </a:cxn>
                <a:cxn ang="0">
                  <a:pos x="T6" y="T7"/>
                </a:cxn>
                <a:cxn ang="0">
                  <a:pos x="T8" y="T9"/>
                </a:cxn>
              </a:cxnLst>
              <a:rect l="0" t="0" r="r" b="b"/>
              <a:pathLst>
                <a:path w="41" h="46">
                  <a:moveTo>
                    <a:pt x="41" y="20"/>
                  </a:moveTo>
                  <a:cubicBezTo>
                    <a:pt x="41" y="31"/>
                    <a:pt x="34" y="46"/>
                    <a:pt x="20" y="46"/>
                  </a:cubicBezTo>
                  <a:cubicBezTo>
                    <a:pt x="9" y="46"/>
                    <a:pt x="0" y="31"/>
                    <a:pt x="0" y="20"/>
                  </a:cubicBezTo>
                  <a:cubicBezTo>
                    <a:pt x="0" y="8"/>
                    <a:pt x="9" y="0"/>
                    <a:pt x="20" y="0"/>
                  </a:cubicBezTo>
                  <a:cubicBezTo>
                    <a:pt x="31" y="0"/>
                    <a:pt x="41" y="8"/>
                    <a:pt x="41" y="20"/>
                  </a:cubicBezTo>
                  <a:close/>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1584"/>
            <p:cNvSpPr/>
            <p:nvPr/>
          </p:nvSpPr>
          <p:spPr bwMode="auto">
            <a:xfrm>
              <a:off x="5850660" y="490430"/>
              <a:ext cx="42222" cy="87255"/>
            </a:xfrm>
            <a:custGeom>
              <a:avLst/>
              <a:gdLst>
                <a:gd name="T0" fmla="*/ 4 w 6"/>
                <a:gd name="T1" fmla="*/ 5 h 13"/>
                <a:gd name="T2" fmla="*/ 2 w 6"/>
                <a:gd name="T3" fmla="*/ 8 h 13"/>
                <a:gd name="T4" fmla="*/ 6 w 6"/>
                <a:gd name="T5" fmla="*/ 10 h 13"/>
              </a:gdLst>
              <a:ahLst/>
              <a:cxnLst>
                <a:cxn ang="0">
                  <a:pos x="T0" y="T1"/>
                </a:cxn>
                <a:cxn ang="0">
                  <a:pos x="T2" y="T3"/>
                </a:cxn>
                <a:cxn ang="0">
                  <a:pos x="T4" y="T5"/>
                </a:cxn>
              </a:cxnLst>
              <a:rect l="0" t="0" r="r" b="b"/>
              <a:pathLst>
                <a:path w="6" h="13">
                  <a:moveTo>
                    <a:pt x="4" y="5"/>
                  </a:moveTo>
                  <a:cubicBezTo>
                    <a:pt x="4" y="5"/>
                    <a:pt x="0" y="0"/>
                    <a:pt x="2" y="8"/>
                  </a:cubicBezTo>
                  <a:cubicBezTo>
                    <a:pt x="4" y="13"/>
                    <a:pt x="6" y="12"/>
                    <a:pt x="6" y="10"/>
                  </a:cubicBezTo>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1585"/>
            <p:cNvSpPr/>
            <p:nvPr/>
          </p:nvSpPr>
          <p:spPr bwMode="auto">
            <a:xfrm>
              <a:off x="6098356" y="490430"/>
              <a:ext cx="33777" cy="87255"/>
            </a:xfrm>
            <a:custGeom>
              <a:avLst/>
              <a:gdLst>
                <a:gd name="T0" fmla="*/ 2 w 5"/>
                <a:gd name="T1" fmla="*/ 5 h 13"/>
                <a:gd name="T2" fmla="*/ 3 w 5"/>
                <a:gd name="T3" fmla="*/ 8 h 13"/>
                <a:gd name="T4" fmla="*/ 0 w 5"/>
                <a:gd name="T5" fmla="*/ 10 h 13"/>
              </a:gdLst>
              <a:ahLst/>
              <a:cxnLst>
                <a:cxn ang="0">
                  <a:pos x="T0" y="T1"/>
                </a:cxn>
                <a:cxn ang="0">
                  <a:pos x="T2" y="T3"/>
                </a:cxn>
                <a:cxn ang="0">
                  <a:pos x="T4" y="T5"/>
                </a:cxn>
              </a:cxnLst>
              <a:rect l="0" t="0" r="r" b="b"/>
              <a:pathLst>
                <a:path w="5" h="13">
                  <a:moveTo>
                    <a:pt x="2" y="5"/>
                  </a:moveTo>
                  <a:cubicBezTo>
                    <a:pt x="2" y="5"/>
                    <a:pt x="5" y="0"/>
                    <a:pt x="3" y="8"/>
                  </a:cubicBezTo>
                  <a:cubicBezTo>
                    <a:pt x="2" y="13"/>
                    <a:pt x="0" y="12"/>
                    <a:pt x="0" y="10"/>
                  </a:cubicBezTo>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1586"/>
            <p:cNvSpPr/>
            <p:nvPr/>
          </p:nvSpPr>
          <p:spPr bwMode="auto">
            <a:xfrm>
              <a:off x="5850660" y="645239"/>
              <a:ext cx="101330" cy="298361"/>
            </a:xfrm>
            <a:custGeom>
              <a:avLst/>
              <a:gdLst>
                <a:gd name="T0" fmla="*/ 14 w 15"/>
                <a:gd name="T1" fmla="*/ 0 h 45"/>
                <a:gd name="T2" fmla="*/ 3 w 15"/>
                <a:gd name="T3" fmla="*/ 3 h 45"/>
                <a:gd name="T4" fmla="*/ 1 w 15"/>
                <a:gd name="T5" fmla="*/ 32 h 45"/>
                <a:gd name="T6" fmla="*/ 2 w 15"/>
                <a:gd name="T7" fmla="*/ 45 h 45"/>
                <a:gd name="T8" fmla="*/ 12 w 15"/>
                <a:gd name="T9" fmla="*/ 45 h 45"/>
                <a:gd name="T10" fmla="*/ 12 w 15"/>
                <a:gd name="T11" fmla="*/ 45 h 45"/>
                <a:gd name="T12" fmla="*/ 10 w 15"/>
                <a:gd name="T13" fmla="*/ 45 h 45"/>
                <a:gd name="T14" fmla="*/ 10 w 15"/>
                <a:gd name="T15" fmla="*/ 4 h 45"/>
                <a:gd name="T16" fmla="*/ 14 w 15"/>
                <a:gd name="T17" fmla="*/ 1 h 45"/>
                <a:gd name="T18" fmla="*/ 15 w 15"/>
                <a:gd name="T19" fmla="*/ 0 h 45"/>
                <a:gd name="T20" fmla="*/ 14 w 15"/>
                <a:gd name="T21"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45">
                  <a:moveTo>
                    <a:pt x="14" y="0"/>
                  </a:moveTo>
                  <a:cubicBezTo>
                    <a:pt x="8" y="0"/>
                    <a:pt x="3" y="3"/>
                    <a:pt x="3" y="3"/>
                  </a:cubicBezTo>
                  <a:cubicBezTo>
                    <a:pt x="3" y="3"/>
                    <a:pt x="0" y="22"/>
                    <a:pt x="1" y="32"/>
                  </a:cubicBezTo>
                  <a:cubicBezTo>
                    <a:pt x="1" y="37"/>
                    <a:pt x="1" y="42"/>
                    <a:pt x="2" y="45"/>
                  </a:cubicBezTo>
                  <a:cubicBezTo>
                    <a:pt x="12" y="45"/>
                    <a:pt x="12" y="45"/>
                    <a:pt x="12" y="45"/>
                  </a:cubicBezTo>
                  <a:cubicBezTo>
                    <a:pt x="12" y="45"/>
                    <a:pt x="12" y="45"/>
                    <a:pt x="12" y="45"/>
                  </a:cubicBezTo>
                  <a:cubicBezTo>
                    <a:pt x="10" y="45"/>
                    <a:pt x="10" y="45"/>
                    <a:pt x="10" y="45"/>
                  </a:cubicBezTo>
                  <a:cubicBezTo>
                    <a:pt x="10" y="45"/>
                    <a:pt x="8" y="8"/>
                    <a:pt x="10" y="4"/>
                  </a:cubicBezTo>
                  <a:cubicBezTo>
                    <a:pt x="11" y="3"/>
                    <a:pt x="13" y="1"/>
                    <a:pt x="14" y="1"/>
                  </a:cubicBezTo>
                  <a:cubicBezTo>
                    <a:pt x="15" y="1"/>
                    <a:pt x="15" y="0"/>
                    <a:pt x="15" y="0"/>
                  </a:cubicBezTo>
                  <a:cubicBezTo>
                    <a:pt x="14" y="0"/>
                    <a:pt x="14" y="0"/>
                    <a:pt x="14" y="0"/>
                  </a:cubicBezTo>
                </a:path>
              </a:pathLst>
            </a:custGeom>
            <a:solidFill>
              <a:srgbClr val="6970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1587"/>
            <p:cNvSpPr/>
            <p:nvPr/>
          </p:nvSpPr>
          <p:spPr bwMode="auto">
            <a:xfrm>
              <a:off x="5904139" y="650868"/>
              <a:ext cx="39406" cy="292731"/>
            </a:xfrm>
            <a:custGeom>
              <a:avLst/>
              <a:gdLst>
                <a:gd name="T0" fmla="*/ 6 w 6"/>
                <a:gd name="T1" fmla="*/ 0 h 44"/>
                <a:gd name="T2" fmla="*/ 2 w 6"/>
                <a:gd name="T3" fmla="*/ 3 h 44"/>
                <a:gd name="T4" fmla="*/ 2 w 6"/>
                <a:gd name="T5" fmla="*/ 44 h 44"/>
                <a:gd name="T6" fmla="*/ 4 w 6"/>
                <a:gd name="T7" fmla="*/ 44 h 44"/>
                <a:gd name="T8" fmla="*/ 4 w 6"/>
                <a:gd name="T9" fmla="*/ 43 h 44"/>
                <a:gd name="T10" fmla="*/ 6 w 6"/>
                <a:gd name="T11" fmla="*/ 0 h 44"/>
              </a:gdLst>
              <a:ahLst/>
              <a:cxnLst>
                <a:cxn ang="0">
                  <a:pos x="T0" y="T1"/>
                </a:cxn>
                <a:cxn ang="0">
                  <a:pos x="T2" y="T3"/>
                </a:cxn>
                <a:cxn ang="0">
                  <a:pos x="T4" y="T5"/>
                </a:cxn>
                <a:cxn ang="0">
                  <a:pos x="T6" y="T7"/>
                </a:cxn>
                <a:cxn ang="0">
                  <a:pos x="T8" y="T9"/>
                </a:cxn>
                <a:cxn ang="0">
                  <a:pos x="T10" y="T11"/>
                </a:cxn>
              </a:cxnLst>
              <a:rect l="0" t="0" r="r" b="b"/>
              <a:pathLst>
                <a:path w="6" h="44">
                  <a:moveTo>
                    <a:pt x="6" y="0"/>
                  </a:moveTo>
                  <a:cubicBezTo>
                    <a:pt x="5" y="0"/>
                    <a:pt x="3" y="2"/>
                    <a:pt x="2" y="3"/>
                  </a:cubicBezTo>
                  <a:cubicBezTo>
                    <a:pt x="0" y="7"/>
                    <a:pt x="2" y="44"/>
                    <a:pt x="2" y="44"/>
                  </a:cubicBezTo>
                  <a:cubicBezTo>
                    <a:pt x="4" y="44"/>
                    <a:pt x="4" y="44"/>
                    <a:pt x="4" y="44"/>
                  </a:cubicBezTo>
                  <a:cubicBezTo>
                    <a:pt x="4" y="44"/>
                    <a:pt x="4" y="43"/>
                    <a:pt x="4" y="43"/>
                  </a:cubicBezTo>
                  <a:cubicBezTo>
                    <a:pt x="3" y="36"/>
                    <a:pt x="6" y="3"/>
                    <a:pt x="6" y="0"/>
                  </a:cubicBezTo>
                </a:path>
              </a:pathLst>
            </a:custGeom>
            <a:solidFill>
              <a:srgbClr val="646C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1588"/>
            <p:cNvSpPr/>
            <p:nvPr/>
          </p:nvSpPr>
          <p:spPr bwMode="auto">
            <a:xfrm>
              <a:off x="5864733" y="1011152"/>
              <a:ext cx="0" cy="5629"/>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1"/>
                    <a:pt x="0" y="1"/>
                  </a:cubicBezTo>
                  <a:cubicBezTo>
                    <a:pt x="0" y="0"/>
                    <a:pt x="0" y="0"/>
                    <a:pt x="0" y="0"/>
                  </a:cubicBezTo>
                </a:path>
              </a:pathLst>
            </a:custGeom>
            <a:solidFill>
              <a:srgbClr val="8082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1589"/>
            <p:cNvSpPr/>
            <p:nvPr/>
          </p:nvSpPr>
          <p:spPr bwMode="auto">
            <a:xfrm>
              <a:off x="5864733" y="963303"/>
              <a:ext cx="73183" cy="53479"/>
            </a:xfrm>
            <a:custGeom>
              <a:avLst/>
              <a:gdLst>
                <a:gd name="T0" fmla="*/ 2 w 11"/>
                <a:gd name="T1" fmla="*/ 0 h 8"/>
                <a:gd name="T2" fmla="*/ 0 w 11"/>
                <a:gd name="T3" fmla="*/ 0 h 8"/>
                <a:gd name="T4" fmla="*/ 0 w 11"/>
                <a:gd name="T5" fmla="*/ 7 h 8"/>
                <a:gd name="T6" fmla="*/ 0 w 11"/>
                <a:gd name="T7" fmla="*/ 8 h 8"/>
                <a:gd name="T8" fmla="*/ 11 w 11"/>
                <a:gd name="T9" fmla="*/ 8 h 8"/>
                <a:gd name="T10" fmla="*/ 10 w 11"/>
                <a:gd name="T11" fmla="*/ 0 h 8"/>
                <a:gd name="T12" fmla="*/ 2 w 11"/>
                <a:gd name="T13" fmla="*/ 0 h 8"/>
                <a:gd name="T14" fmla="*/ 2 w 11"/>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8">
                  <a:moveTo>
                    <a:pt x="2" y="0"/>
                  </a:moveTo>
                  <a:cubicBezTo>
                    <a:pt x="0" y="0"/>
                    <a:pt x="0" y="0"/>
                    <a:pt x="0" y="0"/>
                  </a:cubicBezTo>
                  <a:cubicBezTo>
                    <a:pt x="0" y="4"/>
                    <a:pt x="0" y="6"/>
                    <a:pt x="0" y="7"/>
                  </a:cubicBezTo>
                  <a:cubicBezTo>
                    <a:pt x="0" y="8"/>
                    <a:pt x="0" y="8"/>
                    <a:pt x="0" y="8"/>
                  </a:cubicBezTo>
                  <a:cubicBezTo>
                    <a:pt x="11" y="8"/>
                    <a:pt x="11" y="8"/>
                    <a:pt x="11" y="8"/>
                  </a:cubicBezTo>
                  <a:cubicBezTo>
                    <a:pt x="11" y="8"/>
                    <a:pt x="11" y="5"/>
                    <a:pt x="10" y="0"/>
                  </a:cubicBezTo>
                  <a:cubicBezTo>
                    <a:pt x="2" y="0"/>
                    <a:pt x="2" y="0"/>
                    <a:pt x="2" y="0"/>
                  </a:cubicBezTo>
                  <a:cubicBezTo>
                    <a:pt x="2" y="0"/>
                    <a:pt x="2" y="0"/>
                    <a:pt x="2" y="0"/>
                  </a:cubicBezTo>
                </a:path>
              </a:pathLst>
            </a:custGeom>
            <a:solidFill>
              <a:srgbClr val="0A0A0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1590"/>
            <p:cNvSpPr/>
            <p:nvPr/>
          </p:nvSpPr>
          <p:spPr bwMode="auto">
            <a:xfrm>
              <a:off x="5864733" y="943599"/>
              <a:ext cx="14074" cy="19702"/>
            </a:xfrm>
            <a:custGeom>
              <a:avLst/>
              <a:gdLst>
                <a:gd name="T0" fmla="*/ 0 w 2"/>
                <a:gd name="T1" fmla="*/ 0 h 3"/>
                <a:gd name="T2" fmla="*/ 0 w 2"/>
                <a:gd name="T3" fmla="*/ 3 h 3"/>
                <a:gd name="T4" fmla="*/ 2 w 2"/>
                <a:gd name="T5" fmla="*/ 3 h 3"/>
                <a:gd name="T6" fmla="*/ 0 w 2"/>
                <a:gd name="T7" fmla="*/ 0 h 3"/>
              </a:gdLst>
              <a:ahLst/>
              <a:cxnLst>
                <a:cxn ang="0">
                  <a:pos x="T0" y="T1"/>
                </a:cxn>
                <a:cxn ang="0">
                  <a:pos x="T2" y="T3"/>
                </a:cxn>
                <a:cxn ang="0">
                  <a:pos x="T4" y="T5"/>
                </a:cxn>
                <a:cxn ang="0">
                  <a:pos x="T6" y="T7"/>
                </a:cxn>
              </a:cxnLst>
              <a:rect l="0" t="0" r="r" b="b"/>
              <a:pathLst>
                <a:path w="2" h="3">
                  <a:moveTo>
                    <a:pt x="0" y="0"/>
                  </a:moveTo>
                  <a:cubicBezTo>
                    <a:pt x="0" y="1"/>
                    <a:pt x="0" y="2"/>
                    <a:pt x="0" y="3"/>
                  </a:cubicBezTo>
                  <a:cubicBezTo>
                    <a:pt x="2" y="3"/>
                    <a:pt x="2" y="3"/>
                    <a:pt x="2" y="3"/>
                  </a:cubicBezTo>
                  <a:cubicBezTo>
                    <a:pt x="0" y="0"/>
                    <a:pt x="0" y="0"/>
                    <a:pt x="0" y="0"/>
                  </a:cubicBezTo>
                </a:path>
              </a:pathLst>
            </a:custGeom>
            <a:solidFill>
              <a:srgbClr val="6970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1591"/>
            <p:cNvSpPr/>
            <p:nvPr/>
          </p:nvSpPr>
          <p:spPr bwMode="auto">
            <a:xfrm>
              <a:off x="5864733" y="943599"/>
              <a:ext cx="67553" cy="19702"/>
            </a:xfrm>
            <a:custGeom>
              <a:avLst/>
              <a:gdLst>
                <a:gd name="T0" fmla="*/ 10 w 10"/>
                <a:gd name="T1" fmla="*/ 0 h 3"/>
                <a:gd name="T2" fmla="*/ 0 w 10"/>
                <a:gd name="T3" fmla="*/ 0 h 3"/>
                <a:gd name="T4" fmla="*/ 0 w 10"/>
                <a:gd name="T5" fmla="*/ 0 h 3"/>
                <a:gd name="T6" fmla="*/ 2 w 10"/>
                <a:gd name="T7" fmla="*/ 3 h 3"/>
                <a:gd name="T8" fmla="*/ 2 w 10"/>
                <a:gd name="T9" fmla="*/ 3 h 3"/>
                <a:gd name="T10" fmla="*/ 10 w 10"/>
                <a:gd name="T11" fmla="*/ 3 h 3"/>
                <a:gd name="T12" fmla="*/ 10 w 10"/>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10" h="3">
                  <a:moveTo>
                    <a:pt x="10" y="0"/>
                  </a:moveTo>
                  <a:cubicBezTo>
                    <a:pt x="0" y="0"/>
                    <a:pt x="0" y="0"/>
                    <a:pt x="0" y="0"/>
                  </a:cubicBezTo>
                  <a:cubicBezTo>
                    <a:pt x="0" y="0"/>
                    <a:pt x="0" y="0"/>
                    <a:pt x="0" y="0"/>
                  </a:cubicBezTo>
                  <a:cubicBezTo>
                    <a:pt x="2" y="3"/>
                    <a:pt x="2" y="3"/>
                    <a:pt x="2" y="3"/>
                  </a:cubicBezTo>
                  <a:cubicBezTo>
                    <a:pt x="2" y="3"/>
                    <a:pt x="2" y="3"/>
                    <a:pt x="2" y="3"/>
                  </a:cubicBezTo>
                  <a:cubicBezTo>
                    <a:pt x="10" y="3"/>
                    <a:pt x="10" y="3"/>
                    <a:pt x="10" y="3"/>
                  </a:cubicBezTo>
                  <a:cubicBezTo>
                    <a:pt x="10" y="2"/>
                    <a:pt x="10" y="1"/>
                    <a:pt x="10" y="0"/>
                  </a:cubicBez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1592"/>
            <p:cNvSpPr>
              <a:spLocks noEditPoints="1"/>
            </p:cNvSpPr>
            <p:nvPr/>
          </p:nvSpPr>
          <p:spPr bwMode="auto">
            <a:xfrm>
              <a:off x="6044875" y="645239"/>
              <a:ext cx="73183" cy="19702"/>
            </a:xfrm>
            <a:custGeom>
              <a:avLst/>
              <a:gdLst>
                <a:gd name="T0" fmla="*/ 11 w 11"/>
                <a:gd name="T1" fmla="*/ 3 h 3"/>
                <a:gd name="T2" fmla="*/ 11 w 11"/>
                <a:gd name="T3" fmla="*/ 3 h 3"/>
                <a:gd name="T4" fmla="*/ 11 w 11"/>
                <a:gd name="T5" fmla="*/ 3 h 3"/>
                <a:gd name="T6" fmla="*/ 11 w 11"/>
                <a:gd name="T7" fmla="*/ 3 h 3"/>
                <a:gd name="T8" fmla="*/ 0 w 11"/>
                <a:gd name="T9" fmla="*/ 0 h 3"/>
                <a:gd name="T10" fmla="*/ 5 w 11"/>
                <a:gd name="T11" fmla="*/ 1 h 3"/>
                <a:gd name="T12" fmla="*/ 0 w 11"/>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11" h="3">
                  <a:moveTo>
                    <a:pt x="11" y="3"/>
                  </a:moveTo>
                  <a:cubicBezTo>
                    <a:pt x="11" y="3"/>
                    <a:pt x="11" y="3"/>
                    <a:pt x="11" y="3"/>
                  </a:cubicBezTo>
                  <a:cubicBezTo>
                    <a:pt x="11" y="3"/>
                    <a:pt x="11" y="3"/>
                    <a:pt x="11" y="3"/>
                  </a:cubicBezTo>
                  <a:cubicBezTo>
                    <a:pt x="11" y="3"/>
                    <a:pt x="11" y="3"/>
                    <a:pt x="11" y="3"/>
                  </a:cubicBezTo>
                  <a:moveTo>
                    <a:pt x="0" y="0"/>
                  </a:moveTo>
                  <a:cubicBezTo>
                    <a:pt x="2" y="1"/>
                    <a:pt x="4" y="1"/>
                    <a:pt x="5" y="1"/>
                  </a:cubicBezTo>
                  <a:cubicBezTo>
                    <a:pt x="4" y="1"/>
                    <a:pt x="2" y="0"/>
                    <a:pt x="0" y="0"/>
                  </a:cubicBezTo>
                </a:path>
              </a:pathLst>
            </a:custGeom>
            <a:solidFill>
              <a:srgbClr val="8082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1593"/>
            <p:cNvSpPr/>
            <p:nvPr/>
          </p:nvSpPr>
          <p:spPr bwMode="auto">
            <a:xfrm>
              <a:off x="6039246" y="963303"/>
              <a:ext cx="78812" cy="53479"/>
            </a:xfrm>
            <a:custGeom>
              <a:avLst/>
              <a:gdLst>
                <a:gd name="T0" fmla="*/ 12 w 12"/>
                <a:gd name="T1" fmla="*/ 0 h 8"/>
                <a:gd name="T2" fmla="*/ 11 w 12"/>
                <a:gd name="T3" fmla="*/ 0 h 8"/>
                <a:gd name="T4" fmla="*/ 11 w 12"/>
                <a:gd name="T5" fmla="*/ 0 h 8"/>
                <a:gd name="T6" fmla="*/ 1 w 12"/>
                <a:gd name="T7" fmla="*/ 0 h 8"/>
                <a:gd name="T8" fmla="*/ 0 w 12"/>
                <a:gd name="T9" fmla="*/ 8 h 8"/>
                <a:gd name="T10" fmla="*/ 11 w 12"/>
                <a:gd name="T11" fmla="*/ 8 h 8"/>
                <a:gd name="T12" fmla="*/ 12 w 1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12" y="0"/>
                  </a:moveTo>
                  <a:cubicBezTo>
                    <a:pt x="11" y="0"/>
                    <a:pt x="11" y="0"/>
                    <a:pt x="11" y="0"/>
                  </a:cubicBezTo>
                  <a:cubicBezTo>
                    <a:pt x="11" y="0"/>
                    <a:pt x="11" y="0"/>
                    <a:pt x="11" y="0"/>
                  </a:cubicBezTo>
                  <a:cubicBezTo>
                    <a:pt x="1" y="0"/>
                    <a:pt x="1" y="0"/>
                    <a:pt x="1" y="0"/>
                  </a:cubicBezTo>
                  <a:cubicBezTo>
                    <a:pt x="0" y="5"/>
                    <a:pt x="0" y="8"/>
                    <a:pt x="0" y="8"/>
                  </a:cubicBezTo>
                  <a:cubicBezTo>
                    <a:pt x="11" y="8"/>
                    <a:pt x="11" y="8"/>
                    <a:pt x="11" y="8"/>
                  </a:cubicBezTo>
                  <a:cubicBezTo>
                    <a:pt x="11" y="8"/>
                    <a:pt x="11" y="6"/>
                    <a:pt x="12" y="0"/>
                  </a:cubicBezTo>
                </a:path>
              </a:pathLst>
            </a:custGeom>
            <a:solidFill>
              <a:srgbClr val="0A0A0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1594"/>
            <p:cNvSpPr/>
            <p:nvPr/>
          </p:nvSpPr>
          <p:spPr bwMode="auto">
            <a:xfrm>
              <a:off x="6039246" y="645239"/>
              <a:ext cx="92887" cy="318063"/>
            </a:xfrm>
            <a:custGeom>
              <a:avLst/>
              <a:gdLst>
                <a:gd name="T0" fmla="*/ 0 w 14"/>
                <a:gd name="T1" fmla="*/ 0 h 48"/>
                <a:gd name="T2" fmla="*/ 0 w 14"/>
                <a:gd name="T3" fmla="*/ 1 h 48"/>
                <a:gd name="T4" fmla="*/ 1 w 14"/>
                <a:gd name="T5" fmla="*/ 2 h 48"/>
                <a:gd name="T6" fmla="*/ 3 w 14"/>
                <a:gd name="T7" fmla="*/ 5 h 48"/>
                <a:gd name="T8" fmla="*/ 3 w 14"/>
                <a:gd name="T9" fmla="*/ 45 h 48"/>
                <a:gd name="T10" fmla="*/ 1 w 14"/>
                <a:gd name="T11" fmla="*/ 45 h 48"/>
                <a:gd name="T12" fmla="*/ 1 w 14"/>
                <a:gd name="T13" fmla="*/ 45 h 48"/>
                <a:gd name="T14" fmla="*/ 12 w 14"/>
                <a:gd name="T15" fmla="*/ 45 h 48"/>
                <a:gd name="T16" fmla="*/ 11 w 14"/>
                <a:gd name="T17" fmla="*/ 48 h 48"/>
                <a:gd name="T18" fmla="*/ 12 w 14"/>
                <a:gd name="T19" fmla="*/ 48 h 48"/>
                <a:gd name="T20" fmla="*/ 13 w 14"/>
                <a:gd name="T21" fmla="*/ 32 h 48"/>
                <a:gd name="T22" fmla="*/ 12 w 14"/>
                <a:gd name="T23" fmla="*/ 3 h 48"/>
                <a:gd name="T24" fmla="*/ 12 w 14"/>
                <a:gd name="T25" fmla="*/ 3 h 48"/>
                <a:gd name="T26" fmla="*/ 6 w 14"/>
                <a:gd name="T27" fmla="*/ 1 h 48"/>
                <a:gd name="T28" fmla="*/ 1 w 14"/>
                <a:gd name="T29" fmla="*/ 0 h 48"/>
                <a:gd name="T30" fmla="*/ 0 w 14"/>
                <a:gd name="T3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48">
                  <a:moveTo>
                    <a:pt x="0" y="0"/>
                  </a:moveTo>
                  <a:cubicBezTo>
                    <a:pt x="0" y="0"/>
                    <a:pt x="0" y="1"/>
                    <a:pt x="0" y="1"/>
                  </a:cubicBezTo>
                  <a:cubicBezTo>
                    <a:pt x="1" y="2"/>
                    <a:pt x="1" y="2"/>
                    <a:pt x="1" y="2"/>
                  </a:cubicBezTo>
                  <a:cubicBezTo>
                    <a:pt x="2" y="3"/>
                    <a:pt x="3" y="3"/>
                    <a:pt x="3" y="5"/>
                  </a:cubicBezTo>
                  <a:cubicBezTo>
                    <a:pt x="5" y="8"/>
                    <a:pt x="3" y="45"/>
                    <a:pt x="3" y="45"/>
                  </a:cubicBezTo>
                  <a:cubicBezTo>
                    <a:pt x="1" y="45"/>
                    <a:pt x="1" y="45"/>
                    <a:pt x="1" y="45"/>
                  </a:cubicBezTo>
                  <a:cubicBezTo>
                    <a:pt x="1" y="45"/>
                    <a:pt x="1" y="45"/>
                    <a:pt x="1" y="45"/>
                  </a:cubicBezTo>
                  <a:cubicBezTo>
                    <a:pt x="12" y="45"/>
                    <a:pt x="12" y="45"/>
                    <a:pt x="12" y="45"/>
                  </a:cubicBezTo>
                  <a:cubicBezTo>
                    <a:pt x="11" y="48"/>
                    <a:pt x="11" y="48"/>
                    <a:pt x="11" y="48"/>
                  </a:cubicBezTo>
                  <a:cubicBezTo>
                    <a:pt x="12" y="48"/>
                    <a:pt x="12" y="48"/>
                    <a:pt x="12" y="48"/>
                  </a:cubicBezTo>
                  <a:cubicBezTo>
                    <a:pt x="12" y="45"/>
                    <a:pt x="12" y="40"/>
                    <a:pt x="13" y="32"/>
                  </a:cubicBezTo>
                  <a:cubicBezTo>
                    <a:pt x="14" y="22"/>
                    <a:pt x="12" y="4"/>
                    <a:pt x="12" y="3"/>
                  </a:cubicBezTo>
                  <a:cubicBezTo>
                    <a:pt x="12" y="3"/>
                    <a:pt x="12" y="3"/>
                    <a:pt x="12" y="3"/>
                  </a:cubicBezTo>
                  <a:cubicBezTo>
                    <a:pt x="11" y="3"/>
                    <a:pt x="9" y="2"/>
                    <a:pt x="6" y="1"/>
                  </a:cubicBezTo>
                  <a:cubicBezTo>
                    <a:pt x="5" y="1"/>
                    <a:pt x="3" y="1"/>
                    <a:pt x="1" y="0"/>
                  </a:cubicBezTo>
                  <a:cubicBezTo>
                    <a:pt x="1" y="0"/>
                    <a:pt x="1" y="0"/>
                    <a:pt x="0" y="0"/>
                  </a:cubicBezTo>
                </a:path>
              </a:pathLst>
            </a:custGeom>
            <a:solidFill>
              <a:srgbClr val="69708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1595"/>
            <p:cNvSpPr/>
            <p:nvPr/>
          </p:nvSpPr>
          <p:spPr bwMode="auto">
            <a:xfrm>
              <a:off x="6039246" y="650868"/>
              <a:ext cx="33777" cy="292731"/>
            </a:xfrm>
            <a:custGeom>
              <a:avLst/>
              <a:gdLst>
                <a:gd name="T0" fmla="*/ 0 w 5"/>
                <a:gd name="T1" fmla="*/ 0 h 44"/>
                <a:gd name="T2" fmla="*/ 1 w 5"/>
                <a:gd name="T3" fmla="*/ 43 h 44"/>
                <a:gd name="T4" fmla="*/ 1 w 5"/>
                <a:gd name="T5" fmla="*/ 44 h 44"/>
                <a:gd name="T6" fmla="*/ 3 w 5"/>
                <a:gd name="T7" fmla="*/ 44 h 44"/>
                <a:gd name="T8" fmla="*/ 3 w 5"/>
                <a:gd name="T9" fmla="*/ 4 h 44"/>
                <a:gd name="T10" fmla="*/ 1 w 5"/>
                <a:gd name="T11" fmla="*/ 1 h 44"/>
                <a:gd name="T12" fmla="*/ 0 w 5"/>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5" h="44">
                  <a:moveTo>
                    <a:pt x="0" y="0"/>
                  </a:moveTo>
                  <a:cubicBezTo>
                    <a:pt x="1" y="6"/>
                    <a:pt x="3" y="36"/>
                    <a:pt x="1" y="43"/>
                  </a:cubicBezTo>
                  <a:cubicBezTo>
                    <a:pt x="1" y="43"/>
                    <a:pt x="1" y="44"/>
                    <a:pt x="1" y="44"/>
                  </a:cubicBezTo>
                  <a:cubicBezTo>
                    <a:pt x="3" y="44"/>
                    <a:pt x="3" y="44"/>
                    <a:pt x="3" y="44"/>
                  </a:cubicBezTo>
                  <a:cubicBezTo>
                    <a:pt x="3" y="44"/>
                    <a:pt x="5" y="7"/>
                    <a:pt x="3" y="4"/>
                  </a:cubicBezTo>
                  <a:cubicBezTo>
                    <a:pt x="3" y="2"/>
                    <a:pt x="2" y="2"/>
                    <a:pt x="1" y="1"/>
                  </a:cubicBezTo>
                  <a:cubicBezTo>
                    <a:pt x="0" y="0"/>
                    <a:pt x="0" y="0"/>
                    <a:pt x="0" y="0"/>
                  </a:cubicBezTo>
                </a:path>
              </a:pathLst>
            </a:custGeom>
            <a:solidFill>
              <a:srgbClr val="646C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1596"/>
            <p:cNvSpPr/>
            <p:nvPr/>
          </p:nvSpPr>
          <p:spPr bwMode="auto">
            <a:xfrm>
              <a:off x="6044875" y="943599"/>
              <a:ext cx="73183" cy="19702"/>
            </a:xfrm>
            <a:custGeom>
              <a:avLst/>
              <a:gdLst>
                <a:gd name="T0" fmla="*/ 11 w 11"/>
                <a:gd name="T1" fmla="*/ 0 h 3"/>
                <a:gd name="T2" fmla="*/ 0 w 11"/>
                <a:gd name="T3" fmla="*/ 0 h 3"/>
                <a:gd name="T4" fmla="*/ 0 w 11"/>
                <a:gd name="T5" fmla="*/ 3 h 3"/>
                <a:gd name="T6" fmla="*/ 10 w 11"/>
                <a:gd name="T7" fmla="*/ 3 h 3"/>
                <a:gd name="T8" fmla="*/ 10 w 11"/>
                <a:gd name="T9" fmla="*/ 3 h 3"/>
                <a:gd name="T10" fmla="*/ 11 w 11"/>
                <a:gd name="T11" fmla="*/ 0 h 3"/>
              </a:gdLst>
              <a:ahLst/>
              <a:cxnLst>
                <a:cxn ang="0">
                  <a:pos x="T0" y="T1"/>
                </a:cxn>
                <a:cxn ang="0">
                  <a:pos x="T2" y="T3"/>
                </a:cxn>
                <a:cxn ang="0">
                  <a:pos x="T4" y="T5"/>
                </a:cxn>
                <a:cxn ang="0">
                  <a:pos x="T6" y="T7"/>
                </a:cxn>
                <a:cxn ang="0">
                  <a:pos x="T8" y="T9"/>
                </a:cxn>
                <a:cxn ang="0">
                  <a:pos x="T10" y="T11"/>
                </a:cxn>
              </a:cxnLst>
              <a:rect l="0" t="0" r="r" b="b"/>
              <a:pathLst>
                <a:path w="11" h="3">
                  <a:moveTo>
                    <a:pt x="11" y="0"/>
                  </a:moveTo>
                  <a:cubicBezTo>
                    <a:pt x="0" y="0"/>
                    <a:pt x="0" y="0"/>
                    <a:pt x="0" y="0"/>
                  </a:cubicBezTo>
                  <a:cubicBezTo>
                    <a:pt x="0" y="1"/>
                    <a:pt x="0" y="2"/>
                    <a:pt x="0" y="3"/>
                  </a:cubicBezTo>
                  <a:cubicBezTo>
                    <a:pt x="10" y="3"/>
                    <a:pt x="10" y="3"/>
                    <a:pt x="10" y="3"/>
                  </a:cubicBezTo>
                  <a:cubicBezTo>
                    <a:pt x="10" y="3"/>
                    <a:pt x="10" y="3"/>
                    <a:pt x="10" y="3"/>
                  </a:cubicBezTo>
                  <a:cubicBezTo>
                    <a:pt x="11" y="0"/>
                    <a:pt x="11" y="0"/>
                    <a:pt x="11" y="0"/>
                  </a:cubicBez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1597"/>
            <p:cNvSpPr/>
            <p:nvPr/>
          </p:nvSpPr>
          <p:spPr bwMode="auto">
            <a:xfrm>
              <a:off x="5845031" y="645239"/>
              <a:ext cx="92887" cy="371543"/>
            </a:xfrm>
            <a:custGeom>
              <a:avLst/>
              <a:gdLst>
                <a:gd name="T0" fmla="*/ 14 w 14"/>
                <a:gd name="T1" fmla="*/ 0 h 56"/>
                <a:gd name="T2" fmla="*/ 12 w 14"/>
                <a:gd name="T3" fmla="*/ 43 h 56"/>
                <a:gd name="T4" fmla="*/ 13 w 14"/>
                <a:gd name="T5" fmla="*/ 56 h 56"/>
                <a:gd name="T6" fmla="*/ 2 w 14"/>
                <a:gd name="T7" fmla="*/ 55 h 56"/>
                <a:gd name="T8" fmla="*/ 1 w 14"/>
                <a:gd name="T9" fmla="*/ 31 h 56"/>
                <a:gd name="T10" fmla="*/ 3 w 14"/>
                <a:gd name="T11" fmla="*/ 3 h 56"/>
                <a:gd name="T12" fmla="*/ 14 w 14"/>
                <a:gd name="T13" fmla="*/ 0 h 56"/>
              </a:gdLst>
              <a:ahLst/>
              <a:cxnLst>
                <a:cxn ang="0">
                  <a:pos x="T0" y="T1"/>
                </a:cxn>
                <a:cxn ang="0">
                  <a:pos x="T2" y="T3"/>
                </a:cxn>
                <a:cxn ang="0">
                  <a:pos x="T4" y="T5"/>
                </a:cxn>
                <a:cxn ang="0">
                  <a:pos x="T6" y="T7"/>
                </a:cxn>
                <a:cxn ang="0">
                  <a:pos x="T8" y="T9"/>
                </a:cxn>
                <a:cxn ang="0">
                  <a:pos x="T10" y="T11"/>
                </a:cxn>
                <a:cxn ang="0">
                  <a:pos x="T12" y="T13"/>
                </a:cxn>
              </a:cxnLst>
              <a:rect l="0" t="0" r="r" b="b"/>
              <a:pathLst>
                <a:path w="14" h="56">
                  <a:moveTo>
                    <a:pt x="14" y="0"/>
                  </a:moveTo>
                  <a:cubicBezTo>
                    <a:pt x="14" y="0"/>
                    <a:pt x="11" y="35"/>
                    <a:pt x="12" y="43"/>
                  </a:cubicBezTo>
                  <a:cubicBezTo>
                    <a:pt x="13" y="50"/>
                    <a:pt x="13" y="56"/>
                    <a:pt x="13" y="56"/>
                  </a:cubicBezTo>
                  <a:cubicBezTo>
                    <a:pt x="2" y="55"/>
                    <a:pt x="2" y="55"/>
                    <a:pt x="2" y="55"/>
                  </a:cubicBezTo>
                  <a:cubicBezTo>
                    <a:pt x="2" y="55"/>
                    <a:pt x="2" y="51"/>
                    <a:pt x="1" y="31"/>
                  </a:cubicBezTo>
                  <a:cubicBezTo>
                    <a:pt x="0" y="21"/>
                    <a:pt x="3" y="3"/>
                    <a:pt x="3" y="3"/>
                  </a:cubicBezTo>
                  <a:cubicBezTo>
                    <a:pt x="3" y="3"/>
                    <a:pt x="8" y="0"/>
                    <a:pt x="14" y="0"/>
                  </a:cubicBezTo>
                  <a:close/>
                </a:path>
              </a:pathLst>
            </a:custGeom>
            <a:solidFill>
              <a:srgbClr val="14141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1598"/>
            <p:cNvSpPr/>
            <p:nvPr/>
          </p:nvSpPr>
          <p:spPr bwMode="auto">
            <a:xfrm>
              <a:off x="5898510" y="636795"/>
              <a:ext cx="53481" cy="174513"/>
            </a:xfrm>
            <a:custGeom>
              <a:avLst/>
              <a:gdLst>
                <a:gd name="T0" fmla="*/ 6 w 8"/>
                <a:gd name="T1" fmla="*/ 0 h 26"/>
                <a:gd name="T2" fmla="*/ 8 w 8"/>
                <a:gd name="T3" fmla="*/ 1 h 26"/>
                <a:gd name="T4" fmla="*/ 4 w 8"/>
                <a:gd name="T5" fmla="*/ 26 h 26"/>
                <a:gd name="T6" fmla="*/ 0 w 8"/>
                <a:gd name="T7" fmla="*/ 18 h 26"/>
                <a:gd name="T8" fmla="*/ 1 w 8"/>
                <a:gd name="T9" fmla="*/ 14 h 26"/>
                <a:gd name="T10" fmla="*/ 3 w 8"/>
                <a:gd name="T11" fmla="*/ 13 h 26"/>
                <a:gd name="T12" fmla="*/ 1 w 8"/>
                <a:gd name="T13" fmla="*/ 9 h 26"/>
                <a:gd name="T14" fmla="*/ 2 w 8"/>
                <a:gd name="T15" fmla="*/ 1 h 26"/>
                <a:gd name="T16" fmla="*/ 6 w 8"/>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26">
                  <a:moveTo>
                    <a:pt x="6" y="0"/>
                  </a:moveTo>
                  <a:cubicBezTo>
                    <a:pt x="8" y="1"/>
                    <a:pt x="8" y="1"/>
                    <a:pt x="8" y="1"/>
                  </a:cubicBezTo>
                  <a:cubicBezTo>
                    <a:pt x="4" y="26"/>
                    <a:pt x="4" y="26"/>
                    <a:pt x="4" y="26"/>
                  </a:cubicBezTo>
                  <a:cubicBezTo>
                    <a:pt x="0" y="18"/>
                    <a:pt x="0" y="18"/>
                    <a:pt x="0" y="18"/>
                  </a:cubicBezTo>
                  <a:cubicBezTo>
                    <a:pt x="1" y="14"/>
                    <a:pt x="1" y="14"/>
                    <a:pt x="1" y="14"/>
                  </a:cubicBezTo>
                  <a:cubicBezTo>
                    <a:pt x="3" y="13"/>
                    <a:pt x="3" y="13"/>
                    <a:pt x="3" y="13"/>
                  </a:cubicBezTo>
                  <a:cubicBezTo>
                    <a:pt x="1" y="9"/>
                    <a:pt x="1" y="9"/>
                    <a:pt x="1" y="9"/>
                  </a:cubicBezTo>
                  <a:cubicBezTo>
                    <a:pt x="2" y="1"/>
                    <a:pt x="2" y="1"/>
                    <a:pt x="2" y="1"/>
                  </a:cubicBezTo>
                  <a:cubicBezTo>
                    <a:pt x="2" y="1"/>
                    <a:pt x="4" y="0"/>
                    <a:pt x="6"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1599"/>
            <p:cNvSpPr/>
            <p:nvPr/>
          </p:nvSpPr>
          <p:spPr bwMode="auto">
            <a:xfrm>
              <a:off x="6039246" y="636795"/>
              <a:ext cx="92887" cy="379987"/>
            </a:xfrm>
            <a:custGeom>
              <a:avLst/>
              <a:gdLst>
                <a:gd name="T0" fmla="*/ 0 w 14"/>
                <a:gd name="T1" fmla="*/ 0 h 57"/>
                <a:gd name="T2" fmla="*/ 2 w 14"/>
                <a:gd name="T3" fmla="*/ 44 h 57"/>
                <a:gd name="T4" fmla="*/ 1 w 14"/>
                <a:gd name="T5" fmla="*/ 57 h 57"/>
                <a:gd name="T6" fmla="*/ 12 w 14"/>
                <a:gd name="T7" fmla="*/ 56 h 57"/>
                <a:gd name="T8" fmla="*/ 13 w 14"/>
                <a:gd name="T9" fmla="*/ 32 h 57"/>
                <a:gd name="T10" fmla="*/ 11 w 14"/>
                <a:gd name="T11" fmla="*/ 3 h 57"/>
                <a:gd name="T12" fmla="*/ 0 w 14"/>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14" h="57">
                  <a:moveTo>
                    <a:pt x="0" y="0"/>
                  </a:moveTo>
                  <a:cubicBezTo>
                    <a:pt x="0" y="0"/>
                    <a:pt x="3" y="36"/>
                    <a:pt x="2" y="44"/>
                  </a:cubicBezTo>
                  <a:cubicBezTo>
                    <a:pt x="1" y="51"/>
                    <a:pt x="1" y="57"/>
                    <a:pt x="1" y="57"/>
                  </a:cubicBezTo>
                  <a:cubicBezTo>
                    <a:pt x="12" y="56"/>
                    <a:pt x="12" y="56"/>
                    <a:pt x="12" y="56"/>
                  </a:cubicBezTo>
                  <a:cubicBezTo>
                    <a:pt x="12" y="56"/>
                    <a:pt x="12" y="52"/>
                    <a:pt x="13" y="32"/>
                  </a:cubicBezTo>
                  <a:cubicBezTo>
                    <a:pt x="14" y="22"/>
                    <a:pt x="11" y="3"/>
                    <a:pt x="11" y="3"/>
                  </a:cubicBezTo>
                  <a:cubicBezTo>
                    <a:pt x="11" y="3"/>
                    <a:pt x="6" y="0"/>
                    <a:pt x="0" y="0"/>
                  </a:cubicBezTo>
                  <a:close/>
                </a:path>
              </a:pathLst>
            </a:custGeom>
            <a:solidFill>
              <a:srgbClr val="14141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1600"/>
            <p:cNvSpPr/>
            <p:nvPr/>
          </p:nvSpPr>
          <p:spPr bwMode="auto">
            <a:xfrm>
              <a:off x="6039246" y="636795"/>
              <a:ext cx="39406" cy="174513"/>
            </a:xfrm>
            <a:custGeom>
              <a:avLst/>
              <a:gdLst>
                <a:gd name="T0" fmla="*/ 1 w 6"/>
                <a:gd name="T1" fmla="*/ 0 h 26"/>
                <a:gd name="T2" fmla="*/ 0 w 6"/>
                <a:gd name="T3" fmla="*/ 0 h 26"/>
                <a:gd name="T4" fmla="*/ 2 w 6"/>
                <a:gd name="T5" fmla="*/ 26 h 26"/>
                <a:gd name="T6" fmla="*/ 6 w 6"/>
                <a:gd name="T7" fmla="*/ 17 h 26"/>
                <a:gd name="T8" fmla="*/ 5 w 6"/>
                <a:gd name="T9" fmla="*/ 14 h 26"/>
                <a:gd name="T10" fmla="*/ 3 w 6"/>
                <a:gd name="T11" fmla="*/ 13 h 26"/>
                <a:gd name="T12" fmla="*/ 5 w 6"/>
                <a:gd name="T13" fmla="*/ 9 h 26"/>
                <a:gd name="T14" fmla="*/ 4 w 6"/>
                <a:gd name="T15" fmla="*/ 1 h 26"/>
                <a:gd name="T16" fmla="*/ 1 w 6"/>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6">
                  <a:moveTo>
                    <a:pt x="1" y="0"/>
                  </a:moveTo>
                  <a:cubicBezTo>
                    <a:pt x="0" y="0"/>
                    <a:pt x="0" y="0"/>
                    <a:pt x="0" y="0"/>
                  </a:cubicBezTo>
                  <a:cubicBezTo>
                    <a:pt x="2" y="26"/>
                    <a:pt x="2" y="26"/>
                    <a:pt x="2" y="26"/>
                  </a:cubicBezTo>
                  <a:cubicBezTo>
                    <a:pt x="6" y="17"/>
                    <a:pt x="6" y="17"/>
                    <a:pt x="6" y="17"/>
                  </a:cubicBezTo>
                  <a:cubicBezTo>
                    <a:pt x="5" y="14"/>
                    <a:pt x="5" y="14"/>
                    <a:pt x="5" y="14"/>
                  </a:cubicBezTo>
                  <a:cubicBezTo>
                    <a:pt x="3" y="13"/>
                    <a:pt x="3" y="13"/>
                    <a:pt x="3" y="13"/>
                  </a:cubicBezTo>
                  <a:cubicBezTo>
                    <a:pt x="5" y="9"/>
                    <a:pt x="5" y="9"/>
                    <a:pt x="5" y="9"/>
                  </a:cubicBezTo>
                  <a:cubicBezTo>
                    <a:pt x="4" y="1"/>
                    <a:pt x="4" y="1"/>
                    <a:pt x="4" y="1"/>
                  </a:cubicBezTo>
                  <a:cubicBezTo>
                    <a:pt x="4" y="1"/>
                    <a:pt x="4" y="0"/>
                    <a:pt x="1"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1601"/>
            <p:cNvSpPr/>
            <p:nvPr/>
          </p:nvSpPr>
          <p:spPr bwMode="auto">
            <a:xfrm>
              <a:off x="6078652" y="645239"/>
              <a:ext cx="98516" cy="258954"/>
            </a:xfrm>
            <a:custGeom>
              <a:avLst/>
              <a:gdLst>
                <a:gd name="T0" fmla="*/ 5 w 15"/>
                <a:gd name="T1" fmla="*/ 2 h 39"/>
                <a:gd name="T2" fmla="*/ 3 w 15"/>
                <a:gd name="T3" fmla="*/ 21 h 39"/>
                <a:gd name="T4" fmla="*/ 0 w 15"/>
                <a:gd name="T5" fmla="*/ 29 h 39"/>
                <a:gd name="T6" fmla="*/ 9 w 15"/>
                <a:gd name="T7" fmla="*/ 39 h 39"/>
                <a:gd name="T8" fmla="*/ 5 w 15"/>
                <a:gd name="T9" fmla="*/ 2 h 39"/>
              </a:gdLst>
              <a:ahLst/>
              <a:cxnLst>
                <a:cxn ang="0">
                  <a:pos x="T0" y="T1"/>
                </a:cxn>
                <a:cxn ang="0">
                  <a:pos x="T2" y="T3"/>
                </a:cxn>
                <a:cxn ang="0">
                  <a:pos x="T4" y="T5"/>
                </a:cxn>
                <a:cxn ang="0">
                  <a:pos x="T6" y="T7"/>
                </a:cxn>
                <a:cxn ang="0">
                  <a:pos x="T8" y="T9"/>
                </a:cxn>
              </a:cxnLst>
              <a:rect l="0" t="0" r="r" b="b"/>
              <a:pathLst>
                <a:path w="15" h="39">
                  <a:moveTo>
                    <a:pt x="5" y="2"/>
                  </a:moveTo>
                  <a:cubicBezTo>
                    <a:pt x="5" y="2"/>
                    <a:pt x="6" y="13"/>
                    <a:pt x="3" y="21"/>
                  </a:cubicBezTo>
                  <a:cubicBezTo>
                    <a:pt x="1" y="25"/>
                    <a:pt x="0" y="29"/>
                    <a:pt x="0" y="29"/>
                  </a:cubicBezTo>
                  <a:cubicBezTo>
                    <a:pt x="0" y="29"/>
                    <a:pt x="5" y="39"/>
                    <a:pt x="9" y="39"/>
                  </a:cubicBezTo>
                  <a:cubicBezTo>
                    <a:pt x="13" y="38"/>
                    <a:pt x="15" y="0"/>
                    <a:pt x="5" y="2"/>
                  </a:cubicBezTo>
                  <a:close/>
                </a:path>
              </a:pathLst>
            </a:custGeom>
            <a:solidFill>
              <a:srgbClr val="24242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1602"/>
            <p:cNvSpPr/>
            <p:nvPr/>
          </p:nvSpPr>
          <p:spPr bwMode="auto">
            <a:xfrm>
              <a:off x="5951990" y="831010"/>
              <a:ext cx="205476" cy="87255"/>
            </a:xfrm>
            <a:custGeom>
              <a:avLst/>
              <a:gdLst>
                <a:gd name="T0" fmla="*/ 28 w 31"/>
                <a:gd name="T1" fmla="*/ 11 h 13"/>
                <a:gd name="T2" fmla="*/ 0 w 31"/>
                <a:gd name="T3" fmla="*/ 6 h 13"/>
                <a:gd name="T4" fmla="*/ 3 w 31"/>
                <a:gd name="T5" fmla="*/ 0 h 13"/>
                <a:gd name="T6" fmla="*/ 14 w 31"/>
                <a:gd name="T7" fmla="*/ 1 h 13"/>
                <a:gd name="T8" fmla="*/ 28 w 31"/>
                <a:gd name="T9" fmla="*/ 11 h 13"/>
              </a:gdLst>
              <a:ahLst/>
              <a:cxnLst>
                <a:cxn ang="0">
                  <a:pos x="T0" y="T1"/>
                </a:cxn>
                <a:cxn ang="0">
                  <a:pos x="T2" y="T3"/>
                </a:cxn>
                <a:cxn ang="0">
                  <a:pos x="T4" y="T5"/>
                </a:cxn>
                <a:cxn ang="0">
                  <a:pos x="T6" y="T7"/>
                </a:cxn>
                <a:cxn ang="0">
                  <a:pos x="T8" y="T9"/>
                </a:cxn>
              </a:cxnLst>
              <a:rect l="0" t="0" r="r" b="b"/>
              <a:pathLst>
                <a:path w="31" h="13">
                  <a:moveTo>
                    <a:pt x="28" y="11"/>
                  </a:moveTo>
                  <a:cubicBezTo>
                    <a:pt x="28" y="11"/>
                    <a:pt x="17" y="13"/>
                    <a:pt x="0" y="6"/>
                  </a:cubicBezTo>
                  <a:cubicBezTo>
                    <a:pt x="0" y="6"/>
                    <a:pt x="2" y="0"/>
                    <a:pt x="3" y="0"/>
                  </a:cubicBezTo>
                  <a:cubicBezTo>
                    <a:pt x="3" y="0"/>
                    <a:pt x="8" y="1"/>
                    <a:pt x="14" y="1"/>
                  </a:cubicBezTo>
                  <a:cubicBezTo>
                    <a:pt x="18" y="1"/>
                    <a:pt x="31" y="3"/>
                    <a:pt x="28" y="11"/>
                  </a:cubicBezTo>
                  <a:close/>
                </a:path>
              </a:pathLst>
            </a:custGeom>
            <a:solidFill>
              <a:srgbClr val="24242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603"/>
            <p:cNvSpPr/>
            <p:nvPr/>
          </p:nvSpPr>
          <p:spPr bwMode="auto">
            <a:xfrm>
              <a:off x="6078652" y="656498"/>
              <a:ext cx="53481" cy="208289"/>
            </a:xfrm>
            <a:custGeom>
              <a:avLst/>
              <a:gdLst>
                <a:gd name="T0" fmla="*/ 3 w 8"/>
                <a:gd name="T1" fmla="*/ 31 h 31"/>
                <a:gd name="T2" fmla="*/ 4 w 8"/>
                <a:gd name="T3" fmla="*/ 30 h 31"/>
                <a:gd name="T4" fmla="*/ 4 w 8"/>
                <a:gd name="T5" fmla="*/ 30 h 31"/>
                <a:gd name="T6" fmla="*/ 5 w 8"/>
                <a:gd name="T7" fmla="*/ 19 h 31"/>
                <a:gd name="T8" fmla="*/ 6 w 8"/>
                <a:gd name="T9" fmla="*/ 1 h 31"/>
                <a:gd name="T10" fmla="*/ 6 w 8"/>
                <a:gd name="T11" fmla="*/ 0 h 31"/>
                <a:gd name="T12" fmla="*/ 5 w 8"/>
                <a:gd name="T13" fmla="*/ 0 h 31"/>
                <a:gd name="T14" fmla="*/ 3 w 8"/>
                <a:gd name="T15" fmla="*/ 19 h 31"/>
                <a:gd name="T16" fmla="*/ 0 w 8"/>
                <a:gd name="T17" fmla="*/ 27 h 31"/>
                <a:gd name="T18" fmla="*/ 2 w 8"/>
                <a:gd name="T19" fmla="*/ 31 h 31"/>
                <a:gd name="T20" fmla="*/ 3 w 8"/>
                <a:gd name="T21"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31">
                  <a:moveTo>
                    <a:pt x="3" y="31"/>
                  </a:moveTo>
                  <a:cubicBezTo>
                    <a:pt x="3" y="31"/>
                    <a:pt x="4" y="31"/>
                    <a:pt x="4" y="30"/>
                  </a:cubicBezTo>
                  <a:cubicBezTo>
                    <a:pt x="4" y="30"/>
                    <a:pt x="4" y="30"/>
                    <a:pt x="4" y="30"/>
                  </a:cubicBezTo>
                  <a:cubicBezTo>
                    <a:pt x="2" y="26"/>
                    <a:pt x="3" y="22"/>
                    <a:pt x="5" y="19"/>
                  </a:cubicBezTo>
                  <a:cubicBezTo>
                    <a:pt x="8" y="13"/>
                    <a:pt x="6" y="7"/>
                    <a:pt x="6" y="1"/>
                  </a:cubicBezTo>
                  <a:cubicBezTo>
                    <a:pt x="6" y="0"/>
                    <a:pt x="6" y="0"/>
                    <a:pt x="6" y="0"/>
                  </a:cubicBezTo>
                  <a:cubicBezTo>
                    <a:pt x="6" y="0"/>
                    <a:pt x="5" y="0"/>
                    <a:pt x="5" y="0"/>
                  </a:cubicBezTo>
                  <a:cubicBezTo>
                    <a:pt x="5" y="0"/>
                    <a:pt x="6" y="11"/>
                    <a:pt x="3" y="19"/>
                  </a:cubicBezTo>
                  <a:cubicBezTo>
                    <a:pt x="1" y="23"/>
                    <a:pt x="0" y="27"/>
                    <a:pt x="0" y="27"/>
                  </a:cubicBezTo>
                  <a:cubicBezTo>
                    <a:pt x="0" y="27"/>
                    <a:pt x="1" y="29"/>
                    <a:pt x="2" y="31"/>
                  </a:cubicBezTo>
                  <a:lnTo>
                    <a:pt x="3" y="3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1604"/>
            <p:cNvSpPr/>
            <p:nvPr/>
          </p:nvSpPr>
          <p:spPr bwMode="auto">
            <a:xfrm>
              <a:off x="5951990" y="831010"/>
              <a:ext cx="151995" cy="59108"/>
            </a:xfrm>
            <a:custGeom>
              <a:avLst/>
              <a:gdLst>
                <a:gd name="T0" fmla="*/ 10 w 23"/>
                <a:gd name="T1" fmla="*/ 8 h 9"/>
                <a:gd name="T2" fmla="*/ 10 w 23"/>
                <a:gd name="T3" fmla="*/ 5 h 9"/>
                <a:gd name="T4" fmla="*/ 18 w 23"/>
                <a:gd name="T5" fmla="*/ 4 h 9"/>
                <a:gd name="T6" fmla="*/ 18 w 23"/>
                <a:gd name="T7" fmla="*/ 4 h 9"/>
                <a:gd name="T8" fmla="*/ 20 w 23"/>
                <a:gd name="T9" fmla="*/ 5 h 9"/>
                <a:gd name="T10" fmla="*/ 21 w 23"/>
                <a:gd name="T11" fmla="*/ 5 h 9"/>
                <a:gd name="T12" fmla="*/ 22 w 23"/>
                <a:gd name="T13" fmla="*/ 5 h 9"/>
                <a:gd name="T14" fmla="*/ 23 w 23"/>
                <a:gd name="T15" fmla="*/ 4 h 9"/>
                <a:gd name="T16" fmla="*/ 23 w 23"/>
                <a:gd name="T17" fmla="*/ 4 h 9"/>
                <a:gd name="T18" fmla="*/ 22 w 23"/>
                <a:gd name="T19" fmla="*/ 2 h 9"/>
                <a:gd name="T20" fmla="*/ 14 w 23"/>
                <a:gd name="T21" fmla="*/ 1 h 9"/>
                <a:gd name="T22" fmla="*/ 3 w 23"/>
                <a:gd name="T23" fmla="*/ 0 h 9"/>
                <a:gd name="T24" fmla="*/ 0 w 23"/>
                <a:gd name="T25" fmla="*/ 6 h 9"/>
                <a:gd name="T26" fmla="*/ 9 w 23"/>
                <a:gd name="T27" fmla="*/ 9 h 9"/>
                <a:gd name="T28" fmla="*/ 10 w 23"/>
                <a:gd name="T2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9">
                  <a:moveTo>
                    <a:pt x="10" y="8"/>
                  </a:moveTo>
                  <a:cubicBezTo>
                    <a:pt x="9" y="7"/>
                    <a:pt x="10" y="6"/>
                    <a:pt x="10" y="5"/>
                  </a:cubicBezTo>
                  <a:cubicBezTo>
                    <a:pt x="12" y="3"/>
                    <a:pt x="15" y="2"/>
                    <a:pt x="18" y="4"/>
                  </a:cubicBezTo>
                  <a:cubicBezTo>
                    <a:pt x="18" y="4"/>
                    <a:pt x="18" y="4"/>
                    <a:pt x="18" y="4"/>
                  </a:cubicBezTo>
                  <a:cubicBezTo>
                    <a:pt x="19" y="4"/>
                    <a:pt x="20" y="5"/>
                    <a:pt x="20" y="5"/>
                  </a:cubicBezTo>
                  <a:cubicBezTo>
                    <a:pt x="21" y="5"/>
                    <a:pt x="21" y="5"/>
                    <a:pt x="21" y="5"/>
                  </a:cubicBezTo>
                  <a:cubicBezTo>
                    <a:pt x="21" y="5"/>
                    <a:pt x="22" y="5"/>
                    <a:pt x="22" y="5"/>
                  </a:cubicBezTo>
                  <a:cubicBezTo>
                    <a:pt x="22" y="5"/>
                    <a:pt x="23" y="5"/>
                    <a:pt x="23" y="4"/>
                  </a:cubicBezTo>
                  <a:cubicBezTo>
                    <a:pt x="23" y="4"/>
                    <a:pt x="23" y="4"/>
                    <a:pt x="23" y="4"/>
                  </a:cubicBezTo>
                  <a:cubicBezTo>
                    <a:pt x="23" y="3"/>
                    <a:pt x="22" y="3"/>
                    <a:pt x="22" y="2"/>
                  </a:cubicBezTo>
                  <a:cubicBezTo>
                    <a:pt x="19" y="1"/>
                    <a:pt x="16" y="1"/>
                    <a:pt x="14" y="1"/>
                  </a:cubicBezTo>
                  <a:cubicBezTo>
                    <a:pt x="8" y="1"/>
                    <a:pt x="3" y="0"/>
                    <a:pt x="3" y="0"/>
                  </a:cubicBezTo>
                  <a:cubicBezTo>
                    <a:pt x="2" y="0"/>
                    <a:pt x="0" y="6"/>
                    <a:pt x="0" y="6"/>
                  </a:cubicBezTo>
                  <a:cubicBezTo>
                    <a:pt x="3" y="7"/>
                    <a:pt x="6" y="8"/>
                    <a:pt x="9" y="9"/>
                  </a:cubicBezTo>
                  <a:lnTo>
                    <a:pt x="1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1605"/>
            <p:cNvSpPr/>
            <p:nvPr/>
          </p:nvSpPr>
          <p:spPr bwMode="auto">
            <a:xfrm>
              <a:off x="5870362" y="805679"/>
              <a:ext cx="81628" cy="25332"/>
            </a:xfrm>
            <a:custGeom>
              <a:avLst/>
              <a:gdLst>
                <a:gd name="T0" fmla="*/ 12 w 12"/>
                <a:gd name="T1" fmla="*/ 2 h 4"/>
                <a:gd name="T2" fmla="*/ 3 w 12"/>
                <a:gd name="T3" fmla="*/ 1 h 4"/>
                <a:gd name="T4" fmla="*/ 3 w 12"/>
                <a:gd name="T5" fmla="*/ 3 h 4"/>
                <a:gd name="T6" fmla="*/ 12 w 12"/>
                <a:gd name="T7" fmla="*/ 2 h 4"/>
              </a:gdLst>
              <a:ahLst/>
              <a:cxnLst>
                <a:cxn ang="0">
                  <a:pos x="T0" y="T1"/>
                </a:cxn>
                <a:cxn ang="0">
                  <a:pos x="T2" y="T3"/>
                </a:cxn>
                <a:cxn ang="0">
                  <a:pos x="T4" y="T5"/>
                </a:cxn>
                <a:cxn ang="0">
                  <a:pos x="T6" y="T7"/>
                </a:cxn>
              </a:cxnLst>
              <a:rect l="0" t="0" r="r" b="b"/>
              <a:pathLst>
                <a:path w="12" h="4">
                  <a:moveTo>
                    <a:pt x="12" y="2"/>
                  </a:moveTo>
                  <a:cubicBezTo>
                    <a:pt x="12" y="2"/>
                    <a:pt x="5" y="0"/>
                    <a:pt x="3" y="1"/>
                  </a:cubicBezTo>
                  <a:cubicBezTo>
                    <a:pt x="1" y="2"/>
                    <a:pt x="0" y="4"/>
                    <a:pt x="3" y="3"/>
                  </a:cubicBezTo>
                  <a:cubicBezTo>
                    <a:pt x="5" y="3"/>
                    <a:pt x="12" y="2"/>
                    <a:pt x="12" y="2"/>
                  </a:cubicBezTo>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1606"/>
            <p:cNvSpPr/>
            <p:nvPr/>
          </p:nvSpPr>
          <p:spPr bwMode="auto">
            <a:xfrm>
              <a:off x="5797180" y="645239"/>
              <a:ext cx="95701" cy="264584"/>
            </a:xfrm>
            <a:custGeom>
              <a:avLst/>
              <a:gdLst>
                <a:gd name="T0" fmla="*/ 11 w 14"/>
                <a:gd name="T1" fmla="*/ 2 h 40"/>
                <a:gd name="T2" fmla="*/ 11 w 14"/>
                <a:gd name="T3" fmla="*/ 16 h 40"/>
                <a:gd name="T4" fmla="*/ 14 w 14"/>
                <a:gd name="T5" fmla="*/ 31 h 40"/>
                <a:gd name="T6" fmla="*/ 5 w 14"/>
                <a:gd name="T7" fmla="*/ 38 h 40"/>
                <a:gd name="T8" fmla="*/ 11 w 14"/>
                <a:gd name="T9" fmla="*/ 2 h 40"/>
              </a:gdLst>
              <a:ahLst/>
              <a:cxnLst>
                <a:cxn ang="0">
                  <a:pos x="T0" y="T1"/>
                </a:cxn>
                <a:cxn ang="0">
                  <a:pos x="T2" y="T3"/>
                </a:cxn>
                <a:cxn ang="0">
                  <a:pos x="T4" y="T5"/>
                </a:cxn>
                <a:cxn ang="0">
                  <a:pos x="T6" y="T7"/>
                </a:cxn>
                <a:cxn ang="0">
                  <a:pos x="T8" y="T9"/>
                </a:cxn>
              </a:cxnLst>
              <a:rect l="0" t="0" r="r" b="b"/>
              <a:pathLst>
                <a:path w="14" h="40">
                  <a:moveTo>
                    <a:pt x="11" y="2"/>
                  </a:moveTo>
                  <a:cubicBezTo>
                    <a:pt x="11" y="2"/>
                    <a:pt x="9" y="9"/>
                    <a:pt x="11" y="16"/>
                  </a:cubicBezTo>
                  <a:cubicBezTo>
                    <a:pt x="13" y="22"/>
                    <a:pt x="14" y="31"/>
                    <a:pt x="14" y="31"/>
                  </a:cubicBezTo>
                  <a:cubicBezTo>
                    <a:pt x="14" y="31"/>
                    <a:pt x="8" y="40"/>
                    <a:pt x="5" y="38"/>
                  </a:cubicBezTo>
                  <a:cubicBezTo>
                    <a:pt x="1" y="37"/>
                    <a:pt x="0" y="0"/>
                    <a:pt x="11" y="2"/>
                  </a:cubicBezTo>
                  <a:close/>
                </a:path>
              </a:pathLst>
            </a:custGeom>
            <a:solidFill>
              <a:srgbClr val="24242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1607"/>
            <p:cNvSpPr/>
            <p:nvPr/>
          </p:nvSpPr>
          <p:spPr bwMode="auto">
            <a:xfrm>
              <a:off x="5791550" y="811308"/>
              <a:ext cx="247696" cy="112589"/>
            </a:xfrm>
            <a:custGeom>
              <a:avLst/>
              <a:gdLst>
                <a:gd name="T0" fmla="*/ 6 w 37"/>
                <a:gd name="T1" fmla="*/ 13 h 17"/>
                <a:gd name="T2" fmla="*/ 37 w 37"/>
                <a:gd name="T3" fmla="*/ 5 h 17"/>
                <a:gd name="T4" fmla="*/ 34 w 37"/>
                <a:gd name="T5" fmla="*/ 0 h 17"/>
                <a:gd name="T6" fmla="*/ 15 w 37"/>
                <a:gd name="T7" fmla="*/ 2 h 17"/>
                <a:gd name="T8" fmla="*/ 6 w 37"/>
                <a:gd name="T9" fmla="*/ 13 h 17"/>
              </a:gdLst>
              <a:ahLst/>
              <a:cxnLst>
                <a:cxn ang="0">
                  <a:pos x="T0" y="T1"/>
                </a:cxn>
                <a:cxn ang="0">
                  <a:pos x="T2" y="T3"/>
                </a:cxn>
                <a:cxn ang="0">
                  <a:pos x="T4" y="T5"/>
                </a:cxn>
                <a:cxn ang="0">
                  <a:pos x="T6" y="T7"/>
                </a:cxn>
                <a:cxn ang="0">
                  <a:pos x="T8" y="T9"/>
                </a:cxn>
              </a:cxnLst>
              <a:rect l="0" t="0" r="r" b="b"/>
              <a:pathLst>
                <a:path w="37" h="17">
                  <a:moveTo>
                    <a:pt x="6" y="13"/>
                  </a:moveTo>
                  <a:cubicBezTo>
                    <a:pt x="6" y="13"/>
                    <a:pt x="15" y="17"/>
                    <a:pt x="37" y="5"/>
                  </a:cubicBezTo>
                  <a:cubicBezTo>
                    <a:pt x="37" y="5"/>
                    <a:pt x="35" y="0"/>
                    <a:pt x="34" y="0"/>
                  </a:cubicBezTo>
                  <a:cubicBezTo>
                    <a:pt x="33" y="0"/>
                    <a:pt x="24" y="0"/>
                    <a:pt x="15" y="2"/>
                  </a:cubicBezTo>
                  <a:cubicBezTo>
                    <a:pt x="12" y="3"/>
                    <a:pt x="0" y="6"/>
                    <a:pt x="6" y="13"/>
                  </a:cubicBezTo>
                  <a:close/>
                </a:path>
              </a:pathLst>
            </a:custGeom>
            <a:solidFill>
              <a:srgbClr val="24242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1608"/>
            <p:cNvSpPr/>
            <p:nvPr/>
          </p:nvSpPr>
          <p:spPr bwMode="auto">
            <a:xfrm>
              <a:off x="5830956" y="656498"/>
              <a:ext cx="61924" cy="188585"/>
            </a:xfrm>
            <a:custGeom>
              <a:avLst/>
              <a:gdLst>
                <a:gd name="T0" fmla="*/ 3 w 9"/>
                <a:gd name="T1" fmla="*/ 1 h 28"/>
                <a:gd name="T2" fmla="*/ 3 w 9"/>
                <a:gd name="T3" fmla="*/ 16 h 28"/>
                <a:gd name="T4" fmla="*/ 6 w 9"/>
                <a:gd name="T5" fmla="*/ 23 h 28"/>
                <a:gd name="T6" fmla="*/ 6 w 9"/>
                <a:gd name="T7" fmla="*/ 28 h 28"/>
                <a:gd name="T8" fmla="*/ 9 w 9"/>
                <a:gd name="T9" fmla="*/ 27 h 28"/>
                <a:gd name="T10" fmla="*/ 6 w 9"/>
                <a:gd name="T11" fmla="*/ 14 h 28"/>
                <a:gd name="T12" fmla="*/ 6 w 9"/>
                <a:gd name="T13" fmla="*/ 0 h 28"/>
                <a:gd name="T14" fmla="*/ 3 w 9"/>
                <a:gd name="T15" fmla="*/ 0 h 28"/>
                <a:gd name="T16" fmla="*/ 3 w 9"/>
                <a:gd name="T17" fmla="*/ 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28">
                  <a:moveTo>
                    <a:pt x="3" y="1"/>
                  </a:moveTo>
                  <a:cubicBezTo>
                    <a:pt x="2" y="5"/>
                    <a:pt x="0" y="11"/>
                    <a:pt x="3" y="16"/>
                  </a:cubicBezTo>
                  <a:cubicBezTo>
                    <a:pt x="4" y="18"/>
                    <a:pt x="6" y="20"/>
                    <a:pt x="6" y="23"/>
                  </a:cubicBezTo>
                  <a:cubicBezTo>
                    <a:pt x="6" y="25"/>
                    <a:pt x="6" y="26"/>
                    <a:pt x="6" y="28"/>
                  </a:cubicBezTo>
                  <a:cubicBezTo>
                    <a:pt x="7" y="28"/>
                    <a:pt x="8" y="27"/>
                    <a:pt x="9" y="27"/>
                  </a:cubicBezTo>
                  <a:cubicBezTo>
                    <a:pt x="8" y="24"/>
                    <a:pt x="8" y="19"/>
                    <a:pt x="6" y="14"/>
                  </a:cubicBezTo>
                  <a:cubicBezTo>
                    <a:pt x="4" y="7"/>
                    <a:pt x="6" y="0"/>
                    <a:pt x="6" y="0"/>
                  </a:cubicBezTo>
                  <a:cubicBezTo>
                    <a:pt x="5" y="0"/>
                    <a:pt x="4" y="0"/>
                    <a:pt x="3" y="0"/>
                  </a:cubicBez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1609"/>
            <p:cNvSpPr/>
            <p:nvPr/>
          </p:nvSpPr>
          <p:spPr bwMode="auto">
            <a:xfrm>
              <a:off x="5870362" y="811308"/>
              <a:ext cx="168883" cy="39406"/>
            </a:xfrm>
            <a:custGeom>
              <a:avLst/>
              <a:gdLst>
                <a:gd name="T0" fmla="*/ 0 w 25"/>
                <a:gd name="T1" fmla="*/ 5 h 6"/>
                <a:gd name="T2" fmla="*/ 20 w 25"/>
                <a:gd name="T3" fmla="*/ 1 h 6"/>
                <a:gd name="T4" fmla="*/ 23 w 25"/>
                <a:gd name="T5" fmla="*/ 6 h 6"/>
                <a:gd name="T6" fmla="*/ 25 w 25"/>
                <a:gd name="T7" fmla="*/ 5 h 6"/>
                <a:gd name="T8" fmla="*/ 22 w 25"/>
                <a:gd name="T9" fmla="*/ 0 h 6"/>
                <a:gd name="T10" fmla="*/ 3 w 25"/>
                <a:gd name="T11" fmla="*/ 2 h 6"/>
                <a:gd name="T12" fmla="*/ 0 w 25"/>
                <a:gd name="T13" fmla="*/ 3 h 6"/>
                <a:gd name="T14" fmla="*/ 0 w 25"/>
                <a:gd name="T15" fmla="*/ 5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6">
                  <a:moveTo>
                    <a:pt x="0" y="5"/>
                  </a:moveTo>
                  <a:cubicBezTo>
                    <a:pt x="6" y="2"/>
                    <a:pt x="15" y="2"/>
                    <a:pt x="20" y="1"/>
                  </a:cubicBezTo>
                  <a:cubicBezTo>
                    <a:pt x="22" y="1"/>
                    <a:pt x="23" y="4"/>
                    <a:pt x="23" y="6"/>
                  </a:cubicBezTo>
                  <a:cubicBezTo>
                    <a:pt x="24" y="6"/>
                    <a:pt x="24" y="5"/>
                    <a:pt x="25" y="5"/>
                  </a:cubicBezTo>
                  <a:cubicBezTo>
                    <a:pt x="25" y="5"/>
                    <a:pt x="23" y="0"/>
                    <a:pt x="22" y="0"/>
                  </a:cubicBezTo>
                  <a:cubicBezTo>
                    <a:pt x="21" y="0"/>
                    <a:pt x="12" y="0"/>
                    <a:pt x="3" y="2"/>
                  </a:cubicBezTo>
                  <a:cubicBezTo>
                    <a:pt x="3" y="2"/>
                    <a:pt x="1" y="2"/>
                    <a:pt x="0" y="3"/>
                  </a:cubicBezTo>
                  <a:cubicBezTo>
                    <a:pt x="0" y="4"/>
                    <a:pt x="0" y="4"/>
                    <a:pt x="0"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1610"/>
            <p:cNvSpPr/>
            <p:nvPr/>
          </p:nvSpPr>
          <p:spPr bwMode="auto">
            <a:xfrm>
              <a:off x="6019544" y="805679"/>
              <a:ext cx="64739" cy="45036"/>
            </a:xfrm>
            <a:custGeom>
              <a:avLst/>
              <a:gdLst>
                <a:gd name="T0" fmla="*/ 0 w 10"/>
                <a:gd name="T1" fmla="*/ 1 h 7"/>
                <a:gd name="T2" fmla="*/ 10 w 10"/>
                <a:gd name="T3" fmla="*/ 2 h 7"/>
                <a:gd name="T4" fmla="*/ 9 w 10"/>
                <a:gd name="T5" fmla="*/ 5 h 7"/>
                <a:gd name="T6" fmla="*/ 3 w 10"/>
                <a:gd name="T7" fmla="*/ 6 h 7"/>
                <a:gd name="T8" fmla="*/ 0 w 10"/>
                <a:gd name="T9" fmla="*/ 1 h 7"/>
              </a:gdLst>
              <a:ahLst/>
              <a:cxnLst>
                <a:cxn ang="0">
                  <a:pos x="T0" y="T1"/>
                </a:cxn>
                <a:cxn ang="0">
                  <a:pos x="T2" y="T3"/>
                </a:cxn>
                <a:cxn ang="0">
                  <a:pos x="T4" y="T5"/>
                </a:cxn>
                <a:cxn ang="0">
                  <a:pos x="T6" y="T7"/>
                </a:cxn>
                <a:cxn ang="0">
                  <a:pos x="T8" y="T9"/>
                </a:cxn>
              </a:cxnLst>
              <a:rect l="0" t="0" r="r" b="b"/>
              <a:pathLst>
                <a:path w="10" h="7">
                  <a:moveTo>
                    <a:pt x="0" y="1"/>
                  </a:moveTo>
                  <a:cubicBezTo>
                    <a:pt x="0" y="1"/>
                    <a:pt x="7" y="0"/>
                    <a:pt x="10" y="2"/>
                  </a:cubicBezTo>
                  <a:cubicBezTo>
                    <a:pt x="9" y="5"/>
                    <a:pt x="9" y="5"/>
                    <a:pt x="9" y="5"/>
                  </a:cubicBezTo>
                  <a:cubicBezTo>
                    <a:pt x="9" y="5"/>
                    <a:pt x="5" y="7"/>
                    <a:pt x="3" y="6"/>
                  </a:cubicBezTo>
                  <a:lnTo>
                    <a:pt x="0" y="1"/>
                  </a:lnTo>
                  <a:close/>
                </a:path>
              </a:pathLst>
            </a:custGeom>
            <a:solidFill>
              <a:srgbClr val="DFB28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Rectangle 1611"/>
            <p:cNvSpPr>
              <a:spLocks noChangeArrowheads="1"/>
            </p:cNvSpPr>
            <p:nvPr/>
          </p:nvSpPr>
          <p:spPr bwMode="auto">
            <a:xfrm>
              <a:off x="5951990" y="631166"/>
              <a:ext cx="78812" cy="19702"/>
            </a:xfrm>
            <a:prstGeom prst="rect">
              <a:avLst/>
            </a:prstGeom>
            <a:solidFill>
              <a:srgbClr val="C5CE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3" name="Freeform 1613"/>
            <p:cNvSpPr/>
            <p:nvPr/>
          </p:nvSpPr>
          <p:spPr bwMode="auto">
            <a:xfrm>
              <a:off x="5991395" y="631166"/>
              <a:ext cx="47851" cy="19702"/>
            </a:xfrm>
            <a:custGeom>
              <a:avLst/>
              <a:gdLst>
                <a:gd name="T0" fmla="*/ 0 w 7"/>
                <a:gd name="T1" fmla="*/ 0 h 3"/>
                <a:gd name="T2" fmla="*/ 2 w 7"/>
                <a:gd name="T3" fmla="*/ 3 h 3"/>
                <a:gd name="T4" fmla="*/ 7 w 7"/>
                <a:gd name="T5" fmla="*/ 3 h 3"/>
                <a:gd name="T6" fmla="*/ 7 w 7"/>
                <a:gd name="T7" fmla="*/ 0 h 3"/>
                <a:gd name="T8" fmla="*/ 0 w 7"/>
                <a:gd name="T9" fmla="*/ 0 h 3"/>
              </a:gdLst>
              <a:ahLst/>
              <a:cxnLst>
                <a:cxn ang="0">
                  <a:pos x="T0" y="T1"/>
                </a:cxn>
                <a:cxn ang="0">
                  <a:pos x="T2" y="T3"/>
                </a:cxn>
                <a:cxn ang="0">
                  <a:pos x="T4" y="T5"/>
                </a:cxn>
                <a:cxn ang="0">
                  <a:pos x="T6" y="T7"/>
                </a:cxn>
                <a:cxn ang="0">
                  <a:pos x="T8" y="T9"/>
                </a:cxn>
              </a:cxnLst>
              <a:rect l="0" t="0" r="r" b="b"/>
              <a:pathLst>
                <a:path w="7" h="3">
                  <a:moveTo>
                    <a:pt x="0" y="0"/>
                  </a:moveTo>
                  <a:cubicBezTo>
                    <a:pt x="0" y="0"/>
                    <a:pt x="3" y="2"/>
                    <a:pt x="2" y="3"/>
                  </a:cubicBezTo>
                  <a:cubicBezTo>
                    <a:pt x="7" y="3"/>
                    <a:pt x="7" y="3"/>
                    <a:pt x="7" y="3"/>
                  </a:cubicBezTo>
                  <a:cubicBezTo>
                    <a:pt x="7" y="0"/>
                    <a:pt x="7" y="0"/>
                    <a:pt x="7" y="0"/>
                  </a:cubicBezTo>
                  <a:cubicBezTo>
                    <a:pt x="6" y="0"/>
                    <a:pt x="1" y="0"/>
                    <a:pt x="0" y="0"/>
                  </a:cubicBezTo>
                  <a:close/>
                </a:path>
              </a:pathLst>
            </a:custGeom>
            <a:solidFill>
              <a:srgbClr val="E5EAF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1614"/>
            <p:cNvSpPr/>
            <p:nvPr/>
          </p:nvSpPr>
          <p:spPr bwMode="auto">
            <a:xfrm>
              <a:off x="5985765" y="650870"/>
              <a:ext cx="19704" cy="14073"/>
            </a:xfrm>
            <a:custGeom>
              <a:avLst/>
              <a:gdLst>
                <a:gd name="T0" fmla="*/ 0 w 7"/>
                <a:gd name="T1" fmla="*/ 0 h 5"/>
                <a:gd name="T2" fmla="*/ 7 w 7"/>
                <a:gd name="T3" fmla="*/ 0 h 5"/>
                <a:gd name="T4" fmla="*/ 4 w 7"/>
                <a:gd name="T5" fmla="*/ 5 h 5"/>
                <a:gd name="T6" fmla="*/ 0 w 7"/>
                <a:gd name="T7" fmla="*/ 5 h 5"/>
                <a:gd name="T8" fmla="*/ 0 w 7"/>
                <a:gd name="T9" fmla="*/ 0 h 5"/>
              </a:gdLst>
              <a:ahLst/>
              <a:cxnLst>
                <a:cxn ang="0">
                  <a:pos x="T0" y="T1"/>
                </a:cxn>
                <a:cxn ang="0">
                  <a:pos x="T2" y="T3"/>
                </a:cxn>
                <a:cxn ang="0">
                  <a:pos x="T4" y="T5"/>
                </a:cxn>
                <a:cxn ang="0">
                  <a:pos x="T6" y="T7"/>
                </a:cxn>
                <a:cxn ang="0">
                  <a:pos x="T8" y="T9"/>
                </a:cxn>
              </a:cxnLst>
              <a:rect l="0" t="0" r="r" b="b"/>
              <a:pathLst>
                <a:path w="7" h="5">
                  <a:moveTo>
                    <a:pt x="0" y="0"/>
                  </a:moveTo>
                  <a:lnTo>
                    <a:pt x="7" y="0"/>
                  </a:lnTo>
                  <a:lnTo>
                    <a:pt x="4" y="5"/>
                  </a:lnTo>
                  <a:lnTo>
                    <a:pt x="0" y="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1615"/>
            <p:cNvSpPr/>
            <p:nvPr/>
          </p:nvSpPr>
          <p:spPr bwMode="auto">
            <a:xfrm>
              <a:off x="5977322" y="636795"/>
              <a:ext cx="28147" cy="14073"/>
            </a:xfrm>
            <a:custGeom>
              <a:avLst/>
              <a:gdLst>
                <a:gd name="T0" fmla="*/ 4 w 4"/>
                <a:gd name="T1" fmla="*/ 2 h 2"/>
                <a:gd name="T2" fmla="*/ 4 w 4"/>
                <a:gd name="T3" fmla="*/ 0 h 2"/>
                <a:gd name="T4" fmla="*/ 1 w 4"/>
                <a:gd name="T5" fmla="*/ 0 h 2"/>
                <a:gd name="T6" fmla="*/ 1 w 4"/>
                <a:gd name="T7" fmla="*/ 2 h 2"/>
                <a:gd name="T8" fmla="*/ 4 w 4"/>
                <a:gd name="T9" fmla="*/ 2 h 2"/>
              </a:gdLst>
              <a:ahLst/>
              <a:cxnLst>
                <a:cxn ang="0">
                  <a:pos x="T0" y="T1"/>
                </a:cxn>
                <a:cxn ang="0">
                  <a:pos x="T2" y="T3"/>
                </a:cxn>
                <a:cxn ang="0">
                  <a:pos x="T4" y="T5"/>
                </a:cxn>
                <a:cxn ang="0">
                  <a:pos x="T6" y="T7"/>
                </a:cxn>
                <a:cxn ang="0">
                  <a:pos x="T8" y="T9"/>
                </a:cxn>
              </a:cxnLst>
              <a:rect l="0" t="0" r="r" b="b"/>
              <a:pathLst>
                <a:path w="4" h="2">
                  <a:moveTo>
                    <a:pt x="4" y="2"/>
                  </a:moveTo>
                  <a:cubicBezTo>
                    <a:pt x="4" y="2"/>
                    <a:pt x="4" y="1"/>
                    <a:pt x="4" y="0"/>
                  </a:cubicBezTo>
                  <a:cubicBezTo>
                    <a:pt x="3" y="0"/>
                    <a:pt x="1" y="0"/>
                    <a:pt x="1" y="0"/>
                  </a:cubicBezTo>
                  <a:cubicBezTo>
                    <a:pt x="1" y="1"/>
                    <a:pt x="0" y="2"/>
                    <a:pt x="1" y="2"/>
                  </a:cubicBezTo>
                  <a:cubicBezTo>
                    <a:pt x="1" y="2"/>
                    <a:pt x="4" y="2"/>
                    <a:pt x="4" y="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1616"/>
            <p:cNvSpPr/>
            <p:nvPr/>
          </p:nvSpPr>
          <p:spPr bwMode="auto">
            <a:xfrm>
              <a:off x="5971692" y="664943"/>
              <a:ext cx="39406" cy="132291"/>
            </a:xfrm>
            <a:custGeom>
              <a:avLst/>
              <a:gdLst>
                <a:gd name="T0" fmla="*/ 14 w 14"/>
                <a:gd name="T1" fmla="*/ 47 h 47"/>
                <a:gd name="T2" fmla="*/ 0 w 14"/>
                <a:gd name="T3" fmla="*/ 47 h 47"/>
                <a:gd name="T4" fmla="*/ 5 w 14"/>
                <a:gd name="T5" fmla="*/ 0 h 47"/>
                <a:gd name="T6" fmla="*/ 9 w 14"/>
                <a:gd name="T7" fmla="*/ 0 h 47"/>
                <a:gd name="T8" fmla="*/ 14 w 14"/>
                <a:gd name="T9" fmla="*/ 47 h 47"/>
              </a:gdLst>
              <a:ahLst/>
              <a:cxnLst>
                <a:cxn ang="0">
                  <a:pos x="T0" y="T1"/>
                </a:cxn>
                <a:cxn ang="0">
                  <a:pos x="T2" y="T3"/>
                </a:cxn>
                <a:cxn ang="0">
                  <a:pos x="T4" y="T5"/>
                </a:cxn>
                <a:cxn ang="0">
                  <a:pos x="T6" y="T7"/>
                </a:cxn>
                <a:cxn ang="0">
                  <a:pos x="T8" y="T9"/>
                </a:cxn>
              </a:cxnLst>
              <a:rect l="0" t="0" r="r" b="b"/>
              <a:pathLst>
                <a:path w="14" h="47">
                  <a:moveTo>
                    <a:pt x="14" y="47"/>
                  </a:moveTo>
                  <a:lnTo>
                    <a:pt x="0" y="47"/>
                  </a:lnTo>
                  <a:lnTo>
                    <a:pt x="5" y="0"/>
                  </a:lnTo>
                  <a:lnTo>
                    <a:pt x="9" y="0"/>
                  </a:lnTo>
                  <a:lnTo>
                    <a:pt x="14" y="4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1617"/>
            <p:cNvSpPr/>
            <p:nvPr/>
          </p:nvSpPr>
          <p:spPr bwMode="auto">
            <a:xfrm>
              <a:off x="5971692" y="797235"/>
              <a:ext cx="39406" cy="14073"/>
            </a:xfrm>
            <a:custGeom>
              <a:avLst/>
              <a:gdLst>
                <a:gd name="T0" fmla="*/ 2 w 14"/>
                <a:gd name="T1" fmla="*/ 5 h 5"/>
                <a:gd name="T2" fmla="*/ 0 w 14"/>
                <a:gd name="T3" fmla="*/ 0 h 5"/>
                <a:gd name="T4" fmla="*/ 14 w 14"/>
                <a:gd name="T5" fmla="*/ 0 h 5"/>
                <a:gd name="T6" fmla="*/ 12 w 14"/>
                <a:gd name="T7" fmla="*/ 5 h 5"/>
                <a:gd name="T8" fmla="*/ 2 w 14"/>
                <a:gd name="T9" fmla="*/ 5 h 5"/>
              </a:gdLst>
              <a:ahLst/>
              <a:cxnLst>
                <a:cxn ang="0">
                  <a:pos x="T0" y="T1"/>
                </a:cxn>
                <a:cxn ang="0">
                  <a:pos x="T2" y="T3"/>
                </a:cxn>
                <a:cxn ang="0">
                  <a:pos x="T4" y="T5"/>
                </a:cxn>
                <a:cxn ang="0">
                  <a:pos x="T6" y="T7"/>
                </a:cxn>
                <a:cxn ang="0">
                  <a:pos x="T8" y="T9"/>
                </a:cxn>
              </a:cxnLst>
              <a:rect l="0" t="0" r="r" b="b"/>
              <a:pathLst>
                <a:path w="14" h="5">
                  <a:moveTo>
                    <a:pt x="2" y="5"/>
                  </a:moveTo>
                  <a:lnTo>
                    <a:pt x="0" y="0"/>
                  </a:lnTo>
                  <a:lnTo>
                    <a:pt x="14" y="0"/>
                  </a:lnTo>
                  <a:lnTo>
                    <a:pt x="12" y="5"/>
                  </a:lnTo>
                  <a:lnTo>
                    <a:pt x="2" y="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1618"/>
            <p:cNvSpPr/>
            <p:nvPr/>
          </p:nvSpPr>
          <p:spPr bwMode="auto">
            <a:xfrm>
              <a:off x="6005469" y="636795"/>
              <a:ext cx="5629" cy="14073"/>
            </a:xfrm>
            <a:custGeom>
              <a:avLst/>
              <a:gdLst>
                <a:gd name="T0" fmla="*/ 0 w 1"/>
                <a:gd name="T1" fmla="*/ 2 h 2"/>
                <a:gd name="T2" fmla="*/ 1 w 1"/>
                <a:gd name="T3" fmla="*/ 2 h 2"/>
                <a:gd name="T4" fmla="*/ 0 w 1"/>
                <a:gd name="T5" fmla="*/ 0 h 2"/>
                <a:gd name="T6" fmla="*/ 0 w 1"/>
                <a:gd name="T7" fmla="*/ 0 h 2"/>
                <a:gd name="T8" fmla="*/ 0 w 1"/>
                <a:gd name="T9" fmla="*/ 2 h 2"/>
              </a:gdLst>
              <a:ahLst/>
              <a:cxnLst>
                <a:cxn ang="0">
                  <a:pos x="T0" y="T1"/>
                </a:cxn>
                <a:cxn ang="0">
                  <a:pos x="T2" y="T3"/>
                </a:cxn>
                <a:cxn ang="0">
                  <a:pos x="T4" y="T5"/>
                </a:cxn>
                <a:cxn ang="0">
                  <a:pos x="T6" y="T7"/>
                </a:cxn>
                <a:cxn ang="0">
                  <a:pos x="T8" y="T9"/>
                </a:cxn>
              </a:cxnLst>
              <a:rect l="0" t="0" r="r" b="b"/>
              <a:pathLst>
                <a:path w="1" h="2">
                  <a:moveTo>
                    <a:pt x="0" y="2"/>
                  </a:moveTo>
                  <a:cubicBezTo>
                    <a:pt x="1" y="2"/>
                    <a:pt x="1" y="2"/>
                    <a:pt x="1" y="2"/>
                  </a:cubicBezTo>
                  <a:cubicBezTo>
                    <a:pt x="1" y="2"/>
                    <a:pt x="1" y="1"/>
                    <a:pt x="0" y="0"/>
                  </a:cubicBezTo>
                  <a:cubicBezTo>
                    <a:pt x="0" y="0"/>
                    <a:pt x="0" y="0"/>
                    <a:pt x="0" y="0"/>
                  </a:cubicBez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1619"/>
            <p:cNvSpPr/>
            <p:nvPr/>
          </p:nvSpPr>
          <p:spPr bwMode="auto">
            <a:xfrm>
              <a:off x="5977322" y="636795"/>
              <a:ext cx="8445" cy="14073"/>
            </a:xfrm>
            <a:custGeom>
              <a:avLst/>
              <a:gdLst>
                <a:gd name="T0" fmla="*/ 0 w 1"/>
                <a:gd name="T1" fmla="*/ 2 h 2"/>
                <a:gd name="T2" fmla="*/ 0 w 1"/>
                <a:gd name="T3" fmla="*/ 2 h 2"/>
                <a:gd name="T4" fmla="*/ 1 w 1"/>
                <a:gd name="T5" fmla="*/ 0 h 2"/>
                <a:gd name="T6" fmla="*/ 1 w 1"/>
                <a:gd name="T7" fmla="*/ 0 h 2"/>
                <a:gd name="T8" fmla="*/ 0 w 1"/>
                <a:gd name="T9" fmla="*/ 2 h 2"/>
              </a:gdLst>
              <a:ahLst/>
              <a:cxnLst>
                <a:cxn ang="0">
                  <a:pos x="T0" y="T1"/>
                </a:cxn>
                <a:cxn ang="0">
                  <a:pos x="T2" y="T3"/>
                </a:cxn>
                <a:cxn ang="0">
                  <a:pos x="T4" y="T5"/>
                </a:cxn>
                <a:cxn ang="0">
                  <a:pos x="T6" y="T7"/>
                </a:cxn>
                <a:cxn ang="0">
                  <a:pos x="T8" y="T9"/>
                </a:cxn>
              </a:cxnLst>
              <a:rect l="0" t="0" r="r" b="b"/>
              <a:pathLst>
                <a:path w="1" h="2">
                  <a:moveTo>
                    <a:pt x="0" y="2"/>
                  </a:moveTo>
                  <a:cubicBezTo>
                    <a:pt x="0" y="2"/>
                    <a:pt x="0" y="2"/>
                    <a:pt x="0" y="2"/>
                  </a:cubicBezTo>
                  <a:cubicBezTo>
                    <a:pt x="0" y="2"/>
                    <a:pt x="0" y="1"/>
                    <a:pt x="1" y="0"/>
                  </a:cubicBezTo>
                  <a:cubicBezTo>
                    <a:pt x="1" y="0"/>
                    <a:pt x="1" y="0"/>
                    <a:pt x="1" y="0"/>
                  </a:cubicBez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1620"/>
            <p:cNvSpPr/>
            <p:nvPr/>
          </p:nvSpPr>
          <p:spPr bwMode="auto">
            <a:xfrm>
              <a:off x="5943545" y="631166"/>
              <a:ext cx="47851" cy="19702"/>
            </a:xfrm>
            <a:custGeom>
              <a:avLst/>
              <a:gdLst>
                <a:gd name="T0" fmla="*/ 7 w 7"/>
                <a:gd name="T1" fmla="*/ 0 h 3"/>
                <a:gd name="T2" fmla="*/ 5 w 7"/>
                <a:gd name="T3" fmla="*/ 3 h 3"/>
                <a:gd name="T4" fmla="*/ 1 w 7"/>
                <a:gd name="T5" fmla="*/ 3 h 3"/>
                <a:gd name="T6" fmla="*/ 1 w 7"/>
                <a:gd name="T7" fmla="*/ 0 h 3"/>
                <a:gd name="T8" fmla="*/ 7 w 7"/>
                <a:gd name="T9" fmla="*/ 0 h 3"/>
              </a:gdLst>
              <a:ahLst/>
              <a:cxnLst>
                <a:cxn ang="0">
                  <a:pos x="T0" y="T1"/>
                </a:cxn>
                <a:cxn ang="0">
                  <a:pos x="T2" y="T3"/>
                </a:cxn>
                <a:cxn ang="0">
                  <a:pos x="T4" y="T5"/>
                </a:cxn>
                <a:cxn ang="0">
                  <a:pos x="T6" y="T7"/>
                </a:cxn>
                <a:cxn ang="0">
                  <a:pos x="T8" y="T9"/>
                </a:cxn>
              </a:cxnLst>
              <a:rect l="0" t="0" r="r" b="b"/>
              <a:pathLst>
                <a:path w="7" h="3">
                  <a:moveTo>
                    <a:pt x="7" y="0"/>
                  </a:moveTo>
                  <a:cubicBezTo>
                    <a:pt x="7" y="0"/>
                    <a:pt x="5" y="1"/>
                    <a:pt x="5" y="3"/>
                  </a:cubicBezTo>
                  <a:cubicBezTo>
                    <a:pt x="1" y="3"/>
                    <a:pt x="1" y="3"/>
                    <a:pt x="1" y="3"/>
                  </a:cubicBezTo>
                  <a:cubicBezTo>
                    <a:pt x="1" y="3"/>
                    <a:pt x="0" y="1"/>
                    <a:pt x="1" y="0"/>
                  </a:cubicBezTo>
                  <a:cubicBezTo>
                    <a:pt x="1" y="0"/>
                    <a:pt x="6" y="0"/>
                    <a:pt x="7" y="0"/>
                  </a:cubicBezTo>
                  <a:close/>
                </a:path>
              </a:pathLst>
            </a:custGeom>
            <a:solidFill>
              <a:srgbClr val="E5EAF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1621"/>
            <p:cNvSpPr/>
            <p:nvPr/>
          </p:nvSpPr>
          <p:spPr bwMode="auto">
            <a:xfrm>
              <a:off x="6118058" y="783161"/>
              <a:ext cx="39406" cy="126662"/>
            </a:xfrm>
            <a:custGeom>
              <a:avLst/>
              <a:gdLst>
                <a:gd name="T0" fmla="*/ 6 w 6"/>
                <a:gd name="T1" fmla="*/ 0 h 19"/>
                <a:gd name="T2" fmla="*/ 4 w 6"/>
                <a:gd name="T3" fmla="*/ 17 h 19"/>
                <a:gd name="T4" fmla="*/ 1 w 6"/>
                <a:gd name="T5" fmla="*/ 11 h 19"/>
                <a:gd name="T6" fmla="*/ 3 w 6"/>
                <a:gd name="T7" fmla="*/ 15 h 19"/>
                <a:gd name="T8" fmla="*/ 4 w 6"/>
                <a:gd name="T9" fmla="*/ 5 h 19"/>
                <a:gd name="T10" fmla="*/ 6 w 6"/>
                <a:gd name="T11" fmla="*/ 0 h 19"/>
              </a:gdLst>
              <a:ahLst/>
              <a:cxnLst>
                <a:cxn ang="0">
                  <a:pos x="T0" y="T1"/>
                </a:cxn>
                <a:cxn ang="0">
                  <a:pos x="T2" y="T3"/>
                </a:cxn>
                <a:cxn ang="0">
                  <a:pos x="T4" y="T5"/>
                </a:cxn>
                <a:cxn ang="0">
                  <a:pos x="T6" y="T7"/>
                </a:cxn>
                <a:cxn ang="0">
                  <a:pos x="T8" y="T9"/>
                </a:cxn>
                <a:cxn ang="0">
                  <a:pos x="T10" y="T11"/>
                </a:cxn>
              </a:cxnLst>
              <a:rect l="0" t="0" r="r" b="b"/>
              <a:pathLst>
                <a:path w="6" h="19">
                  <a:moveTo>
                    <a:pt x="6" y="0"/>
                  </a:moveTo>
                  <a:cubicBezTo>
                    <a:pt x="6" y="0"/>
                    <a:pt x="5" y="16"/>
                    <a:pt x="4" y="17"/>
                  </a:cubicBezTo>
                  <a:cubicBezTo>
                    <a:pt x="2" y="18"/>
                    <a:pt x="3" y="13"/>
                    <a:pt x="1" y="11"/>
                  </a:cubicBezTo>
                  <a:cubicBezTo>
                    <a:pt x="0" y="8"/>
                    <a:pt x="2" y="11"/>
                    <a:pt x="3" y="15"/>
                  </a:cubicBezTo>
                  <a:cubicBezTo>
                    <a:pt x="3" y="19"/>
                    <a:pt x="4" y="11"/>
                    <a:pt x="4" y="5"/>
                  </a:cubicBezTo>
                  <a:cubicBezTo>
                    <a:pt x="3" y="0"/>
                    <a:pt x="5" y="12"/>
                    <a:pt x="6" y="0"/>
                  </a:cubicBezTo>
                  <a:close/>
                </a:path>
              </a:pathLst>
            </a:custGeom>
            <a:solidFill>
              <a:srgbClr val="1C1C1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1622"/>
            <p:cNvSpPr/>
            <p:nvPr/>
          </p:nvSpPr>
          <p:spPr bwMode="auto">
            <a:xfrm>
              <a:off x="5811252" y="791606"/>
              <a:ext cx="39406" cy="118218"/>
            </a:xfrm>
            <a:custGeom>
              <a:avLst/>
              <a:gdLst>
                <a:gd name="T0" fmla="*/ 0 w 6"/>
                <a:gd name="T1" fmla="*/ 0 h 18"/>
                <a:gd name="T2" fmla="*/ 2 w 6"/>
                <a:gd name="T3" fmla="*/ 16 h 18"/>
                <a:gd name="T4" fmla="*/ 5 w 6"/>
                <a:gd name="T5" fmla="*/ 10 h 18"/>
                <a:gd name="T6" fmla="*/ 3 w 6"/>
                <a:gd name="T7" fmla="*/ 14 h 18"/>
                <a:gd name="T8" fmla="*/ 2 w 6"/>
                <a:gd name="T9" fmla="*/ 5 h 18"/>
                <a:gd name="T10" fmla="*/ 0 w 6"/>
                <a:gd name="T11" fmla="*/ 0 h 18"/>
              </a:gdLst>
              <a:ahLst/>
              <a:cxnLst>
                <a:cxn ang="0">
                  <a:pos x="T0" y="T1"/>
                </a:cxn>
                <a:cxn ang="0">
                  <a:pos x="T2" y="T3"/>
                </a:cxn>
                <a:cxn ang="0">
                  <a:pos x="T4" y="T5"/>
                </a:cxn>
                <a:cxn ang="0">
                  <a:pos x="T6" y="T7"/>
                </a:cxn>
                <a:cxn ang="0">
                  <a:pos x="T8" y="T9"/>
                </a:cxn>
                <a:cxn ang="0">
                  <a:pos x="T10" y="T11"/>
                </a:cxn>
              </a:cxnLst>
              <a:rect l="0" t="0" r="r" b="b"/>
              <a:pathLst>
                <a:path w="6" h="18">
                  <a:moveTo>
                    <a:pt x="0" y="0"/>
                  </a:moveTo>
                  <a:cubicBezTo>
                    <a:pt x="0" y="0"/>
                    <a:pt x="1" y="15"/>
                    <a:pt x="2" y="16"/>
                  </a:cubicBezTo>
                  <a:cubicBezTo>
                    <a:pt x="4" y="17"/>
                    <a:pt x="3" y="13"/>
                    <a:pt x="5" y="10"/>
                  </a:cubicBezTo>
                  <a:cubicBezTo>
                    <a:pt x="6" y="8"/>
                    <a:pt x="4" y="10"/>
                    <a:pt x="3" y="14"/>
                  </a:cubicBezTo>
                  <a:cubicBezTo>
                    <a:pt x="3" y="18"/>
                    <a:pt x="2" y="10"/>
                    <a:pt x="2" y="5"/>
                  </a:cubicBezTo>
                  <a:cubicBezTo>
                    <a:pt x="3" y="0"/>
                    <a:pt x="1" y="11"/>
                    <a:pt x="0" y="0"/>
                  </a:cubicBezTo>
                  <a:close/>
                </a:path>
              </a:pathLst>
            </a:custGeom>
            <a:solidFill>
              <a:srgbClr val="1C1C1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1623"/>
            <p:cNvSpPr/>
            <p:nvPr/>
          </p:nvSpPr>
          <p:spPr bwMode="auto">
            <a:xfrm>
              <a:off x="5971692" y="757829"/>
              <a:ext cx="39406" cy="14073"/>
            </a:xfrm>
            <a:custGeom>
              <a:avLst/>
              <a:gdLst>
                <a:gd name="T0" fmla="*/ 0 w 14"/>
                <a:gd name="T1" fmla="*/ 5 h 5"/>
                <a:gd name="T2" fmla="*/ 14 w 14"/>
                <a:gd name="T3" fmla="*/ 0 h 5"/>
                <a:gd name="T4" fmla="*/ 14 w 14"/>
                <a:gd name="T5" fmla="*/ 0 h 5"/>
                <a:gd name="T6" fmla="*/ 0 w 14"/>
                <a:gd name="T7" fmla="*/ 5 h 5"/>
                <a:gd name="T8" fmla="*/ 0 w 14"/>
                <a:gd name="T9" fmla="*/ 5 h 5"/>
              </a:gdLst>
              <a:ahLst/>
              <a:cxnLst>
                <a:cxn ang="0">
                  <a:pos x="T0" y="T1"/>
                </a:cxn>
                <a:cxn ang="0">
                  <a:pos x="T2" y="T3"/>
                </a:cxn>
                <a:cxn ang="0">
                  <a:pos x="T4" y="T5"/>
                </a:cxn>
                <a:cxn ang="0">
                  <a:pos x="T6" y="T7"/>
                </a:cxn>
                <a:cxn ang="0">
                  <a:pos x="T8" y="T9"/>
                </a:cxn>
              </a:cxnLst>
              <a:rect l="0" t="0" r="r" b="b"/>
              <a:pathLst>
                <a:path w="14" h="5">
                  <a:moveTo>
                    <a:pt x="0" y="5"/>
                  </a:moveTo>
                  <a:lnTo>
                    <a:pt x="14" y="0"/>
                  </a:lnTo>
                  <a:lnTo>
                    <a:pt x="14" y="0"/>
                  </a:lnTo>
                  <a:lnTo>
                    <a:pt x="0" y="5"/>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1624"/>
            <p:cNvSpPr/>
            <p:nvPr/>
          </p:nvSpPr>
          <p:spPr bwMode="auto">
            <a:xfrm>
              <a:off x="5971692" y="757829"/>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1625"/>
            <p:cNvSpPr/>
            <p:nvPr/>
          </p:nvSpPr>
          <p:spPr bwMode="auto">
            <a:xfrm>
              <a:off x="5971692" y="763459"/>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1626"/>
            <p:cNvSpPr/>
            <p:nvPr/>
          </p:nvSpPr>
          <p:spPr bwMode="auto">
            <a:xfrm>
              <a:off x="5971692" y="771902"/>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1627"/>
            <p:cNvSpPr/>
            <p:nvPr/>
          </p:nvSpPr>
          <p:spPr bwMode="auto">
            <a:xfrm>
              <a:off x="5971692" y="777531"/>
              <a:ext cx="39406" cy="14073"/>
            </a:xfrm>
            <a:custGeom>
              <a:avLst/>
              <a:gdLst>
                <a:gd name="T0" fmla="*/ 0 w 14"/>
                <a:gd name="T1" fmla="*/ 5 h 5"/>
                <a:gd name="T2" fmla="*/ 14 w 14"/>
                <a:gd name="T3" fmla="*/ 0 h 5"/>
                <a:gd name="T4" fmla="*/ 14 w 14"/>
                <a:gd name="T5" fmla="*/ 0 h 5"/>
                <a:gd name="T6" fmla="*/ 0 w 14"/>
                <a:gd name="T7" fmla="*/ 5 h 5"/>
                <a:gd name="T8" fmla="*/ 0 w 14"/>
                <a:gd name="T9" fmla="*/ 5 h 5"/>
              </a:gdLst>
              <a:ahLst/>
              <a:cxnLst>
                <a:cxn ang="0">
                  <a:pos x="T0" y="T1"/>
                </a:cxn>
                <a:cxn ang="0">
                  <a:pos x="T2" y="T3"/>
                </a:cxn>
                <a:cxn ang="0">
                  <a:pos x="T4" y="T5"/>
                </a:cxn>
                <a:cxn ang="0">
                  <a:pos x="T6" y="T7"/>
                </a:cxn>
                <a:cxn ang="0">
                  <a:pos x="T8" y="T9"/>
                </a:cxn>
              </a:cxnLst>
              <a:rect l="0" t="0" r="r" b="b"/>
              <a:pathLst>
                <a:path w="14" h="5">
                  <a:moveTo>
                    <a:pt x="0" y="5"/>
                  </a:moveTo>
                  <a:lnTo>
                    <a:pt x="14" y="0"/>
                  </a:lnTo>
                  <a:lnTo>
                    <a:pt x="14" y="0"/>
                  </a:lnTo>
                  <a:lnTo>
                    <a:pt x="0" y="5"/>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1628"/>
            <p:cNvSpPr/>
            <p:nvPr/>
          </p:nvSpPr>
          <p:spPr bwMode="auto">
            <a:xfrm>
              <a:off x="5971692" y="777531"/>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1629"/>
            <p:cNvSpPr/>
            <p:nvPr/>
          </p:nvSpPr>
          <p:spPr bwMode="auto">
            <a:xfrm>
              <a:off x="5971692" y="783161"/>
              <a:ext cx="39406" cy="22518"/>
            </a:xfrm>
            <a:custGeom>
              <a:avLst/>
              <a:gdLst>
                <a:gd name="T0" fmla="*/ 0 w 14"/>
                <a:gd name="T1" fmla="*/ 5 h 8"/>
                <a:gd name="T2" fmla="*/ 14 w 14"/>
                <a:gd name="T3" fmla="*/ 0 h 8"/>
                <a:gd name="T4" fmla="*/ 14 w 14"/>
                <a:gd name="T5" fmla="*/ 0 h 8"/>
                <a:gd name="T6" fmla="*/ 0 w 14"/>
                <a:gd name="T7" fmla="*/ 8 h 8"/>
                <a:gd name="T8" fmla="*/ 0 w 14"/>
                <a:gd name="T9" fmla="*/ 5 h 8"/>
              </a:gdLst>
              <a:ahLst/>
              <a:cxnLst>
                <a:cxn ang="0">
                  <a:pos x="T0" y="T1"/>
                </a:cxn>
                <a:cxn ang="0">
                  <a:pos x="T2" y="T3"/>
                </a:cxn>
                <a:cxn ang="0">
                  <a:pos x="T4" y="T5"/>
                </a:cxn>
                <a:cxn ang="0">
                  <a:pos x="T6" y="T7"/>
                </a:cxn>
                <a:cxn ang="0">
                  <a:pos x="T8" y="T9"/>
                </a:cxn>
              </a:cxnLst>
              <a:rect l="0" t="0" r="r" b="b"/>
              <a:pathLst>
                <a:path w="14" h="8">
                  <a:moveTo>
                    <a:pt x="0" y="5"/>
                  </a:moveTo>
                  <a:lnTo>
                    <a:pt x="14" y="0"/>
                  </a:lnTo>
                  <a:lnTo>
                    <a:pt x="14" y="0"/>
                  </a:lnTo>
                  <a:lnTo>
                    <a:pt x="0" y="8"/>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1630"/>
            <p:cNvSpPr/>
            <p:nvPr/>
          </p:nvSpPr>
          <p:spPr bwMode="auto">
            <a:xfrm>
              <a:off x="5971692" y="791606"/>
              <a:ext cx="39406" cy="19702"/>
            </a:xfrm>
            <a:custGeom>
              <a:avLst/>
              <a:gdLst>
                <a:gd name="T0" fmla="*/ 0 w 14"/>
                <a:gd name="T1" fmla="*/ 5 h 7"/>
                <a:gd name="T2" fmla="*/ 14 w 14"/>
                <a:gd name="T3" fmla="*/ 0 h 7"/>
                <a:gd name="T4" fmla="*/ 14 w 14"/>
                <a:gd name="T5" fmla="*/ 0 h 7"/>
                <a:gd name="T6" fmla="*/ 0 w 14"/>
                <a:gd name="T7" fmla="*/ 7 h 7"/>
                <a:gd name="T8" fmla="*/ 0 w 14"/>
                <a:gd name="T9" fmla="*/ 5 h 7"/>
              </a:gdLst>
              <a:ahLst/>
              <a:cxnLst>
                <a:cxn ang="0">
                  <a:pos x="T0" y="T1"/>
                </a:cxn>
                <a:cxn ang="0">
                  <a:pos x="T2" y="T3"/>
                </a:cxn>
                <a:cxn ang="0">
                  <a:pos x="T4" y="T5"/>
                </a:cxn>
                <a:cxn ang="0">
                  <a:pos x="T6" y="T7"/>
                </a:cxn>
                <a:cxn ang="0">
                  <a:pos x="T8" y="T9"/>
                </a:cxn>
              </a:cxnLst>
              <a:rect l="0" t="0" r="r" b="b"/>
              <a:pathLst>
                <a:path w="14" h="7">
                  <a:moveTo>
                    <a:pt x="0" y="5"/>
                  </a:moveTo>
                  <a:lnTo>
                    <a:pt x="14" y="0"/>
                  </a:lnTo>
                  <a:lnTo>
                    <a:pt x="14" y="0"/>
                  </a:lnTo>
                  <a:lnTo>
                    <a:pt x="0" y="7"/>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1631"/>
            <p:cNvSpPr/>
            <p:nvPr/>
          </p:nvSpPr>
          <p:spPr bwMode="auto">
            <a:xfrm>
              <a:off x="5971692" y="791606"/>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1632"/>
            <p:cNvSpPr/>
            <p:nvPr/>
          </p:nvSpPr>
          <p:spPr bwMode="auto">
            <a:xfrm>
              <a:off x="5971692" y="797235"/>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1633"/>
            <p:cNvSpPr/>
            <p:nvPr/>
          </p:nvSpPr>
          <p:spPr bwMode="auto">
            <a:xfrm>
              <a:off x="5971692" y="805679"/>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1634"/>
            <p:cNvSpPr/>
            <p:nvPr/>
          </p:nvSpPr>
          <p:spPr bwMode="auto">
            <a:xfrm>
              <a:off x="5971692" y="805679"/>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1635"/>
            <p:cNvSpPr/>
            <p:nvPr/>
          </p:nvSpPr>
          <p:spPr bwMode="auto">
            <a:xfrm>
              <a:off x="5971692" y="811308"/>
              <a:ext cx="39406" cy="19702"/>
            </a:xfrm>
            <a:custGeom>
              <a:avLst/>
              <a:gdLst>
                <a:gd name="T0" fmla="*/ 0 w 14"/>
                <a:gd name="T1" fmla="*/ 5 h 7"/>
                <a:gd name="T2" fmla="*/ 14 w 14"/>
                <a:gd name="T3" fmla="*/ 0 h 7"/>
                <a:gd name="T4" fmla="*/ 14 w 14"/>
                <a:gd name="T5" fmla="*/ 0 h 7"/>
                <a:gd name="T6" fmla="*/ 0 w 14"/>
                <a:gd name="T7" fmla="*/ 7 h 7"/>
                <a:gd name="T8" fmla="*/ 0 w 14"/>
                <a:gd name="T9" fmla="*/ 5 h 7"/>
              </a:gdLst>
              <a:ahLst/>
              <a:cxnLst>
                <a:cxn ang="0">
                  <a:pos x="T0" y="T1"/>
                </a:cxn>
                <a:cxn ang="0">
                  <a:pos x="T2" y="T3"/>
                </a:cxn>
                <a:cxn ang="0">
                  <a:pos x="T4" y="T5"/>
                </a:cxn>
                <a:cxn ang="0">
                  <a:pos x="T6" y="T7"/>
                </a:cxn>
                <a:cxn ang="0">
                  <a:pos x="T8" y="T9"/>
                </a:cxn>
              </a:cxnLst>
              <a:rect l="0" t="0" r="r" b="b"/>
              <a:pathLst>
                <a:path w="14" h="7">
                  <a:moveTo>
                    <a:pt x="0" y="5"/>
                  </a:moveTo>
                  <a:lnTo>
                    <a:pt x="14" y="0"/>
                  </a:lnTo>
                  <a:lnTo>
                    <a:pt x="14" y="0"/>
                  </a:lnTo>
                  <a:lnTo>
                    <a:pt x="0" y="7"/>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1636"/>
            <p:cNvSpPr/>
            <p:nvPr/>
          </p:nvSpPr>
          <p:spPr bwMode="auto">
            <a:xfrm>
              <a:off x="5971692" y="709978"/>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1637"/>
            <p:cNvSpPr/>
            <p:nvPr/>
          </p:nvSpPr>
          <p:spPr bwMode="auto">
            <a:xfrm>
              <a:off x="5971692" y="718423"/>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2" name="Freeform 1638"/>
            <p:cNvSpPr/>
            <p:nvPr/>
          </p:nvSpPr>
          <p:spPr bwMode="auto">
            <a:xfrm>
              <a:off x="5971692" y="724053"/>
              <a:ext cx="39406" cy="14073"/>
            </a:xfrm>
            <a:custGeom>
              <a:avLst/>
              <a:gdLst>
                <a:gd name="T0" fmla="*/ 0 w 14"/>
                <a:gd name="T1" fmla="*/ 5 h 5"/>
                <a:gd name="T2" fmla="*/ 14 w 14"/>
                <a:gd name="T3" fmla="*/ 0 h 5"/>
                <a:gd name="T4" fmla="*/ 14 w 14"/>
                <a:gd name="T5" fmla="*/ 0 h 5"/>
                <a:gd name="T6" fmla="*/ 0 w 14"/>
                <a:gd name="T7" fmla="*/ 5 h 5"/>
                <a:gd name="T8" fmla="*/ 0 w 14"/>
                <a:gd name="T9" fmla="*/ 5 h 5"/>
              </a:gdLst>
              <a:ahLst/>
              <a:cxnLst>
                <a:cxn ang="0">
                  <a:pos x="T0" y="T1"/>
                </a:cxn>
                <a:cxn ang="0">
                  <a:pos x="T2" y="T3"/>
                </a:cxn>
                <a:cxn ang="0">
                  <a:pos x="T4" y="T5"/>
                </a:cxn>
                <a:cxn ang="0">
                  <a:pos x="T6" y="T7"/>
                </a:cxn>
                <a:cxn ang="0">
                  <a:pos x="T8" y="T9"/>
                </a:cxn>
              </a:cxnLst>
              <a:rect l="0" t="0" r="r" b="b"/>
              <a:pathLst>
                <a:path w="14" h="5">
                  <a:moveTo>
                    <a:pt x="0" y="5"/>
                  </a:moveTo>
                  <a:lnTo>
                    <a:pt x="14" y="0"/>
                  </a:lnTo>
                  <a:lnTo>
                    <a:pt x="14" y="0"/>
                  </a:lnTo>
                  <a:lnTo>
                    <a:pt x="0" y="5"/>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3" name="Freeform 1639"/>
            <p:cNvSpPr/>
            <p:nvPr/>
          </p:nvSpPr>
          <p:spPr bwMode="auto">
            <a:xfrm>
              <a:off x="5971692" y="724053"/>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1640"/>
            <p:cNvSpPr/>
            <p:nvPr/>
          </p:nvSpPr>
          <p:spPr bwMode="auto">
            <a:xfrm>
              <a:off x="5971692" y="729682"/>
              <a:ext cx="39406" cy="22518"/>
            </a:xfrm>
            <a:custGeom>
              <a:avLst/>
              <a:gdLst>
                <a:gd name="T0" fmla="*/ 0 w 14"/>
                <a:gd name="T1" fmla="*/ 5 h 8"/>
                <a:gd name="T2" fmla="*/ 14 w 14"/>
                <a:gd name="T3" fmla="*/ 0 h 8"/>
                <a:gd name="T4" fmla="*/ 14 w 14"/>
                <a:gd name="T5" fmla="*/ 0 h 8"/>
                <a:gd name="T6" fmla="*/ 0 w 14"/>
                <a:gd name="T7" fmla="*/ 8 h 8"/>
                <a:gd name="T8" fmla="*/ 0 w 14"/>
                <a:gd name="T9" fmla="*/ 5 h 8"/>
              </a:gdLst>
              <a:ahLst/>
              <a:cxnLst>
                <a:cxn ang="0">
                  <a:pos x="T0" y="T1"/>
                </a:cxn>
                <a:cxn ang="0">
                  <a:pos x="T2" y="T3"/>
                </a:cxn>
                <a:cxn ang="0">
                  <a:pos x="T4" y="T5"/>
                </a:cxn>
                <a:cxn ang="0">
                  <a:pos x="T6" y="T7"/>
                </a:cxn>
                <a:cxn ang="0">
                  <a:pos x="T8" y="T9"/>
                </a:cxn>
              </a:cxnLst>
              <a:rect l="0" t="0" r="r" b="b"/>
              <a:pathLst>
                <a:path w="14" h="8">
                  <a:moveTo>
                    <a:pt x="0" y="5"/>
                  </a:moveTo>
                  <a:lnTo>
                    <a:pt x="14" y="0"/>
                  </a:lnTo>
                  <a:lnTo>
                    <a:pt x="14" y="0"/>
                  </a:lnTo>
                  <a:lnTo>
                    <a:pt x="0" y="8"/>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1641"/>
            <p:cNvSpPr/>
            <p:nvPr/>
          </p:nvSpPr>
          <p:spPr bwMode="auto">
            <a:xfrm>
              <a:off x="5971692" y="738125"/>
              <a:ext cx="39406" cy="19702"/>
            </a:xfrm>
            <a:custGeom>
              <a:avLst/>
              <a:gdLst>
                <a:gd name="T0" fmla="*/ 0 w 14"/>
                <a:gd name="T1" fmla="*/ 5 h 7"/>
                <a:gd name="T2" fmla="*/ 14 w 14"/>
                <a:gd name="T3" fmla="*/ 0 h 7"/>
                <a:gd name="T4" fmla="*/ 14 w 14"/>
                <a:gd name="T5" fmla="*/ 0 h 7"/>
                <a:gd name="T6" fmla="*/ 0 w 14"/>
                <a:gd name="T7" fmla="*/ 7 h 7"/>
                <a:gd name="T8" fmla="*/ 0 w 14"/>
                <a:gd name="T9" fmla="*/ 5 h 7"/>
              </a:gdLst>
              <a:ahLst/>
              <a:cxnLst>
                <a:cxn ang="0">
                  <a:pos x="T0" y="T1"/>
                </a:cxn>
                <a:cxn ang="0">
                  <a:pos x="T2" y="T3"/>
                </a:cxn>
                <a:cxn ang="0">
                  <a:pos x="T4" y="T5"/>
                </a:cxn>
                <a:cxn ang="0">
                  <a:pos x="T6" y="T7"/>
                </a:cxn>
                <a:cxn ang="0">
                  <a:pos x="T8" y="T9"/>
                </a:cxn>
              </a:cxnLst>
              <a:rect l="0" t="0" r="r" b="b"/>
              <a:pathLst>
                <a:path w="14" h="7">
                  <a:moveTo>
                    <a:pt x="0" y="5"/>
                  </a:moveTo>
                  <a:lnTo>
                    <a:pt x="14" y="0"/>
                  </a:lnTo>
                  <a:lnTo>
                    <a:pt x="14" y="0"/>
                  </a:lnTo>
                  <a:lnTo>
                    <a:pt x="0" y="7"/>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1642"/>
            <p:cNvSpPr/>
            <p:nvPr/>
          </p:nvSpPr>
          <p:spPr bwMode="auto">
            <a:xfrm>
              <a:off x="5971692" y="738125"/>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1643"/>
            <p:cNvSpPr/>
            <p:nvPr/>
          </p:nvSpPr>
          <p:spPr bwMode="auto">
            <a:xfrm>
              <a:off x="5971692" y="743755"/>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1644"/>
            <p:cNvSpPr/>
            <p:nvPr/>
          </p:nvSpPr>
          <p:spPr bwMode="auto">
            <a:xfrm>
              <a:off x="5971692" y="752200"/>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1645"/>
            <p:cNvSpPr/>
            <p:nvPr/>
          </p:nvSpPr>
          <p:spPr bwMode="auto">
            <a:xfrm>
              <a:off x="5971692" y="670572"/>
              <a:ext cx="39406" cy="14073"/>
            </a:xfrm>
            <a:custGeom>
              <a:avLst/>
              <a:gdLst>
                <a:gd name="T0" fmla="*/ 0 w 14"/>
                <a:gd name="T1" fmla="*/ 5 h 5"/>
                <a:gd name="T2" fmla="*/ 14 w 14"/>
                <a:gd name="T3" fmla="*/ 0 h 5"/>
                <a:gd name="T4" fmla="*/ 14 w 14"/>
                <a:gd name="T5" fmla="*/ 0 h 5"/>
                <a:gd name="T6" fmla="*/ 0 w 14"/>
                <a:gd name="T7" fmla="*/ 5 h 5"/>
                <a:gd name="T8" fmla="*/ 0 w 14"/>
                <a:gd name="T9" fmla="*/ 5 h 5"/>
              </a:gdLst>
              <a:ahLst/>
              <a:cxnLst>
                <a:cxn ang="0">
                  <a:pos x="T0" y="T1"/>
                </a:cxn>
                <a:cxn ang="0">
                  <a:pos x="T2" y="T3"/>
                </a:cxn>
                <a:cxn ang="0">
                  <a:pos x="T4" y="T5"/>
                </a:cxn>
                <a:cxn ang="0">
                  <a:pos x="T6" y="T7"/>
                </a:cxn>
                <a:cxn ang="0">
                  <a:pos x="T8" y="T9"/>
                </a:cxn>
              </a:cxnLst>
              <a:rect l="0" t="0" r="r" b="b"/>
              <a:pathLst>
                <a:path w="14" h="5">
                  <a:moveTo>
                    <a:pt x="0" y="5"/>
                  </a:moveTo>
                  <a:lnTo>
                    <a:pt x="14" y="0"/>
                  </a:lnTo>
                  <a:lnTo>
                    <a:pt x="14" y="0"/>
                  </a:lnTo>
                  <a:lnTo>
                    <a:pt x="0" y="5"/>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1646"/>
            <p:cNvSpPr/>
            <p:nvPr/>
          </p:nvSpPr>
          <p:spPr bwMode="auto">
            <a:xfrm>
              <a:off x="5971692" y="670572"/>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1647"/>
            <p:cNvSpPr/>
            <p:nvPr/>
          </p:nvSpPr>
          <p:spPr bwMode="auto">
            <a:xfrm>
              <a:off x="5971692" y="676201"/>
              <a:ext cx="39406" cy="22518"/>
            </a:xfrm>
            <a:custGeom>
              <a:avLst/>
              <a:gdLst>
                <a:gd name="T0" fmla="*/ 0 w 14"/>
                <a:gd name="T1" fmla="*/ 5 h 8"/>
                <a:gd name="T2" fmla="*/ 14 w 14"/>
                <a:gd name="T3" fmla="*/ 0 h 8"/>
                <a:gd name="T4" fmla="*/ 14 w 14"/>
                <a:gd name="T5" fmla="*/ 0 h 8"/>
                <a:gd name="T6" fmla="*/ 0 w 14"/>
                <a:gd name="T7" fmla="*/ 8 h 8"/>
                <a:gd name="T8" fmla="*/ 0 w 14"/>
                <a:gd name="T9" fmla="*/ 5 h 8"/>
              </a:gdLst>
              <a:ahLst/>
              <a:cxnLst>
                <a:cxn ang="0">
                  <a:pos x="T0" y="T1"/>
                </a:cxn>
                <a:cxn ang="0">
                  <a:pos x="T2" y="T3"/>
                </a:cxn>
                <a:cxn ang="0">
                  <a:pos x="T4" y="T5"/>
                </a:cxn>
                <a:cxn ang="0">
                  <a:pos x="T6" y="T7"/>
                </a:cxn>
                <a:cxn ang="0">
                  <a:pos x="T8" y="T9"/>
                </a:cxn>
              </a:cxnLst>
              <a:rect l="0" t="0" r="r" b="b"/>
              <a:pathLst>
                <a:path w="14" h="8">
                  <a:moveTo>
                    <a:pt x="0" y="5"/>
                  </a:moveTo>
                  <a:lnTo>
                    <a:pt x="14" y="0"/>
                  </a:lnTo>
                  <a:lnTo>
                    <a:pt x="14" y="0"/>
                  </a:lnTo>
                  <a:lnTo>
                    <a:pt x="0" y="8"/>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1648"/>
            <p:cNvSpPr/>
            <p:nvPr/>
          </p:nvSpPr>
          <p:spPr bwMode="auto">
            <a:xfrm>
              <a:off x="5971692" y="684647"/>
              <a:ext cx="39406" cy="19702"/>
            </a:xfrm>
            <a:custGeom>
              <a:avLst/>
              <a:gdLst>
                <a:gd name="T0" fmla="*/ 0 w 14"/>
                <a:gd name="T1" fmla="*/ 5 h 7"/>
                <a:gd name="T2" fmla="*/ 14 w 14"/>
                <a:gd name="T3" fmla="*/ 0 h 7"/>
                <a:gd name="T4" fmla="*/ 14 w 14"/>
                <a:gd name="T5" fmla="*/ 0 h 7"/>
                <a:gd name="T6" fmla="*/ 0 w 14"/>
                <a:gd name="T7" fmla="*/ 7 h 7"/>
                <a:gd name="T8" fmla="*/ 0 w 14"/>
                <a:gd name="T9" fmla="*/ 5 h 7"/>
              </a:gdLst>
              <a:ahLst/>
              <a:cxnLst>
                <a:cxn ang="0">
                  <a:pos x="T0" y="T1"/>
                </a:cxn>
                <a:cxn ang="0">
                  <a:pos x="T2" y="T3"/>
                </a:cxn>
                <a:cxn ang="0">
                  <a:pos x="T4" y="T5"/>
                </a:cxn>
                <a:cxn ang="0">
                  <a:pos x="T6" y="T7"/>
                </a:cxn>
                <a:cxn ang="0">
                  <a:pos x="T8" y="T9"/>
                </a:cxn>
              </a:cxnLst>
              <a:rect l="0" t="0" r="r" b="b"/>
              <a:pathLst>
                <a:path w="14" h="7">
                  <a:moveTo>
                    <a:pt x="0" y="5"/>
                  </a:moveTo>
                  <a:lnTo>
                    <a:pt x="14" y="0"/>
                  </a:lnTo>
                  <a:lnTo>
                    <a:pt x="14" y="0"/>
                  </a:lnTo>
                  <a:lnTo>
                    <a:pt x="0" y="7"/>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1649"/>
            <p:cNvSpPr/>
            <p:nvPr/>
          </p:nvSpPr>
          <p:spPr bwMode="auto">
            <a:xfrm>
              <a:off x="5971692" y="684647"/>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1650"/>
            <p:cNvSpPr/>
            <p:nvPr/>
          </p:nvSpPr>
          <p:spPr bwMode="auto">
            <a:xfrm>
              <a:off x="5971692" y="690276"/>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1651"/>
            <p:cNvSpPr/>
            <p:nvPr/>
          </p:nvSpPr>
          <p:spPr bwMode="auto">
            <a:xfrm>
              <a:off x="5971692" y="698719"/>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1652"/>
            <p:cNvSpPr/>
            <p:nvPr/>
          </p:nvSpPr>
          <p:spPr bwMode="auto">
            <a:xfrm>
              <a:off x="5971692" y="704349"/>
              <a:ext cx="39406" cy="14073"/>
            </a:xfrm>
            <a:custGeom>
              <a:avLst/>
              <a:gdLst>
                <a:gd name="T0" fmla="*/ 0 w 14"/>
                <a:gd name="T1" fmla="*/ 5 h 5"/>
                <a:gd name="T2" fmla="*/ 14 w 14"/>
                <a:gd name="T3" fmla="*/ 0 h 5"/>
                <a:gd name="T4" fmla="*/ 14 w 14"/>
                <a:gd name="T5" fmla="*/ 0 h 5"/>
                <a:gd name="T6" fmla="*/ 0 w 14"/>
                <a:gd name="T7" fmla="*/ 5 h 5"/>
                <a:gd name="T8" fmla="*/ 0 w 14"/>
                <a:gd name="T9" fmla="*/ 5 h 5"/>
              </a:gdLst>
              <a:ahLst/>
              <a:cxnLst>
                <a:cxn ang="0">
                  <a:pos x="T0" y="T1"/>
                </a:cxn>
                <a:cxn ang="0">
                  <a:pos x="T2" y="T3"/>
                </a:cxn>
                <a:cxn ang="0">
                  <a:pos x="T4" y="T5"/>
                </a:cxn>
                <a:cxn ang="0">
                  <a:pos x="T6" y="T7"/>
                </a:cxn>
                <a:cxn ang="0">
                  <a:pos x="T8" y="T9"/>
                </a:cxn>
              </a:cxnLst>
              <a:rect l="0" t="0" r="r" b="b"/>
              <a:pathLst>
                <a:path w="14" h="5">
                  <a:moveTo>
                    <a:pt x="0" y="5"/>
                  </a:moveTo>
                  <a:lnTo>
                    <a:pt x="14" y="0"/>
                  </a:lnTo>
                  <a:lnTo>
                    <a:pt x="14" y="0"/>
                  </a:lnTo>
                  <a:lnTo>
                    <a:pt x="0" y="5"/>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1653"/>
            <p:cNvSpPr/>
            <p:nvPr/>
          </p:nvSpPr>
          <p:spPr bwMode="auto">
            <a:xfrm>
              <a:off x="5971692" y="704349"/>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1654"/>
            <p:cNvSpPr/>
            <p:nvPr/>
          </p:nvSpPr>
          <p:spPr bwMode="auto">
            <a:xfrm>
              <a:off x="5971692" y="625536"/>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1655"/>
            <p:cNvSpPr/>
            <p:nvPr/>
          </p:nvSpPr>
          <p:spPr bwMode="auto">
            <a:xfrm>
              <a:off x="5971692" y="631166"/>
              <a:ext cx="39406" cy="19702"/>
            </a:xfrm>
            <a:custGeom>
              <a:avLst/>
              <a:gdLst>
                <a:gd name="T0" fmla="*/ 0 w 14"/>
                <a:gd name="T1" fmla="*/ 5 h 7"/>
                <a:gd name="T2" fmla="*/ 14 w 14"/>
                <a:gd name="T3" fmla="*/ 0 h 7"/>
                <a:gd name="T4" fmla="*/ 14 w 14"/>
                <a:gd name="T5" fmla="*/ 0 h 7"/>
                <a:gd name="T6" fmla="*/ 0 w 14"/>
                <a:gd name="T7" fmla="*/ 7 h 7"/>
                <a:gd name="T8" fmla="*/ 0 w 14"/>
                <a:gd name="T9" fmla="*/ 5 h 7"/>
              </a:gdLst>
              <a:ahLst/>
              <a:cxnLst>
                <a:cxn ang="0">
                  <a:pos x="T0" y="T1"/>
                </a:cxn>
                <a:cxn ang="0">
                  <a:pos x="T2" y="T3"/>
                </a:cxn>
                <a:cxn ang="0">
                  <a:pos x="T4" y="T5"/>
                </a:cxn>
                <a:cxn ang="0">
                  <a:pos x="T6" y="T7"/>
                </a:cxn>
                <a:cxn ang="0">
                  <a:pos x="T8" y="T9"/>
                </a:cxn>
              </a:cxnLst>
              <a:rect l="0" t="0" r="r" b="b"/>
              <a:pathLst>
                <a:path w="14" h="7">
                  <a:moveTo>
                    <a:pt x="0" y="5"/>
                  </a:moveTo>
                  <a:lnTo>
                    <a:pt x="14" y="0"/>
                  </a:lnTo>
                  <a:lnTo>
                    <a:pt x="14" y="0"/>
                  </a:lnTo>
                  <a:lnTo>
                    <a:pt x="0" y="7"/>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1656"/>
            <p:cNvSpPr/>
            <p:nvPr/>
          </p:nvSpPr>
          <p:spPr bwMode="auto">
            <a:xfrm>
              <a:off x="5971692" y="631166"/>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1657"/>
            <p:cNvSpPr/>
            <p:nvPr/>
          </p:nvSpPr>
          <p:spPr bwMode="auto">
            <a:xfrm>
              <a:off x="5971692" y="636795"/>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1658"/>
            <p:cNvSpPr/>
            <p:nvPr/>
          </p:nvSpPr>
          <p:spPr bwMode="auto">
            <a:xfrm>
              <a:off x="5971692" y="645240"/>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Freeform 1659"/>
            <p:cNvSpPr/>
            <p:nvPr/>
          </p:nvSpPr>
          <p:spPr bwMode="auto">
            <a:xfrm>
              <a:off x="5971692" y="650870"/>
              <a:ext cx="39406" cy="14073"/>
            </a:xfrm>
            <a:custGeom>
              <a:avLst/>
              <a:gdLst>
                <a:gd name="T0" fmla="*/ 0 w 14"/>
                <a:gd name="T1" fmla="*/ 5 h 5"/>
                <a:gd name="T2" fmla="*/ 14 w 14"/>
                <a:gd name="T3" fmla="*/ 0 h 5"/>
                <a:gd name="T4" fmla="*/ 14 w 14"/>
                <a:gd name="T5" fmla="*/ 0 h 5"/>
                <a:gd name="T6" fmla="*/ 0 w 14"/>
                <a:gd name="T7" fmla="*/ 5 h 5"/>
                <a:gd name="T8" fmla="*/ 0 w 14"/>
                <a:gd name="T9" fmla="*/ 5 h 5"/>
              </a:gdLst>
              <a:ahLst/>
              <a:cxnLst>
                <a:cxn ang="0">
                  <a:pos x="T0" y="T1"/>
                </a:cxn>
                <a:cxn ang="0">
                  <a:pos x="T2" y="T3"/>
                </a:cxn>
                <a:cxn ang="0">
                  <a:pos x="T4" y="T5"/>
                </a:cxn>
                <a:cxn ang="0">
                  <a:pos x="T6" y="T7"/>
                </a:cxn>
                <a:cxn ang="0">
                  <a:pos x="T8" y="T9"/>
                </a:cxn>
              </a:cxnLst>
              <a:rect l="0" t="0" r="r" b="b"/>
              <a:pathLst>
                <a:path w="14" h="5">
                  <a:moveTo>
                    <a:pt x="0" y="5"/>
                  </a:moveTo>
                  <a:lnTo>
                    <a:pt x="14" y="0"/>
                  </a:lnTo>
                  <a:lnTo>
                    <a:pt x="14" y="0"/>
                  </a:lnTo>
                  <a:lnTo>
                    <a:pt x="0" y="5"/>
                  </a:lnTo>
                  <a:lnTo>
                    <a:pt x="0" y="5"/>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Freeform 1660"/>
            <p:cNvSpPr/>
            <p:nvPr/>
          </p:nvSpPr>
          <p:spPr bwMode="auto">
            <a:xfrm>
              <a:off x="5971692" y="650870"/>
              <a:ext cx="39406" cy="19702"/>
            </a:xfrm>
            <a:custGeom>
              <a:avLst/>
              <a:gdLst>
                <a:gd name="T0" fmla="*/ 0 w 14"/>
                <a:gd name="T1" fmla="*/ 7 h 7"/>
                <a:gd name="T2" fmla="*/ 14 w 14"/>
                <a:gd name="T3" fmla="*/ 0 h 7"/>
                <a:gd name="T4" fmla="*/ 14 w 14"/>
                <a:gd name="T5" fmla="*/ 2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2"/>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Freeform 1661"/>
            <p:cNvSpPr/>
            <p:nvPr/>
          </p:nvSpPr>
          <p:spPr bwMode="auto">
            <a:xfrm>
              <a:off x="5971692" y="656499"/>
              <a:ext cx="39406" cy="19702"/>
            </a:xfrm>
            <a:custGeom>
              <a:avLst/>
              <a:gdLst>
                <a:gd name="T0" fmla="*/ 0 w 14"/>
                <a:gd name="T1" fmla="*/ 7 h 7"/>
                <a:gd name="T2" fmla="*/ 14 w 14"/>
                <a:gd name="T3" fmla="*/ 0 h 7"/>
                <a:gd name="T4" fmla="*/ 14 w 14"/>
                <a:gd name="T5" fmla="*/ 0 h 7"/>
                <a:gd name="T6" fmla="*/ 0 w 14"/>
                <a:gd name="T7" fmla="*/ 7 h 7"/>
                <a:gd name="T8" fmla="*/ 0 w 14"/>
                <a:gd name="T9" fmla="*/ 7 h 7"/>
              </a:gdLst>
              <a:ahLst/>
              <a:cxnLst>
                <a:cxn ang="0">
                  <a:pos x="T0" y="T1"/>
                </a:cxn>
                <a:cxn ang="0">
                  <a:pos x="T2" y="T3"/>
                </a:cxn>
                <a:cxn ang="0">
                  <a:pos x="T4" y="T5"/>
                </a:cxn>
                <a:cxn ang="0">
                  <a:pos x="T6" y="T7"/>
                </a:cxn>
                <a:cxn ang="0">
                  <a:pos x="T8" y="T9"/>
                </a:cxn>
              </a:cxnLst>
              <a:rect l="0" t="0" r="r" b="b"/>
              <a:pathLst>
                <a:path w="14" h="7">
                  <a:moveTo>
                    <a:pt x="0" y="7"/>
                  </a:moveTo>
                  <a:lnTo>
                    <a:pt x="14" y="0"/>
                  </a:lnTo>
                  <a:lnTo>
                    <a:pt x="14" y="0"/>
                  </a:lnTo>
                  <a:lnTo>
                    <a:pt x="0" y="7"/>
                  </a:lnTo>
                  <a:lnTo>
                    <a:pt x="0" y="7"/>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1662"/>
            <p:cNvSpPr/>
            <p:nvPr/>
          </p:nvSpPr>
          <p:spPr bwMode="auto">
            <a:xfrm>
              <a:off x="5971692" y="664943"/>
              <a:ext cx="39406" cy="19702"/>
            </a:xfrm>
            <a:custGeom>
              <a:avLst/>
              <a:gdLst>
                <a:gd name="T0" fmla="*/ 0 w 14"/>
                <a:gd name="T1" fmla="*/ 4 h 7"/>
                <a:gd name="T2" fmla="*/ 14 w 14"/>
                <a:gd name="T3" fmla="*/ 0 h 7"/>
                <a:gd name="T4" fmla="*/ 14 w 14"/>
                <a:gd name="T5" fmla="*/ 0 h 7"/>
                <a:gd name="T6" fmla="*/ 0 w 14"/>
                <a:gd name="T7" fmla="*/ 7 h 7"/>
                <a:gd name="T8" fmla="*/ 0 w 14"/>
                <a:gd name="T9" fmla="*/ 4 h 7"/>
              </a:gdLst>
              <a:ahLst/>
              <a:cxnLst>
                <a:cxn ang="0">
                  <a:pos x="T0" y="T1"/>
                </a:cxn>
                <a:cxn ang="0">
                  <a:pos x="T2" y="T3"/>
                </a:cxn>
                <a:cxn ang="0">
                  <a:pos x="T4" y="T5"/>
                </a:cxn>
                <a:cxn ang="0">
                  <a:pos x="T6" y="T7"/>
                </a:cxn>
                <a:cxn ang="0">
                  <a:pos x="T8" y="T9"/>
                </a:cxn>
              </a:cxnLst>
              <a:rect l="0" t="0" r="r" b="b"/>
              <a:pathLst>
                <a:path w="14" h="7">
                  <a:moveTo>
                    <a:pt x="0" y="4"/>
                  </a:moveTo>
                  <a:lnTo>
                    <a:pt x="14" y="0"/>
                  </a:lnTo>
                  <a:lnTo>
                    <a:pt x="14" y="0"/>
                  </a:lnTo>
                  <a:lnTo>
                    <a:pt x="0" y="7"/>
                  </a:lnTo>
                  <a:lnTo>
                    <a:pt x="0" y="4"/>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1663"/>
            <p:cNvSpPr/>
            <p:nvPr/>
          </p:nvSpPr>
          <p:spPr bwMode="auto">
            <a:xfrm>
              <a:off x="5850658" y="296215"/>
              <a:ext cx="295547" cy="261768"/>
            </a:xfrm>
            <a:custGeom>
              <a:avLst/>
              <a:gdLst>
                <a:gd name="T0" fmla="*/ 10 w 44"/>
                <a:gd name="T1" fmla="*/ 22 h 39"/>
                <a:gd name="T2" fmla="*/ 12 w 44"/>
                <a:gd name="T3" fmla="*/ 22 h 39"/>
                <a:gd name="T4" fmla="*/ 12 w 44"/>
                <a:gd name="T5" fmla="*/ 22 h 39"/>
                <a:gd name="T6" fmla="*/ 13 w 44"/>
                <a:gd name="T7" fmla="*/ 23 h 39"/>
                <a:gd name="T8" fmla="*/ 13 w 44"/>
                <a:gd name="T9" fmla="*/ 22 h 39"/>
                <a:gd name="T10" fmla="*/ 15 w 44"/>
                <a:gd name="T11" fmla="*/ 23 h 39"/>
                <a:gd name="T12" fmla="*/ 16 w 44"/>
                <a:gd name="T13" fmla="*/ 22 h 39"/>
                <a:gd name="T14" fmla="*/ 18 w 44"/>
                <a:gd name="T15" fmla="*/ 24 h 39"/>
                <a:gd name="T16" fmla="*/ 19 w 44"/>
                <a:gd name="T17" fmla="*/ 22 h 39"/>
                <a:gd name="T18" fmla="*/ 21 w 44"/>
                <a:gd name="T19" fmla="*/ 23 h 39"/>
                <a:gd name="T20" fmla="*/ 22 w 44"/>
                <a:gd name="T21" fmla="*/ 22 h 39"/>
                <a:gd name="T22" fmla="*/ 23 w 44"/>
                <a:gd name="T23" fmla="*/ 24 h 39"/>
                <a:gd name="T24" fmla="*/ 24 w 44"/>
                <a:gd name="T25" fmla="*/ 22 h 39"/>
                <a:gd name="T26" fmla="*/ 25 w 44"/>
                <a:gd name="T27" fmla="*/ 24 h 39"/>
                <a:gd name="T28" fmla="*/ 27 w 44"/>
                <a:gd name="T29" fmla="*/ 23 h 39"/>
                <a:gd name="T30" fmla="*/ 28 w 44"/>
                <a:gd name="T31" fmla="*/ 23 h 39"/>
                <a:gd name="T32" fmla="*/ 29 w 44"/>
                <a:gd name="T33" fmla="*/ 22 h 39"/>
                <a:gd name="T34" fmla="*/ 30 w 44"/>
                <a:gd name="T35" fmla="*/ 23 h 39"/>
                <a:gd name="T36" fmla="*/ 32 w 44"/>
                <a:gd name="T37" fmla="*/ 22 h 39"/>
                <a:gd name="T38" fmla="*/ 34 w 44"/>
                <a:gd name="T39" fmla="*/ 22 h 39"/>
                <a:gd name="T40" fmla="*/ 38 w 44"/>
                <a:gd name="T41" fmla="*/ 34 h 39"/>
                <a:gd name="T42" fmla="*/ 41 w 44"/>
                <a:gd name="T43" fmla="*/ 29 h 39"/>
                <a:gd name="T44" fmla="*/ 29 w 44"/>
                <a:gd name="T45" fmla="*/ 2 h 39"/>
                <a:gd name="T46" fmla="*/ 19 w 44"/>
                <a:gd name="T47" fmla="*/ 0 h 39"/>
                <a:gd name="T48" fmla="*/ 20 w 44"/>
                <a:gd name="T49" fmla="*/ 1 h 39"/>
                <a:gd name="T50" fmla="*/ 14 w 44"/>
                <a:gd name="T51" fmla="*/ 1 h 39"/>
                <a:gd name="T52" fmla="*/ 15 w 44"/>
                <a:gd name="T53" fmla="*/ 1 h 39"/>
                <a:gd name="T54" fmla="*/ 12 w 44"/>
                <a:gd name="T55" fmla="*/ 2 h 39"/>
                <a:gd name="T56" fmla="*/ 10 w 44"/>
                <a:gd name="T57" fmla="*/ 2 h 39"/>
                <a:gd name="T58" fmla="*/ 7 w 44"/>
                <a:gd name="T59" fmla="*/ 6 h 39"/>
                <a:gd name="T60" fmla="*/ 6 w 44"/>
                <a:gd name="T61" fmla="*/ 6 h 39"/>
                <a:gd name="T62" fmla="*/ 6 w 44"/>
                <a:gd name="T63" fmla="*/ 7 h 39"/>
                <a:gd name="T64" fmla="*/ 0 w 44"/>
                <a:gd name="T65" fmla="*/ 19 h 39"/>
                <a:gd name="T66" fmla="*/ 4 w 44"/>
                <a:gd name="T67" fmla="*/ 35 h 39"/>
                <a:gd name="T68" fmla="*/ 6 w 44"/>
                <a:gd name="T69" fmla="*/ 33 h 39"/>
                <a:gd name="T70" fmla="*/ 10 w 44"/>
                <a:gd name="T71" fmla="*/ 2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 h="39">
                  <a:moveTo>
                    <a:pt x="10" y="22"/>
                  </a:moveTo>
                  <a:cubicBezTo>
                    <a:pt x="12" y="22"/>
                    <a:pt x="12" y="22"/>
                    <a:pt x="12" y="22"/>
                  </a:cubicBezTo>
                  <a:cubicBezTo>
                    <a:pt x="12" y="22"/>
                    <a:pt x="12" y="22"/>
                    <a:pt x="12" y="22"/>
                  </a:cubicBezTo>
                  <a:cubicBezTo>
                    <a:pt x="12" y="22"/>
                    <a:pt x="13" y="24"/>
                    <a:pt x="13" y="23"/>
                  </a:cubicBezTo>
                  <a:cubicBezTo>
                    <a:pt x="13" y="23"/>
                    <a:pt x="13" y="22"/>
                    <a:pt x="13" y="22"/>
                  </a:cubicBezTo>
                  <a:cubicBezTo>
                    <a:pt x="14" y="22"/>
                    <a:pt x="15" y="24"/>
                    <a:pt x="15" y="23"/>
                  </a:cubicBezTo>
                  <a:cubicBezTo>
                    <a:pt x="15" y="23"/>
                    <a:pt x="16" y="22"/>
                    <a:pt x="16" y="22"/>
                  </a:cubicBezTo>
                  <a:cubicBezTo>
                    <a:pt x="16" y="23"/>
                    <a:pt x="18" y="24"/>
                    <a:pt x="18" y="24"/>
                  </a:cubicBezTo>
                  <a:cubicBezTo>
                    <a:pt x="18" y="23"/>
                    <a:pt x="18" y="22"/>
                    <a:pt x="19" y="22"/>
                  </a:cubicBezTo>
                  <a:cubicBezTo>
                    <a:pt x="19" y="23"/>
                    <a:pt x="21" y="24"/>
                    <a:pt x="21" y="23"/>
                  </a:cubicBezTo>
                  <a:cubicBezTo>
                    <a:pt x="21" y="23"/>
                    <a:pt x="21" y="22"/>
                    <a:pt x="22" y="22"/>
                  </a:cubicBezTo>
                  <a:cubicBezTo>
                    <a:pt x="23" y="23"/>
                    <a:pt x="23" y="24"/>
                    <a:pt x="23" y="24"/>
                  </a:cubicBezTo>
                  <a:cubicBezTo>
                    <a:pt x="24" y="22"/>
                    <a:pt x="24" y="22"/>
                    <a:pt x="24" y="22"/>
                  </a:cubicBezTo>
                  <a:cubicBezTo>
                    <a:pt x="25" y="24"/>
                    <a:pt x="25" y="24"/>
                    <a:pt x="25" y="24"/>
                  </a:cubicBezTo>
                  <a:cubicBezTo>
                    <a:pt x="25" y="24"/>
                    <a:pt x="26" y="23"/>
                    <a:pt x="27" y="23"/>
                  </a:cubicBezTo>
                  <a:cubicBezTo>
                    <a:pt x="27" y="22"/>
                    <a:pt x="28" y="22"/>
                    <a:pt x="28" y="23"/>
                  </a:cubicBezTo>
                  <a:cubicBezTo>
                    <a:pt x="28" y="25"/>
                    <a:pt x="29" y="23"/>
                    <a:pt x="29" y="22"/>
                  </a:cubicBezTo>
                  <a:cubicBezTo>
                    <a:pt x="30" y="21"/>
                    <a:pt x="30" y="23"/>
                    <a:pt x="30" y="23"/>
                  </a:cubicBezTo>
                  <a:cubicBezTo>
                    <a:pt x="32" y="22"/>
                    <a:pt x="32" y="22"/>
                    <a:pt x="32" y="22"/>
                  </a:cubicBezTo>
                  <a:cubicBezTo>
                    <a:pt x="34" y="22"/>
                    <a:pt x="34" y="22"/>
                    <a:pt x="34" y="22"/>
                  </a:cubicBezTo>
                  <a:cubicBezTo>
                    <a:pt x="34" y="22"/>
                    <a:pt x="39" y="31"/>
                    <a:pt x="38" y="34"/>
                  </a:cubicBezTo>
                  <a:cubicBezTo>
                    <a:pt x="37" y="37"/>
                    <a:pt x="39" y="36"/>
                    <a:pt x="41" y="29"/>
                  </a:cubicBezTo>
                  <a:cubicBezTo>
                    <a:pt x="42" y="21"/>
                    <a:pt x="44" y="6"/>
                    <a:pt x="29" y="2"/>
                  </a:cubicBezTo>
                  <a:cubicBezTo>
                    <a:pt x="19" y="0"/>
                    <a:pt x="19" y="0"/>
                    <a:pt x="19" y="0"/>
                  </a:cubicBezTo>
                  <a:cubicBezTo>
                    <a:pt x="20" y="1"/>
                    <a:pt x="20" y="1"/>
                    <a:pt x="20" y="1"/>
                  </a:cubicBezTo>
                  <a:cubicBezTo>
                    <a:pt x="14" y="1"/>
                    <a:pt x="14" y="1"/>
                    <a:pt x="14" y="1"/>
                  </a:cubicBezTo>
                  <a:cubicBezTo>
                    <a:pt x="15" y="1"/>
                    <a:pt x="15" y="1"/>
                    <a:pt x="15" y="1"/>
                  </a:cubicBezTo>
                  <a:cubicBezTo>
                    <a:pt x="12" y="2"/>
                    <a:pt x="12" y="2"/>
                    <a:pt x="12" y="2"/>
                  </a:cubicBezTo>
                  <a:cubicBezTo>
                    <a:pt x="10" y="2"/>
                    <a:pt x="10" y="2"/>
                    <a:pt x="10" y="2"/>
                  </a:cubicBezTo>
                  <a:cubicBezTo>
                    <a:pt x="7" y="6"/>
                    <a:pt x="7" y="6"/>
                    <a:pt x="7" y="6"/>
                  </a:cubicBezTo>
                  <a:cubicBezTo>
                    <a:pt x="6" y="6"/>
                    <a:pt x="6" y="6"/>
                    <a:pt x="6" y="6"/>
                  </a:cubicBezTo>
                  <a:cubicBezTo>
                    <a:pt x="6" y="7"/>
                    <a:pt x="6" y="7"/>
                    <a:pt x="6" y="7"/>
                  </a:cubicBezTo>
                  <a:cubicBezTo>
                    <a:pt x="6" y="7"/>
                    <a:pt x="0" y="14"/>
                    <a:pt x="0" y="19"/>
                  </a:cubicBezTo>
                  <a:cubicBezTo>
                    <a:pt x="0" y="24"/>
                    <a:pt x="2" y="31"/>
                    <a:pt x="4" y="35"/>
                  </a:cubicBezTo>
                  <a:cubicBezTo>
                    <a:pt x="7" y="39"/>
                    <a:pt x="6" y="35"/>
                    <a:pt x="6" y="33"/>
                  </a:cubicBezTo>
                  <a:cubicBezTo>
                    <a:pt x="7" y="28"/>
                    <a:pt x="9" y="22"/>
                    <a:pt x="10" y="22"/>
                  </a:cubicBez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1664"/>
            <p:cNvSpPr/>
            <p:nvPr/>
          </p:nvSpPr>
          <p:spPr bwMode="auto">
            <a:xfrm>
              <a:off x="5878806" y="369398"/>
              <a:ext cx="239252" cy="188585"/>
            </a:xfrm>
            <a:custGeom>
              <a:avLst/>
              <a:gdLst>
                <a:gd name="T0" fmla="*/ 34 w 36"/>
                <a:gd name="T1" fmla="*/ 15 h 28"/>
                <a:gd name="T2" fmla="*/ 33 w 36"/>
                <a:gd name="T3" fmla="*/ 13 h 28"/>
                <a:gd name="T4" fmla="*/ 33 w 36"/>
                <a:gd name="T5" fmla="*/ 12 h 28"/>
                <a:gd name="T6" fmla="*/ 32 w 36"/>
                <a:gd name="T7" fmla="*/ 8 h 28"/>
                <a:gd name="T8" fmla="*/ 32 w 36"/>
                <a:gd name="T9" fmla="*/ 2 h 28"/>
                <a:gd name="T10" fmla="*/ 32 w 36"/>
                <a:gd name="T11" fmla="*/ 0 h 28"/>
                <a:gd name="T12" fmla="*/ 24 w 36"/>
                <a:gd name="T13" fmla="*/ 9 h 28"/>
                <a:gd name="T14" fmla="*/ 18 w 36"/>
                <a:gd name="T15" fmla="*/ 4 h 28"/>
                <a:gd name="T16" fmla="*/ 13 w 36"/>
                <a:gd name="T17" fmla="*/ 10 h 28"/>
                <a:gd name="T18" fmla="*/ 7 w 36"/>
                <a:gd name="T19" fmla="*/ 5 h 28"/>
                <a:gd name="T20" fmla="*/ 2 w 36"/>
                <a:gd name="T21" fmla="*/ 10 h 28"/>
                <a:gd name="T22" fmla="*/ 1 w 36"/>
                <a:gd name="T23" fmla="*/ 9 h 28"/>
                <a:gd name="T24" fmla="*/ 1 w 36"/>
                <a:gd name="T25" fmla="*/ 24 h 28"/>
                <a:gd name="T26" fmla="*/ 1 w 36"/>
                <a:gd name="T27" fmla="*/ 25 h 28"/>
                <a:gd name="T28" fmla="*/ 2 w 36"/>
                <a:gd name="T29" fmla="*/ 22 h 28"/>
                <a:gd name="T30" fmla="*/ 6 w 36"/>
                <a:gd name="T31" fmla="*/ 11 h 28"/>
                <a:gd name="T32" fmla="*/ 8 w 36"/>
                <a:gd name="T33" fmla="*/ 11 h 28"/>
                <a:gd name="T34" fmla="*/ 8 w 36"/>
                <a:gd name="T35" fmla="*/ 11 h 28"/>
                <a:gd name="T36" fmla="*/ 9 w 36"/>
                <a:gd name="T37" fmla="*/ 12 h 28"/>
                <a:gd name="T38" fmla="*/ 9 w 36"/>
                <a:gd name="T39" fmla="*/ 11 h 28"/>
                <a:gd name="T40" fmla="*/ 11 w 36"/>
                <a:gd name="T41" fmla="*/ 12 h 28"/>
                <a:gd name="T42" fmla="*/ 12 w 36"/>
                <a:gd name="T43" fmla="*/ 11 h 28"/>
                <a:gd name="T44" fmla="*/ 14 w 36"/>
                <a:gd name="T45" fmla="*/ 13 h 28"/>
                <a:gd name="T46" fmla="*/ 15 w 36"/>
                <a:gd name="T47" fmla="*/ 11 h 28"/>
                <a:gd name="T48" fmla="*/ 17 w 36"/>
                <a:gd name="T49" fmla="*/ 12 h 28"/>
                <a:gd name="T50" fmla="*/ 18 w 36"/>
                <a:gd name="T51" fmla="*/ 11 h 28"/>
                <a:gd name="T52" fmla="*/ 19 w 36"/>
                <a:gd name="T53" fmla="*/ 13 h 28"/>
                <a:gd name="T54" fmla="*/ 20 w 36"/>
                <a:gd name="T55" fmla="*/ 11 h 28"/>
                <a:gd name="T56" fmla="*/ 21 w 36"/>
                <a:gd name="T57" fmla="*/ 13 h 28"/>
                <a:gd name="T58" fmla="*/ 23 w 36"/>
                <a:gd name="T59" fmla="*/ 12 h 28"/>
                <a:gd name="T60" fmla="*/ 24 w 36"/>
                <a:gd name="T61" fmla="*/ 12 h 28"/>
                <a:gd name="T62" fmla="*/ 25 w 36"/>
                <a:gd name="T63" fmla="*/ 11 h 28"/>
                <a:gd name="T64" fmla="*/ 26 w 36"/>
                <a:gd name="T65" fmla="*/ 12 h 28"/>
                <a:gd name="T66" fmla="*/ 28 w 36"/>
                <a:gd name="T67" fmla="*/ 11 h 28"/>
                <a:gd name="T68" fmla="*/ 30 w 36"/>
                <a:gd name="T69" fmla="*/ 11 h 28"/>
                <a:gd name="T70" fmla="*/ 34 w 36"/>
                <a:gd name="T71" fmla="*/ 23 h 28"/>
                <a:gd name="T72" fmla="*/ 36 w 36"/>
                <a:gd name="T73" fmla="*/ 19 h 28"/>
                <a:gd name="T74" fmla="*/ 34 w 36"/>
                <a:gd name="T75" fmla="*/ 15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 h="28">
                  <a:moveTo>
                    <a:pt x="34" y="15"/>
                  </a:moveTo>
                  <a:cubicBezTo>
                    <a:pt x="34" y="14"/>
                    <a:pt x="34" y="13"/>
                    <a:pt x="33" y="13"/>
                  </a:cubicBezTo>
                  <a:cubicBezTo>
                    <a:pt x="33" y="12"/>
                    <a:pt x="33" y="12"/>
                    <a:pt x="33" y="12"/>
                  </a:cubicBezTo>
                  <a:cubicBezTo>
                    <a:pt x="33" y="11"/>
                    <a:pt x="32" y="9"/>
                    <a:pt x="32" y="8"/>
                  </a:cubicBezTo>
                  <a:cubicBezTo>
                    <a:pt x="32" y="6"/>
                    <a:pt x="32" y="4"/>
                    <a:pt x="32" y="2"/>
                  </a:cubicBezTo>
                  <a:cubicBezTo>
                    <a:pt x="32" y="1"/>
                    <a:pt x="32" y="1"/>
                    <a:pt x="32" y="0"/>
                  </a:cubicBezTo>
                  <a:cubicBezTo>
                    <a:pt x="31" y="5"/>
                    <a:pt x="28" y="8"/>
                    <a:pt x="24" y="9"/>
                  </a:cubicBezTo>
                  <a:cubicBezTo>
                    <a:pt x="20" y="10"/>
                    <a:pt x="19" y="7"/>
                    <a:pt x="18" y="4"/>
                  </a:cubicBezTo>
                  <a:cubicBezTo>
                    <a:pt x="17" y="7"/>
                    <a:pt x="15" y="10"/>
                    <a:pt x="13" y="10"/>
                  </a:cubicBezTo>
                  <a:cubicBezTo>
                    <a:pt x="10" y="10"/>
                    <a:pt x="9" y="8"/>
                    <a:pt x="7" y="5"/>
                  </a:cubicBezTo>
                  <a:cubicBezTo>
                    <a:pt x="6" y="8"/>
                    <a:pt x="5" y="10"/>
                    <a:pt x="2" y="10"/>
                  </a:cubicBezTo>
                  <a:cubicBezTo>
                    <a:pt x="1" y="9"/>
                    <a:pt x="1" y="9"/>
                    <a:pt x="1" y="9"/>
                  </a:cubicBezTo>
                  <a:cubicBezTo>
                    <a:pt x="0" y="13"/>
                    <a:pt x="1" y="18"/>
                    <a:pt x="1" y="24"/>
                  </a:cubicBezTo>
                  <a:cubicBezTo>
                    <a:pt x="1" y="25"/>
                    <a:pt x="1" y="25"/>
                    <a:pt x="1" y="25"/>
                  </a:cubicBezTo>
                  <a:cubicBezTo>
                    <a:pt x="3" y="28"/>
                    <a:pt x="2" y="24"/>
                    <a:pt x="2" y="22"/>
                  </a:cubicBezTo>
                  <a:cubicBezTo>
                    <a:pt x="3" y="17"/>
                    <a:pt x="5" y="11"/>
                    <a:pt x="6" y="11"/>
                  </a:cubicBezTo>
                  <a:cubicBezTo>
                    <a:pt x="8" y="11"/>
                    <a:pt x="8" y="11"/>
                    <a:pt x="8" y="11"/>
                  </a:cubicBezTo>
                  <a:cubicBezTo>
                    <a:pt x="8" y="11"/>
                    <a:pt x="8" y="11"/>
                    <a:pt x="8" y="11"/>
                  </a:cubicBezTo>
                  <a:cubicBezTo>
                    <a:pt x="8" y="11"/>
                    <a:pt x="9" y="13"/>
                    <a:pt x="9" y="12"/>
                  </a:cubicBezTo>
                  <a:cubicBezTo>
                    <a:pt x="9" y="12"/>
                    <a:pt x="9" y="11"/>
                    <a:pt x="9" y="11"/>
                  </a:cubicBezTo>
                  <a:cubicBezTo>
                    <a:pt x="10" y="11"/>
                    <a:pt x="11" y="13"/>
                    <a:pt x="11" y="12"/>
                  </a:cubicBezTo>
                  <a:cubicBezTo>
                    <a:pt x="11" y="12"/>
                    <a:pt x="12" y="11"/>
                    <a:pt x="12" y="11"/>
                  </a:cubicBezTo>
                  <a:cubicBezTo>
                    <a:pt x="12" y="12"/>
                    <a:pt x="14" y="13"/>
                    <a:pt x="14" y="13"/>
                  </a:cubicBezTo>
                  <a:cubicBezTo>
                    <a:pt x="14" y="12"/>
                    <a:pt x="14" y="11"/>
                    <a:pt x="15" y="11"/>
                  </a:cubicBezTo>
                  <a:cubicBezTo>
                    <a:pt x="15" y="12"/>
                    <a:pt x="17" y="13"/>
                    <a:pt x="17" y="12"/>
                  </a:cubicBezTo>
                  <a:cubicBezTo>
                    <a:pt x="17" y="12"/>
                    <a:pt x="17" y="11"/>
                    <a:pt x="18" y="11"/>
                  </a:cubicBezTo>
                  <a:cubicBezTo>
                    <a:pt x="19" y="12"/>
                    <a:pt x="19" y="13"/>
                    <a:pt x="19" y="13"/>
                  </a:cubicBezTo>
                  <a:cubicBezTo>
                    <a:pt x="20" y="11"/>
                    <a:pt x="20" y="11"/>
                    <a:pt x="20" y="11"/>
                  </a:cubicBezTo>
                  <a:cubicBezTo>
                    <a:pt x="21" y="13"/>
                    <a:pt x="21" y="13"/>
                    <a:pt x="21" y="13"/>
                  </a:cubicBezTo>
                  <a:cubicBezTo>
                    <a:pt x="21" y="13"/>
                    <a:pt x="22" y="12"/>
                    <a:pt x="23" y="12"/>
                  </a:cubicBezTo>
                  <a:cubicBezTo>
                    <a:pt x="23" y="11"/>
                    <a:pt x="24" y="11"/>
                    <a:pt x="24" y="12"/>
                  </a:cubicBezTo>
                  <a:cubicBezTo>
                    <a:pt x="24" y="14"/>
                    <a:pt x="25" y="12"/>
                    <a:pt x="25" y="11"/>
                  </a:cubicBezTo>
                  <a:cubicBezTo>
                    <a:pt x="26" y="10"/>
                    <a:pt x="26" y="12"/>
                    <a:pt x="26" y="12"/>
                  </a:cubicBezTo>
                  <a:cubicBezTo>
                    <a:pt x="28" y="11"/>
                    <a:pt x="28" y="11"/>
                    <a:pt x="28" y="11"/>
                  </a:cubicBezTo>
                  <a:cubicBezTo>
                    <a:pt x="30" y="11"/>
                    <a:pt x="30" y="11"/>
                    <a:pt x="30" y="11"/>
                  </a:cubicBezTo>
                  <a:cubicBezTo>
                    <a:pt x="30" y="11"/>
                    <a:pt x="35" y="20"/>
                    <a:pt x="34" y="23"/>
                  </a:cubicBezTo>
                  <a:cubicBezTo>
                    <a:pt x="33" y="26"/>
                    <a:pt x="35" y="25"/>
                    <a:pt x="36" y="19"/>
                  </a:cubicBezTo>
                  <a:cubicBezTo>
                    <a:pt x="35" y="18"/>
                    <a:pt x="35" y="16"/>
                    <a:pt x="34" y="15"/>
                  </a:cubicBezTo>
                  <a:close/>
                </a:path>
              </a:pathLst>
            </a:custGeom>
            <a:solidFill>
              <a:srgbClr val="16141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Rectangle 1665"/>
            <p:cNvSpPr>
              <a:spLocks noChangeArrowheads="1"/>
            </p:cNvSpPr>
            <p:nvPr/>
          </p:nvSpPr>
          <p:spPr bwMode="auto">
            <a:xfrm>
              <a:off x="5966063" y="937971"/>
              <a:ext cx="5629" cy="33777"/>
            </a:xfrm>
            <a:prstGeom prst="rect">
              <a:avLst/>
            </a:prstGeom>
            <a:solidFill>
              <a:srgbClr val="1414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0" name="Rectangle 1666"/>
            <p:cNvSpPr>
              <a:spLocks noChangeArrowheads="1"/>
            </p:cNvSpPr>
            <p:nvPr/>
          </p:nvSpPr>
          <p:spPr bwMode="auto">
            <a:xfrm>
              <a:off x="5937916" y="937971"/>
              <a:ext cx="5629" cy="33777"/>
            </a:xfrm>
            <a:prstGeom prst="rect">
              <a:avLst/>
            </a:prstGeom>
            <a:solidFill>
              <a:srgbClr val="1414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1" name="Rectangle 1667"/>
            <p:cNvSpPr>
              <a:spLocks noChangeArrowheads="1"/>
            </p:cNvSpPr>
            <p:nvPr/>
          </p:nvSpPr>
          <p:spPr bwMode="auto">
            <a:xfrm>
              <a:off x="6030801" y="937971"/>
              <a:ext cx="8445" cy="33777"/>
            </a:xfrm>
            <a:prstGeom prst="rect">
              <a:avLst/>
            </a:prstGeom>
            <a:solidFill>
              <a:srgbClr val="1414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2" name="Rectangle 1668"/>
            <p:cNvSpPr>
              <a:spLocks noChangeArrowheads="1"/>
            </p:cNvSpPr>
            <p:nvPr/>
          </p:nvSpPr>
          <p:spPr bwMode="auto">
            <a:xfrm>
              <a:off x="6005469" y="937971"/>
              <a:ext cx="5629" cy="33777"/>
            </a:xfrm>
            <a:prstGeom prst="rect">
              <a:avLst/>
            </a:prstGeom>
            <a:solidFill>
              <a:srgbClr val="1414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mc:AlternateContent xmlns:mc="http://schemas.openxmlformats.org/markup-compatibility/2006" xmlns:a14="http://schemas.microsoft.com/office/drawing/2010/main">
        <mc:Choice Requires="a14">
          <p:sp>
            <p:nvSpPr>
              <p:cNvPr id="3" name="矩形 2"/>
              <p:cNvSpPr/>
              <p:nvPr/>
            </p:nvSpPr>
            <p:spPr>
              <a:xfrm>
                <a:off x="6314841" y="2276882"/>
                <a:ext cx="3523325" cy="400110"/>
              </a:xfrm>
              <a:prstGeom prst="rect">
                <a:avLst/>
              </a:prstGeom>
            </p:spPr>
            <p:txBody>
              <a:bodyPr wrap="square">
                <a:spAutoFit/>
              </a:bodyPr>
              <a:lstStyle/>
              <a:p>
                <a:r>
                  <a:rPr lang="zh-CN" altLang="en-US" sz="2000" dirty="0">
                    <a:latin typeface="楷体" panose="02010609060101010101" pitchFamily="49" charset="-122"/>
                    <a:ea typeface="楷体" panose="02010609060101010101" pitchFamily="49" charset="-122"/>
                    <a:cs typeface="Times New Roman" panose="02020603050405020304" pitchFamily="18" charset="0"/>
                  </a:rPr>
                  <a:t>提供家庭护理的机会成本</a:t>
                </a:r>
                <a14:m>
                  <m:oMath xmlns:m="http://schemas.openxmlformats.org/officeDocument/2006/math">
                    <m:sSup>
                      <m:sSupPr>
                        <m:ctrlPr>
                          <a:rPr lang="zh-CN" altLang="zh-CN" sz="2000" i="1">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sz="2000">
                            <a:latin typeface="Cambria Math" panose="02040503050406030204" pitchFamily="18" charset="0"/>
                            <a:ea typeface="楷体" panose="02010609060101010101" pitchFamily="49" charset="-122"/>
                            <a:cs typeface="Times New Roman" panose="02020603050405020304" pitchFamily="18" charset="0"/>
                          </a:rPr>
                          <m:t>𝜃</m:t>
                        </m:r>
                      </m:e>
                      <m:sup>
                        <m:r>
                          <a:rPr lang="en-US" altLang="zh-CN" sz="2000">
                            <a:latin typeface="Cambria Math" panose="02040503050406030204" pitchFamily="18" charset="0"/>
                            <a:ea typeface="楷体" panose="02010609060101010101" pitchFamily="49" charset="-122"/>
                            <a:cs typeface="Times New Roman" panose="02020603050405020304" pitchFamily="18" charset="0"/>
                          </a:rPr>
                          <m:t>′</m:t>
                        </m:r>
                      </m:sup>
                    </m:sSup>
                    <m:r>
                      <a:rPr lang="en-US" altLang="zh-CN" sz="2000">
                        <a:latin typeface="Cambria Math" panose="02040503050406030204" pitchFamily="18" charset="0"/>
                        <a:ea typeface="楷体" panose="02010609060101010101" pitchFamily="49" charset="-122"/>
                        <a:cs typeface="Times New Roman" panose="02020603050405020304" pitchFamily="18" charset="0"/>
                      </a:rPr>
                      <m:t>𝑒</m:t>
                    </m:r>
                  </m:oMath>
                </a14:m>
                <a:endParaRPr lang="zh-CN" altLang="en-US" sz="2000" dirty="0">
                  <a:latin typeface="楷体" panose="02010609060101010101" pitchFamily="49" charset="-122"/>
                  <a:ea typeface="楷体" panose="02010609060101010101" pitchFamily="49"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6314841" y="2276882"/>
                <a:ext cx="3523325" cy="400110"/>
              </a:xfrm>
              <a:prstGeom prst="rect">
                <a:avLst/>
              </a:prstGeom>
              <a:blipFill rotWithShape="1">
                <a:blip r:embed="rId13"/>
                <a:stretch>
                  <a:fillRect l="-11" t="-102" r="3" b="1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6350492" y="5030771"/>
                <a:ext cx="3647152" cy="677108"/>
              </a:xfrm>
              <a:prstGeom prst="rect">
                <a:avLst/>
              </a:prstGeom>
            </p:spPr>
            <p:txBody>
              <a:bodyPr wrap="none">
                <a:spAutoFit/>
              </a:bodyPr>
              <a:lstStyle/>
              <a:p>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年长者健康、陪护者失能：</a:t>
                </a:r>
                <a:endParaRPr lang="en-US" altLang="zh-CN" sz="200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𝑧</m:t>
                          </m:r>
                        </m:e>
                        <m:sub>
                          <m:r>
                            <a:rPr lang="zh-CN" altLang="en-US" i="0">
                              <a:latin typeface="Cambria Math" panose="02040503050406030204" pitchFamily="18" charset="0"/>
                            </a:rPr>
                            <m:t>4</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𝑧</m:t>
                          </m:r>
                        </m:e>
                        <m:sub>
                          <m:r>
                            <a:rPr lang="zh-CN" altLang="en-US" i="0">
                              <a:latin typeface="Cambria Math" panose="02040503050406030204" pitchFamily="18" charset="0"/>
                            </a:rPr>
                            <m:t>0</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r>
                        <a:rPr lang="zh-CN" altLang="en-US" i="0">
                          <a:latin typeface="Cambria Math" panose="02040503050406030204" pitchFamily="18" charset="0"/>
                        </a:rPr>
                        <m:t>(1+</m:t>
                      </m:r>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1">
                          <a:latin typeface="Cambria Math" panose="02040503050406030204" pitchFamily="18" charset="0"/>
                        </a:rPr>
                        <m:t>𝐽</m:t>
                      </m:r>
                      <m:r>
                        <a:rPr lang="zh-CN" altLang="en-US" i="0">
                          <a:latin typeface="Cambria Math" panose="02040503050406030204" pitchFamily="18" charset="0"/>
                        </a:rPr>
                        <m:t>−</m:t>
                      </m:r>
                      <m:r>
                        <a:rPr lang="zh-CN" altLang="en-US" i="1">
                          <a:latin typeface="Cambria Math" panose="02040503050406030204" pitchFamily="18" charset="0"/>
                        </a:rPr>
                        <m:t>𝑀</m:t>
                      </m:r>
                      <m:r>
                        <a:rPr lang="zh-CN" altLang="en-US" i="0">
                          <a:latin typeface="Cambria Math" panose="02040503050406030204" pitchFamily="18" charset="0"/>
                        </a:rPr>
                        <m:t>+</m:t>
                      </m:r>
                      <m:r>
                        <a:rPr lang="zh-CN" altLang="en-US" i="1">
                          <a:latin typeface="Cambria Math" panose="02040503050406030204" pitchFamily="18" charset="0"/>
                        </a:rPr>
                        <m:t>𝑘</m:t>
                      </m:r>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0">
                              <a:latin typeface="Cambria Math" panose="02040503050406030204" pitchFamily="18" charset="0"/>
                            </a:rPr>
                            <m:t>2</m:t>
                          </m:r>
                        </m:sub>
                      </m:sSub>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6350492" y="5030771"/>
                <a:ext cx="3647152" cy="677108"/>
              </a:xfrm>
              <a:prstGeom prst="rect">
                <a:avLst/>
              </a:prstGeom>
              <a:blipFill rotWithShape="1">
                <a:blip r:embed="rId14"/>
                <a:stretch>
                  <a:fillRect l="-13" t="-44" r="6" b="74"/>
                </a:stretch>
              </a:blipFill>
            </p:spPr>
            <p:txBody>
              <a:bodyPr/>
              <a:lstStyle/>
              <a:p>
                <a:r>
                  <a:rPr lang="zh-CN" altLang="en-US">
                    <a:noFill/>
                  </a:rPr>
                  <a:t> </a:t>
                </a:r>
              </a:p>
            </p:txBody>
          </p:sp>
        </mc:Fallback>
      </mc:AlternateContent>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fade">
                                      <p:cBhvr>
                                        <p:cTn id="7" dur="250"/>
                                        <p:tgtEl>
                                          <p:spTgt spid="17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4"/>
                                        </p:tgtEl>
                                        <p:attrNameLst>
                                          <p:attrName>style.visibility</p:attrName>
                                        </p:attrNameLst>
                                      </p:cBhvr>
                                      <p:to>
                                        <p:strVal val="visible"/>
                                      </p:to>
                                    </p:set>
                                    <p:animEffect transition="in" filter="fade">
                                      <p:cBhvr>
                                        <p:cTn id="10" dur="250"/>
                                        <p:tgtEl>
                                          <p:spTgt spid="17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5"/>
                                        </p:tgtEl>
                                        <p:attrNameLst>
                                          <p:attrName>style.visibility</p:attrName>
                                        </p:attrNameLst>
                                      </p:cBhvr>
                                      <p:to>
                                        <p:strVal val="visible"/>
                                      </p:to>
                                    </p:set>
                                    <p:animEffect transition="in" filter="fade">
                                      <p:cBhvr>
                                        <p:cTn id="13" dur="250"/>
                                        <p:tgtEl>
                                          <p:spTgt spid="17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250"/>
                                        <p:tgtEl>
                                          <p:spTgt spid="5"/>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81"/>
                                        </p:tgtEl>
                                        <p:attrNameLst>
                                          <p:attrName>style.visibility</p:attrName>
                                        </p:attrNameLst>
                                      </p:cBhvr>
                                      <p:to>
                                        <p:strVal val="visible"/>
                                      </p:to>
                                    </p:set>
                                    <p:animEffect transition="in" filter="fade">
                                      <p:cBhvr>
                                        <p:cTn id="20" dur="250"/>
                                        <p:tgtEl>
                                          <p:spTgt spid="18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25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0"/>
                                        </p:tgtEl>
                                        <p:attrNameLst>
                                          <p:attrName>style.visibility</p:attrName>
                                        </p:attrNameLst>
                                      </p:cBhvr>
                                      <p:to>
                                        <p:strVal val="visible"/>
                                      </p:to>
                                    </p:set>
                                    <p:animEffect transition="in" filter="fade">
                                      <p:cBhvr>
                                        <p:cTn id="28" dur="250"/>
                                        <p:tgtEl>
                                          <p:spTgt spid="18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78"/>
                                        </p:tgtEl>
                                        <p:attrNameLst>
                                          <p:attrName>style.visibility</p:attrName>
                                        </p:attrNameLst>
                                      </p:cBhvr>
                                      <p:to>
                                        <p:strVal val="visible"/>
                                      </p:to>
                                    </p:set>
                                    <p:animEffect transition="in" filter="fade">
                                      <p:cBhvr>
                                        <p:cTn id="33" dur="250"/>
                                        <p:tgtEl>
                                          <p:spTgt spid="17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3"/>
                                        </p:tgtEl>
                                        <p:attrNameLst>
                                          <p:attrName>style.visibility</p:attrName>
                                        </p:attrNameLst>
                                      </p:cBhvr>
                                      <p:to>
                                        <p:strVal val="visible"/>
                                      </p:to>
                                    </p:set>
                                    <p:animEffect transition="in" filter="fade">
                                      <p:cBhvr>
                                        <p:cTn id="36" dur="250"/>
                                        <p:tgtEl>
                                          <p:spTgt spid="18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9"/>
                                        </p:tgtEl>
                                        <p:attrNameLst>
                                          <p:attrName>style.visibility</p:attrName>
                                        </p:attrNameLst>
                                      </p:cBhvr>
                                      <p:to>
                                        <p:strVal val="visible"/>
                                      </p:to>
                                    </p:set>
                                    <p:animEffect transition="in" filter="fade">
                                      <p:cBhvr>
                                        <p:cTn id="39" dur="250"/>
                                        <p:tgtEl>
                                          <p:spTgt spid="17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fade">
                                      <p:cBhvr>
                                        <p:cTn id="44" dur="250"/>
                                        <p:tgtEl>
                                          <p:spTgt spid="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85"/>
                                        </p:tgtEl>
                                        <p:attrNameLst>
                                          <p:attrName>style.visibility</p:attrName>
                                        </p:attrNameLst>
                                      </p:cBhvr>
                                      <p:to>
                                        <p:strVal val="visible"/>
                                      </p:to>
                                    </p:set>
                                    <p:animEffect transition="in" filter="fade">
                                      <p:cBhvr>
                                        <p:cTn id="49" dur="250"/>
                                        <p:tgtEl>
                                          <p:spTgt spid="18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250"/>
                                        <p:tgtEl>
                                          <p:spTgt spid="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250"/>
                                        <p:tgtEl>
                                          <p:spTgt spid="1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250"/>
                                        <p:tgtEl>
                                          <p:spTgt spid="1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fade">
                                      <p:cBhvr>
                                        <p:cTn id="61" dur="250"/>
                                        <p:tgtEl>
                                          <p:spTgt spid="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84"/>
                                        </p:tgtEl>
                                        <p:attrNameLst>
                                          <p:attrName>style.visibility</p:attrName>
                                        </p:attrNameLst>
                                      </p:cBhvr>
                                      <p:to>
                                        <p:strVal val="visible"/>
                                      </p:to>
                                    </p:set>
                                    <p:animEffect transition="in" filter="fade">
                                      <p:cBhvr>
                                        <p:cTn id="64" dur="250"/>
                                        <p:tgtEl>
                                          <p:spTgt spid="18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fade">
                                      <p:cBhvr>
                                        <p:cTn id="69"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0"/>
      <p:bldP spid="175" grpId="0"/>
      <p:bldP spid="5" grpId="0"/>
      <p:bldP spid="6" grpId="0"/>
      <p:bldP spid="9" grpId="0"/>
      <p:bldP spid="10" grpId="0"/>
      <p:bldP spid="11" grpId="0"/>
      <p:bldP spid="12" grpId="0"/>
      <p:bldP spid="177" grpId="0"/>
      <p:bldP spid="178" grpId="0"/>
      <p:bldP spid="179" grpId="0"/>
      <p:bldP spid="180" grpId="0"/>
      <p:bldP spid="181" grpId="0" animBg="1"/>
      <p:bldP spid="183" grpId="0"/>
      <p:bldP spid="184" grpId="0" animBg="1"/>
      <p:bldP spid="185" grpId="0" animBg="1"/>
      <p:bldP spid="3"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同时决策</a:t>
            </a:r>
            <a:endParaRPr lang="zh-CN" altLang="en-US" dirty="0"/>
          </a:p>
        </p:txBody>
      </p:sp>
      <mc:AlternateContent xmlns:mc="http://schemas.openxmlformats.org/markup-compatibility/2006" xmlns:a14="http://schemas.microsoft.com/office/drawing/2010/main">
        <mc:Choice Requires="a14">
          <p:sp>
            <p:nvSpPr>
              <p:cNvPr id="3" name="矩形 2"/>
              <p:cNvSpPr/>
              <p:nvPr/>
            </p:nvSpPr>
            <p:spPr>
              <a:xfrm>
                <a:off x="2629915" y="1804080"/>
                <a:ext cx="4814594" cy="400110"/>
              </a:xfrm>
              <a:prstGeom prst="rect">
                <a:avLst/>
              </a:prstGeom>
            </p:spPr>
            <p:txBody>
              <a:bodyPr wrap="square">
                <a:spAutoFit/>
              </a:bodyPr>
              <a:lstStyle/>
              <a:p>
                <a:r>
                  <a:rPr lang="zh-CN" altLang="zh-CN" sz="2000" dirty="0">
                    <a:latin typeface="楷体" panose="02010609060101010101" pitchFamily="49" charset="-122"/>
                    <a:ea typeface="楷体" panose="02010609060101010101" pitchFamily="49" charset="-122"/>
                    <a:cs typeface="Times New Roman" panose="02020603050405020304" pitchFamily="18" charset="0"/>
                  </a:rPr>
                  <a:t>长期护理保险保费</a:t>
                </a:r>
                <a:r>
                  <a:rPr lang="zh-CN" altLang="en-US" sz="2000" dirty="0">
                    <a:latin typeface="楷体" panose="02010609060101010101" pitchFamily="49" charset="-122"/>
                    <a:ea typeface="楷体" panose="02010609060101010101" pitchFamily="49" charset="-122"/>
                  </a:rPr>
                  <a:t> </a:t>
                </a:r>
                <a14:m>
                  <m:oMath xmlns:m="http://schemas.openxmlformats.org/officeDocument/2006/math">
                    <m:r>
                      <a:rPr lang="zh-CN" altLang="en-US" sz="2000" i="1" smtClean="0">
                        <a:latin typeface="Cambria Math" panose="02040503050406030204" pitchFamily="18" charset="0"/>
                      </a:rPr>
                      <m:t>𝜋</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𝐼</m:t>
                        </m:r>
                      </m:e>
                    </m:d>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𝜆</m:t>
                        </m:r>
                      </m:e>
                      <m:sub>
                        <m:r>
                          <a:rPr lang="zh-CN" altLang="en-US" sz="2000" i="0">
                            <a:latin typeface="Cambria Math" panose="02040503050406030204" pitchFamily="18" charset="0"/>
                          </a:rPr>
                          <m:t>1</m:t>
                        </m:r>
                      </m:sub>
                    </m:sSub>
                    <m:r>
                      <a:rPr lang="zh-CN" altLang="en-US" sz="2000" i="1">
                        <a:latin typeface="Cambria Math" panose="02040503050406030204" pitchFamily="18" charset="0"/>
                      </a:rPr>
                      <m:t>𝐼</m:t>
                    </m:r>
                    <m:r>
                      <a:rPr lang="zh-CN" altLang="en-US" sz="2000" i="0">
                        <a:latin typeface="Cambria Math" panose="02040503050406030204" pitchFamily="18" charset="0"/>
                      </a:rPr>
                      <m:t>;</m:t>
                    </m:r>
                    <m:r>
                      <a:rPr lang="zh-CN" altLang="en-US" sz="2000" i="1">
                        <a:latin typeface="Cambria Math" panose="02040503050406030204" pitchFamily="18" charset="0"/>
                      </a:rPr>
                      <m:t>𝜋</m:t>
                    </m:r>
                    <m:r>
                      <a:rPr lang="zh-CN" altLang="en-US" sz="2000" i="0">
                        <a:latin typeface="Cambria Math" panose="02040503050406030204" pitchFamily="18" charset="0"/>
                      </a:rPr>
                      <m:t>(</m:t>
                    </m:r>
                    <m:r>
                      <a:rPr lang="zh-CN" altLang="en-US" sz="2000" i="1">
                        <a:latin typeface="Cambria Math" panose="02040503050406030204" pitchFamily="18" charset="0"/>
                      </a:rPr>
                      <m:t>𝐽</m:t>
                    </m:r>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𝜆</m:t>
                        </m:r>
                      </m:e>
                      <m:sub>
                        <m:r>
                          <a:rPr lang="zh-CN" altLang="en-US" sz="2000" i="0">
                            <a:latin typeface="Cambria Math" panose="02040503050406030204" pitchFamily="18" charset="0"/>
                          </a:rPr>
                          <m:t>2</m:t>
                        </m:r>
                      </m:sub>
                    </m:sSub>
                    <m:r>
                      <a:rPr lang="zh-CN" altLang="en-US" sz="2000" i="1">
                        <a:latin typeface="Cambria Math" panose="02040503050406030204" pitchFamily="18" charset="0"/>
                      </a:rPr>
                      <m:t>𝐽</m:t>
                    </m:r>
                  </m:oMath>
                </a14:m>
                <a:endParaRPr lang="zh-CN" altLang="en-US" sz="2000" dirty="0"/>
              </a:p>
            </p:txBody>
          </p:sp>
        </mc:Choice>
        <mc:Fallback xmlns="">
          <p:sp>
            <p:nvSpPr>
              <p:cNvPr id="3" name="矩形 2"/>
              <p:cNvSpPr>
                <a:spLocks noRot="1" noChangeAspect="1" noMove="1" noResize="1" noEditPoints="1" noAdjustHandles="1" noChangeArrowheads="1" noChangeShapeType="1" noTextEdit="1"/>
              </p:cNvSpPr>
              <p:nvPr/>
            </p:nvSpPr>
            <p:spPr>
              <a:xfrm>
                <a:off x="2629915" y="1804080"/>
                <a:ext cx="4814594" cy="400110"/>
              </a:xfrm>
              <a:prstGeom prst="rect">
                <a:avLst/>
              </a:prstGeom>
              <a:blipFill rotWithShape="1">
                <a:blip r:embed="rId2"/>
                <a:stretch>
                  <a:fillRect l="-8" t="-11" r="8" b="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938495" y="3477162"/>
                <a:ext cx="8531280" cy="1013291"/>
              </a:xfrm>
              <a:prstGeom prst="rect">
                <a:avLst/>
              </a:prstGeom>
            </p:spPr>
            <p:txBody>
              <a:bodyPr wrap="square">
                <a:spAutoFit/>
              </a:bodyPr>
              <a:lstStyle/>
              <a:p>
                <a:pPr indent="266700">
                  <a:lnSpc>
                    <a:spcPct val="150000"/>
                  </a:lnSpc>
                  <a:spcAft>
                    <a:spcPts val="0"/>
                  </a:spcAft>
                </a:pPr>
                <a14:m>
                  <m:oMathPara xmlns:m="http://schemas.openxmlformats.org/officeDocument/2006/math">
                    <m:oMathParaPr>
                      <m:jc m:val="left"/>
                    </m:oMathParaPr>
                    <m:oMath xmlns:m="http://schemas.openxmlformats.org/officeDocument/2006/math">
                      <m:sSub>
                        <m:sSubPr>
                          <m:ctrlPr>
                            <a:rPr lang="zh-CN" altLang="zh-CN" sz="2000" i="1" kern="100" smtClean="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𝑈</m:t>
                          </m:r>
                        </m:e>
                        <m:sub>
                          <m:r>
                            <a:rPr lang="en-US" altLang="zh-CN" sz="2000" i="1" kern="100">
                              <a:latin typeface="Cambria Math" panose="02040503050406030204" pitchFamily="18" charset="0"/>
                              <a:ea typeface="仿宋" panose="02010609060101010101" pitchFamily="49" charset="-122"/>
                            </a:rPr>
                            <m:t>1</m:t>
                          </m:r>
                        </m:sub>
                      </m:sSub>
                      <m:r>
                        <a:rPr lang="en-US" altLang="zh-CN" sz="2000" i="1" kern="100">
                          <a:latin typeface="Cambria Math" panose="02040503050406030204" pitchFamily="18" charset="0"/>
                          <a:ea typeface="仿宋" panose="02010609060101010101" pitchFamily="49" charset="-122"/>
                        </a:rPr>
                        <m:t>=−</m:t>
                      </m:r>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仿宋" panose="02010609060101010101" pitchFamily="49" charset="-122"/>
                            </a:rPr>
                            <m:t>𝑒</m:t>
                          </m:r>
                        </m:e>
                        <m:sup>
                          <m:r>
                            <a:rPr lang="en-US" altLang="zh-CN" sz="2000" i="1" kern="100">
                              <a:latin typeface="Cambria Math" panose="02040503050406030204" pitchFamily="18" charset="0"/>
                              <a:ea typeface="仿宋" panose="02010609060101010101" pitchFamily="49"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𝛾</m:t>
                              </m:r>
                            </m:e>
                            <m:sub>
                              <m:r>
                                <a:rPr lang="en-US" altLang="zh-CN" sz="2000" i="1" kern="100">
                                  <a:latin typeface="Cambria Math" panose="02040503050406030204" pitchFamily="18" charset="0"/>
                                  <a:ea typeface="仿宋" panose="02010609060101010101" pitchFamily="49" charset="-122"/>
                                </a:rPr>
                                <m:t>1</m:t>
                              </m:r>
                            </m:sub>
                          </m:sSub>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仿宋" panose="02010609060101010101" pitchFamily="49" charset="-122"/>
                                </a:rPr>
                                <m:t>1−</m:t>
                              </m:r>
                              <m:r>
                                <a:rPr lang="en-US" altLang="zh-CN" sz="2000" i="1" kern="100">
                                  <a:latin typeface="Cambria Math" panose="02040503050406030204" pitchFamily="18" charset="0"/>
                                  <a:ea typeface="仿宋" panose="02010609060101010101" pitchFamily="49" charset="-122"/>
                                </a:rPr>
                                <m:t>𝑘</m:t>
                              </m:r>
                            </m:e>
                          </m:d>
                          <m:d>
                            <m:dPr>
                              <m:ctrlPr>
                                <a:rPr lang="zh-CN" altLang="zh-CN" sz="2000" i="1" kern="100">
                                  <a:latin typeface="Cambria Math" panose="02040503050406030204" pitchFamily="18" charset="0"/>
                                  <a:ea typeface="Cambria Math" panose="02040503050406030204" pitchFamily="18" charset="0"/>
                                </a:rPr>
                              </m:ctrlPr>
                            </m:dP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𝑤</m:t>
                                  </m:r>
                                </m:e>
                                <m:sub>
                                  <m:r>
                                    <a:rPr lang="en-US" altLang="zh-CN" sz="2000" i="1" kern="100">
                                      <a:latin typeface="Cambria Math" panose="02040503050406030204" pitchFamily="18" charset="0"/>
                                      <a:ea typeface="仿宋" panose="02010609060101010101" pitchFamily="49" charset="-122"/>
                                    </a:rPr>
                                    <m:t>0</m:t>
                                  </m:r>
                                </m:sub>
                              </m:sSub>
                              <m:r>
                                <a:rPr lang="en-US" altLang="zh-CN" sz="2000" i="1" kern="100">
                                  <a:latin typeface="Cambria Math" panose="02040503050406030204" pitchFamily="18" charset="0"/>
                                  <a:ea typeface="仿宋" panose="02010609060101010101" pitchFamily="49"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𝑠</m:t>
                                  </m:r>
                                </m:e>
                                <m:sub>
                                  <m:r>
                                    <a:rPr lang="en-US" altLang="zh-CN" sz="2000" i="1" kern="100">
                                      <a:latin typeface="Cambria Math" panose="02040503050406030204" pitchFamily="18" charset="0"/>
                                      <a:ea typeface="仿宋" panose="02010609060101010101" pitchFamily="49" charset="-122"/>
                                    </a:rPr>
                                    <m:t>1</m:t>
                                  </m:r>
                                </m:sub>
                              </m:sSub>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𝑤</m:t>
                                  </m:r>
                                </m:e>
                                <m:sub>
                                  <m:r>
                                    <a:rPr lang="en-US" altLang="zh-CN" sz="2000" i="1" kern="100">
                                      <a:latin typeface="Cambria Math" panose="02040503050406030204" pitchFamily="18" charset="0"/>
                                      <a:ea typeface="仿宋" panose="02010609060101010101" pitchFamily="49" charset="-122"/>
                                    </a:rPr>
                                    <m:t>0</m:t>
                                  </m:r>
                                </m:sub>
                              </m:sSub>
                              <m:r>
                                <a:rPr lang="en-US" altLang="zh-CN" sz="2000" i="1" kern="100">
                                  <a:latin typeface="Cambria Math" panose="02040503050406030204" pitchFamily="18" charset="0"/>
                                  <a:ea typeface="仿宋" panose="02010609060101010101" pitchFamily="49"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𝜆</m:t>
                                  </m:r>
                                </m:e>
                                <m:sub>
                                  <m:r>
                                    <a:rPr lang="en-US" altLang="zh-CN" sz="2000" i="1" kern="100">
                                      <a:latin typeface="Cambria Math" panose="02040503050406030204" pitchFamily="18" charset="0"/>
                                      <a:ea typeface="仿宋" panose="02010609060101010101" pitchFamily="49" charset="-122"/>
                                    </a:rPr>
                                    <m:t>1</m:t>
                                  </m:r>
                                </m:sub>
                              </m:sSub>
                              <m:r>
                                <a:rPr lang="en-US" altLang="zh-CN" sz="2000" i="1" kern="100">
                                  <a:latin typeface="Cambria Math" panose="02040503050406030204" pitchFamily="18" charset="0"/>
                                  <a:ea typeface="仿宋" panose="02010609060101010101" pitchFamily="49" charset="-122"/>
                                </a:rPr>
                                <m:t>𝐼</m:t>
                              </m:r>
                            </m:e>
                          </m:d>
                        </m:sup>
                      </m:sSup>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𝑝</m:t>
                      </m:r>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仿宋" panose="02010609060101010101" pitchFamily="49" charset="-122"/>
                            </a:rPr>
                            <m:t>1−</m:t>
                          </m:r>
                          <m:r>
                            <a:rPr lang="en-US" altLang="zh-CN" sz="2000" i="1" kern="100">
                              <a:latin typeface="Cambria Math" panose="02040503050406030204" pitchFamily="18" charset="0"/>
                              <a:ea typeface="仿宋" panose="02010609060101010101" pitchFamily="49" charset="-122"/>
                            </a:rPr>
                            <m:t>𝑞</m:t>
                          </m:r>
                        </m:e>
                      </m:d>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仿宋" panose="02010609060101010101" pitchFamily="49" charset="-122"/>
                            </a:rPr>
                            <m:t>𝑒</m:t>
                          </m:r>
                        </m:e>
                        <m:sup>
                          <m:r>
                            <a:rPr lang="en-US" altLang="zh-CN" sz="2000" i="1" kern="100">
                              <a:latin typeface="Cambria Math" panose="02040503050406030204" pitchFamily="18" charset="0"/>
                              <a:ea typeface="仿宋" panose="02010609060101010101" pitchFamily="49"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𝛾</m:t>
                              </m:r>
                            </m:e>
                            <m:sub>
                              <m:r>
                                <a:rPr lang="en-US" altLang="zh-CN" sz="2000" i="1" kern="100">
                                  <a:latin typeface="Cambria Math" panose="02040503050406030204" pitchFamily="18" charset="0"/>
                                  <a:ea typeface="仿宋" panose="02010609060101010101" pitchFamily="49" charset="-122"/>
                                </a:rPr>
                                <m:t>2</m:t>
                              </m:r>
                            </m:sub>
                          </m:sSub>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仿宋" panose="02010609060101010101" pitchFamily="49" charset="-122"/>
                                </a:rPr>
                                <m:t>1−</m:t>
                              </m:r>
                              <m:r>
                                <a:rPr lang="en-US" altLang="zh-CN" sz="2000" i="1" kern="100">
                                  <a:latin typeface="Cambria Math" panose="02040503050406030204" pitchFamily="18" charset="0"/>
                                  <a:ea typeface="仿宋" panose="02010609060101010101" pitchFamily="49" charset="-122"/>
                                </a:rPr>
                                <m:t>𝑘</m:t>
                              </m:r>
                            </m:e>
                          </m:d>
                          <m:d>
                            <m:dPr>
                              <m:ctrlPr>
                                <a:rPr lang="zh-CN" altLang="zh-CN" sz="2000" i="1" kern="100">
                                  <a:latin typeface="Cambria Math" panose="02040503050406030204" pitchFamily="18" charset="0"/>
                                  <a:ea typeface="Cambria Math" panose="02040503050406030204" pitchFamily="18" charset="0"/>
                                </a:rPr>
                              </m:ctrlPr>
                            </m:dP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𝑤</m:t>
                                  </m:r>
                                </m:e>
                                <m:sub>
                                  <m:r>
                                    <a:rPr lang="en-US" altLang="zh-CN" sz="2000" i="1" kern="100">
                                      <a:latin typeface="Cambria Math" panose="02040503050406030204" pitchFamily="18" charset="0"/>
                                      <a:ea typeface="仿宋" panose="02010609060101010101" pitchFamily="49" charset="-122"/>
                                    </a:rPr>
                                    <m:t>0</m:t>
                                  </m:r>
                                </m:sub>
                              </m:sSub>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𝑠</m:t>
                                  </m:r>
                                </m:e>
                                <m:sub>
                                  <m:r>
                                    <a:rPr lang="en-US" altLang="zh-CN" sz="2000" i="1" kern="100">
                                      <a:latin typeface="Cambria Math" panose="02040503050406030204" pitchFamily="18" charset="0"/>
                                      <a:ea typeface="仿宋" panose="02010609060101010101" pitchFamily="49" charset="-122"/>
                                    </a:rPr>
                                    <m:t>1</m:t>
                                  </m:r>
                                </m:sub>
                              </m:sSub>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仿宋" panose="02010609060101010101" pitchFamily="49" charset="-122"/>
                                    </a:rPr>
                                    <m:t>1+</m:t>
                                  </m:r>
                                  <m:r>
                                    <a:rPr lang="en-US" altLang="zh-CN" sz="2000" i="1" kern="100">
                                      <a:latin typeface="Cambria Math" panose="02040503050406030204" pitchFamily="18" charset="0"/>
                                      <a:ea typeface="仿宋" panose="02010609060101010101" pitchFamily="49" charset="-122"/>
                                    </a:rPr>
                                    <m:t>𝑖</m:t>
                                  </m:r>
                                </m:e>
                              </m:d>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𝑁</m:t>
                              </m:r>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𝐼</m:t>
                              </m:r>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𝜃</m:t>
                              </m:r>
                              <m:r>
                                <a:rPr lang="en-US" altLang="zh-CN" sz="2000" i="1" kern="100">
                                  <a:latin typeface="Cambria Math" panose="02040503050406030204" pitchFamily="18" charset="0"/>
                                  <a:ea typeface="仿宋" panose="02010609060101010101" pitchFamily="49" charset="-122"/>
                                </a:rPr>
                                <m:t>𝑒</m:t>
                              </m:r>
                            </m:e>
                          </m:d>
                        </m:sup>
                      </m:sSup>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仿宋" panose="02010609060101010101" pitchFamily="49" charset="-122"/>
                            </a:rPr>
                            <m:t>𝑒</m:t>
                          </m:r>
                        </m:e>
                        <m:sup>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𝜌</m:t>
                          </m:r>
                        </m:sup>
                      </m:sSup>
                      <m:r>
                        <a:rPr lang="en-US" altLang="zh-CN" sz="2000" b="0" i="1" smtClean="0">
                          <a:latin typeface="Cambria Math" panose="02040503050406030204" pitchFamily="18" charset="0"/>
                          <a:ea typeface="仿宋" panose="02010609060101010101" pitchFamily="49" charset="-122"/>
                          <a:cs typeface="Times New Roman" panose="02020603050405020304" pitchFamily="18" charset="0"/>
                        </a:rPr>
                        <m:t> </m:t>
                      </m:r>
                    </m:oMath>
                  </m:oMathPara>
                </a14:m>
                <a:endParaRPr lang="en-US" altLang="zh-CN" sz="2000" b="0" i="1" dirty="0">
                  <a:latin typeface="Cambria Math" panose="02040503050406030204" pitchFamily="18" charset="0"/>
                  <a:ea typeface="仿宋" panose="02010609060101010101" pitchFamily="49" charset="-122"/>
                  <a:cs typeface="Times New Roman" panose="02020603050405020304" pitchFamily="18" charset="0"/>
                </a:endParaRPr>
              </a:p>
              <a:p>
                <a:pPr indent="266700">
                  <a:lnSpc>
                    <a:spcPct val="150000"/>
                  </a:lnSpc>
                  <a:spcAft>
                    <a:spcPts val="0"/>
                  </a:spcAft>
                </a:pPr>
                <a:r>
                  <a:rPr lang="en-US" altLang="zh-CN" sz="2000" dirty="0">
                    <a:ea typeface="仿宋" panose="02010609060101010101" pitchFamily="49" charset="-122"/>
                    <a:cs typeface="Times New Roman" panose="02020603050405020304" pitchFamily="18" charset="0"/>
                  </a:rPr>
                  <a:t>    </a:t>
                </a:r>
                <a14:m>
                  <m:oMath xmlns:m="http://schemas.openxmlformats.org/officeDocument/2006/math">
                    <m:r>
                      <a:rPr lang="en-US" altLang="zh-CN" sz="2000" b="0" i="0" smtClean="0">
                        <a:latin typeface="Cambria Math" panose="02040503050406030204" pitchFamily="18" charset="0"/>
                        <a:ea typeface="仿宋" panose="02010609060101010101" pitchFamily="49" charset="-122"/>
                        <a:cs typeface="Times New Roman" panose="02020603050405020304" pitchFamily="18" charset="0"/>
                      </a:rPr>
                      <m:t>     </m:t>
                    </m:r>
                    <m:r>
                      <a:rPr lang="en-US" altLang="zh-CN" sz="2000" i="1">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𝑝𝑞</m:t>
                    </m:r>
                    <m:sSup>
                      <m:sSupPr>
                        <m:ctrlPr>
                          <a:rPr lang="zh-CN" altLang="zh-CN" sz="2000" i="1">
                            <a:effectLst/>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仿宋" panose="02010609060101010101" pitchFamily="49" charset="-122"/>
                            <a:cs typeface="Times New Roman" panose="02020603050405020304" pitchFamily="18" charset="0"/>
                          </a:rPr>
                          <m:t>𝑒</m:t>
                        </m:r>
                      </m:e>
                      <m:sup>
                        <m:r>
                          <a:rPr lang="en-US" altLang="zh-CN" sz="2000" i="1">
                            <a:latin typeface="Cambria Math" panose="02040503050406030204" pitchFamily="18" charset="0"/>
                            <a:ea typeface="仿宋" panose="02010609060101010101" pitchFamily="49"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仿宋" panose="02010609060101010101" pitchFamily="49" charset="-122"/>
                                <a:cs typeface="Times New Roman" panose="02020603050405020304" pitchFamily="18" charset="0"/>
                              </a:rPr>
                              <m:t>𝛾</m:t>
                            </m:r>
                          </m:e>
                          <m:sub>
                            <m:r>
                              <a:rPr lang="en-US" altLang="zh-CN" sz="2000" i="1">
                                <a:latin typeface="Cambria Math" panose="02040503050406030204" pitchFamily="18" charset="0"/>
                                <a:ea typeface="仿宋" panose="02010609060101010101" pitchFamily="49" charset="-122"/>
                                <a:cs typeface="Times New Roman" panose="02020603050405020304" pitchFamily="18" charset="0"/>
                              </a:rPr>
                              <m:t>2</m:t>
                            </m:r>
                          </m:sub>
                        </m:sSub>
                        <m:r>
                          <a:rPr lang="en-US" altLang="zh-CN" sz="2000" i="1">
                            <a:latin typeface="Cambria Math" panose="02040503050406030204" pitchFamily="18" charset="0"/>
                            <a:ea typeface="仿宋" panose="02010609060101010101" pitchFamily="49" charset="-122"/>
                            <a:cs typeface="Times New Roman" panose="02020603050405020304" pitchFamily="18" charset="0"/>
                          </a:rPr>
                          <m:t>(1−</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𝑘</m:t>
                        </m:r>
                        <m:r>
                          <a:rPr lang="en-US" altLang="zh-CN" sz="2000" i="1">
                            <a:latin typeface="Cambria Math" panose="02040503050406030204" pitchFamily="18" charset="0"/>
                            <a:ea typeface="仿宋" panose="02010609060101010101" pitchFamily="49" charset="-122"/>
                            <a:cs typeface="Times New Roman" panose="02020603050405020304" pitchFamily="18" charset="0"/>
                          </a:rPr>
                          <m:t>)</m:t>
                        </m:r>
                        <m:d>
                          <m:dPr>
                            <m:ctrlPr>
                              <a:rPr lang="zh-CN" altLang="zh-CN" sz="2000" i="1">
                                <a:effectLst/>
                                <a:latin typeface="Cambria Math" panose="02040503050406030204" pitchFamily="18" charset="0"/>
                                <a:ea typeface="Cambria Math" panose="02040503050406030204" pitchFamily="18" charset="0"/>
                              </a:rPr>
                            </m:ctrlPr>
                          </m:dPr>
                          <m:e>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仿宋" panose="02010609060101010101" pitchFamily="49" charset="-122"/>
                                    <a:cs typeface="Times New Roman" panose="02020603050405020304" pitchFamily="18" charset="0"/>
                                  </a:rPr>
                                  <m:t>𝑤</m:t>
                                </m:r>
                              </m:e>
                              <m:sub>
                                <m:r>
                                  <a:rPr lang="en-US" altLang="zh-CN" sz="2000" i="1">
                                    <a:latin typeface="Cambria Math" panose="02040503050406030204" pitchFamily="18" charset="0"/>
                                    <a:ea typeface="仿宋" panose="02010609060101010101" pitchFamily="49" charset="-122"/>
                                    <a:cs typeface="Times New Roman" panose="02020603050405020304" pitchFamily="18" charset="0"/>
                                  </a:rPr>
                                  <m:t>0</m:t>
                                </m:r>
                              </m:sub>
                            </m:sSub>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仿宋" panose="02010609060101010101" pitchFamily="49" charset="-122"/>
                                    <a:cs typeface="Times New Roman" panose="02020603050405020304" pitchFamily="18" charset="0"/>
                                  </a:rPr>
                                  <m:t>𝑠</m:t>
                                </m:r>
                              </m:e>
                              <m:sub>
                                <m:r>
                                  <a:rPr lang="en-US" altLang="zh-CN" sz="2000" i="1">
                                    <a:latin typeface="Cambria Math" panose="02040503050406030204" pitchFamily="18" charset="0"/>
                                    <a:ea typeface="仿宋" panose="02010609060101010101" pitchFamily="49" charset="-122"/>
                                    <a:cs typeface="Times New Roman" panose="02020603050405020304" pitchFamily="18" charset="0"/>
                                  </a:rPr>
                                  <m:t>1</m:t>
                                </m:r>
                              </m:sub>
                            </m:sSub>
                            <m:d>
                              <m:dPr>
                                <m:ctrlPr>
                                  <a:rPr lang="zh-CN" altLang="zh-CN" sz="2000" i="1">
                                    <a:effectLst/>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仿宋" panose="02010609060101010101" pitchFamily="49" charset="-122"/>
                                    <a:cs typeface="Times New Roman" panose="02020603050405020304" pitchFamily="18" charset="0"/>
                                  </a:rPr>
                                  <m:t>1+</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𝑖</m:t>
                                </m:r>
                              </m:e>
                            </m:d>
                            <m:r>
                              <a:rPr lang="en-US" altLang="zh-CN" sz="2000" i="1">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𝑁</m:t>
                            </m:r>
                            <m:r>
                              <a:rPr lang="en-US" altLang="zh-CN" sz="2000" i="1">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𝐼</m:t>
                            </m:r>
                          </m:e>
                        </m:d>
                      </m:sup>
                    </m:sSup>
                    <m:sSup>
                      <m:sSupPr>
                        <m:ctrlPr>
                          <a:rPr lang="zh-CN" altLang="zh-CN" sz="2000" i="1">
                            <a:effectLst/>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仿宋" panose="02010609060101010101" pitchFamily="49" charset="-122"/>
                            <a:cs typeface="Times New Roman" panose="02020603050405020304" pitchFamily="18" charset="0"/>
                          </a:rPr>
                          <m:t>𝑒</m:t>
                        </m:r>
                      </m:e>
                      <m:sup>
                        <m:r>
                          <a:rPr lang="en-US" altLang="zh-CN" sz="2000" i="1">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𝜌</m:t>
                        </m:r>
                      </m:sup>
                    </m:sSup>
                    <m:r>
                      <a:rPr lang="en-US" altLang="zh-CN" sz="2000" i="1">
                        <a:latin typeface="Cambria Math" panose="02040503050406030204" pitchFamily="18" charset="0"/>
                        <a:ea typeface="仿宋" panose="02010609060101010101" pitchFamily="49" charset="-122"/>
                        <a:cs typeface="Times New Roman" panose="02020603050405020304" pitchFamily="18" charset="0"/>
                      </a:rPr>
                      <m:t>−(1−</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𝑝</m:t>
                    </m:r>
                    <m:r>
                      <a:rPr lang="en-US" altLang="zh-CN" sz="2000" i="1">
                        <a:latin typeface="Cambria Math" panose="02040503050406030204" pitchFamily="18" charset="0"/>
                        <a:ea typeface="仿宋" panose="02010609060101010101" pitchFamily="49" charset="-122"/>
                        <a:cs typeface="Times New Roman" panose="02020603050405020304" pitchFamily="18" charset="0"/>
                      </a:rPr>
                      <m:t>)</m:t>
                    </m:r>
                    <m:sSup>
                      <m:sSupPr>
                        <m:ctrlPr>
                          <a:rPr lang="zh-CN" altLang="zh-CN" sz="2000" i="1">
                            <a:effectLst/>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仿宋" panose="02010609060101010101" pitchFamily="49" charset="-122"/>
                            <a:cs typeface="Times New Roman" panose="02020603050405020304" pitchFamily="18" charset="0"/>
                          </a:rPr>
                          <m:t>𝑒</m:t>
                        </m:r>
                      </m:e>
                      <m:sup>
                        <m:r>
                          <a:rPr lang="en-US" altLang="zh-CN" sz="2000" i="1">
                            <a:latin typeface="Cambria Math" panose="02040503050406030204" pitchFamily="18" charset="0"/>
                            <a:ea typeface="仿宋" panose="02010609060101010101" pitchFamily="49"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仿宋" panose="02010609060101010101" pitchFamily="49" charset="-122"/>
                                <a:cs typeface="Times New Roman" panose="02020603050405020304" pitchFamily="18" charset="0"/>
                              </a:rPr>
                              <m:t>𝛾</m:t>
                            </m:r>
                          </m:e>
                          <m:sub>
                            <m:r>
                              <a:rPr lang="en-US" altLang="zh-CN" sz="2000" i="1">
                                <a:latin typeface="Cambria Math" panose="02040503050406030204" pitchFamily="18" charset="0"/>
                                <a:ea typeface="仿宋" panose="02010609060101010101" pitchFamily="49" charset="-122"/>
                                <a:cs typeface="Times New Roman" panose="02020603050405020304" pitchFamily="18" charset="0"/>
                              </a:rPr>
                              <m:t>1</m:t>
                            </m:r>
                          </m:sub>
                        </m:sSub>
                        <m:r>
                          <a:rPr lang="en-US" altLang="zh-CN" sz="2000" i="1">
                            <a:latin typeface="Cambria Math" panose="02040503050406030204" pitchFamily="18" charset="0"/>
                            <a:ea typeface="仿宋" panose="02010609060101010101" pitchFamily="49" charset="-122"/>
                            <a:cs typeface="Times New Roman" panose="02020603050405020304" pitchFamily="18" charset="0"/>
                          </a:rPr>
                          <m:t>(1−</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𝑘</m:t>
                        </m:r>
                        <m:r>
                          <a:rPr lang="en-US" altLang="zh-CN" sz="2000" i="1">
                            <a:latin typeface="Cambria Math" panose="02040503050406030204" pitchFamily="18" charset="0"/>
                            <a:ea typeface="仿宋" panose="02010609060101010101" pitchFamily="49"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仿宋" panose="02010609060101010101" pitchFamily="49" charset="-122"/>
                                <a:cs typeface="Times New Roman" panose="02020603050405020304" pitchFamily="18" charset="0"/>
                              </a:rPr>
                              <m:t>𝑤</m:t>
                            </m:r>
                          </m:e>
                          <m:sub>
                            <m:r>
                              <a:rPr lang="en-US" altLang="zh-CN" sz="2000" i="1">
                                <a:latin typeface="Cambria Math" panose="02040503050406030204" pitchFamily="18" charset="0"/>
                                <a:ea typeface="仿宋" panose="02010609060101010101" pitchFamily="49" charset="-122"/>
                                <a:cs typeface="Times New Roman" panose="02020603050405020304" pitchFamily="18" charset="0"/>
                              </a:rPr>
                              <m:t>0</m:t>
                            </m:r>
                          </m:sub>
                        </m:sSub>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仿宋" panose="02010609060101010101" pitchFamily="49" charset="-122"/>
                                <a:cs typeface="Times New Roman" panose="02020603050405020304" pitchFamily="18" charset="0"/>
                              </a:rPr>
                              <m:t>𝑠</m:t>
                            </m:r>
                          </m:e>
                          <m:sub>
                            <m:r>
                              <a:rPr lang="en-US" altLang="zh-CN" sz="2000" i="1">
                                <a:latin typeface="Cambria Math" panose="02040503050406030204" pitchFamily="18" charset="0"/>
                                <a:ea typeface="仿宋" panose="02010609060101010101" pitchFamily="49" charset="-122"/>
                                <a:cs typeface="Times New Roman" panose="02020603050405020304" pitchFamily="18" charset="0"/>
                              </a:rPr>
                              <m:t>1</m:t>
                            </m:r>
                          </m:sub>
                        </m:sSub>
                        <m:d>
                          <m:dPr>
                            <m:ctrlPr>
                              <a:rPr lang="zh-CN" altLang="zh-CN" sz="2000" i="1">
                                <a:effectLst/>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仿宋" panose="02010609060101010101" pitchFamily="49" charset="-122"/>
                                <a:cs typeface="Times New Roman" panose="02020603050405020304" pitchFamily="18" charset="0"/>
                              </a:rPr>
                              <m:t>1+</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𝑖</m:t>
                            </m:r>
                          </m:e>
                        </m:d>
                      </m:sup>
                    </m:sSup>
                    <m:sSup>
                      <m:sSupPr>
                        <m:ctrlPr>
                          <a:rPr lang="zh-CN" altLang="zh-CN" sz="2000" i="1">
                            <a:effectLst/>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仿宋" panose="02010609060101010101" pitchFamily="49" charset="-122"/>
                            <a:cs typeface="Times New Roman" panose="02020603050405020304" pitchFamily="18" charset="0"/>
                          </a:rPr>
                          <m:t>𝑒</m:t>
                        </m:r>
                      </m:e>
                      <m:sup>
                        <m:r>
                          <a:rPr lang="en-US" altLang="zh-CN" sz="2000" i="1">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𝜌</m:t>
                        </m:r>
                      </m:sup>
                    </m:sSup>
                  </m:oMath>
                </a14:m>
                <a:endParaRPr lang="zh-CN" altLang="en-US" sz="2000" dirty="0"/>
              </a:p>
            </p:txBody>
          </p:sp>
        </mc:Choice>
        <mc:Fallback xmlns="">
          <p:sp>
            <p:nvSpPr>
              <p:cNvPr id="7" name="矩形 6"/>
              <p:cNvSpPr>
                <a:spLocks noRot="1" noChangeAspect="1" noMove="1" noResize="1" noEditPoints="1" noAdjustHandles="1" noChangeArrowheads="1" noChangeShapeType="1" noTextEdit="1"/>
              </p:cNvSpPr>
              <p:nvPr/>
            </p:nvSpPr>
            <p:spPr>
              <a:xfrm>
                <a:off x="938495" y="3477162"/>
                <a:ext cx="8531280" cy="1013291"/>
              </a:xfrm>
              <a:prstGeom prst="rect">
                <a:avLst/>
              </a:prstGeom>
              <a:blipFill rotWithShape="1">
                <a:blip r:embed="rId3"/>
                <a:stretch>
                  <a:fillRect l="-7" t="-53" b="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603575" y="4896318"/>
                <a:ext cx="9495345" cy="1274901"/>
              </a:xfrm>
              <a:prstGeom prst="rect">
                <a:avLst/>
              </a:prstGeom>
            </p:spPr>
            <p:txBody>
              <a:bodyPr wrap="square">
                <a:spAutoFit/>
              </a:bodyPr>
              <a:lstStyle/>
              <a:p>
                <a:pPr indent="266700">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2000" i="1" kern="100" smtClean="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𝑈</m:t>
                          </m:r>
                        </m:e>
                        <m:sub>
                          <m:r>
                            <a:rPr lang="en-US" altLang="zh-CN" sz="2000" i="1" kern="100">
                              <a:latin typeface="Cambria Math" panose="02040503050406030204" pitchFamily="18" charset="0"/>
                              <a:ea typeface="仿宋" panose="02010609060101010101" pitchFamily="49" charset="-122"/>
                            </a:rPr>
                            <m:t>2</m:t>
                          </m:r>
                        </m:sub>
                      </m:sSub>
                      <m:r>
                        <a:rPr lang="en-US" altLang="zh-CN" sz="2000" i="1" kern="100">
                          <a:latin typeface="Cambria Math" panose="02040503050406030204" pitchFamily="18" charset="0"/>
                          <a:ea typeface="仿宋" panose="02010609060101010101" pitchFamily="49" charset="-122"/>
                        </a:rPr>
                        <m:t>=−</m:t>
                      </m:r>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仿宋" panose="02010609060101010101" pitchFamily="49" charset="-122"/>
                            </a:rPr>
                            <m:t>𝑒</m:t>
                          </m:r>
                        </m:e>
                        <m:sup>
                          <m:r>
                            <a:rPr lang="en-US" altLang="zh-CN" sz="2000" i="1" kern="100">
                              <a:latin typeface="Cambria Math" panose="02040503050406030204" pitchFamily="18" charset="0"/>
                              <a:ea typeface="仿宋" panose="02010609060101010101" pitchFamily="49"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𝛾</m:t>
                              </m:r>
                            </m:e>
                            <m:sub>
                              <m:r>
                                <a:rPr lang="en-US" altLang="zh-CN" sz="2000" i="1" kern="100">
                                  <a:latin typeface="Cambria Math" panose="02040503050406030204" pitchFamily="18" charset="0"/>
                                  <a:ea typeface="仿宋" panose="02010609060101010101" pitchFamily="49" charset="-122"/>
                                </a:rPr>
                                <m:t>3</m:t>
                              </m:r>
                            </m:sub>
                          </m:sSub>
                          <m:d>
                            <m:dPr>
                              <m:ctrlPr>
                                <a:rPr lang="zh-CN" altLang="zh-CN" sz="2000" i="1" kern="100">
                                  <a:latin typeface="Cambria Math" panose="02040503050406030204" pitchFamily="18" charset="0"/>
                                  <a:ea typeface="Cambria Math" panose="02040503050406030204" pitchFamily="18" charset="0"/>
                                </a:rPr>
                              </m:ctrlPr>
                            </m:dP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𝑧</m:t>
                                  </m:r>
                                </m:e>
                                <m:sub>
                                  <m:r>
                                    <a:rPr lang="en-US" altLang="zh-CN" sz="2000" i="1" kern="100">
                                      <a:latin typeface="Cambria Math" panose="02040503050406030204" pitchFamily="18" charset="0"/>
                                      <a:ea typeface="仿宋" panose="02010609060101010101" pitchFamily="49" charset="-122"/>
                                    </a:rPr>
                                    <m:t>0</m:t>
                                  </m:r>
                                </m:sub>
                              </m:sSub>
                              <m:r>
                                <a:rPr lang="en-US" altLang="zh-CN" sz="2000" i="1" kern="100">
                                  <a:latin typeface="Cambria Math" panose="02040503050406030204" pitchFamily="18" charset="0"/>
                                  <a:ea typeface="仿宋" panose="02010609060101010101" pitchFamily="49"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𝑠</m:t>
                                  </m:r>
                                </m:e>
                                <m:sub>
                                  <m:r>
                                    <a:rPr lang="en-US" altLang="zh-CN" sz="2000" i="1" kern="100">
                                      <a:latin typeface="Cambria Math" panose="02040503050406030204" pitchFamily="18" charset="0"/>
                                      <a:ea typeface="仿宋" panose="02010609060101010101" pitchFamily="49" charset="-122"/>
                                    </a:rPr>
                                    <m:t>2</m:t>
                                  </m:r>
                                </m:sub>
                              </m:sSub>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𝑧</m:t>
                                  </m:r>
                                </m:e>
                                <m:sub>
                                  <m:r>
                                    <a:rPr lang="en-US" altLang="zh-CN" sz="2000" i="1" kern="100">
                                      <a:latin typeface="Cambria Math" panose="02040503050406030204" pitchFamily="18" charset="0"/>
                                      <a:ea typeface="仿宋" panose="02010609060101010101" pitchFamily="49" charset="-122"/>
                                    </a:rPr>
                                    <m:t>0</m:t>
                                  </m:r>
                                </m:sub>
                              </m:sSub>
                              <m:r>
                                <a:rPr lang="en-US" altLang="zh-CN" sz="2000" i="1" kern="100">
                                  <a:latin typeface="Cambria Math" panose="02040503050406030204" pitchFamily="18" charset="0"/>
                                  <a:ea typeface="仿宋" panose="02010609060101010101" pitchFamily="49"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𝜆</m:t>
                                  </m:r>
                                </m:e>
                                <m:sub>
                                  <m:r>
                                    <a:rPr lang="en-US" altLang="zh-CN" sz="2000" i="1" kern="100">
                                      <a:latin typeface="Cambria Math" panose="02040503050406030204" pitchFamily="18" charset="0"/>
                                      <a:ea typeface="仿宋" panose="02010609060101010101" pitchFamily="49" charset="-122"/>
                                    </a:rPr>
                                    <m:t>2</m:t>
                                  </m:r>
                                </m:sub>
                              </m:sSub>
                              <m:r>
                                <a:rPr lang="en-US" altLang="zh-CN" sz="2000" i="1" kern="100">
                                  <a:latin typeface="Cambria Math" panose="02040503050406030204" pitchFamily="18" charset="0"/>
                                  <a:ea typeface="仿宋" panose="02010609060101010101" pitchFamily="49" charset="-122"/>
                                </a:rPr>
                                <m:t>𝐽</m:t>
                              </m:r>
                            </m:e>
                          </m:d>
                        </m:sup>
                      </m:sSup>
                      <m:r>
                        <a:rPr lang="en-US" altLang="zh-CN" sz="2000" i="1" kern="100">
                          <a:latin typeface="Cambria Math" panose="02040503050406030204" pitchFamily="18" charset="0"/>
                          <a:ea typeface="仿宋" panose="02010609060101010101" pitchFamily="49" charset="-122"/>
                        </a:rPr>
                        <m:t>−</m:t>
                      </m:r>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仿宋" panose="02010609060101010101" pitchFamily="49" charset="-122"/>
                            </a:rPr>
                            <m:t>1−</m:t>
                          </m:r>
                          <m:r>
                            <a:rPr lang="en-US" altLang="zh-CN" sz="2000" i="1" kern="100">
                              <a:latin typeface="Cambria Math" panose="02040503050406030204" pitchFamily="18" charset="0"/>
                              <a:ea typeface="仿宋" panose="02010609060101010101" pitchFamily="49" charset="-122"/>
                            </a:rPr>
                            <m:t>𝑝</m:t>
                          </m:r>
                        </m:e>
                      </m:d>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仿宋" panose="02010609060101010101" pitchFamily="49" charset="-122"/>
                            </a:rPr>
                            <m:t>1−</m:t>
                          </m:r>
                          <m:r>
                            <a:rPr lang="en-US" altLang="zh-CN" sz="2000" i="1" kern="100">
                              <a:latin typeface="Cambria Math" panose="02040503050406030204" pitchFamily="18" charset="0"/>
                              <a:ea typeface="仿宋" panose="02010609060101010101" pitchFamily="49" charset="-122"/>
                            </a:rPr>
                            <m:t>𝑞</m:t>
                          </m:r>
                        </m:e>
                      </m:d>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仿宋" panose="02010609060101010101" pitchFamily="49" charset="-122"/>
                            </a:rPr>
                            <m:t>𝑒</m:t>
                          </m:r>
                        </m:e>
                        <m:sup>
                          <m:r>
                            <a:rPr lang="en-US" altLang="zh-CN" sz="2000" i="1" kern="100">
                              <a:latin typeface="Cambria Math" panose="02040503050406030204" pitchFamily="18" charset="0"/>
                              <a:ea typeface="仿宋" panose="02010609060101010101" pitchFamily="49"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𝛾</m:t>
                              </m:r>
                            </m:e>
                            <m:sub>
                              <m:r>
                                <a:rPr lang="en-US" altLang="zh-CN" sz="2000" i="1" kern="100">
                                  <a:latin typeface="Cambria Math" panose="02040503050406030204" pitchFamily="18" charset="0"/>
                                  <a:ea typeface="仿宋" panose="02010609060101010101" pitchFamily="49" charset="-122"/>
                                </a:rPr>
                                <m:t>3</m:t>
                              </m:r>
                            </m:sub>
                          </m:sSub>
                          <m:d>
                            <m:dPr>
                              <m:ctrlPr>
                                <a:rPr lang="zh-CN" altLang="zh-CN" sz="2000" i="1" kern="100">
                                  <a:latin typeface="Cambria Math" panose="02040503050406030204" pitchFamily="18" charset="0"/>
                                  <a:ea typeface="Cambria Math" panose="02040503050406030204" pitchFamily="18" charset="0"/>
                                </a:rPr>
                              </m:ctrlPr>
                            </m:dP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𝑧</m:t>
                                  </m:r>
                                </m:e>
                                <m:sub>
                                  <m:r>
                                    <a:rPr lang="en-US" altLang="zh-CN" sz="2000" i="1" kern="100">
                                      <a:latin typeface="Cambria Math" panose="02040503050406030204" pitchFamily="18" charset="0"/>
                                      <a:ea typeface="仿宋" panose="02010609060101010101" pitchFamily="49" charset="-122"/>
                                    </a:rPr>
                                    <m:t>0</m:t>
                                  </m:r>
                                </m:sub>
                              </m:sSub>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𝑠</m:t>
                                  </m:r>
                                </m:e>
                                <m:sub>
                                  <m:r>
                                    <a:rPr lang="en-US" altLang="zh-CN" sz="2000" i="1" kern="100">
                                      <a:latin typeface="Cambria Math" panose="02040503050406030204" pitchFamily="18" charset="0"/>
                                      <a:ea typeface="仿宋" panose="02010609060101010101" pitchFamily="49" charset="-122"/>
                                    </a:rPr>
                                    <m:t>2</m:t>
                                  </m:r>
                                </m:sub>
                              </m:sSub>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仿宋" panose="02010609060101010101" pitchFamily="49" charset="-122"/>
                                    </a:rPr>
                                    <m:t>1+</m:t>
                                  </m:r>
                                  <m:r>
                                    <a:rPr lang="en-US" altLang="zh-CN" sz="2000" i="1" kern="100">
                                      <a:latin typeface="Cambria Math" panose="02040503050406030204" pitchFamily="18" charset="0"/>
                                      <a:ea typeface="仿宋" panose="02010609060101010101" pitchFamily="49" charset="-122"/>
                                    </a:rPr>
                                    <m:t>𝑖</m:t>
                                  </m:r>
                                </m:e>
                              </m:d>
                              <m:r>
                                <a:rPr lang="en-US" altLang="zh-CN" sz="2000" i="1" kern="100">
                                  <a:latin typeface="Cambria Math" panose="02040503050406030204" pitchFamily="18" charset="0"/>
                                  <a:ea typeface="仿宋" panose="02010609060101010101" pitchFamily="49" charset="-122"/>
                                </a:rPr>
                                <m:t>−</m:t>
                              </m:r>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仿宋" panose="02010609060101010101" pitchFamily="49" charset="-122"/>
                                    </a:rPr>
                                    <m:t>𝜃</m:t>
                                  </m:r>
                                </m:e>
                                <m:sup>
                                  <m:r>
                                    <a:rPr lang="en-US" altLang="zh-CN" sz="2000" i="1" kern="100">
                                      <a:latin typeface="Cambria Math" panose="02040503050406030204" pitchFamily="18" charset="0"/>
                                      <a:ea typeface="仿宋" panose="02010609060101010101" pitchFamily="49" charset="-122"/>
                                    </a:rPr>
                                    <m:t>′</m:t>
                                  </m:r>
                                </m:sup>
                              </m:sSup>
                              <m:r>
                                <a:rPr lang="en-US" altLang="zh-CN" sz="2000" i="1" kern="100">
                                  <a:latin typeface="Cambria Math" panose="02040503050406030204" pitchFamily="18" charset="0"/>
                                  <a:ea typeface="仿宋" panose="02010609060101010101" pitchFamily="49" charset="-122"/>
                                </a:rPr>
                                <m:t>𝑒</m:t>
                              </m:r>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𝑘</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𝑤</m:t>
                                  </m:r>
                                </m:e>
                                <m:sub>
                                  <m:r>
                                    <a:rPr lang="en-US" altLang="zh-CN" sz="2000" i="1" kern="100">
                                      <a:latin typeface="Cambria Math" panose="02040503050406030204" pitchFamily="18" charset="0"/>
                                      <a:ea typeface="仿宋" panose="02010609060101010101" pitchFamily="49" charset="-122"/>
                                    </a:rPr>
                                    <m:t>0</m:t>
                                  </m:r>
                                </m:sub>
                              </m:sSub>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𝑠</m:t>
                                  </m:r>
                                </m:e>
                                <m:sub>
                                  <m:r>
                                    <a:rPr lang="en-US" altLang="zh-CN" sz="2000" i="1" kern="100">
                                      <a:latin typeface="Cambria Math" panose="02040503050406030204" pitchFamily="18" charset="0"/>
                                      <a:ea typeface="仿宋" panose="02010609060101010101" pitchFamily="49" charset="-122"/>
                                    </a:rPr>
                                    <m:t>1</m:t>
                                  </m:r>
                                </m:sub>
                              </m:sSub>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仿宋" panose="02010609060101010101" pitchFamily="49" charset="-122"/>
                                    </a:rPr>
                                    <m:t>1+</m:t>
                                  </m:r>
                                  <m:r>
                                    <a:rPr lang="en-US" altLang="zh-CN" sz="2000" i="1" kern="100">
                                      <a:latin typeface="Cambria Math" panose="02040503050406030204" pitchFamily="18" charset="0"/>
                                      <a:ea typeface="仿宋" panose="02010609060101010101" pitchFamily="49" charset="-122"/>
                                    </a:rPr>
                                    <m:t>𝑖</m:t>
                                  </m:r>
                                </m:e>
                              </m:d>
                            </m:e>
                          </m:d>
                        </m:sup>
                      </m:sSup>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仿宋" panose="02010609060101010101" pitchFamily="49" charset="-122"/>
                            </a:rPr>
                            <m:t>𝑒</m:t>
                          </m:r>
                        </m:e>
                        <m:sup>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𝜌</m:t>
                          </m:r>
                        </m:sup>
                      </m:sSup>
                    </m:oMath>
                  </m:oMathPara>
                </a14:m>
                <a:endParaRPr lang="zh-CN" altLang="zh-CN" sz="2000" kern="100" dirty="0">
                  <a:latin typeface="Times New Roman" panose="02020603050405020304" pitchFamily="18" charset="0"/>
                  <a:ea typeface="宋体" panose="02010600030101010101" pitchFamily="2" charset="-122"/>
                </a:endParaRPr>
              </a:p>
              <a:p>
                <a:pPr indent="266700">
                  <a:lnSpc>
                    <a:spcPct val="150000"/>
                  </a:lnSpc>
                  <a:spcAft>
                    <a:spcPts val="0"/>
                  </a:spcAft>
                </a:pPr>
                <a14:m>
                  <m:oMathPara xmlns:m="http://schemas.openxmlformats.org/officeDocument/2006/math">
                    <m:oMathParaPr>
                      <m:jc m:val="left"/>
                    </m:oMathParaPr>
                    <m:oMath xmlns:m="http://schemas.openxmlformats.org/officeDocument/2006/math">
                      <m:r>
                        <a:rPr lang="en-US" altLang="zh-CN" sz="2000" i="1" kern="100">
                          <a:latin typeface="Cambria Math" panose="02040503050406030204" pitchFamily="18" charset="0"/>
                          <a:ea typeface="仿宋" panose="02010609060101010101" pitchFamily="49" charset="-122"/>
                        </a:rPr>
                        <m:t>           </m:t>
                      </m:r>
                      <m:r>
                        <a:rPr lang="en-US" altLang="zh-CN" sz="2000" b="0" i="1" kern="100" smtClean="0">
                          <a:latin typeface="Cambria Math" panose="02040503050406030204" pitchFamily="18" charset="0"/>
                          <a:ea typeface="仿宋" panose="02010609060101010101" pitchFamily="49" charset="-122"/>
                        </a:rPr>
                        <m:t>        </m:t>
                      </m:r>
                      <m:r>
                        <a:rPr lang="en-US" altLang="zh-CN" sz="2000" i="1" kern="100">
                          <a:latin typeface="Cambria Math" panose="02040503050406030204" pitchFamily="18" charset="0"/>
                          <a:ea typeface="仿宋" panose="02010609060101010101" pitchFamily="49" charset="-122"/>
                        </a:rPr>
                        <m:t> −</m:t>
                      </m:r>
                      <m:r>
                        <a:rPr lang="en-US" altLang="zh-CN" sz="2000" i="1" kern="100">
                          <a:latin typeface="Cambria Math" panose="02040503050406030204" pitchFamily="18" charset="0"/>
                          <a:ea typeface="仿宋" panose="02010609060101010101" pitchFamily="49" charset="-122"/>
                        </a:rPr>
                        <m:t>𝑝</m:t>
                      </m:r>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仿宋" panose="02010609060101010101" pitchFamily="49" charset="-122"/>
                            </a:rPr>
                            <m:t>1−</m:t>
                          </m:r>
                          <m:r>
                            <a:rPr lang="en-US" altLang="zh-CN" sz="2000" i="1" kern="100">
                              <a:latin typeface="Cambria Math" panose="02040503050406030204" pitchFamily="18" charset="0"/>
                              <a:ea typeface="仿宋" panose="02010609060101010101" pitchFamily="49" charset="-122"/>
                            </a:rPr>
                            <m:t>𝑞</m:t>
                          </m:r>
                        </m:e>
                      </m:d>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仿宋" panose="02010609060101010101" pitchFamily="49" charset="-122"/>
                            </a:rPr>
                            <m:t>𝑒</m:t>
                          </m:r>
                        </m:e>
                        <m:sup>
                          <m:r>
                            <a:rPr lang="en-US" altLang="zh-CN" sz="2000" i="1" kern="100">
                              <a:latin typeface="Cambria Math" panose="02040503050406030204" pitchFamily="18" charset="0"/>
                              <a:ea typeface="仿宋" panose="02010609060101010101" pitchFamily="49"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𝛾</m:t>
                              </m:r>
                            </m:e>
                            <m:sub>
                              <m:r>
                                <a:rPr lang="en-US" altLang="zh-CN" sz="2000" i="1" kern="100">
                                  <a:latin typeface="Cambria Math" panose="02040503050406030204" pitchFamily="18" charset="0"/>
                                  <a:ea typeface="仿宋" panose="02010609060101010101" pitchFamily="49" charset="-122"/>
                                </a:rPr>
                                <m:t>3</m:t>
                              </m:r>
                            </m:sub>
                          </m:sSub>
                          <m:d>
                            <m:dPr>
                              <m:ctrlPr>
                                <a:rPr lang="zh-CN" altLang="zh-CN" sz="2000" i="1" kern="100">
                                  <a:latin typeface="Cambria Math" panose="02040503050406030204" pitchFamily="18" charset="0"/>
                                  <a:ea typeface="Cambria Math" panose="02040503050406030204" pitchFamily="18" charset="0"/>
                                </a:rPr>
                              </m:ctrlPr>
                            </m:dP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𝑧</m:t>
                                  </m:r>
                                </m:e>
                                <m:sub>
                                  <m:r>
                                    <a:rPr lang="en-US" altLang="zh-CN" sz="2000" i="1" kern="100">
                                      <a:latin typeface="Cambria Math" panose="02040503050406030204" pitchFamily="18" charset="0"/>
                                      <a:ea typeface="仿宋" panose="02010609060101010101" pitchFamily="49" charset="-122"/>
                                    </a:rPr>
                                    <m:t>0</m:t>
                                  </m:r>
                                </m:sub>
                              </m:sSub>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𝑠</m:t>
                                  </m:r>
                                </m:e>
                                <m:sub>
                                  <m:r>
                                    <a:rPr lang="en-US" altLang="zh-CN" sz="2000" i="1" kern="100">
                                      <a:latin typeface="Cambria Math" panose="02040503050406030204" pitchFamily="18" charset="0"/>
                                      <a:ea typeface="仿宋" panose="02010609060101010101" pitchFamily="49" charset="-122"/>
                                    </a:rPr>
                                    <m:t>2</m:t>
                                  </m:r>
                                </m:sub>
                              </m:sSub>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仿宋" panose="02010609060101010101" pitchFamily="49" charset="-122"/>
                                    </a:rPr>
                                    <m:t>1+</m:t>
                                  </m:r>
                                  <m:r>
                                    <a:rPr lang="en-US" altLang="zh-CN" sz="2000" i="1" kern="100">
                                      <a:latin typeface="Cambria Math" panose="02040503050406030204" pitchFamily="18" charset="0"/>
                                      <a:ea typeface="仿宋" panose="02010609060101010101" pitchFamily="49" charset="-122"/>
                                    </a:rPr>
                                    <m:t>𝑖</m:t>
                                  </m:r>
                                </m:e>
                              </m:d>
                              <m:r>
                                <a:rPr lang="en-US" altLang="zh-CN" sz="2000" i="1" kern="100">
                                  <a:latin typeface="Cambria Math" panose="02040503050406030204" pitchFamily="18" charset="0"/>
                                  <a:ea typeface="仿宋" panose="02010609060101010101" pitchFamily="49" charset="-122"/>
                                </a:rPr>
                                <m:t>−</m:t>
                              </m:r>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仿宋" panose="02010609060101010101" pitchFamily="49" charset="-122"/>
                                    </a:rPr>
                                    <m:t>𝜃</m:t>
                                  </m:r>
                                </m:e>
                                <m:sup>
                                  <m:r>
                                    <a:rPr lang="en-US" altLang="zh-CN" sz="2000" i="1" kern="100">
                                      <a:latin typeface="Cambria Math" panose="02040503050406030204" pitchFamily="18" charset="0"/>
                                      <a:ea typeface="仿宋" panose="02010609060101010101" pitchFamily="49" charset="-122"/>
                                    </a:rPr>
                                    <m:t>′</m:t>
                                  </m:r>
                                </m:sup>
                              </m:sSup>
                              <m:r>
                                <a:rPr lang="en-US" altLang="zh-CN" sz="2000" i="1" kern="100">
                                  <a:latin typeface="Cambria Math" panose="02040503050406030204" pitchFamily="18" charset="0"/>
                                  <a:ea typeface="仿宋" panose="02010609060101010101" pitchFamily="49" charset="-122"/>
                                </a:rPr>
                                <m:t>𝑒</m:t>
                              </m:r>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𝑘</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𝑤</m:t>
                                  </m:r>
                                </m:e>
                                <m:sub>
                                  <m:r>
                                    <a:rPr lang="en-US" altLang="zh-CN" sz="2000" i="1" kern="100">
                                      <a:latin typeface="Cambria Math" panose="02040503050406030204" pitchFamily="18" charset="0"/>
                                      <a:ea typeface="仿宋" panose="02010609060101010101" pitchFamily="49" charset="-122"/>
                                    </a:rPr>
                                    <m:t>0</m:t>
                                  </m:r>
                                </m:sub>
                              </m:sSub>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𝑠</m:t>
                                  </m:r>
                                </m:e>
                                <m:sub>
                                  <m:r>
                                    <a:rPr lang="en-US" altLang="zh-CN" sz="2000" i="1" kern="100">
                                      <a:latin typeface="Cambria Math" panose="02040503050406030204" pitchFamily="18" charset="0"/>
                                      <a:ea typeface="仿宋" panose="02010609060101010101" pitchFamily="49" charset="-122"/>
                                    </a:rPr>
                                    <m:t>1</m:t>
                                  </m:r>
                                </m:sub>
                              </m:sSub>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仿宋" panose="02010609060101010101" pitchFamily="49" charset="-122"/>
                                    </a:rPr>
                                    <m:t>1+</m:t>
                                  </m:r>
                                  <m:r>
                                    <a:rPr lang="en-US" altLang="zh-CN" sz="2000" i="1" kern="100">
                                      <a:latin typeface="Cambria Math" panose="02040503050406030204" pitchFamily="18" charset="0"/>
                                      <a:ea typeface="仿宋" panose="02010609060101010101" pitchFamily="49" charset="-122"/>
                                    </a:rPr>
                                    <m:t>𝑖</m:t>
                                  </m:r>
                                </m:e>
                              </m:d>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𝑁</m:t>
                              </m:r>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𝐼</m:t>
                              </m:r>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𝜃</m:t>
                              </m:r>
                              <m:r>
                                <a:rPr lang="en-US" altLang="zh-CN" sz="2000" i="1" kern="100">
                                  <a:latin typeface="Cambria Math" panose="02040503050406030204" pitchFamily="18" charset="0"/>
                                  <a:ea typeface="仿宋" panose="02010609060101010101" pitchFamily="49" charset="-122"/>
                                </a:rPr>
                                <m:t>𝑒</m:t>
                              </m:r>
                            </m:e>
                          </m:d>
                          <m:r>
                            <a:rPr lang="en-US" altLang="zh-CN" sz="2000" i="1" kern="100">
                              <a:latin typeface="Cambria Math" panose="02040503050406030204" pitchFamily="18" charset="0"/>
                              <a:ea typeface="仿宋" panose="02010609060101010101" pitchFamily="49" charset="-122"/>
                            </a:rPr>
                            <m:t>)</m:t>
                          </m:r>
                        </m:sup>
                      </m:sSup>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仿宋" panose="02010609060101010101" pitchFamily="49" charset="-122"/>
                            </a:rPr>
                            <m:t>𝑒</m:t>
                          </m:r>
                        </m:e>
                        <m:sup>
                          <m:r>
                            <a:rPr lang="en-US" altLang="zh-CN" sz="2000" i="1" kern="100">
                              <a:latin typeface="Cambria Math" panose="02040503050406030204" pitchFamily="18" charset="0"/>
                              <a:ea typeface="仿宋" panose="02010609060101010101" pitchFamily="49" charset="-122"/>
                            </a:rPr>
                            <m:t>−</m:t>
                          </m:r>
                          <m:r>
                            <a:rPr lang="en-US" altLang="zh-CN" sz="2000" i="1" kern="100">
                              <a:latin typeface="Cambria Math" panose="02040503050406030204" pitchFamily="18" charset="0"/>
                              <a:ea typeface="仿宋" panose="02010609060101010101" pitchFamily="49" charset="-122"/>
                            </a:rPr>
                            <m:t>𝜌</m:t>
                          </m:r>
                        </m:sup>
                      </m:sSup>
                    </m:oMath>
                  </m:oMathPara>
                </a14:m>
                <a:endParaRPr lang="zh-CN" altLang="zh-CN" sz="2000" kern="100" dirty="0">
                  <a:latin typeface="Times New Roman" panose="02020603050405020304" pitchFamily="18" charset="0"/>
                  <a:ea typeface="宋体" panose="02010600030101010101" pitchFamily="2" charset="-122"/>
                </a:endParaRPr>
              </a:p>
            </p:txBody>
          </p:sp>
        </mc:Choice>
        <mc:Fallback xmlns="">
          <p:sp>
            <p:nvSpPr>
              <p:cNvPr id="13" name="矩形 12"/>
              <p:cNvSpPr>
                <a:spLocks noRot="1" noChangeAspect="1" noMove="1" noResize="1" noEditPoints="1" noAdjustHandles="1" noChangeArrowheads="1" noChangeShapeType="1" noTextEdit="1"/>
              </p:cNvSpPr>
              <p:nvPr/>
            </p:nvSpPr>
            <p:spPr>
              <a:xfrm>
                <a:off x="603575" y="4896318"/>
                <a:ext cx="9495345" cy="1274901"/>
              </a:xfrm>
              <a:prstGeom prst="rect">
                <a:avLst/>
              </a:prstGeom>
              <a:blipFill rotWithShape="1">
                <a:blip r:embed="rId4"/>
                <a:stretch>
                  <a:fillRect l="-3" t="-37" r="5" b="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495324" y="1267545"/>
                <a:ext cx="3083777" cy="400110"/>
              </a:xfrm>
              <a:prstGeom prst="rect">
                <a:avLst/>
              </a:prstGeom>
            </p:spPr>
            <p:txBody>
              <a:bodyPr wrap="square">
                <a:spAutoFit/>
              </a:bodyPr>
              <a:lstStyle/>
              <a:p>
                <a:r>
                  <a:rPr lang="zh-CN" altLang="en-US" sz="2000" dirty="0">
                    <a:latin typeface="楷体" panose="02010609060101010101" pitchFamily="49" charset="-122"/>
                    <a:ea typeface="楷体" panose="02010609060101010101" pitchFamily="49" charset="-122"/>
                  </a:rPr>
                  <a:t>效用函数 </a:t>
                </a:r>
                <a14:m>
                  <m:oMath xmlns:m="http://schemas.openxmlformats.org/officeDocument/2006/math">
                    <m:r>
                      <a:rPr lang="zh-CN" altLang="en-US" sz="2000" i="1">
                        <a:latin typeface="Cambria Math" panose="02040503050406030204" pitchFamily="18" charset="0"/>
                      </a:rPr>
                      <m:t>𝑣</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𝑤</m:t>
                        </m:r>
                      </m:e>
                    </m:d>
                    <m:r>
                      <a:rPr lang="zh-CN" altLang="en-US" sz="2000" i="0">
                        <a:latin typeface="Cambria Math" panose="02040503050406030204" pitchFamily="18" charset="0"/>
                      </a:rPr>
                      <m:t>=−</m:t>
                    </m:r>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𝑒</m:t>
                        </m:r>
                      </m:e>
                      <m:sup>
                        <m:r>
                          <a:rPr lang="zh-CN" altLang="en-US" sz="2000" i="0">
                            <a:latin typeface="Cambria Math" panose="02040503050406030204" pitchFamily="18" charset="0"/>
                          </a:rPr>
                          <m:t>−</m:t>
                        </m:r>
                        <m:r>
                          <a:rPr lang="zh-CN" altLang="en-US" sz="2000" i="1">
                            <a:latin typeface="Cambria Math" panose="02040503050406030204" pitchFamily="18" charset="0"/>
                          </a:rPr>
                          <m:t>𝛾</m:t>
                        </m:r>
                        <m:r>
                          <a:rPr lang="zh-CN" altLang="en-US" sz="2000" i="1">
                            <a:latin typeface="Cambria Math" panose="02040503050406030204" pitchFamily="18" charset="0"/>
                          </a:rPr>
                          <m:t>𝑤</m:t>
                        </m:r>
                      </m:sup>
                    </m:sSup>
                  </m:oMath>
                </a14:m>
                <a:endParaRPr lang="zh-CN" altLang="en-US" sz="2000" dirty="0"/>
              </a:p>
            </p:txBody>
          </p:sp>
        </mc:Choice>
        <mc:Fallback xmlns="">
          <p:sp>
            <p:nvSpPr>
              <p:cNvPr id="14" name="矩形 13"/>
              <p:cNvSpPr>
                <a:spLocks noRot="1" noChangeAspect="1" noMove="1" noResize="1" noEditPoints="1" noAdjustHandles="1" noChangeArrowheads="1" noChangeShapeType="1" noTextEdit="1"/>
              </p:cNvSpPr>
              <p:nvPr/>
            </p:nvSpPr>
            <p:spPr>
              <a:xfrm>
                <a:off x="3495324" y="1267545"/>
                <a:ext cx="3083777" cy="400110"/>
              </a:xfrm>
              <a:prstGeom prst="rect">
                <a:avLst/>
              </a:prstGeom>
              <a:blipFill rotWithShape="1">
                <a:blip r:embed="rId5"/>
                <a:stretch>
                  <a:fillRect l="-9" t="-21" r="16" b="36"/>
                </a:stretch>
              </a:blipFill>
            </p:spPr>
            <p:txBody>
              <a:bodyPr/>
              <a:lstStyle/>
              <a:p>
                <a:r>
                  <a:rPr lang="zh-CN" altLang="en-US">
                    <a:noFill/>
                  </a:rPr>
                  <a:t> </a:t>
                </a:r>
              </a:p>
            </p:txBody>
          </p:sp>
        </mc:Fallback>
      </mc:AlternateContent>
      <p:sp>
        <p:nvSpPr>
          <p:cNvPr id="17" name="矩形 16"/>
          <p:cNvSpPr/>
          <p:nvPr/>
        </p:nvSpPr>
        <p:spPr>
          <a:xfrm>
            <a:off x="3987315" y="3071297"/>
            <a:ext cx="1980029" cy="481863"/>
          </a:xfrm>
          <a:prstGeom prst="rect">
            <a:avLst/>
          </a:prstGeom>
        </p:spPr>
        <p:txBody>
          <a:bodyPr wrap="none">
            <a:spAutoFit/>
          </a:bodyPr>
          <a:lstStyle/>
          <a:p>
            <a:pPr>
              <a:lnSpc>
                <a:spcPct val="150000"/>
              </a:lnSpc>
              <a:spcAft>
                <a:spcPts val="0"/>
              </a:spcAft>
            </a:pPr>
            <a:r>
              <a:rPr lang="zh-CN" altLang="en-US" sz="2000" kern="100" dirty="0">
                <a:solidFill>
                  <a:schemeClr val="accent3">
                    <a:lumMod val="75000"/>
                  </a:schemeClr>
                </a:solidFill>
                <a:latin typeface="楷体" panose="02010609060101010101" pitchFamily="49" charset="-122"/>
                <a:ea typeface="楷体" panose="02010609060101010101" pitchFamily="49" charset="-122"/>
              </a:rPr>
              <a:t>年长者效用函数</a:t>
            </a:r>
            <a:endParaRPr lang="en-US" altLang="zh-CN" sz="2000" kern="100" dirty="0">
              <a:solidFill>
                <a:schemeClr val="accent3">
                  <a:lumMod val="75000"/>
                </a:schemeClr>
              </a:solidFill>
              <a:latin typeface="楷体" panose="02010609060101010101" pitchFamily="49" charset="-122"/>
              <a:ea typeface="楷体" panose="02010609060101010101" pitchFamily="49" charset="-122"/>
            </a:endParaRPr>
          </a:p>
        </p:txBody>
      </p:sp>
      <p:sp>
        <p:nvSpPr>
          <p:cNvPr id="18" name="矩形 17"/>
          <p:cNvSpPr/>
          <p:nvPr/>
        </p:nvSpPr>
        <p:spPr>
          <a:xfrm>
            <a:off x="3987314" y="4661715"/>
            <a:ext cx="1980029" cy="481863"/>
          </a:xfrm>
          <a:prstGeom prst="rect">
            <a:avLst/>
          </a:prstGeom>
        </p:spPr>
        <p:txBody>
          <a:bodyPr wrap="none">
            <a:spAutoFit/>
          </a:bodyPr>
          <a:lstStyle/>
          <a:p>
            <a:pPr>
              <a:lnSpc>
                <a:spcPct val="150000"/>
              </a:lnSpc>
              <a:spcAft>
                <a:spcPts val="0"/>
              </a:spcAft>
            </a:pPr>
            <a:r>
              <a:rPr lang="zh-CN" altLang="en-US" sz="2000" kern="100" dirty="0">
                <a:solidFill>
                  <a:schemeClr val="accent3">
                    <a:lumMod val="75000"/>
                  </a:schemeClr>
                </a:solidFill>
                <a:latin typeface="楷体" panose="02010609060101010101" pitchFamily="49" charset="-122"/>
                <a:ea typeface="楷体" panose="02010609060101010101" pitchFamily="49" charset="-122"/>
              </a:rPr>
              <a:t>陪护者效用函数</a:t>
            </a:r>
            <a:endParaRPr lang="en-US" altLang="zh-CN" sz="2000" kern="100" dirty="0">
              <a:solidFill>
                <a:schemeClr val="accent3">
                  <a:lumMod val="75000"/>
                </a:schemeClr>
              </a:solidFill>
              <a:latin typeface="楷体" panose="02010609060101010101" pitchFamily="49" charset="-122"/>
              <a:ea typeface="楷体" panose="02010609060101010101" pitchFamily="49" charset="-122"/>
            </a:endParaRPr>
          </a:p>
        </p:txBody>
      </p:sp>
      <p:sp>
        <p:nvSpPr>
          <p:cNvPr id="64" name="下箭头 63"/>
          <p:cNvSpPr/>
          <p:nvPr/>
        </p:nvSpPr>
        <p:spPr>
          <a:xfrm>
            <a:off x="4782275" y="2406046"/>
            <a:ext cx="421860" cy="603480"/>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同时决策</a:t>
            </a:r>
            <a:endParaRPr lang="zh-CN" altLang="en-US" dirty="0"/>
          </a:p>
        </p:txBody>
      </p:sp>
      <mc:AlternateContent xmlns:mc="http://schemas.openxmlformats.org/markup-compatibility/2006" xmlns:a14="http://schemas.microsoft.com/office/drawing/2010/main">
        <mc:Choice Requires="a14">
          <p:sp>
            <p:nvSpPr>
              <p:cNvPr id="4" name="矩形 3"/>
              <p:cNvSpPr/>
              <p:nvPr/>
            </p:nvSpPr>
            <p:spPr>
              <a:xfrm>
                <a:off x="1599192" y="1661764"/>
                <a:ext cx="7361382" cy="140737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1</m:t>
                                        </m:r>
                                      </m:sub>
                                    </m:sSub>
                                  </m:num>
                                  <m:den>
                                    <m:sSup>
                                      <m:sSupPr>
                                        <m:ctrlPr>
                                          <a:rPr lang="zh-CN" altLang="en-US" i="1">
                                            <a:latin typeface="Cambria Math" panose="02040503050406030204" pitchFamily="18" charset="0"/>
                                          </a:rPr>
                                        </m:ctrlPr>
                                      </m:sSupPr>
                                      <m:e>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1</m:t>
                                            </m:r>
                                          </m:sub>
                                        </m:sSub>
                                      </m:e>
                                      <m:sup>
                                        <m:r>
                                          <a:rPr lang="zh-CN" altLang="en-US" i="0">
                                            <a:latin typeface="Cambria Math" panose="02040503050406030204" pitchFamily="18" charset="0"/>
                                          </a:rPr>
                                          <m:t>2</m:t>
                                        </m:r>
                                      </m:sup>
                                    </m:sSup>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1</m:t>
                                        </m:r>
                                      </m:sub>
                                    </m:sSub>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𝐼</m:t>
                                    </m:r>
                                  </m:den>
                                </m:f>
                              </m:e>
                            </m:mr>
                            <m:mr>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1</m:t>
                                        </m:r>
                                      </m:sub>
                                    </m:sSub>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𝐼</m:t>
                                    </m:r>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1</m:t>
                                        </m:r>
                                      </m:sub>
                                    </m:sSub>
                                  </m:num>
                                  <m:den>
                                    <m:sSup>
                                      <m:sSupPr>
                                        <m:ctrlPr>
                                          <a:rPr lang="zh-CN" altLang="en-US" i="1">
                                            <a:latin typeface="Cambria Math" panose="02040503050406030204" pitchFamily="18" charset="0"/>
                                          </a:rPr>
                                        </m:ctrlPr>
                                      </m:sSupPr>
                                      <m:e>
                                        <m:r>
                                          <a:rPr lang="zh-CN" altLang="en-US" i="0">
                                            <a:latin typeface="Cambria Math" panose="02040503050406030204" pitchFamily="18" charset="0"/>
                                          </a:rPr>
                                          <m:t>𝜕</m:t>
                                        </m:r>
                                        <m:r>
                                          <a:rPr lang="zh-CN" altLang="en-US" i="1">
                                            <a:latin typeface="Cambria Math" panose="02040503050406030204" pitchFamily="18" charset="0"/>
                                          </a:rPr>
                                          <m:t>𝐼</m:t>
                                        </m:r>
                                      </m:e>
                                      <m:sup>
                                        <m:r>
                                          <a:rPr lang="zh-CN" altLang="en-US" i="0">
                                            <a:latin typeface="Cambria Math" panose="02040503050406030204" pitchFamily="18" charset="0"/>
                                          </a:rPr>
                                          <m:t>2</m:t>
                                        </m:r>
                                      </m:sup>
                                    </m:sSup>
                                  </m:den>
                                </m:f>
                              </m:e>
                            </m:mr>
                          </m:m>
                        </m:e>
                      </m:d>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𝑑</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1</m:t>
                                    </m:r>
                                  </m:sub>
                                </m:sSub>
                              </m:e>
                            </m:mr>
                            <m:mr>
                              <m:e>
                                <m:r>
                                  <a:rPr lang="zh-CN" altLang="en-US" i="1">
                                    <a:latin typeface="Cambria Math" panose="02040503050406030204" pitchFamily="18" charset="0"/>
                                  </a:rPr>
                                  <m:t>𝑑𝐼</m:t>
                                </m:r>
                              </m:e>
                            </m:mr>
                          </m:m>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3"/>
                                    <m:mcJc m:val="center"/>
                                  </m:mcPr>
                                </m:mc>
                              </m:mcs>
                              <m:ctrlPr>
                                <a:rPr lang="zh-CN" altLang="en-US" i="1">
                                  <a:latin typeface="Cambria Math" panose="02040503050406030204" pitchFamily="18" charset="0"/>
                                </a:rPr>
                              </m:ctrlPr>
                            </m:mPr>
                            <m:mr>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1</m:t>
                                        </m:r>
                                      </m:sub>
                                    </m:sSub>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𝑒</m:t>
                                    </m:r>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1</m:t>
                                        </m:r>
                                      </m:sub>
                                    </m:sSub>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𝐽</m:t>
                                    </m:r>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1</m:t>
                                        </m:r>
                                      </m:sub>
                                    </m:sSub>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den>
                                </m:f>
                              </m:e>
                            </m:mr>
                            <m:mr>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1</m:t>
                                        </m:r>
                                      </m:sub>
                                    </m:sSub>
                                  </m:num>
                                  <m:den>
                                    <m:r>
                                      <a:rPr lang="zh-CN" altLang="en-US" i="0">
                                        <a:latin typeface="Cambria Math" panose="02040503050406030204" pitchFamily="18" charset="0"/>
                                      </a:rPr>
                                      <m:t>𝜕</m:t>
                                    </m:r>
                                    <m:r>
                                      <a:rPr lang="zh-CN" altLang="en-US" i="1">
                                        <a:latin typeface="Cambria Math" panose="02040503050406030204" pitchFamily="18" charset="0"/>
                                      </a:rPr>
                                      <m:t>𝐼</m:t>
                                    </m:r>
                                    <m:r>
                                      <a:rPr lang="zh-CN" altLang="en-US" i="0">
                                        <a:latin typeface="Cambria Math" panose="02040503050406030204" pitchFamily="18" charset="0"/>
                                      </a:rPr>
                                      <m:t>𝜕</m:t>
                                    </m:r>
                                    <m:r>
                                      <a:rPr lang="zh-CN" altLang="en-US" i="1">
                                        <a:latin typeface="Cambria Math" panose="02040503050406030204" pitchFamily="18" charset="0"/>
                                      </a:rPr>
                                      <m:t>𝑒</m:t>
                                    </m:r>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1</m:t>
                                        </m:r>
                                      </m:sub>
                                    </m:sSub>
                                  </m:num>
                                  <m:den>
                                    <m:r>
                                      <a:rPr lang="zh-CN" altLang="en-US" i="0">
                                        <a:latin typeface="Cambria Math" panose="02040503050406030204" pitchFamily="18" charset="0"/>
                                      </a:rPr>
                                      <m:t>𝜕</m:t>
                                    </m:r>
                                    <m:r>
                                      <a:rPr lang="zh-CN" altLang="en-US" i="1">
                                        <a:latin typeface="Cambria Math" panose="02040503050406030204" pitchFamily="18" charset="0"/>
                                      </a:rPr>
                                      <m:t>𝐼</m:t>
                                    </m:r>
                                    <m:r>
                                      <a:rPr lang="zh-CN" altLang="en-US" i="0">
                                        <a:latin typeface="Cambria Math" panose="02040503050406030204" pitchFamily="18" charset="0"/>
                                      </a:rPr>
                                      <m:t>𝜕</m:t>
                                    </m:r>
                                    <m:r>
                                      <a:rPr lang="zh-CN" altLang="en-US" i="1">
                                        <a:latin typeface="Cambria Math" panose="02040503050406030204" pitchFamily="18" charset="0"/>
                                      </a:rPr>
                                      <m:t>𝐽</m:t>
                                    </m:r>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1</m:t>
                                        </m:r>
                                      </m:sub>
                                    </m:sSub>
                                  </m:num>
                                  <m:den>
                                    <m:r>
                                      <a:rPr lang="zh-CN" altLang="en-US" i="0">
                                        <a:latin typeface="Cambria Math" panose="02040503050406030204" pitchFamily="18" charset="0"/>
                                      </a:rPr>
                                      <m:t>𝜕</m:t>
                                    </m:r>
                                    <m:r>
                                      <a:rPr lang="zh-CN" altLang="en-US" i="1">
                                        <a:latin typeface="Cambria Math" panose="02040503050406030204" pitchFamily="18" charset="0"/>
                                      </a:rPr>
                                      <m:t>𝐼</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den>
                                </m:f>
                              </m:e>
                            </m:mr>
                          </m:m>
                        </m:e>
                      </m:d>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𝑑𝑒</m:t>
                                </m:r>
                              </m:e>
                            </m:mr>
                            <m:mr>
                              <m:e>
                                <m:r>
                                  <a:rPr lang="zh-CN" altLang="en-US" i="1">
                                    <a:latin typeface="Cambria Math" panose="02040503050406030204" pitchFamily="18" charset="0"/>
                                  </a:rPr>
                                  <m:t>𝑑𝐽</m:t>
                                </m:r>
                              </m:e>
                            </m:mr>
                            <m:mr>
                              <m:e>
                                <m:r>
                                  <a:rPr lang="zh-CN" altLang="en-US" i="1">
                                    <a:latin typeface="Cambria Math" panose="02040503050406030204" pitchFamily="18" charset="0"/>
                                  </a:rPr>
                                  <m:t>𝑑</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e>
                            </m:mr>
                          </m:m>
                        </m:e>
                      </m:d>
                      <m:r>
                        <a:rPr lang="zh-CN" altLang="en-US" i="0">
                          <a:latin typeface="Cambria Math" panose="02040503050406030204" pitchFamily="18" charset="0"/>
                        </a:rPr>
                        <m:t>=0</m:t>
                      </m:r>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1599192" y="1661764"/>
                <a:ext cx="7361382" cy="1407373"/>
              </a:xfrm>
              <a:prstGeom prst="rect">
                <a:avLst/>
              </a:prstGeom>
              <a:blipFill rotWithShape="1">
                <a:blip r:embed="rId2"/>
                <a:stretch>
                  <a:fillRect l="-4" t="-43" r="1" b="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397651" y="4069426"/>
                <a:ext cx="7756887" cy="200849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ctrlPr>
                            <a:rPr lang="zh-CN" altLang="en-US" i="1">
                              <a:latin typeface="Cambria Math" panose="02040503050406030204" pitchFamily="18" charset="0"/>
                            </a:rPr>
                          </m:ctrlPr>
                        </m:dPr>
                        <m:e>
                          <m:m>
                            <m:mPr>
                              <m:mcs>
                                <m:mc>
                                  <m:mcPr>
                                    <m:count m:val="3"/>
                                    <m:mcJc m:val="center"/>
                                  </m:mcPr>
                                </m:mc>
                              </m:mcs>
                              <m:ctrlPr>
                                <a:rPr lang="zh-CN" altLang="en-US" i="1">
                                  <a:latin typeface="Cambria Math" panose="02040503050406030204" pitchFamily="18" charset="0"/>
                                </a:rPr>
                              </m:ctrlPr>
                            </m:mPr>
                            <m:mr>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sSup>
                                      <m:sSupPr>
                                        <m:ctrlPr>
                                          <a:rPr lang="zh-CN" altLang="en-US" i="1">
                                            <a:latin typeface="Cambria Math" panose="02040503050406030204" pitchFamily="18" charset="0"/>
                                          </a:rPr>
                                        </m:ctrlPr>
                                      </m:sSupPr>
                                      <m:e>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e>
                                      <m:sup>
                                        <m:r>
                                          <a:rPr lang="zh-CN" altLang="en-US" i="0">
                                            <a:latin typeface="Cambria Math" panose="02040503050406030204" pitchFamily="18" charset="0"/>
                                          </a:rPr>
                                          <m:t>2</m:t>
                                        </m:r>
                                      </m:sup>
                                    </m:sSup>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𝐽</m:t>
                                    </m:r>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𝑒</m:t>
                                    </m:r>
                                  </m:den>
                                </m:f>
                              </m:e>
                            </m:mr>
                            <m:mr>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𝐽</m:t>
                                    </m:r>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sSup>
                                      <m:sSupPr>
                                        <m:ctrlPr>
                                          <a:rPr lang="zh-CN" altLang="en-US" i="1">
                                            <a:latin typeface="Cambria Math" panose="02040503050406030204" pitchFamily="18" charset="0"/>
                                          </a:rPr>
                                        </m:ctrlPr>
                                      </m:sSupPr>
                                      <m:e>
                                        <m:r>
                                          <a:rPr lang="zh-CN" altLang="en-US" i="0">
                                            <a:latin typeface="Cambria Math" panose="02040503050406030204" pitchFamily="18" charset="0"/>
                                          </a:rPr>
                                          <m:t>𝜕</m:t>
                                        </m:r>
                                        <m:r>
                                          <a:rPr lang="zh-CN" altLang="en-US" i="1">
                                            <a:latin typeface="Cambria Math" panose="02040503050406030204" pitchFamily="18" charset="0"/>
                                          </a:rPr>
                                          <m:t>𝐽</m:t>
                                        </m:r>
                                      </m:e>
                                      <m:sup>
                                        <m:r>
                                          <a:rPr lang="zh-CN" altLang="en-US" i="0">
                                            <a:latin typeface="Cambria Math" panose="02040503050406030204" pitchFamily="18" charset="0"/>
                                          </a:rPr>
                                          <m:t>2</m:t>
                                        </m:r>
                                      </m:sup>
                                    </m:sSup>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r>
                                      <a:rPr lang="zh-CN" altLang="en-US" i="0">
                                        <a:latin typeface="Cambria Math" panose="02040503050406030204" pitchFamily="18" charset="0"/>
                                      </a:rPr>
                                      <m:t>𝜕</m:t>
                                    </m:r>
                                    <m:r>
                                      <a:rPr lang="zh-CN" altLang="en-US" i="1">
                                        <a:latin typeface="Cambria Math" panose="02040503050406030204" pitchFamily="18" charset="0"/>
                                      </a:rPr>
                                      <m:t>𝐽</m:t>
                                    </m:r>
                                    <m:r>
                                      <a:rPr lang="zh-CN" altLang="en-US" i="0">
                                        <a:latin typeface="Cambria Math" panose="02040503050406030204" pitchFamily="18" charset="0"/>
                                      </a:rPr>
                                      <m:t>𝜕</m:t>
                                    </m:r>
                                    <m:r>
                                      <a:rPr lang="zh-CN" altLang="en-US" i="1">
                                        <a:latin typeface="Cambria Math" panose="02040503050406030204" pitchFamily="18" charset="0"/>
                                      </a:rPr>
                                      <m:t>𝑒</m:t>
                                    </m:r>
                                  </m:den>
                                </m:f>
                              </m:e>
                            </m:mr>
                            <m:mr>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𝑒</m:t>
                                    </m:r>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r>
                                      <a:rPr lang="zh-CN" altLang="en-US" i="0">
                                        <a:latin typeface="Cambria Math" panose="02040503050406030204" pitchFamily="18" charset="0"/>
                                      </a:rPr>
                                      <m:t>𝜕</m:t>
                                    </m:r>
                                    <m:r>
                                      <a:rPr lang="zh-CN" altLang="en-US" i="1">
                                        <a:latin typeface="Cambria Math" panose="02040503050406030204" pitchFamily="18" charset="0"/>
                                      </a:rPr>
                                      <m:t>𝐽</m:t>
                                    </m:r>
                                    <m:r>
                                      <a:rPr lang="zh-CN" altLang="en-US" i="0">
                                        <a:latin typeface="Cambria Math" panose="02040503050406030204" pitchFamily="18" charset="0"/>
                                      </a:rPr>
                                      <m:t>𝜕</m:t>
                                    </m:r>
                                    <m:r>
                                      <a:rPr lang="zh-CN" altLang="en-US" i="1">
                                        <a:latin typeface="Cambria Math" panose="02040503050406030204" pitchFamily="18" charset="0"/>
                                      </a:rPr>
                                      <m:t>𝑒</m:t>
                                    </m:r>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1</m:t>
                                        </m:r>
                                      </m:sub>
                                    </m:sSub>
                                  </m:num>
                                  <m:den>
                                    <m:sSup>
                                      <m:sSupPr>
                                        <m:ctrlPr>
                                          <a:rPr lang="zh-CN" altLang="en-US" i="1">
                                            <a:latin typeface="Cambria Math" panose="02040503050406030204" pitchFamily="18" charset="0"/>
                                          </a:rPr>
                                        </m:ctrlPr>
                                      </m:sSupPr>
                                      <m:e>
                                        <m:r>
                                          <a:rPr lang="zh-CN" altLang="en-US" i="0">
                                            <a:latin typeface="Cambria Math" panose="02040503050406030204" pitchFamily="18" charset="0"/>
                                          </a:rPr>
                                          <m:t>𝜕</m:t>
                                        </m:r>
                                        <m:r>
                                          <a:rPr lang="zh-CN" altLang="en-US" i="1">
                                            <a:latin typeface="Cambria Math" panose="02040503050406030204" pitchFamily="18" charset="0"/>
                                          </a:rPr>
                                          <m:t>𝑒</m:t>
                                        </m:r>
                                      </m:e>
                                      <m:sup>
                                        <m:r>
                                          <a:rPr lang="zh-CN" altLang="en-US" i="0">
                                            <a:latin typeface="Cambria Math" panose="02040503050406030204" pitchFamily="18" charset="0"/>
                                          </a:rPr>
                                          <m:t>2</m:t>
                                        </m:r>
                                      </m:sup>
                                    </m:sSup>
                                  </m:den>
                                </m:f>
                              </m:e>
                            </m:mr>
                          </m:m>
                        </m:e>
                      </m:d>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𝑑</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e>
                            </m:mr>
                            <m:mr>
                              <m:e>
                                <m:r>
                                  <a:rPr lang="zh-CN" altLang="en-US" i="1">
                                    <a:latin typeface="Cambria Math" panose="02040503050406030204" pitchFamily="18" charset="0"/>
                                  </a:rPr>
                                  <m:t>𝑑𝐽</m:t>
                                </m:r>
                              </m:e>
                            </m:mr>
                            <m:mr>
                              <m:e>
                                <m:r>
                                  <a:rPr lang="zh-CN" altLang="en-US" i="1">
                                    <a:latin typeface="Cambria Math" panose="02040503050406030204" pitchFamily="18" charset="0"/>
                                  </a:rPr>
                                  <m:t>𝑑𝑒</m:t>
                                </m:r>
                              </m:e>
                            </m:mr>
                          </m:m>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1</m:t>
                                        </m:r>
                                      </m:sub>
                                    </m:sSub>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𝐼</m:t>
                                    </m:r>
                                  </m:den>
                                </m:f>
                              </m:e>
                            </m:mr>
                            <m:mr>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r>
                                      <a:rPr lang="zh-CN" altLang="en-US" i="0">
                                        <a:latin typeface="Cambria Math" panose="02040503050406030204" pitchFamily="18" charset="0"/>
                                      </a:rPr>
                                      <m:t>𝜕</m:t>
                                    </m:r>
                                    <m:r>
                                      <a:rPr lang="zh-CN" altLang="en-US" i="1">
                                        <a:latin typeface="Cambria Math" panose="02040503050406030204" pitchFamily="18" charset="0"/>
                                      </a:rPr>
                                      <m:t>𝐽</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1</m:t>
                                        </m:r>
                                      </m:sub>
                                    </m:sSub>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r>
                                      <a:rPr lang="zh-CN" altLang="en-US" i="0">
                                        <a:latin typeface="Cambria Math" panose="02040503050406030204" pitchFamily="18" charset="0"/>
                                      </a:rPr>
                                      <m:t>𝜕</m:t>
                                    </m:r>
                                    <m:r>
                                      <a:rPr lang="zh-CN" altLang="en-US" i="1">
                                        <a:latin typeface="Cambria Math" panose="02040503050406030204" pitchFamily="18" charset="0"/>
                                      </a:rPr>
                                      <m:t>𝐽</m:t>
                                    </m:r>
                                    <m:r>
                                      <a:rPr lang="zh-CN" altLang="en-US" i="0">
                                        <a:latin typeface="Cambria Math" panose="02040503050406030204" pitchFamily="18" charset="0"/>
                                      </a:rPr>
                                      <m:t>𝜕</m:t>
                                    </m:r>
                                    <m:r>
                                      <a:rPr lang="zh-CN" altLang="en-US" i="1">
                                        <a:latin typeface="Cambria Math" panose="02040503050406030204" pitchFamily="18" charset="0"/>
                                      </a:rPr>
                                      <m:t>𝐼</m:t>
                                    </m:r>
                                  </m:den>
                                </m:f>
                              </m:e>
                            </m:mr>
                            <m:mr>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r>
                                      <a:rPr lang="zh-CN" altLang="en-US" i="0">
                                        <a:latin typeface="Cambria Math" panose="02040503050406030204" pitchFamily="18" charset="0"/>
                                      </a:rPr>
                                      <m:t>𝜕</m:t>
                                    </m:r>
                                    <m:r>
                                      <a:rPr lang="zh-CN" altLang="en-US" i="1">
                                        <a:latin typeface="Cambria Math" panose="02040503050406030204" pitchFamily="18" charset="0"/>
                                      </a:rPr>
                                      <m:t>𝑒</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1</m:t>
                                        </m:r>
                                      </m:sub>
                                    </m:sSub>
                                  </m:den>
                                </m:f>
                              </m:e>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0">
                                            <a:latin typeface="Cambria Math" panose="02040503050406030204" pitchFamily="18" charset="0"/>
                                          </a:rPr>
                                          <m:t>2</m:t>
                                        </m:r>
                                      </m:sub>
                                    </m:sSub>
                                  </m:num>
                                  <m:den>
                                    <m:r>
                                      <a:rPr lang="zh-CN" altLang="en-US" i="0">
                                        <a:latin typeface="Cambria Math" panose="02040503050406030204" pitchFamily="18" charset="0"/>
                                      </a:rPr>
                                      <m:t>𝜕</m:t>
                                    </m:r>
                                    <m:r>
                                      <a:rPr lang="zh-CN" altLang="en-US" i="1">
                                        <a:latin typeface="Cambria Math" panose="02040503050406030204" pitchFamily="18" charset="0"/>
                                      </a:rPr>
                                      <m:t>𝑒</m:t>
                                    </m:r>
                                    <m:r>
                                      <a:rPr lang="zh-CN" altLang="en-US" i="0">
                                        <a:latin typeface="Cambria Math" panose="02040503050406030204" pitchFamily="18" charset="0"/>
                                      </a:rPr>
                                      <m:t>𝜕</m:t>
                                    </m:r>
                                    <m:r>
                                      <a:rPr lang="zh-CN" altLang="en-US" i="1">
                                        <a:latin typeface="Cambria Math" panose="02040503050406030204" pitchFamily="18" charset="0"/>
                                      </a:rPr>
                                      <m:t>𝐼</m:t>
                                    </m:r>
                                  </m:den>
                                </m:f>
                              </m:e>
                            </m:mr>
                          </m:m>
                        </m:e>
                      </m:d>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𝑑</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1</m:t>
                                    </m:r>
                                  </m:sub>
                                </m:sSub>
                              </m:e>
                            </m:mr>
                            <m:mr>
                              <m:e>
                                <m:r>
                                  <a:rPr lang="zh-CN" altLang="en-US" i="1">
                                    <a:latin typeface="Cambria Math" panose="02040503050406030204" pitchFamily="18" charset="0"/>
                                  </a:rPr>
                                  <m:t>𝑑𝐼</m:t>
                                </m:r>
                              </m:e>
                            </m:mr>
                          </m:m>
                        </m:e>
                      </m:d>
                      <m:r>
                        <a:rPr lang="zh-CN" altLang="en-US" i="0">
                          <a:latin typeface="Cambria Math" panose="02040503050406030204" pitchFamily="18" charset="0"/>
                        </a:rPr>
                        <m:t>=0</m:t>
                      </m:r>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1397651" y="4069426"/>
                <a:ext cx="7756887" cy="2008499"/>
              </a:xfrm>
              <a:prstGeom prst="rect">
                <a:avLst/>
              </a:prstGeom>
              <a:blipFill rotWithShape="1">
                <a:blip r:embed="rId3"/>
                <a:stretch>
                  <a:fillRect t="-17" r="5" b="17"/>
                </a:stretch>
              </a:blipFill>
            </p:spPr>
            <p:txBody>
              <a:bodyPr/>
              <a:lstStyle/>
              <a:p>
                <a:r>
                  <a:rPr lang="zh-CN" altLang="en-US">
                    <a:noFill/>
                  </a:rPr>
                  <a:t> </a:t>
                </a:r>
              </a:p>
            </p:txBody>
          </p:sp>
        </mc:Fallback>
      </mc:AlternateContent>
      <p:sp>
        <p:nvSpPr>
          <p:cNvPr id="6" name="矩形 5"/>
          <p:cNvSpPr/>
          <p:nvPr/>
        </p:nvSpPr>
        <p:spPr>
          <a:xfrm>
            <a:off x="517405" y="2213422"/>
            <a:ext cx="581554" cy="3046988"/>
          </a:xfrm>
          <a:prstGeom prst="rect">
            <a:avLst/>
          </a:prstGeom>
        </p:spPr>
        <p:txBody>
          <a:bodyPr wrap="square">
            <a:spAutoFit/>
          </a:bodyPr>
          <a:lstStyle/>
          <a:p>
            <a:r>
              <a:rPr lang="zh-CN" altLang="zh-CN" sz="2400" b="1"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最大化其期望效用</a:t>
            </a:r>
            <a:endParaRPr lang="zh-CN" altLang="en-US" sz="2400" b="1" dirty="0">
              <a:solidFill>
                <a:schemeClr val="accent3">
                  <a:lumMod val="75000"/>
                </a:schemeClr>
              </a:solidFill>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8" name="矩形 7"/>
              <p:cNvSpPr/>
              <p:nvPr/>
            </p:nvSpPr>
            <p:spPr>
              <a:xfrm>
                <a:off x="2072050" y="1197783"/>
                <a:ext cx="6415667" cy="400110"/>
              </a:xfrm>
              <a:prstGeom prst="rect">
                <a:avLst/>
              </a:prstGeom>
            </p:spPr>
            <p:txBody>
              <a:bodyPr wrap="none">
                <a:spAutoFit/>
              </a:bodyPr>
              <a:lstStyle/>
              <a:p>
                <a:r>
                  <a:rPr lang="zh-CN" altLang="zh-CN" sz="2000" dirty="0">
                    <a:latin typeface="楷体" panose="02010609060101010101" pitchFamily="49" charset="-122"/>
                    <a:ea typeface="楷体" panose="02010609060101010101" pitchFamily="49" charset="-122"/>
                    <a:cs typeface="Times New Roman" panose="02020603050405020304" pitchFamily="18" charset="0"/>
                  </a:rPr>
                  <a:t>年长者关于其决策</a:t>
                </a:r>
                <a14:m>
                  <m:oMath xmlns:m="http://schemas.openxmlformats.org/officeDocument/2006/math">
                    <m:sSub>
                      <m:sSubPr>
                        <m:ctrlPr>
                          <a:rPr lang="zh-CN" altLang="zh-CN" sz="2000" i="1">
                            <a:effectLst/>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仿宋" panose="02010609060101010101" pitchFamily="49" charset="-122"/>
                            <a:cs typeface="Times New Roman" panose="02020603050405020304" pitchFamily="18" charset="0"/>
                          </a:rPr>
                          <m:t>𝑠</m:t>
                        </m:r>
                      </m:e>
                      <m:sub>
                        <m:r>
                          <a:rPr lang="en-US" altLang="zh-CN" sz="2000" i="1">
                            <a:latin typeface="Cambria Math" panose="02040503050406030204" pitchFamily="18" charset="0"/>
                            <a:ea typeface="仿宋" panose="02010609060101010101" pitchFamily="49" charset="-122"/>
                            <a:cs typeface="Times New Roman" panose="02020603050405020304" pitchFamily="18" charset="0"/>
                          </a:rPr>
                          <m:t>1</m:t>
                        </m:r>
                      </m:sub>
                    </m:sSub>
                    <m:r>
                      <a:rPr lang="zh-CN" altLang="zh-CN" sz="2000" i="1">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a:latin typeface="Cambria Math" panose="02040503050406030204" pitchFamily="18" charset="0"/>
                        <a:ea typeface="仿宋" panose="02010609060101010101" pitchFamily="49" charset="-122"/>
                        <a:cs typeface="Times New Roman" panose="02020603050405020304" pitchFamily="18" charset="0"/>
                      </a:rPr>
                      <m:t>𝐼</m:t>
                    </m:r>
                  </m:oMath>
                </a14:m>
                <a:r>
                  <a:rPr lang="zh-CN" altLang="zh-CN" sz="2000" dirty="0">
                    <a:latin typeface="楷体" panose="02010609060101010101" pitchFamily="49" charset="-122"/>
                    <a:ea typeface="楷体" panose="02010609060101010101" pitchFamily="49" charset="-122"/>
                    <a:cs typeface="Times New Roman" panose="02020603050405020304" pitchFamily="18" charset="0"/>
                  </a:rPr>
                  <a:t>在比较静态均衡下的反应方程</a:t>
                </a:r>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endParaRPr lang="zh-CN" altLang="en-US" sz="2000" dirty="0">
                  <a:latin typeface="楷体" panose="02010609060101010101" pitchFamily="49" charset="-122"/>
                  <a:ea typeface="楷体" panose="02010609060101010101" pitchFamily="49" charset="-122"/>
                </a:endParaRPr>
              </a:p>
            </p:txBody>
          </p:sp>
        </mc:Choice>
        <mc:Fallback xmlns="">
          <p:sp>
            <p:nvSpPr>
              <p:cNvPr id="8" name="矩形 7"/>
              <p:cNvSpPr>
                <a:spLocks noRot="1" noChangeAspect="1" noMove="1" noResize="1" noEditPoints="1" noAdjustHandles="1" noChangeArrowheads="1" noChangeShapeType="1" noTextEdit="1"/>
              </p:cNvSpPr>
              <p:nvPr/>
            </p:nvSpPr>
            <p:spPr>
              <a:xfrm>
                <a:off x="2072050" y="1197783"/>
                <a:ext cx="6415667" cy="400110"/>
              </a:xfrm>
              <a:prstGeom prst="rect">
                <a:avLst/>
              </a:prstGeom>
              <a:blipFill rotWithShape="1">
                <a:blip r:embed="rId4"/>
                <a:stretch>
                  <a:fillRect l="-1" t="-43" r="5" b="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072050" y="3549328"/>
                <a:ext cx="6917663" cy="400110"/>
              </a:xfrm>
              <a:prstGeom prst="rect">
                <a:avLst/>
              </a:prstGeom>
            </p:spPr>
            <p:txBody>
              <a:bodyPr wrap="none">
                <a:spAutoFit/>
              </a:bodyPr>
              <a:lstStyle/>
              <a:p>
                <a:r>
                  <a:rPr lang="zh-CN" altLang="en-US" sz="2000" dirty="0">
                    <a:latin typeface="楷体" panose="02010609060101010101" pitchFamily="49" charset="-122"/>
                    <a:ea typeface="楷体" panose="02010609060101010101" pitchFamily="49" charset="-122"/>
                    <a:cs typeface="Times New Roman" panose="02020603050405020304" pitchFamily="18" charset="0"/>
                  </a:rPr>
                  <a:t>陪护者</a:t>
                </a:r>
                <a:r>
                  <a:rPr lang="zh-CN" altLang="zh-CN" sz="2000" dirty="0">
                    <a:latin typeface="楷体" panose="02010609060101010101" pitchFamily="49" charset="-122"/>
                    <a:ea typeface="楷体" panose="02010609060101010101" pitchFamily="49" charset="-122"/>
                    <a:cs typeface="Times New Roman" panose="02020603050405020304" pitchFamily="18" charset="0"/>
                  </a:rPr>
                  <a:t>关于其决策</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仿宋" panose="02010609060101010101" pitchFamily="49" charset="-122"/>
                            <a:cs typeface="Times New Roman" panose="02020603050405020304" pitchFamily="18" charset="0"/>
                          </a:rPr>
                          <m:t>𝑠</m:t>
                        </m:r>
                      </m:e>
                      <m:sub>
                        <m:r>
                          <a:rPr lang="en-US" altLang="zh-CN" sz="2000" b="0" i="1" smtClean="0">
                            <a:latin typeface="Cambria Math" panose="02040503050406030204" pitchFamily="18" charset="0"/>
                            <a:ea typeface="仿宋" panose="02010609060101010101" pitchFamily="49" charset="-122"/>
                            <a:cs typeface="Times New Roman" panose="02020603050405020304" pitchFamily="18" charset="0"/>
                          </a:rPr>
                          <m:t>2</m:t>
                        </m:r>
                      </m:sub>
                    </m:sSub>
                    <m:r>
                      <a:rPr lang="zh-CN" altLang="zh-CN" sz="2000" i="1">
                        <a:latin typeface="Cambria Math" panose="02040503050406030204" pitchFamily="18" charset="0"/>
                        <a:ea typeface="仿宋" panose="02010609060101010101" pitchFamily="49" charset="-122"/>
                        <a:cs typeface="Times New Roman" panose="02020603050405020304" pitchFamily="18" charset="0"/>
                      </a:rPr>
                      <m:t>、</m:t>
                    </m:r>
                    <m:r>
                      <a:rPr lang="en-US" altLang="zh-CN" sz="2000" b="0" i="1" smtClean="0">
                        <a:latin typeface="Cambria Math" panose="02040503050406030204" pitchFamily="18" charset="0"/>
                        <a:ea typeface="仿宋" panose="02010609060101010101" pitchFamily="49" charset="-122"/>
                        <a:cs typeface="Times New Roman" panose="02020603050405020304" pitchFamily="18" charset="0"/>
                      </a:rPr>
                      <m:t>𝐽</m:t>
                    </m:r>
                    <m:r>
                      <a:rPr lang="zh-CN" altLang="en-US" sz="2000" i="1">
                        <a:latin typeface="Cambria Math" panose="02040503050406030204" pitchFamily="18" charset="0"/>
                        <a:ea typeface="仿宋" panose="02010609060101010101" pitchFamily="49" charset="-122"/>
                        <a:cs typeface="Times New Roman" panose="02020603050405020304" pitchFamily="18" charset="0"/>
                      </a:rPr>
                      <m:t>、</m:t>
                    </m:r>
                    <m:r>
                      <a:rPr lang="en-US" altLang="zh-CN" i="1">
                        <a:latin typeface="Cambria Math" panose="02040503050406030204" pitchFamily="18" charset="0"/>
                      </a:rPr>
                      <m:t>𝑒</m:t>
                    </m:r>
                  </m:oMath>
                </a14:m>
                <a:r>
                  <a:rPr lang="zh-CN" altLang="zh-CN" sz="2000" dirty="0">
                    <a:latin typeface="楷体" panose="02010609060101010101" pitchFamily="49" charset="-122"/>
                    <a:ea typeface="楷体" panose="02010609060101010101" pitchFamily="49" charset="-122"/>
                    <a:cs typeface="Times New Roman" panose="02020603050405020304" pitchFamily="18" charset="0"/>
                  </a:rPr>
                  <a:t>在比较静态均衡下的反应方程</a:t>
                </a:r>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endParaRPr lang="zh-CN" altLang="en-US" sz="2000" dirty="0">
                  <a:latin typeface="楷体" panose="02010609060101010101" pitchFamily="49" charset="-122"/>
                  <a:ea typeface="楷体" panose="02010609060101010101" pitchFamily="49"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2072050" y="3549328"/>
                <a:ext cx="6917663" cy="400110"/>
              </a:xfrm>
              <a:prstGeom prst="rect">
                <a:avLst/>
              </a:prstGeom>
              <a:blipFill rotWithShape="1">
                <a:blip r:embed="rId5"/>
                <a:stretch>
                  <a:fillRect l="-1" t="-78" b="93"/>
                </a:stretch>
              </a:blipFill>
            </p:spPr>
            <p:txBody>
              <a:bodyPr/>
              <a:lstStyle/>
              <a:p>
                <a:r>
                  <a:rPr lang="zh-CN" altLang="en-US">
                    <a:noFill/>
                  </a:rPr>
                  <a:t> </a:t>
                </a:r>
              </a:p>
            </p:txBody>
          </p:sp>
        </mc:Fallback>
      </mc:AlternateContent>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先后决策</a:t>
            </a:r>
          </a:p>
        </p:txBody>
      </p:sp>
      <mc:AlternateContent xmlns:mc="http://schemas.openxmlformats.org/markup-compatibility/2006" xmlns:a14="http://schemas.microsoft.com/office/drawing/2010/main">
        <mc:Choice Requires="a14">
          <p:sp>
            <p:nvSpPr>
              <p:cNvPr id="3" name="矩形 2"/>
              <p:cNvSpPr/>
              <p:nvPr/>
            </p:nvSpPr>
            <p:spPr>
              <a:xfrm>
                <a:off x="554180" y="1649604"/>
                <a:ext cx="9365673" cy="1938992"/>
              </a:xfrm>
              <a:prstGeom prst="rect">
                <a:avLst/>
              </a:prstGeom>
            </p:spPr>
            <p:txBody>
              <a:bodyPr wrap="square">
                <a:spAutoFit/>
              </a:bodyPr>
              <a:lstStyle/>
              <a:p>
                <a:pPr>
                  <a:lnSpc>
                    <a:spcPct val="150000"/>
                  </a:lnSpc>
                  <a:spcAft>
                    <a:spcPts val="0"/>
                  </a:spcAft>
                </a:pPr>
                <a:r>
                  <a:rPr lang="zh-CN" altLang="zh-CN" sz="2000" b="1" kern="100" dirty="0">
                    <a:latin typeface="楷体" panose="02010609060101010101" pitchFamily="49" charset="-122"/>
                    <a:ea typeface="楷体" panose="02010609060101010101" pitchFamily="49" charset="-122"/>
                  </a:rPr>
                  <a:t>第一阶段</a:t>
                </a:r>
                <a:r>
                  <a:rPr lang="zh-CN" altLang="en-US" sz="2000" kern="100" dirty="0">
                    <a:latin typeface="楷体" panose="02010609060101010101" pitchFamily="49" charset="-122"/>
                    <a:ea typeface="楷体" panose="02010609060101010101" pitchFamily="49" charset="-122"/>
                  </a:rPr>
                  <a:t>：</a:t>
                </a:r>
                <a:r>
                  <a:rPr lang="zh-CN" altLang="zh-CN" sz="2000" kern="100" dirty="0">
                    <a:latin typeface="楷体" panose="02010609060101010101" pitchFamily="49" charset="-122"/>
                    <a:ea typeface="楷体" panose="02010609060101010101" pitchFamily="49" charset="-122"/>
                  </a:rPr>
                  <a:t>年长者首先购买长期护理保险，并对消费</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𝐶</m:t>
                        </m:r>
                      </m:e>
                      <m:sub>
                        <m:r>
                          <a:rPr lang="en-US" altLang="zh-CN" sz="2000" i="1" kern="100">
                            <a:latin typeface="Cambria Math" panose="02040503050406030204" pitchFamily="18" charset="0"/>
                            <a:ea typeface="仿宋" panose="02010609060101010101" pitchFamily="49" charset="-122"/>
                          </a:rPr>
                          <m:t>1</m:t>
                        </m:r>
                      </m:sub>
                    </m:sSub>
                  </m:oMath>
                </a14:m>
                <a:r>
                  <a:rPr lang="zh-CN" altLang="zh-CN" sz="2000" kern="100" dirty="0">
                    <a:latin typeface="楷体" panose="02010609060101010101" pitchFamily="49" charset="-122"/>
                    <a:ea typeface="楷体" panose="02010609060101010101" pitchFamily="49" charset="-122"/>
                  </a:rPr>
                  <a:t>、储蓄</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𝑆</m:t>
                        </m:r>
                      </m:e>
                      <m:sub>
                        <m:r>
                          <a:rPr lang="en-US" altLang="zh-CN" sz="2000" i="1" kern="100">
                            <a:latin typeface="Cambria Math" panose="02040503050406030204" pitchFamily="18" charset="0"/>
                            <a:ea typeface="仿宋" panose="02010609060101010101" pitchFamily="49" charset="-122"/>
                          </a:rPr>
                          <m:t>1</m:t>
                        </m:r>
                      </m:sub>
                    </m:sSub>
                  </m:oMath>
                </a14:m>
                <a:r>
                  <a:rPr lang="zh-CN" altLang="zh-CN" sz="2000" kern="100" dirty="0">
                    <a:latin typeface="楷体" panose="02010609060101010101" pitchFamily="49" charset="-122"/>
                    <a:ea typeface="楷体" panose="02010609060101010101" pitchFamily="49" charset="-122"/>
                  </a:rPr>
                  <a:t>和投保的长期护理保险保额</a:t>
                </a:r>
                <a14:m>
                  <m:oMath xmlns:m="http://schemas.openxmlformats.org/officeDocument/2006/math">
                    <m:r>
                      <a:rPr lang="en-US" altLang="zh-CN" sz="2000" i="1" kern="100">
                        <a:latin typeface="Cambria Math" panose="02040503050406030204" pitchFamily="18" charset="0"/>
                        <a:ea typeface="仿宋" panose="02010609060101010101" pitchFamily="49" charset="-122"/>
                      </a:rPr>
                      <m:t>𝐼</m:t>
                    </m:r>
                  </m:oMath>
                </a14:m>
                <a:r>
                  <a:rPr lang="zh-CN" altLang="zh-CN" sz="2000" kern="100" dirty="0">
                    <a:latin typeface="楷体" panose="02010609060101010101" pitchFamily="49" charset="-122"/>
                    <a:ea typeface="楷体" panose="02010609060101010101" pitchFamily="49" charset="-122"/>
                  </a:rPr>
                  <a:t>做出决策</a:t>
                </a:r>
                <a:r>
                  <a:rPr lang="zh-CN" altLang="en-US" sz="2000" kern="100" dirty="0">
                    <a:latin typeface="楷体" panose="02010609060101010101" pitchFamily="49" charset="-122"/>
                    <a:ea typeface="楷体" panose="02010609060101010101" pitchFamily="49" charset="-122"/>
                  </a:rPr>
                  <a:t>。</a:t>
                </a:r>
                <a:endParaRPr lang="en-US" altLang="zh-CN" sz="2000" kern="100" dirty="0">
                  <a:latin typeface="楷体" panose="02010609060101010101" pitchFamily="49" charset="-122"/>
                  <a:ea typeface="楷体" panose="02010609060101010101" pitchFamily="49" charset="-122"/>
                </a:endParaRPr>
              </a:p>
              <a:p>
                <a:pPr>
                  <a:lnSpc>
                    <a:spcPct val="150000"/>
                  </a:lnSpc>
                  <a:spcAft>
                    <a:spcPts val="0"/>
                  </a:spcAft>
                </a:pPr>
                <a:r>
                  <a:rPr lang="zh-CN" altLang="zh-CN" sz="2000" b="1" kern="100" dirty="0">
                    <a:latin typeface="楷体" panose="02010609060101010101" pitchFamily="49" charset="-122"/>
                    <a:ea typeface="楷体" panose="02010609060101010101" pitchFamily="49" charset="-122"/>
                  </a:rPr>
                  <a:t>第二阶段</a:t>
                </a:r>
                <a:r>
                  <a:rPr lang="zh-CN" altLang="en-US" sz="2000" kern="100" dirty="0">
                    <a:latin typeface="楷体" panose="02010609060101010101" pitchFamily="49" charset="-122"/>
                    <a:ea typeface="楷体" panose="02010609060101010101" pitchFamily="49" charset="-122"/>
                  </a:rPr>
                  <a:t>：</a:t>
                </a:r>
                <a:r>
                  <a:rPr lang="zh-CN" altLang="zh-CN" sz="2000" kern="100" dirty="0">
                    <a:latin typeface="楷体" panose="02010609060101010101" pitchFamily="49" charset="-122"/>
                    <a:ea typeface="楷体" panose="02010609060101010101" pitchFamily="49" charset="-122"/>
                  </a:rPr>
                  <a:t>陪护者购买长期护理保险，对消费</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𝐶</m:t>
                        </m:r>
                      </m:e>
                      <m:sub>
                        <m:r>
                          <a:rPr lang="en-US" altLang="zh-CN" sz="2000" i="1" kern="100">
                            <a:latin typeface="Cambria Math" panose="02040503050406030204" pitchFamily="18" charset="0"/>
                            <a:ea typeface="仿宋" panose="02010609060101010101" pitchFamily="49" charset="-122"/>
                          </a:rPr>
                          <m:t>2</m:t>
                        </m:r>
                      </m:sub>
                    </m:sSub>
                  </m:oMath>
                </a14:m>
                <a:r>
                  <a:rPr lang="zh-CN" altLang="zh-CN" sz="2000" kern="100" dirty="0">
                    <a:latin typeface="楷体" panose="02010609060101010101" pitchFamily="49" charset="-122"/>
                    <a:ea typeface="楷体" panose="02010609060101010101" pitchFamily="49" charset="-122"/>
                  </a:rPr>
                  <a:t>、储蓄</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仿宋" panose="02010609060101010101" pitchFamily="49" charset="-122"/>
                          </a:rPr>
                          <m:t>𝑆</m:t>
                        </m:r>
                      </m:e>
                      <m:sub>
                        <m:r>
                          <a:rPr lang="en-US" altLang="zh-CN" sz="2000" i="1" kern="100">
                            <a:latin typeface="Cambria Math" panose="02040503050406030204" pitchFamily="18" charset="0"/>
                            <a:ea typeface="仿宋" panose="02010609060101010101" pitchFamily="49" charset="-122"/>
                          </a:rPr>
                          <m:t>2</m:t>
                        </m:r>
                      </m:sub>
                    </m:sSub>
                  </m:oMath>
                </a14:m>
                <a:r>
                  <a:rPr lang="zh-CN" altLang="zh-CN" sz="2000" kern="100" dirty="0">
                    <a:latin typeface="楷体" panose="02010609060101010101" pitchFamily="49" charset="-122"/>
                    <a:ea typeface="楷体" panose="02010609060101010101" pitchFamily="49" charset="-122"/>
                  </a:rPr>
                  <a:t>、投保的长期护理保险保额</a:t>
                </a:r>
                <a14:m>
                  <m:oMath xmlns:m="http://schemas.openxmlformats.org/officeDocument/2006/math">
                    <m:r>
                      <a:rPr lang="en-US" altLang="zh-CN" sz="2000" i="1" kern="100">
                        <a:latin typeface="Cambria Math" panose="02040503050406030204" pitchFamily="18" charset="0"/>
                        <a:ea typeface="仿宋" panose="02010609060101010101" pitchFamily="49" charset="-122"/>
                      </a:rPr>
                      <m:t>𝐽</m:t>
                    </m:r>
                  </m:oMath>
                </a14:m>
                <a:r>
                  <a:rPr lang="zh-CN" altLang="zh-CN" sz="2000" kern="100" dirty="0">
                    <a:latin typeface="楷体" panose="02010609060101010101" pitchFamily="49" charset="-122"/>
                    <a:ea typeface="楷体" panose="02010609060101010101" pitchFamily="49" charset="-122"/>
                  </a:rPr>
                  <a:t>和提供的家庭护理或陪护的时长</a:t>
                </a:r>
                <a14:m>
                  <m:oMath xmlns:m="http://schemas.openxmlformats.org/officeDocument/2006/math">
                    <m:r>
                      <a:rPr lang="en-US" altLang="zh-CN" sz="2000" i="1" kern="100">
                        <a:latin typeface="Cambria Math" panose="02040503050406030204" pitchFamily="18" charset="0"/>
                        <a:ea typeface="仿宋" panose="02010609060101010101" pitchFamily="49" charset="-122"/>
                      </a:rPr>
                      <m:t>𝑒</m:t>
                    </m:r>
                  </m:oMath>
                </a14:m>
                <a:r>
                  <a:rPr lang="zh-CN" altLang="zh-CN" sz="2000" kern="100" dirty="0">
                    <a:latin typeface="楷体" panose="02010609060101010101" pitchFamily="49" charset="-122"/>
                    <a:ea typeface="楷体" panose="02010609060101010101" pitchFamily="49" charset="-122"/>
                  </a:rPr>
                  <a:t>做出决策。</a:t>
                </a:r>
              </a:p>
            </p:txBody>
          </p:sp>
        </mc:Choice>
        <mc:Fallback xmlns="">
          <p:sp>
            <p:nvSpPr>
              <p:cNvPr id="3" name="矩形 2"/>
              <p:cNvSpPr>
                <a:spLocks noRot="1" noChangeAspect="1" noMove="1" noResize="1" noEditPoints="1" noAdjustHandles="1" noChangeArrowheads="1" noChangeShapeType="1" noTextEdit="1"/>
              </p:cNvSpPr>
              <p:nvPr/>
            </p:nvSpPr>
            <p:spPr>
              <a:xfrm>
                <a:off x="554180" y="1649604"/>
                <a:ext cx="9365673" cy="1938992"/>
              </a:xfrm>
              <a:prstGeom prst="rect">
                <a:avLst/>
              </a:prstGeom>
              <a:blipFill rotWithShape="1">
                <a:blip r:embed="rId2"/>
                <a:stretch>
                  <a:fillRect l="-5" t="-26" r="6" b="11"/>
                </a:stretch>
              </a:blipFill>
            </p:spPr>
            <p:txBody>
              <a:bodyPr/>
              <a:lstStyle/>
              <a:p>
                <a:r>
                  <a:rPr lang="zh-CN" altLang="en-US">
                    <a:noFill/>
                  </a:rPr>
                  <a:t> </a:t>
                </a:r>
              </a:p>
            </p:txBody>
          </p:sp>
        </mc:Fallback>
      </mc:AlternateContent>
      <p:sp>
        <p:nvSpPr>
          <p:cNvPr id="7" name="矩形 6"/>
          <p:cNvSpPr/>
          <p:nvPr/>
        </p:nvSpPr>
        <p:spPr>
          <a:xfrm>
            <a:off x="554180" y="1187939"/>
            <a:ext cx="2031325" cy="461665"/>
          </a:xfrm>
          <a:prstGeom prst="rect">
            <a:avLst/>
          </a:prstGeom>
        </p:spPr>
        <p:txBody>
          <a:bodyPr wrap="none">
            <a:spAutoFit/>
          </a:bodyPr>
          <a:lstStyle/>
          <a:p>
            <a:r>
              <a:rPr lang="zh-CN" altLang="zh-CN" sz="24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最优决策模型</a:t>
            </a:r>
            <a:endParaRPr lang="zh-CN" altLang="en-US" sz="2400" dirty="0">
              <a:solidFill>
                <a:schemeClr val="accent3">
                  <a:lumMod val="75000"/>
                </a:schemeClr>
              </a:solidFill>
              <a:latin typeface="楷体" panose="02010609060101010101" pitchFamily="49" charset="-122"/>
              <a:ea typeface="楷体" panose="02010609060101010101" pitchFamily="49" charset="-122"/>
            </a:endParaRPr>
          </a:p>
        </p:txBody>
      </p:sp>
      <p:sp>
        <p:nvSpPr>
          <p:cNvPr id="10" name="矩形 9"/>
          <p:cNvSpPr/>
          <p:nvPr/>
        </p:nvSpPr>
        <p:spPr>
          <a:xfrm>
            <a:off x="554180" y="3838891"/>
            <a:ext cx="4801314" cy="461665"/>
          </a:xfrm>
          <a:prstGeom prst="rect">
            <a:avLst/>
          </a:prstGeom>
        </p:spPr>
        <p:txBody>
          <a:bodyPr wrap="none">
            <a:spAutoFit/>
          </a:bodyPr>
          <a:lstStyle/>
          <a:p>
            <a:r>
              <a:rPr lang="zh-CN" altLang="zh-CN" sz="24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最优决策模型</a:t>
            </a:r>
            <a:r>
              <a:rPr lang="zh-CN" altLang="en-US" sz="24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求解</a:t>
            </a:r>
            <a:r>
              <a:rPr lang="en-US" altLang="zh-CN" sz="24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逆向归纳法</a:t>
            </a:r>
            <a:endParaRPr lang="zh-CN" altLang="en-US" sz="2400" dirty="0">
              <a:solidFill>
                <a:schemeClr val="accent3">
                  <a:lumMod val="75000"/>
                </a:schemeClr>
              </a:solidFill>
              <a:latin typeface="楷体" panose="02010609060101010101" pitchFamily="49" charset="-122"/>
              <a:ea typeface="楷体" panose="02010609060101010101" pitchFamily="49" charset="-122"/>
            </a:endParaRPr>
          </a:p>
        </p:txBody>
      </p:sp>
      <p:sp>
        <p:nvSpPr>
          <p:cNvPr id="11" name="矩形 10"/>
          <p:cNvSpPr/>
          <p:nvPr/>
        </p:nvSpPr>
        <p:spPr>
          <a:xfrm>
            <a:off x="554180" y="4439783"/>
            <a:ext cx="8648521" cy="400110"/>
          </a:xfrm>
          <a:prstGeom prst="rect">
            <a:avLst/>
          </a:prstGeom>
        </p:spPr>
        <p:txBody>
          <a:bodyPr wrap="none">
            <a:spAutoFit/>
          </a:bodyPr>
          <a:lstStyle/>
          <a:p>
            <a:r>
              <a:rPr lang="zh-CN" altLang="zh-CN" sz="2000" b="1" dirty="0">
                <a:latin typeface="楷体" panose="02010609060101010101" pitchFamily="49" charset="-122"/>
                <a:ea typeface="楷体" panose="02010609060101010101" pitchFamily="49" charset="-122"/>
                <a:cs typeface="Times New Roman" panose="02020603050405020304" pitchFamily="18" charset="0"/>
              </a:rPr>
              <a:t>陪护者</a:t>
            </a:r>
            <a:r>
              <a:rPr lang="zh-CN" altLang="zh-CN" sz="2000" dirty="0">
                <a:latin typeface="楷体" panose="02010609060101010101" pitchFamily="49" charset="-122"/>
                <a:ea typeface="楷体" panose="02010609060101010101" pitchFamily="49" charset="-122"/>
                <a:cs typeface="Times New Roman" panose="02020603050405020304" pitchFamily="18" charset="0"/>
              </a:rPr>
              <a:t>的决策从最大化其期望效用的考虑出发</a:t>
            </a:r>
            <a:r>
              <a:rPr lang="zh-CN" altLang="en-US" sz="2000" dirty="0">
                <a:latin typeface="楷体" panose="02010609060101010101" pitchFamily="49" charset="-122"/>
                <a:ea typeface="楷体" panose="02010609060101010101" pitchFamily="49" charset="-122"/>
                <a:cs typeface="Times New Roman" panose="02020603050405020304" pitchFamily="18" charset="0"/>
              </a:rPr>
              <a:t>，决策方程与同时决策下相同</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矩形 11"/>
              <p:cNvSpPr/>
              <p:nvPr/>
            </p:nvSpPr>
            <p:spPr>
              <a:xfrm>
                <a:off x="554180" y="4839893"/>
                <a:ext cx="9707420" cy="1015663"/>
              </a:xfrm>
              <a:prstGeom prst="rect">
                <a:avLst/>
              </a:prstGeom>
            </p:spPr>
            <p:txBody>
              <a:bodyPr wrap="square">
                <a:spAutoFit/>
              </a:bodyPr>
              <a:lstStyle/>
              <a:p>
                <a:pPr>
                  <a:lnSpc>
                    <a:spcPct val="150000"/>
                  </a:lnSpc>
                </a:pPr>
                <a:r>
                  <a:rPr lang="zh-CN" altLang="zh-CN" sz="2000" b="1" dirty="0">
                    <a:latin typeface="楷体" panose="02010609060101010101" pitchFamily="49" charset="-122"/>
                    <a:ea typeface="楷体" panose="02010609060101010101" pitchFamily="49" charset="-122"/>
                    <a:cs typeface="Times New Roman" panose="02020603050405020304" pitchFamily="18" charset="0"/>
                  </a:rPr>
                  <a:t>年长者</a:t>
                </a:r>
                <a:r>
                  <a:rPr lang="zh-CN" altLang="zh-CN" sz="2000" dirty="0">
                    <a:latin typeface="楷体" panose="02010609060101010101" pitchFamily="49" charset="-122"/>
                    <a:ea typeface="楷体" panose="02010609060101010101" pitchFamily="49" charset="-122"/>
                    <a:cs typeface="Times New Roman" panose="02020603050405020304" pitchFamily="18" charset="0"/>
                  </a:rPr>
                  <a:t>的决策从最大化其期望效用的考虑出发，</a:t>
                </a:r>
                <a:r>
                  <a:rPr lang="zh-CN" altLang="zh-CN" sz="20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与</a:t>
                </a:r>
                <a:r>
                  <a:rPr lang="zh-CN" altLang="en-US" sz="20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同时决策下</a:t>
                </a:r>
                <a:r>
                  <a:rPr lang="zh-CN" altLang="zh-CN" sz="2000" dirty="0">
                    <a:solidFill>
                      <a:schemeClr val="accent3">
                        <a:lumMod val="75000"/>
                      </a:schemeClr>
                    </a:solidFill>
                    <a:latin typeface="楷体" panose="02010609060101010101" pitchFamily="49" charset="-122"/>
                    <a:ea typeface="楷体" panose="02010609060101010101" pitchFamily="49" charset="-122"/>
                    <a:cs typeface="Times New Roman" panose="02020603050405020304" pitchFamily="18" charset="0"/>
                  </a:rPr>
                  <a:t>不同的是</a:t>
                </a:r>
                <a:r>
                  <a:rPr lang="zh-CN" altLang="zh-CN" sz="2000" dirty="0">
                    <a:latin typeface="楷体" panose="02010609060101010101" pitchFamily="49" charset="-122"/>
                    <a:ea typeface="楷体" panose="02010609060101010101" pitchFamily="49" charset="-122"/>
                    <a:cs typeface="Times New Roman" panose="02020603050405020304" pitchFamily="18" charset="0"/>
                  </a:rPr>
                  <a:t>，年长者投保的长期护理保险保额</a:t>
                </a:r>
                <a14:m>
                  <m:oMath xmlns:m="http://schemas.openxmlformats.org/officeDocument/2006/math">
                    <m:r>
                      <a:rPr lang="en-US" altLang="zh-CN" sz="2000" i="1">
                        <a:latin typeface="Cambria Math" panose="02040503050406030204" pitchFamily="18" charset="0"/>
                        <a:ea typeface="仿宋" panose="02010609060101010101" pitchFamily="49" charset="-122"/>
                        <a:cs typeface="Times New Roman" panose="02020603050405020304" pitchFamily="18" charset="0"/>
                      </a:rPr>
                      <m:t>𝐼</m:t>
                    </m:r>
                  </m:oMath>
                </a14:m>
                <a:r>
                  <a:rPr lang="zh-CN" altLang="zh-CN" sz="2000" dirty="0">
                    <a:latin typeface="楷体" panose="02010609060101010101" pitchFamily="49" charset="-122"/>
                    <a:ea typeface="楷体" panose="02010609060101010101" pitchFamily="49" charset="-122"/>
                    <a:cs typeface="Times New Roman" panose="02020603050405020304" pitchFamily="18" charset="0"/>
                  </a:rPr>
                  <a:t>是陪护者提供的家庭护理的时长</a:t>
                </a:r>
                <a14:m>
                  <m:oMath xmlns:m="http://schemas.openxmlformats.org/officeDocument/2006/math">
                    <m:r>
                      <a:rPr lang="en-US" altLang="zh-CN" sz="2000" i="1">
                        <a:latin typeface="Cambria Math" panose="02040503050406030204" pitchFamily="18" charset="0"/>
                        <a:ea typeface="仿宋" panose="02010609060101010101" pitchFamily="49" charset="-122"/>
                        <a:cs typeface="Times New Roman" panose="02020603050405020304" pitchFamily="18" charset="0"/>
                      </a:rPr>
                      <m:t>𝑒</m:t>
                    </m:r>
                  </m:oMath>
                </a14:m>
                <a:r>
                  <a:rPr lang="zh-CN" altLang="zh-CN" sz="2000" dirty="0">
                    <a:latin typeface="楷体" panose="02010609060101010101" pitchFamily="49" charset="-122"/>
                    <a:ea typeface="楷体" panose="02010609060101010101" pitchFamily="49" charset="-122"/>
                    <a:cs typeface="Times New Roman" panose="02020603050405020304" pitchFamily="18" charset="0"/>
                  </a:rPr>
                  <a:t>的函数</a:t>
                </a:r>
                <a:endParaRPr lang="zh-CN" altLang="en-US" sz="2000" dirty="0">
                  <a:latin typeface="楷体" panose="02010609060101010101" pitchFamily="49" charset="-122"/>
                  <a:ea typeface="楷体" panose="02010609060101010101" pitchFamily="49"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554180" y="4839893"/>
                <a:ext cx="9707420" cy="1015663"/>
              </a:xfrm>
              <a:prstGeom prst="rect">
                <a:avLst/>
              </a:prstGeom>
              <a:blipFill rotWithShape="1">
                <a:blip r:embed="rId3"/>
                <a:stretch>
                  <a:fillRect l="-5" t="-55" b="22"/>
                </a:stretch>
              </a:blipFill>
            </p:spPr>
            <p:txBody>
              <a:bodyPr/>
              <a:lstStyle/>
              <a:p>
                <a:r>
                  <a:rPr lang="zh-CN" altLang="en-US">
                    <a:noFill/>
                  </a:rPr>
                  <a:t> </a:t>
                </a:r>
              </a:p>
            </p:txBody>
          </p:sp>
        </mc:Fallback>
      </mc:AlternateContent>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实证假设</a:t>
            </a:r>
          </a:p>
        </p:txBody>
      </p:sp>
      <p:sp>
        <p:nvSpPr>
          <p:cNvPr id="3" name="矩形 2"/>
          <p:cNvSpPr/>
          <p:nvPr/>
        </p:nvSpPr>
        <p:spPr>
          <a:xfrm>
            <a:off x="447962" y="1218643"/>
            <a:ext cx="10090729" cy="461665"/>
          </a:xfrm>
          <a:prstGeom prst="rect">
            <a:avLst/>
          </a:prstGeom>
        </p:spPr>
        <p:txBody>
          <a:bodyPr wrap="square">
            <a:spAutoFit/>
          </a:bodyPr>
          <a:lstStyle/>
          <a:p>
            <a:pPr>
              <a:spcAft>
                <a:spcPts val="0"/>
              </a:spcAft>
            </a:pPr>
            <a:r>
              <a:rPr lang="zh-CN" altLang="zh-CN" sz="2400" b="1" kern="100" dirty="0">
                <a:latin typeface="Times New Roman" panose="02020603050405020304" pitchFamily="18" charset="0"/>
                <a:ea typeface="楷体" panose="02010609060101010101" pitchFamily="49" charset="-122"/>
                <a:cs typeface="Times New Roman" panose="02020603050405020304" pitchFamily="18" charset="0"/>
              </a:rPr>
              <a:t>数据来源</a:t>
            </a:r>
            <a:r>
              <a:rPr lang="zh-CN" altLang="en-US" sz="24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kern="100" dirty="0">
                <a:latin typeface="Times New Roman" panose="02020603050405020304" pitchFamily="18" charset="0"/>
                <a:ea typeface="楷体" panose="02010609060101010101" pitchFamily="49" charset="-122"/>
                <a:cs typeface="Times New Roman" panose="02020603050405020304" pitchFamily="18" charset="0"/>
              </a:rPr>
              <a:t>中国健康与养老追踪调查（</a:t>
            </a:r>
            <a:r>
              <a:rPr lang="en-US" altLang="zh-CN" sz="2400" kern="100" dirty="0">
                <a:latin typeface="Times New Roman" panose="02020603050405020304" pitchFamily="18" charset="0"/>
                <a:ea typeface="楷体" panose="02010609060101010101" pitchFamily="49" charset="-122"/>
                <a:cs typeface="Times New Roman" panose="02020603050405020304" pitchFamily="18" charset="0"/>
              </a:rPr>
              <a:t>CHARLS</a:t>
            </a:r>
            <a:r>
              <a:rPr lang="zh-CN" altLang="zh-CN" sz="2400"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kern="100" dirty="0">
                <a:latin typeface="Times New Roman" panose="02020603050405020304" pitchFamily="18" charset="0"/>
                <a:ea typeface="楷体" panose="02010609060101010101" pitchFamily="49" charset="-122"/>
                <a:cs typeface="Times New Roman" panose="02020603050405020304" pitchFamily="18" charset="0"/>
              </a:rPr>
              <a:t>2015</a:t>
            </a:r>
            <a:r>
              <a:rPr lang="zh-CN" altLang="zh-CN" sz="2400" kern="1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kern="100" dirty="0">
                <a:latin typeface="Times New Roman" panose="02020603050405020304" pitchFamily="18" charset="0"/>
                <a:ea typeface="楷体" panose="02010609060101010101" pitchFamily="49" charset="-122"/>
                <a:cs typeface="Times New Roman" panose="02020603050405020304" pitchFamily="18" charset="0"/>
              </a:rPr>
              <a:t>2018</a:t>
            </a:r>
            <a:r>
              <a:rPr lang="zh-CN" altLang="zh-CN" sz="2400" kern="100" dirty="0">
                <a:latin typeface="Times New Roman" panose="02020603050405020304" pitchFamily="18" charset="0"/>
                <a:ea typeface="楷体" panose="02010609060101010101" pitchFamily="49" charset="-122"/>
                <a:cs typeface="Times New Roman" panose="02020603050405020304" pitchFamily="18" charset="0"/>
              </a:rPr>
              <a:t>年的数据集</a:t>
            </a:r>
            <a:endParaRPr lang="en-US" altLang="zh-CN" sz="2400" kern="1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表格 4"/>
          <p:cNvGraphicFramePr>
            <a:graphicFrameLocks noGrp="1"/>
          </p:cNvGraphicFramePr>
          <p:nvPr/>
        </p:nvGraphicFramePr>
        <p:xfrm>
          <a:off x="1085029" y="1680308"/>
          <a:ext cx="8645723" cy="4968240"/>
        </p:xfrm>
        <a:graphic>
          <a:graphicData uri="http://schemas.openxmlformats.org/drawingml/2006/table">
            <a:tbl>
              <a:tblPr firstRow="1" bandRow="1">
                <a:tableStyleId>{5C22544A-7EE6-4342-B048-85BDC9FD1C3A}</a:tableStyleId>
              </a:tblPr>
              <a:tblGrid>
                <a:gridCol w="2429651">
                  <a:extLst>
                    <a:ext uri="{9D8B030D-6E8A-4147-A177-3AD203B41FA5}">
                      <a16:colId xmlns:a16="http://schemas.microsoft.com/office/drawing/2014/main" val="20000"/>
                    </a:ext>
                  </a:extLst>
                </a:gridCol>
                <a:gridCol w="3053269">
                  <a:extLst>
                    <a:ext uri="{9D8B030D-6E8A-4147-A177-3AD203B41FA5}">
                      <a16:colId xmlns:a16="http://schemas.microsoft.com/office/drawing/2014/main" val="20001"/>
                    </a:ext>
                  </a:extLst>
                </a:gridCol>
                <a:gridCol w="3162803">
                  <a:extLst>
                    <a:ext uri="{9D8B030D-6E8A-4147-A177-3AD203B41FA5}">
                      <a16:colId xmlns:a16="http://schemas.microsoft.com/office/drawing/2014/main" val="20002"/>
                    </a:ext>
                  </a:extLst>
                </a:gridCol>
              </a:tblGrid>
              <a:tr h="370840">
                <a:tc>
                  <a:txBody>
                    <a:bodyPr/>
                    <a:lstStyle/>
                    <a:p>
                      <a:pPr algn="ct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变量</a:t>
                      </a:r>
                    </a:p>
                  </a:txBody>
                  <a:tcPr anchor="ctr"/>
                </a:tc>
                <a:tc>
                  <a:txBody>
                    <a:bodyP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对年长者的假设</a:t>
                      </a:r>
                    </a:p>
                  </a:txBody>
                  <a:tcPr anchor="ctr"/>
                </a:tc>
                <a:tc>
                  <a:txBody>
                    <a:bodyP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对陪护者的假设</a:t>
                      </a:r>
                    </a:p>
                  </a:txBody>
                  <a:tcPr anchor="ctr"/>
                </a:tc>
                <a:extLst>
                  <a:ext uri="{0D108BD9-81ED-4DB2-BD59-A6C34878D82A}">
                    <a16:rowId xmlns:a16="http://schemas.microsoft.com/office/drawing/2014/main" val="10000"/>
                  </a:ext>
                </a:extLst>
              </a:tr>
              <a:tr h="370840">
                <a:tc>
                  <a:txBody>
                    <a:bodyPr/>
                    <a:lstStyle/>
                    <a:p>
                      <a:pPr algn="ct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保险期限</a:t>
                      </a:r>
                    </a:p>
                  </a:txBody>
                  <a:tcPr anchor="ctr"/>
                </a:tc>
                <a:tc gridSpan="2">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5</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年</a:t>
                      </a:r>
                    </a:p>
                  </a:txBody>
                  <a:tcPr anchor="ctr"/>
                </a:tc>
                <a:tc hMerge="1">
                  <a:txBody>
                    <a:bodyPr/>
                    <a:lstStyle/>
                    <a:p>
                      <a:endParaRPr lang="zh-CN"/>
                    </a:p>
                  </a:txBody>
                  <a:tcPr anchor="ctr"/>
                </a:tc>
                <a:extLst>
                  <a:ext uri="{0D108BD9-81ED-4DB2-BD59-A6C34878D82A}">
                    <a16:rowId xmlns:a16="http://schemas.microsoft.com/office/drawing/2014/main" val="10001"/>
                  </a:ext>
                </a:extLst>
              </a:tr>
              <a:tr h="370840">
                <a:tc>
                  <a:txBody>
                    <a:bodyPr/>
                    <a:lstStyle/>
                    <a:p>
                      <a:pPr algn="ct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年龄</a:t>
                      </a:r>
                    </a:p>
                  </a:txBody>
                  <a:tcPr anchor="ctr"/>
                </a:tc>
                <a:tc>
                  <a:txBody>
                    <a:bodyPr/>
                    <a:lstStyle/>
                    <a:p>
                      <a:pPr algn="ctr"/>
                      <a:r>
                        <a:rPr lang="zh-CN" altLang="en-US" sz="2000"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父母（平均生育年龄</a:t>
                      </a:r>
                      <a:r>
                        <a:rPr lang="en-US" altLang="zh-CN" sz="2000"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23</a:t>
                      </a:r>
                      <a:r>
                        <a:rPr lang="zh-CN" altLang="en-US" sz="2000"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岁）</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子女</a:t>
                      </a:r>
                    </a:p>
                  </a:txBody>
                  <a:tcPr anchor="ctr"/>
                </a:tc>
                <a:extLst>
                  <a:ext uri="{0D108BD9-81ED-4DB2-BD59-A6C34878D82A}">
                    <a16:rowId xmlns:a16="http://schemas.microsoft.com/office/drawing/2014/main" val="10002"/>
                  </a:ext>
                </a:extLst>
              </a:tr>
              <a:tr h="370840">
                <a:tc>
                  <a:txBody>
                    <a:bodyPr/>
                    <a:lstStyle/>
                    <a:p>
                      <a:pPr algn="ctr"/>
                      <a:r>
                        <a:rPr lang="zh-CN" altLang="zh-CN" sz="2000" b="1"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储蓄利率</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gridSpan="2">
                  <a:txBody>
                    <a:bodyPr/>
                    <a:lstStyle/>
                    <a:p>
                      <a:pPr algn="ctr"/>
                      <a:r>
                        <a:rPr lang="en-US" altLang="zh-CN" sz="2000"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1.50%</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hMerge="1">
                  <a:txBody>
                    <a:bodyPr/>
                    <a:lstStyle/>
                    <a:p>
                      <a:endParaRPr lang="zh-CN"/>
                    </a:p>
                  </a:txBody>
                  <a:tcPr/>
                </a:tc>
                <a:extLst>
                  <a:ext uri="{0D108BD9-81ED-4DB2-BD59-A6C34878D82A}">
                    <a16:rowId xmlns:a16="http://schemas.microsoft.com/office/drawing/2014/main" val="10003"/>
                  </a:ext>
                </a:extLst>
              </a:tr>
              <a:tr h="370840">
                <a:tc>
                  <a:txBody>
                    <a:bodyPr/>
                    <a:lstStyle/>
                    <a:p>
                      <a:pPr algn="ctr"/>
                      <a:r>
                        <a:rPr lang="zh-CN" altLang="zh-CN" sz="2000" b="1"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初始财富</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en-US" altLang="zh-CN" sz="2000"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29.9</a:t>
                      </a:r>
                      <a:r>
                        <a:rPr lang="zh-CN" altLang="zh-CN" sz="2000"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万元</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51.6</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万元</a:t>
                      </a:r>
                    </a:p>
                  </a:txBody>
                  <a:tcPr anchor="ctr"/>
                </a:tc>
                <a:extLst>
                  <a:ext uri="{0D108BD9-81ED-4DB2-BD59-A6C34878D82A}">
                    <a16:rowId xmlns:a16="http://schemas.microsoft.com/office/drawing/2014/main" val="10004"/>
                  </a:ext>
                </a:extLst>
              </a:tr>
              <a:tr h="370840">
                <a:tc>
                  <a:txBody>
                    <a:bodyPr/>
                    <a:lstStyle/>
                    <a:p>
                      <a:pPr algn="ctr"/>
                      <a:r>
                        <a:rPr lang="zh-CN" altLang="zh-CN" sz="2000" b="1"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年护理费用</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gridSpan="2">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36547</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元</a:t>
                      </a:r>
                    </a:p>
                  </a:txBody>
                  <a:tcPr anchor="ctr"/>
                </a:tc>
                <a:tc hMerge="1">
                  <a:txBody>
                    <a:bodyPr/>
                    <a:lstStyle/>
                    <a:p>
                      <a:endParaRPr lang="zh-CN"/>
                    </a:p>
                  </a:txBody>
                  <a:tcPr/>
                </a:tc>
                <a:extLst>
                  <a:ext uri="{0D108BD9-81ED-4DB2-BD59-A6C34878D82A}">
                    <a16:rowId xmlns:a16="http://schemas.microsoft.com/office/drawing/2014/main" val="10005"/>
                  </a:ext>
                </a:extLst>
              </a:tr>
              <a:tr h="370840">
                <a:tc>
                  <a:txBody>
                    <a:bodyPr/>
                    <a:lstStyle/>
                    <a:p>
                      <a:pPr algn="ctr"/>
                      <a:r>
                        <a:rPr lang="zh-CN" altLang="zh-CN" sz="2000" b="1"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提供家庭护理的单位时间成本</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61.5</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元</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小时</a:t>
                      </a:r>
                    </a:p>
                  </a:txBody>
                  <a:tcPr anchor="ctr"/>
                </a:tc>
                <a:extLst>
                  <a:ext uri="{0D108BD9-81ED-4DB2-BD59-A6C34878D82A}">
                    <a16:rowId xmlns:a16="http://schemas.microsoft.com/office/drawing/2014/main" val="10006"/>
                  </a:ext>
                </a:extLst>
              </a:tr>
              <a:tr h="370840">
                <a:tc>
                  <a:txBody>
                    <a:bodyPr/>
                    <a:lstStyle/>
                    <a:p>
                      <a:pPr algn="ctr"/>
                      <a:r>
                        <a:rPr lang="zh-CN" altLang="zh-CN" sz="2000" b="1"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雇佣护理人员的单位时间成本</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94</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元</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小时</a:t>
                      </a:r>
                    </a:p>
                  </a:txBody>
                  <a:tcPr anchor="ctr"/>
                </a:tc>
                <a:tc>
                  <a:txBody>
                    <a:bodyPr/>
                    <a:lstStyle/>
                    <a:p>
                      <a:pPr algn="ct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extLst>
                  <a:ext uri="{0D108BD9-81ED-4DB2-BD59-A6C34878D82A}">
                    <a16:rowId xmlns:a16="http://schemas.microsoft.com/office/drawing/2014/main" val="10007"/>
                  </a:ext>
                </a:extLst>
              </a:tr>
              <a:tr h="370840">
                <a:tc>
                  <a:txBody>
                    <a:bodyPr/>
                    <a:lstStyle/>
                    <a:p>
                      <a:pPr algn="ctr"/>
                      <a:r>
                        <a:rPr lang="zh-CN" altLang="zh-CN" sz="2000" b="1"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遗赠比例</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gridSpan="2">
                  <a:txBody>
                    <a:bodyPr/>
                    <a:lstStyle/>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0.9</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hMerge="1">
                  <a:txBody>
                    <a:bodyPr/>
                    <a:lstStyle/>
                    <a:p>
                      <a:endParaRPr lang="zh-CN"/>
                    </a:p>
                  </a:txBody>
                  <a:tcPr/>
                </a:tc>
                <a:extLst>
                  <a:ext uri="{0D108BD9-81ED-4DB2-BD59-A6C34878D82A}">
                    <a16:rowId xmlns:a16="http://schemas.microsoft.com/office/drawing/2014/main" val="10008"/>
                  </a:ext>
                </a:extLst>
              </a:tr>
              <a:tr h="370840">
                <a:tc>
                  <a:txBody>
                    <a:bodyPr/>
                    <a:lstStyle/>
                    <a:p>
                      <a:pPr algn="ctr"/>
                      <a:r>
                        <a:rPr lang="zh-CN" altLang="zh-CN" sz="2000" b="1"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贴现因子</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gridSpan="2">
                  <a:txBody>
                    <a:bodyPr/>
                    <a:lstStyle/>
                    <a:p>
                      <a:pPr algn="ctr"/>
                      <a:r>
                        <a:rPr lang="en-US" altLang="zh-CN" sz="2000"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2.00%</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hMerge="1">
                  <a:txBody>
                    <a:bodyPr/>
                    <a:lstStyle/>
                    <a:p>
                      <a:endParaRPr lang="zh-CN"/>
                    </a:p>
                  </a:txBody>
                  <a:tcPr/>
                </a:tc>
                <a:extLst>
                  <a:ext uri="{0D108BD9-81ED-4DB2-BD59-A6C34878D82A}">
                    <a16:rowId xmlns:a16="http://schemas.microsoft.com/office/drawing/2014/main" val="10009"/>
                  </a:ext>
                </a:extLst>
              </a:tr>
              <a:tr h="370840">
                <a:tc>
                  <a:txBody>
                    <a:bodyPr/>
                    <a:lstStyle/>
                    <a:p>
                      <a:pPr algn="ctr"/>
                      <a:r>
                        <a:rPr lang="zh-CN" altLang="zh-CN" sz="2000" b="1"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风险规避系数</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gridSpan="2">
                  <a:txBody>
                    <a:bodyPr/>
                    <a:lstStyle/>
                    <a:p>
                      <a:pPr algn="ctr"/>
                      <a:r>
                        <a:rPr lang="en-US" altLang="zh-CN" sz="2000" kern="1200" dirty="0">
                          <a:solidFill>
                            <a:schemeClr val="dk1"/>
                          </a:solidFill>
                          <a:effectLst/>
                          <a:latin typeface="Times New Roman" panose="02020603050405020304" pitchFamily="18" charset="0"/>
                          <a:ea typeface="楷体" panose="02010609060101010101" pitchFamily="49" charset="-122"/>
                          <a:cs typeface="Times New Roman" panose="02020603050405020304" pitchFamily="18" charset="0"/>
                        </a:rPr>
                        <a:t>0.5</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tc>
                <a:tc hMerge="1">
                  <a:txBody>
                    <a:bodyPr/>
                    <a:lstStyle/>
                    <a:p>
                      <a:endParaRPr lang="zh-CN"/>
                    </a:p>
                  </a:txBody>
                  <a:tcPr/>
                </a:tc>
                <a:extLst>
                  <a:ext uri="{0D108BD9-81ED-4DB2-BD59-A6C34878D82A}">
                    <a16:rowId xmlns:a16="http://schemas.microsoft.com/office/drawing/2014/main" val="10010"/>
                  </a:ext>
                </a:extLst>
              </a:tr>
            </a:tbl>
          </a:graphicData>
        </a:graphic>
      </p:graphicFrame>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实证假设</a:t>
            </a:r>
          </a:p>
        </p:txBody>
      </p:sp>
      <p:sp>
        <p:nvSpPr>
          <p:cNvPr id="3" name="矩形 2"/>
          <p:cNvSpPr/>
          <p:nvPr/>
        </p:nvSpPr>
        <p:spPr>
          <a:xfrm>
            <a:off x="447962" y="1359298"/>
            <a:ext cx="10090729" cy="461665"/>
          </a:xfrm>
          <a:prstGeom prst="rect">
            <a:avLst/>
          </a:prstGeom>
        </p:spPr>
        <p:txBody>
          <a:bodyPr wrap="square">
            <a:spAutoFit/>
          </a:bodyPr>
          <a:lstStyle/>
          <a:p>
            <a:pPr>
              <a:spcAft>
                <a:spcPts val="0"/>
              </a:spcAft>
            </a:pPr>
            <a:r>
              <a:rPr lang="zh-CN" altLang="zh-CN" sz="2400" b="1" kern="100" dirty="0">
                <a:latin typeface="Times New Roman" panose="02020603050405020304" pitchFamily="18" charset="0"/>
                <a:ea typeface="楷体" panose="02010609060101010101" pitchFamily="49" charset="-122"/>
                <a:cs typeface="Times New Roman" panose="02020603050405020304" pitchFamily="18" charset="0"/>
              </a:rPr>
              <a:t>数据来源</a:t>
            </a:r>
            <a:r>
              <a:rPr lang="zh-CN" altLang="en-US" sz="24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kern="100" dirty="0">
                <a:latin typeface="Times New Roman" panose="02020603050405020304" pitchFamily="18" charset="0"/>
                <a:ea typeface="楷体" panose="02010609060101010101" pitchFamily="49" charset="-122"/>
                <a:cs typeface="Times New Roman" panose="02020603050405020304" pitchFamily="18" charset="0"/>
              </a:rPr>
              <a:t>中国健康与养老追踪调查（</a:t>
            </a:r>
            <a:r>
              <a:rPr lang="en-US" altLang="zh-CN" sz="2400" kern="100" dirty="0">
                <a:latin typeface="Times New Roman" panose="02020603050405020304" pitchFamily="18" charset="0"/>
                <a:ea typeface="楷体" panose="02010609060101010101" pitchFamily="49" charset="-122"/>
                <a:cs typeface="Times New Roman" panose="02020603050405020304" pitchFamily="18" charset="0"/>
              </a:rPr>
              <a:t>CHARLS</a:t>
            </a:r>
            <a:r>
              <a:rPr lang="zh-CN" altLang="zh-CN" sz="2400"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kern="100" dirty="0">
                <a:latin typeface="Times New Roman" panose="02020603050405020304" pitchFamily="18" charset="0"/>
                <a:ea typeface="楷体" panose="02010609060101010101" pitchFamily="49" charset="-122"/>
                <a:cs typeface="Times New Roman" panose="02020603050405020304" pitchFamily="18" charset="0"/>
              </a:rPr>
              <a:t>2015</a:t>
            </a:r>
            <a:r>
              <a:rPr lang="zh-CN" altLang="zh-CN" sz="2400" kern="1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kern="100" dirty="0">
                <a:latin typeface="Times New Roman" panose="02020603050405020304" pitchFamily="18" charset="0"/>
                <a:ea typeface="楷体" panose="02010609060101010101" pitchFamily="49" charset="-122"/>
                <a:cs typeface="Times New Roman" panose="02020603050405020304" pitchFamily="18" charset="0"/>
              </a:rPr>
              <a:t>2018</a:t>
            </a:r>
            <a:r>
              <a:rPr lang="zh-CN" altLang="zh-CN" sz="2400" kern="100" dirty="0">
                <a:latin typeface="Times New Roman" panose="02020603050405020304" pitchFamily="18" charset="0"/>
                <a:ea typeface="楷体" panose="02010609060101010101" pitchFamily="49" charset="-122"/>
                <a:cs typeface="Times New Roman" panose="02020603050405020304" pitchFamily="18" charset="0"/>
              </a:rPr>
              <a:t>年的数据集</a:t>
            </a:r>
            <a:endParaRPr lang="en-US" altLang="zh-CN" sz="2400" kern="1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6" name="表格 5"/>
          <p:cNvGraphicFramePr>
            <a:graphicFrameLocks noGrp="1"/>
          </p:cNvGraphicFramePr>
          <p:nvPr/>
        </p:nvGraphicFramePr>
        <p:xfrm>
          <a:off x="1079528" y="2622290"/>
          <a:ext cx="8544763" cy="3291840"/>
        </p:xfrm>
        <a:graphic>
          <a:graphicData uri="http://schemas.openxmlformats.org/drawingml/2006/table">
            <a:tbl>
              <a:tblPr firstRow="1" firstCol="1" bandRow="1"/>
              <a:tblGrid>
                <a:gridCol w="1103460">
                  <a:extLst>
                    <a:ext uri="{9D8B030D-6E8A-4147-A177-3AD203B41FA5}">
                      <a16:colId xmlns:a16="http://schemas.microsoft.com/office/drawing/2014/main" val="20000"/>
                    </a:ext>
                  </a:extLst>
                </a:gridCol>
                <a:gridCol w="826379">
                  <a:extLst>
                    <a:ext uri="{9D8B030D-6E8A-4147-A177-3AD203B41FA5}">
                      <a16:colId xmlns:a16="http://schemas.microsoft.com/office/drawing/2014/main" val="20001"/>
                    </a:ext>
                  </a:extLst>
                </a:gridCol>
                <a:gridCol w="827352">
                  <a:extLst>
                    <a:ext uri="{9D8B030D-6E8A-4147-A177-3AD203B41FA5}">
                      <a16:colId xmlns:a16="http://schemas.microsoft.com/office/drawing/2014/main" val="20002"/>
                    </a:ext>
                  </a:extLst>
                </a:gridCol>
                <a:gridCol w="826379">
                  <a:extLst>
                    <a:ext uri="{9D8B030D-6E8A-4147-A177-3AD203B41FA5}">
                      <a16:colId xmlns:a16="http://schemas.microsoft.com/office/drawing/2014/main" val="20003"/>
                    </a:ext>
                  </a:extLst>
                </a:gridCol>
                <a:gridCol w="827352">
                  <a:extLst>
                    <a:ext uri="{9D8B030D-6E8A-4147-A177-3AD203B41FA5}">
                      <a16:colId xmlns:a16="http://schemas.microsoft.com/office/drawing/2014/main" val="20004"/>
                    </a:ext>
                  </a:extLst>
                </a:gridCol>
                <a:gridCol w="826379">
                  <a:extLst>
                    <a:ext uri="{9D8B030D-6E8A-4147-A177-3AD203B41FA5}">
                      <a16:colId xmlns:a16="http://schemas.microsoft.com/office/drawing/2014/main" val="20005"/>
                    </a:ext>
                  </a:extLst>
                </a:gridCol>
                <a:gridCol w="827352">
                  <a:extLst>
                    <a:ext uri="{9D8B030D-6E8A-4147-A177-3AD203B41FA5}">
                      <a16:colId xmlns:a16="http://schemas.microsoft.com/office/drawing/2014/main" val="20006"/>
                    </a:ext>
                  </a:extLst>
                </a:gridCol>
                <a:gridCol w="826379">
                  <a:extLst>
                    <a:ext uri="{9D8B030D-6E8A-4147-A177-3AD203B41FA5}">
                      <a16:colId xmlns:a16="http://schemas.microsoft.com/office/drawing/2014/main" val="20007"/>
                    </a:ext>
                  </a:extLst>
                </a:gridCol>
                <a:gridCol w="827352">
                  <a:extLst>
                    <a:ext uri="{9D8B030D-6E8A-4147-A177-3AD203B41FA5}">
                      <a16:colId xmlns:a16="http://schemas.microsoft.com/office/drawing/2014/main" val="20008"/>
                    </a:ext>
                  </a:extLst>
                </a:gridCol>
                <a:gridCol w="826379">
                  <a:extLst>
                    <a:ext uri="{9D8B030D-6E8A-4147-A177-3AD203B41FA5}">
                      <a16:colId xmlns:a16="http://schemas.microsoft.com/office/drawing/2014/main" val="20009"/>
                    </a:ext>
                  </a:extLst>
                </a:gridCol>
              </a:tblGrid>
              <a:tr h="0">
                <a:tc>
                  <a:txBody>
                    <a:bodyPr/>
                    <a:lstStyle/>
                    <a:p>
                      <a:pPr>
                        <a:lnSpc>
                          <a:spcPct val="150000"/>
                        </a:lnSpc>
                        <a:spcAft>
                          <a:spcPts val="0"/>
                        </a:spcAft>
                      </a:pPr>
                      <a:r>
                        <a:rPr lang="zh-CN" sz="1800" kern="100" dirty="0">
                          <a:effectLst/>
                          <a:latin typeface="楷体" panose="02010609060101010101" pitchFamily="49" charset="-122"/>
                          <a:ea typeface="楷体" panose="02010609060101010101" pitchFamily="49" charset="-122"/>
                          <a:cs typeface="Times New Roman" panose="02020603050405020304" pitchFamily="18" charset="0"/>
                        </a:rPr>
                        <a:t>年龄</a:t>
                      </a: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45</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0">
                <a:tc>
                  <a:txBody>
                    <a:bodyPr/>
                    <a:lstStyle/>
                    <a:p>
                      <a:pPr>
                        <a:lnSpc>
                          <a:spcPct val="150000"/>
                        </a:lnSpc>
                        <a:spcAft>
                          <a:spcPts val="0"/>
                        </a:spcAft>
                      </a:pPr>
                      <a:r>
                        <a:rPr lang="zh-CN" sz="1800" kern="100" dirty="0">
                          <a:effectLst/>
                          <a:latin typeface="楷体" panose="02010609060101010101" pitchFamily="49" charset="-122"/>
                          <a:ea typeface="楷体" panose="02010609060101010101" pitchFamily="49" charset="-122"/>
                          <a:cs typeface="Times New Roman" panose="02020603050405020304" pitchFamily="18" charset="0"/>
                        </a:rPr>
                        <a:t>出险概率</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0.0497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0.0535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0.0581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0.0631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0.0678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0.0721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0.0760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0.0794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0.0820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nSpc>
                          <a:spcPct val="150000"/>
                        </a:lnSpc>
                        <a:spcAft>
                          <a:spcPts val="0"/>
                        </a:spcAft>
                      </a:pPr>
                      <a:r>
                        <a:rPr lang="zh-CN" sz="1800" kern="100" dirty="0">
                          <a:effectLst/>
                          <a:latin typeface="楷体" panose="02010609060101010101" pitchFamily="49" charset="-122"/>
                          <a:ea typeface="楷体" panose="02010609060101010101" pitchFamily="49" charset="-122"/>
                          <a:cs typeface="Times New Roman" panose="02020603050405020304" pitchFamily="18" charset="0"/>
                        </a:rPr>
                        <a:t>年龄</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54</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0">
                <a:tc>
                  <a:txBody>
                    <a:bodyPr/>
                    <a:lstStyle/>
                    <a:p>
                      <a:pPr>
                        <a:lnSpc>
                          <a:spcPct val="150000"/>
                        </a:lnSpc>
                        <a:spcAft>
                          <a:spcPts val="0"/>
                        </a:spcAft>
                      </a:pPr>
                      <a:r>
                        <a:rPr lang="zh-CN" sz="1800" kern="100">
                          <a:effectLst/>
                          <a:latin typeface="楷体" panose="02010609060101010101" pitchFamily="49" charset="-122"/>
                          <a:ea typeface="楷体" panose="02010609060101010101" pitchFamily="49" charset="-122"/>
                          <a:cs typeface="Times New Roman" panose="02020603050405020304" pitchFamily="18" charset="0"/>
                        </a:rPr>
                        <a:t>出险概率</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0.0845</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0.0866</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0.0890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0.0911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0.0934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0.0954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0.0978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0.0999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0.1022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nSpc>
                          <a:spcPct val="150000"/>
                        </a:lnSpc>
                        <a:spcAft>
                          <a:spcPts val="0"/>
                        </a:spcAft>
                      </a:pPr>
                      <a:r>
                        <a:rPr lang="zh-CN" sz="1800" kern="100">
                          <a:effectLst/>
                          <a:latin typeface="楷体" panose="02010609060101010101" pitchFamily="49" charset="-122"/>
                          <a:ea typeface="楷体" panose="02010609060101010101" pitchFamily="49" charset="-122"/>
                          <a:cs typeface="Times New Roman" panose="02020603050405020304" pitchFamily="18" charset="0"/>
                        </a:rPr>
                        <a:t>年龄</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64</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65</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r h="0">
                <a:tc>
                  <a:txBody>
                    <a:bodyPr/>
                    <a:lstStyle/>
                    <a:p>
                      <a:pPr>
                        <a:lnSpc>
                          <a:spcPct val="150000"/>
                        </a:lnSpc>
                        <a:spcAft>
                          <a:spcPts val="0"/>
                        </a:spcAft>
                      </a:pPr>
                      <a:r>
                        <a:rPr lang="zh-CN" sz="1800" kern="100">
                          <a:effectLst/>
                          <a:latin typeface="楷体" panose="02010609060101010101" pitchFamily="49" charset="-122"/>
                          <a:ea typeface="楷体" panose="02010609060101010101" pitchFamily="49" charset="-122"/>
                          <a:cs typeface="Times New Roman" panose="02020603050405020304" pitchFamily="18" charset="0"/>
                        </a:rPr>
                        <a:t>出险概率</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0.1050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0.1082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0.1122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0.1183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0.1259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0.1331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0.1418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0.1505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0.1596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nSpc>
                          <a:spcPct val="150000"/>
                        </a:lnSpc>
                        <a:spcAft>
                          <a:spcPts val="0"/>
                        </a:spcAft>
                      </a:pPr>
                      <a:r>
                        <a:rPr lang="zh-CN" sz="1800" kern="100" dirty="0">
                          <a:effectLst/>
                          <a:latin typeface="楷体" panose="02010609060101010101" pitchFamily="49" charset="-122"/>
                          <a:ea typeface="楷体" panose="02010609060101010101" pitchFamily="49" charset="-122"/>
                          <a:cs typeface="Times New Roman" panose="02020603050405020304" pitchFamily="18" charset="0"/>
                        </a:rPr>
                        <a:t>年龄</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72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6"/>
                  </a:ext>
                </a:extLst>
              </a:tr>
              <a:tr h="0">
                <a:tc>
                  <a:txBody>
                    <a:bodyPr/>
                    <a:lstStyle/>
                    <a:p>
                      <a:pPr>
                        <a:lnSpc>
                          <a:spcPct val="150000"/>
                        </a:lnSpc>
                        <a:spcAft>
                          <a:spcPts val="0"/>
                        </a:spcAft>
                      </a:pPr>
                      <a:r>
                        <a:rPr lang="zh-CN" sz="1800" kern="100" dirty="0">
                          <a:effectLst/>
                          <a:latin typeface="楷体" panose="02010609060101010101" pitchFamily="49" charset="-122"/>
                          <a:ea typeface="楷体" panose="02010609060101010101" pitchFamily="49" charset="-122"/>
                          <a:cs typeface="Times New Roman" panose="02020603050405020304" pitchFamily="18" charset="0"/>
                        </a:rPr>
                        <a:t>出险概率</a:t>
                      </a: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0.1696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0.1811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0.1901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0.2027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0.2348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矩形 6"/>
          <p:cNvSpPr/>
          <p:nvPr/>
        </p:nvSpPr>
        <p:spPr>
          <a:xfrm>
            <a:off x="3720693" y="2099026"/>
            <a:ext cx="3262432" cy="400110"/>
          </a:xfrm>
          <a:prstGeom prst="rect">
            <a:avLst/>
          </a:prstGeom>
        </p:spPr>
        <p:txBody>
          <a:bodyPr wrap="none">
            <a:spAutoFit/>
          </a:bodyPr>
          <a:lstStyle/>
          <a:p>
            <a:r>
              <a:rPr lang="zh-CN" altLang="zh-CN" sz="2000" dirty="0">
                <a:latin typeface="楷体" panose="02010609060101010101" pitchFamily="49" charset="-122"/>
                <a:ea typeface="楷体" panose="02010609060101010101" pitchFamily="49" charset="-122"/>
                <a:cs typeface="Times New Roman" panose="02020603050405020304" pitchFamily="18" charset="0"/>
              </a:rPr>
              <a:t>分年龄保险期限内出险概率</a:t>
            </a:r>
            <a:endParaRPr lang="zh-CN" altLang="en-US" sz="2000" dirty="0">
              <a:latin typeface="楷体" panose="02010609060101010101" pitchFamily="49" charset="-122"/>
              <a:ea typeface="楷体" panose="02010609060101010101" pitchFamily="49" charset="-122"/>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实证假设</a:t>
            </a:r>
          </a:p>
        </p:txBody>
      </p:sp>
      <p:sp>
        <p:nvSpPr>
          <p:cNvPr id="3" name="矩形 2"/>
          <p:cNvSpPr/>
          <p:nvPr/>
        </p:nvSpPr>
        <p:spPr>
          <a:xfrm>
            <a:off x="447962" y="1359298"/>
            <a:ext cx="10090729" cy="461665"/>
          </a:xfrm>
          <a:prstGeom prst="rect">
            <a:avLst/>
          </a:prstGeom>
        </p:spPr>
        <p:txBody>
          <a:bodyPr wrap="square">
            <a:spAutoFit/>
          </a:bodyPr>
          <a:lstStyle/>
          <a:p>
            <a:pPr>
              <a:spcAft>
                <a:spcPts val="0"/>
              </a:spcAft>
            </a:pPr>
            <a:r>
              <a:rPr lang="zh-CN" altLang="zh-CN" sz="2400" b="1" kern="100" dirty="0">
                <a:latin typeface="Times New Roman" panose="02020603050405020304" pitchFamily="18" charset="0"/>
                <a:ea typeface="楷体" panose="02010609060101010101" pitchFamily="49" charset="-122"/>
                <a:cs typeface="Times New Roman" panose="02020603050405020304" pitchFamily="18" charset="0"/>
              </a:rPr>
              <a:t>数据来源</a:t>
            </a:r>
            <a:r>
              <a:rPr lang="zh-CN" altLang="en-US" sz="24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kern="100" dirty="0">
                <a:latin typeface="Times New Roman" panose="02020603050405020304" pitchFamily="18" charset="0"/>
                <a:ea typeface="楷体" panose="02010609060101010101" pitchFamily="49" charset="-122"/>
                <a:cs typeface="Times New Roman" panose="02020603050405020304" pitchFamily="18" charset="0"/>
              </a:rPr>
              <a:t>中国健康与养老追踪调查（</a:t>
            </a:r>
            <a:r>
              <a:rPr lang="en-US" altLang="zh-CN" sz="2400" kern="100" dirty="0">
                <a:latin typeface="Times New Roman" panose="02020603050405020304" pitchFamily="18" charset="0"/>
                <a:ea typeface="楷体" panose="02010609060101010101" pitchFamily="49" charset="-122"/>
                <a:cs typeface="Times New Roman" panose="02020603050405020304" pitchFamily="18" charset="0"/>
              </a:rPr>
              <a:t>CHARLS</a:t>
            </a:r>
            <a:r>
              <a:rPr lang="zh-CN" altLang="zh-CN" sz="2400"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kern="100" dirty="0">
                <a:latin typeface="Times New Roman" panose="02020603050405020304" pitchFamily="18" charset="0"/>
                <a:ea typeface="楷体" panose="02010609060101010101" pitchFamily="49" charset="-122"/>
                <a:cs typeface="Times New Roman" panose="02020603050405020304" pitchFamily="18" charset="0"/>
              </a:rPr>
              <a:t>2015</a:t>
            </a:r>
            <a:r>
              <a:rPr lang="zh-CN" altLang="zh-CN" sz="2400" kern="1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kern="100" dirty="0">
                <a:latin typeface="Times New Roman" panose="02020603050405020304" pitchFamily="18" charset="0"/>
                <a:ea typeface="楷体" panose="02010609060101010101" pitchFamily="49" charset="-122"/>
                <a:cs typeface="Times New Roman" panose="02020603050405020304" pitchFamily="18" charset="0"/>
              </a:rPr>
              <a:t>2018</a:t>
            </a:r>
            <a:r>
              <a:rPr lang="zh-CN" altLang="zh-CN" sz="2400" kern="100" dirty="0">
                <a:latin typeface="Times New Roman" panose="02020603050405020304" pitchFamily="18" charset="0"/>
                <a:ea typeface="楷体" panose="02010609060101010101" pitchFamily="49" charset="-122"/>
                <a:cs typeface="Times New Roman" panose="02020603050405020304" pitchFamily="18" charset="0"/>
              </a:rPr>
              <a:t>年的数据集</a:t>
            </a:r>
            <a:endParaRPr lang="en-US" altLang="zh-CN" sz="2400" kern="1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3092669" y="2160624"/>
            <a:ext cx="4801314" cy="400110"/>
          </a:xfrm>
          <a:prstGeom prst="rect">
            <a:avLst/>
          </a:prstGeom>
        </p:spPr>
        <p:txBody>
          <a:bodyPr wrap="none">
            <a:spAutoFit/>
          </a:bodyPr>
          <a:lstStyle/>
          <a:p>
            <a:r>
              <a:rPr lang="zh-CN" altLang="en-US" sz="2000" dirty="0">
                <a:latin typeface="楷体" panose="02010609060101010101" pitchFamily="49" charset="-122"/>
                <a:ea typeface="楷体" panose="02010609060101010101" pitchFamily="49" charset="-122"/>
                <a:cs typeface="Times New Roman" panose="02020603050405020304" pitchFamily="18" charset="0"/>
              </a:rPr>
              <a:t>分年龄长期护理保险保费（每百元保额）</a:t>
            </a:r>
            <a:endParaRPr lang="zh-CN" altLang="en-US" sz="2000" dirty="0">
              <a:latin typeface="楷体" panose="02010609060101010101" pitchFamily="49" charset="-122"/>
              <a:ea typeface="楷体" panose="02010609060101010101" pitchFamily="49" charset="-122"/>
            </a:endParaRPr>
          </a:p>
        </p:txBody>
      </p:sp>
      <p:graphicFrame>
        <p:nvGraphicFramePr>
          <p:cNvPr id="4" name="表格 3"/>
          <p:cNvGraphicFramePr>
            <a:graphicFrameLocks noGrp="1"/>
          </p:cNvGraphicFramePr>
          <p:nvPr/>
        </p:nvGraphicFramePr>
        <p:xfrm>
          <a:off x="1075473" y="2675599"/>
          <a:ext cx="8552869" cy="3291840"/>
        </p:xfrm>
        <a:graphic>
          <a:graphicData uri="http://schemas.openxmlformats.org/drawingml/2006/table">
            <a:tbl>
              <a:tblPr firstRow="1" firstCol="1" bandRow="1"/>
              <a:tblGrid>
                <a:gridCol w="1292095">
                  <a:extLst>
                    <a:ext uri="{9D8B030D-6E8A-4147-A177-3AD203B41FA5}">
                      <a16:colId xmlns:a16="http://schemas.microsoft.com/office/drawing/2014/main" val="20000"/>
                    </a:ext>
                  </a:extLst>
                </a:gridCol>
                <a:gridCol w="805994">
                  <a:extLst>
                    <a:ext uri="{9D8B030D-6E8A-4147-A177-3AD203B41FA5}">
                      <a16:colId xmlns:a16="http://schemas.microsoft.com/office/drawing/2014/main" val="20001"/>
                    </a:ext>
                  </a:extLst>
                </a:gridCol>
                <a:gridCol w="807132">
                  <a:extLst>
                    <a:ext uri="{9D8B030D-6E8A-4147-A177-3AD203B41FA5}">
                      <a16:colId xmlns:a16="http://schemas.microsoft.com/office/drawing/2014/main" val="20002"/>
                    </a:ext>
                  </a:extLst>
                </a:gridCol>
                <a:gridCol w="807132">
                  <a:extLst>
                    <a:ext uri="{9D8B030D-6E8A-4147-A177-3AD203B41FA5}">
                      <a16:colId xmlns:a16="http://schemas.microsoft.com/office/drawing/2014/main" val="20003"/>
                    </a:ext>
                  </a:extLst>
                </a:gridCol>
                <a:gridCol w="805994">
                  <a:extLst>
                    <a:ext uri="{9D8B030D-6E8A-4147-A177-3AD203B41FA5}">
                      <a16:colId xmlns:a16="http://schemas.microsoft.com/office/drawing/2014/main" val="20004"/>
                    </a:ext>
                  </a:extLst>
                </a:gridCol>
                <a:gridCol w="807132">
                  <a:extLst>
                    <a:ext uri="{9D8B030D-6E8A-4147-A177-3AD203B41FA5}">
                      <a16:colId xmlns:a16="http://schemas.microsoft.com/office/drawing/2014/main" val="20005"/>
                    </a:ext>
                  </a:extLst>
                </a:gridCol>
                <a:gridCol w="807132">
                  <a:extLst>
                    <a:ext uri="{9D8B030D-6E8A-4147-A177-3AD203B41FA5}">
                      <a16:colId xmlns:a16="http://schemas.microsoft.com/office/drawing/2014/main" val="20006"/>
                    </a:ext>
                  </a:extLst>
                </a:gridCol>
                <a:gridCol w="807132">
                  <a:extLst>
                    <a:ext uri="{9D8B030D-6E8A-4147-A177-3AD203B41FA5}">
                      <a16:colId xmlns:a16="http://schemas.microsoft.com/office/drawing/2014/main" val="20007"/>
                    </a:ext>
                  </a:extLst>
                </a:gridCol>
                <a:gridCol w="805994">
                  <a:extLst>
                    <a:ext uri="{9D8B030D-6E8A-4147-A177-3AD203B41FA5}">
                      <a16:colId xmlns:a16="http://schemas.microsoft.com/office/drawing/2014/main" val="20008"/>
                    </a:ext>
                  </a:extLst>
                </a:gridCol>
                <a:gridCol w="807132">
                  <a:extLst>
                    <a:ext uri="{9D8B030D-6E8A-4147-A177-3AD203B41FA5}">
                      <a16:colId xmlns:a16="http://schemas.microsoft.com/office/drawing/2014/main" val="20009"/>
                    </a:ext>
                  </a:extLst>
                </a:gridCol>
              </a:tblGrid>
              <a:tr h="0">
                <a:tc>
                  <a:txBody>
                    <a:bodyPr/>
                    <a:lstStyle/>
                    <a:p>
                      <a:pPr>
                        <a:lnSpc>
                          <a:spcPct val="150000"/>
                        </a:lnSpc>
                        <a:spcAft>
                          <a:spcPts val="0"/>
                        </a:spcAft>
                      </a:pPr>
                      <a:r>
                        <a:rPr lang="zh-CN" sz="1800" kern="100">
                          <a:effectLst/>
                          <a:latin typeface="Times New Roman" panose="02020603050405020304" pitchFamily="18" charset="0"/>
                          <a:ea typeface="仿宋" panose="02010609060101010101" pitchFamily="49" charset="-122"/>
                          <a:cs typeface="Times New Roman" panose="02020603050405020304" pitchFamily="18" charset="0"/>
                        </a:rPr>
                        <a:t>年龄</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90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0">
                <a:tc>
                  <a:txBody>
                    <a:bodyPr/>
                    <a:lstStyle/>
                    <a:p>
                      <a:pPr>
                        <a:lnSpc>
                          <a:spcPct val="150000"/>
                        </a:lnSpc>
                        <a:spcAft>
                          <a:spcPts val="0"/>
                        </a:spcAft>
                      </a:pPr>
                      <a:r>
                        <a:rPr lang="zh-CN" sz="1800" kern="100">
                          <a:effectLst/>
                          <a:latin typeface="Times New Roman" panose="02020603050405020304" pitchFamily="18" charset="0"/>
                          <a:ea typeface="仿宋" panose="02010609060101010101" pitchFamily="49" charset="-122"/>
                          <a:cs typeface="Times New Roman" panose="02020603050405020304" pitchFamily="18" charset="0"/>
                        </a:rPr>
                        <a:t>保险费率</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4.61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4.97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5.39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5.86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6.29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7.05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7.37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7.61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nSpc>
                          <a:spcPct val="150000"/>
                        </a:lnSpc>
                        <a:spcAft>
                          <a:spcPts val="0"/>
                        </a:spcAft>
                      </a:pPr>
                      <a:r>
                        <a:rPr lang="zh-CN" sz="1800" kern="100">
                          <a:effectLst/>
                          <a:latin typeface="Times New Roman" panose="02020603050405020304" pitchFamily="18" charset="0"/>
                          <a:ea typeface="仿宋" panose="02010609060101010101" pitchFamily="49" charset="-122"/>
                          <a:cs typeface="Times New Roman" panose="02020603050405020304" pitchFamily="18" charset="0"/>
                        </a:rPr>
                        <a:t>年龄</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59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0">
                <a:tc>
                  <a:txBody>
                    <a:bodyPr/>
                    <a:lstStyle/>
                    <a:p>
                      <a:pPr>
                        <a:lnSpc>
                          <a:spcPct val="150000"/>
                        </a:lnSpc>
                        <a:spcAft>
                          <a:spcPts val="0"/>
                        </a:spcAft>
                      </a:pPr>
                      <a:r>
                        <a:rPr lang="zh-CN" sz="1800" kern="100">
                          <a:effectLst/>
                          <a:latin typeface="Times New Roman" panose="02020603050405020304" pitchFamily="18" charset="0"/>
                          <a:ea typeface="仿宋" panose="02010609060101010101" pitchFamily="49" charset="-122"/>
                          <a:cs typeface="Times New Roman" panose="02020603050405020304" pitchFamily="18" charset="0"/>
                        </a:rPr>
                        <a:t>保险费率</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7.84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8.04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8.27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8.46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8.67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8.86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9.08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9.27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9.49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nSpc>
                          <a:spcPct val="150000"/>
                        </a:lnSpc>
                        <a:spcAft>
                          <a:spcPts val="0"/>
                        </a:spcAft>
                      </a:pPr>
                      <a:r>
                        <a:rPr lang="zh-CN" sz="1800" kern="100">
                          <a:effectLst/>
                          <a:latin typeface="Times New Roman" panose="02020603050405020304" pitchFamily="18" charset="0"/>
                          <a:ea typeface="仿宋" panose="02010609060101010101" pitchFamily="49" charset="-122"/>
                          <a:cs typeface="Times New Roman" panose="02020603050405020304" pitchFamily="18" charset="0"/>
                        </a:rPr>
                        <a:t>年龄</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r h="0">
                <a:tc>
                  <a:txBody>
                    <a:bodyPr/>
                    <a:lstStyle/>
                    <a:p>
                      <a:pPr>
                        <a:lnSpc>
                          <a:spcPct val="150000"/>
                        </a:lnSpc>
                        <a:spcAft>
                          <a:spcPts val="0"/>
                        </a:spcAft>
                      </a:pPr>
                      <a:r>
                        <a:rPr lang="zh-CN" sz="1800" kern="100">
                          <a:effectLst/>
                          <a:latin typeface="Times New Roman" panose="02020603050405020304" pitchFamily="18" charset="0"/>
                          <a:ea typeface="仿宋" panose="02010609060101010101" pitchFamily="49" charset="-122"/>
                          <a:cs typeface="Times New Roman" panose="02020603050405020304" pitchFamily="18" charset="0"/>
                        </a:rPr>
                        <a:t>保险费率</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9.75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10.04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10.42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10.98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10.68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12.36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13.16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13.97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14.82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nSpc>
                          <a:spcPct val="150000"/>
                        </a:lnSpc>
                        <a:spcAft>
                          <a:spcPts val="0"/>
                        </a:spcAft>
                      </a:pPr>
                      <a:r>
                        <a:rPr lang="zh-CN" sz="1800" kern="100">
                          <a:effectLst/>
                          <a:latin typeface="Times New Roman" panose="02020603050405020304" pitchFamily="18" charset="0"/>
                          <a:ea typeface="仿宋" panose="02010609060101010101" pitchFamily="49" charset="-122"/>
                          <a:cs typeface="Times New Roman" panose="02020603050405020304" pitchFamily="18" charset="0"/>
                        </a:rPr>
                        <a:t>年龄</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6"/>
                  </a:ext>
                </a:extLst>
              </a:tr>
              <a:tr h="0">
                <a:tc>
                  <a:txBody>
                    <a:bodyPr/>
                    <a:lstStyle/>
                    <a:p>
                      <a:pPr>
                        <a:lnSpc>
                          <a:spcPct val="150000"/>
                        </a:lnSpc>
                        <a:spcAft>
                          <a:spcPts val="0"/>
                        </a:spcAft>
                      </a:pPr>
                      <a:r>
                        <a:rPr lang="zh-CN" sz="1800" kern="100">
                          <a:effectLst/>
                          <a:latin typeface="Times New Roman" panose="02020603050405020304" pitchFamily="18" charset="0"/>
                          <a:ea typeface="仿宋" panose="02010609060101010101" pitchFamily="49" charset="-122"/>
                          <a:cs typeface="Times New Roman" panose="02020603050405020304" pitchFamily="18" charset="0"/>
                        </a:rPr>
                        <a:t>保险费率</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15.74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16.81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17.64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18.81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21.79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实证结果</a:t>
            </a:r>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nvGraphicFramePr>
            <p:xfrm>
              <a:off x="1524004" y="1324712"/>
              <a:ext cx="7823195" cy="4727830"/>
            </p:xfrm>
            <a:graphic>
              <a:graphicData uri="http://schemas.openxmlformats.org/drawingml/2006/table">
                <a:tbl>
                  <a:tblPr firstRow="1" firstCol="1" bandRow="1"/>
                  <a:tblGrid>
                    <a:gridCol w="1000884">
                      <a:extLst>
                        <a:ext uri="{9D8B030D-6E8A-4147-A177-3AD203B41FA5}">
                          <a16:colId xmlns:a16="http://schemas.microsoft.com/office/drawing/2014/main" val="20000"/>
                        </a:ext>
                      </a:extLst>
                    </a:gridCol>
                    <a:gridCol w="940407">
                      <a:extLst>
                        <a:ext uri="{9D8B030D-6E8A-4147-A177-3AD203B41FA5}">
                          <a16:colId xmlns:a16="http://schemas.microsoft.com/office/drawing/2014/main" val="20001"/>
                        </a:ext>
                      </a:extLst>
                    </a:gridCol>
                    <a:gridCol w="948488">
                      <a:extLst>
                        <a:ext uri="{9D8B030D-6E8A-4147-A177-3AD203B41FA5}">
                          <a16:colId xmlns:a16="http://schemas.microsoft.com/office/drawing/2014/main" val="20002"/>
                        </a:ext>
                      </a:extLst>
                    </a:gridCol>
                    <a:gridCol w="948488">
                      <a:extLst>
                        <a:ext uri="{9D8B030D-6E8A-4147-A177-3AD203B41FA5}">
                          <a16:colId xmlns:a16="http://schemas.microsoft.com/office/drawing/2014/main" val="20003"/>
                        </a:ext>
                      </a:extLst>
                    </a:gridCol>
                    <a:gridCol w="948488">
                      <a:extLst>
                        <a:ext uri="{9D8B030D-6E8A-4147-A177-3AD203B41FA5}">
                          <a16:colId xmlns:a16="http://schemas.microsoft.com/office/drawing/2014/main" val="20004"/>
                        </a:ext>
                      </a:extLst>
                    </a:gridCol>
                    <a:gridCol w="1474119">
                      <a:extLst>
                        <a:ext uri="{9D8B030D-6E8A-4147-A177-3AD203B41FA5}">
                          <a16:colId xmlns:a16="http://schemas.microsoft.com/office/drawing/2014/main" val="20005"/>
                        </a:ext>
                      </a:extLst>
                    </a:gridCol>
                    <a:gridCol w="474244">
                      <a:extLst>
                        <a:ext uri="{9D8B030D-6E8A-4147-A177-3AD203B41FA5}">
                          <a16:colId xmlns:a16="http://schemas.microsoft.com/office/drawing/2014/main" val="20006"/>
                        </a:ext>
                      </a:extLst>
                    </a:gridCol>
                    <a:gridCol w="1088077">
                      <a:extLst>
                        <a:ext uri="{9D8B030D-6E8A-4147-A177-3AD203B41FA5}">
                          <a16:colId xmlns:a16="http://schemas.microsoft.com/office/drawing/2014/main" val="20007"/>
                        </a:ext>
                      </a:extLst>
                    </a:gridCol>
                  </a:tblGrid>
                  <a:tr h="0">
                    <a:tc>
                      <a:txBody>
                        <a:bodyPr/>
                        <a:lstStyle/>
                        <a:p>
                          <a:pPr algn="ctr">
                            <a:lnSpc>
                              <a:spcPct val="150000"/>
                            </a:lnSpc>
                            <a:spcAft>
                              <a:spcPts val="0"/>
                            </a:spcAft>
                          </a:pPr>
                          <a:r>
                            <a:rPr lang="zh-CN" sz="1800" kern="100" dirty="0">
                              <a:effectLst/>
                              <a:latin typeface="楷体" panose="02010609060101010101" pitchFamily="49" charset="-122"/>
                              <a:ea typeface="楷体" panose="02010609060101010101" pitchFamily="49" charset="-122"/>
                              <a:cs typeface="Times New Roman" panose="02020603050405020304" pitchFamily="18" charset="0"/>
                            </a:rPr>
                            <a:t>年长者</a:t>
                          </a: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sSup>
                                  <m:sSupPr>
                                    <m:ctrlPr>
                                      <a:rPr 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𝑠</m:t>
                                        </m:r>
                                      </m:e>
                                      <m:sub>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1</m:t>
                                        </m:r>
                                      </m:sub>
                                    </m:sSub>
                                  </m:e>
                                  <m:sup>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m:t>
                                    </m:r>
                                  </m:sup>
                                </m:sSup>
                              </m:oMath>
                            </m:oMathPara>
                          </a14:m>
                          <a:endParaRPr 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14:m>
                            <m:oMath xmlns:m="http://schemas.openxmlformats.org/officeDocument/2006/math">
                              <m:sSup>
                                <m:sSupPr>
                                  <m:ctrlPr>
                                    <a:rPr 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𝐼</m:t>
                                  </m:r>
                                </m:e>
                                <m:sup>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m:t>
                                  </m:r>
                                </m:sup>
                              </m:sSup>
                            </m:oMath>
                          </a14:m>
                          <a:r>
                            <a:rPr lang="en-US" sz="1800" kern="100">
                              <a:effectLst/>
                              <a:latin typeface="楷体" panose="02010609060101010101" pitchFamily="49" charset="-122"/>
                              <a:ea typeface="楷体" panose="02010609060101010101" pitchFamily="49" charset="-122"/>
                              <a:cs typeface="Times New Roman" panose="02020603050405020304" pitchFamily="18" charset="0"/>
                            </a:rPr>
                            <a:t>(</a:t>
                          </a:r>
                          <a:r>
                            <a:rPr lang="zh-CN" sz="1800" kern="100">
                              <a:effectLst/>
                              <a:latin typeface="楷体" panose="02010609060101010101" pitchFamily="49" charset="-122"/>
                              <a:ea typeface="楷体" panose="02010609060101010101" pitchFamily="49" charset="-122"/>
                              <a:cs typeface="Times New Roman" panose="02020603050405020304" pitchFamily="18" charset="0"/>
                            </a:rPr>
                            <a:t>元</a:t>
                          </a:r>
                          <a:r>
                            <a:rPr lang="en-US" sz="1800" kern="100">
                              <a:effectLst/>
                              <a:latin typeface="楷体" panose="02010609060101010101" pitchFamily="49" charset="-122"/>
                              <a:ea typeface="楷体" panose="02010609060101010101" pitchFamily="49" charset="-122"/>
                              <a:cs typeface="Times New Roman" panose="02020603050405020304" pitchFamily="18" charset="0"/>
                            </a:rPr>
                            <a:t>)</a:t>
                          </a:r>
                          <a:endParaRPr lang="zh-CN" sz="180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kern="100">
                              <a:effectLst/>
                              <a:latin typeface="楷体" panose="02010609060101010101" pitchFamily="49" charset="-122"/>
                              <a:ea typeface="楷体" panose="02010609060101010101" pitchFamily="49" charset="-122"/>
                              <a:cs typeface="Times New Roman" panose="02020603050405020304" pitchFamily="18" charset="0"/>
                            </a:rPr>
                            <a:t>陪护者</a:t>
                          </a: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𝑠</m:t>
                                    </m:r>
                                  </m:e>
                                  <m:sub>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2</m:t>
                                    </m:r>
                                  </m:sub>
                                  <m:sup>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m:t>
                                    </m:r>
                                  </m:sup>
                                </m:sSubSup>
                              </m:oMath>
                            </m:oMathPara>
                          </a14:m>
                          <a:endParaRPr lang="zh-CN" sz="180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Aft>
                              <a:spcPts val="0"/>
                            </a:spcAft>
                          </a:pPr>
                          <a14:m>
                            <m:oMath xmlns:m="http://schemas.openxmlformats.org/officeDocument/2006/math">
                              <m:sSup>
                                <m:sSupPr>
                                  <m:ctrlPr>
                                    <a:rPr 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𝐽</m:t>
                                  </m:r>
                                </m:e>
                                <m:sup>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m:t>
                                  </m:r>
                                </m:sup>
                              </m:sSup>
                            </m:oMath>
                          </a14:m>
                          <a:r>
                            <a:rPr lang="en-US" sz="1800" kern="100">
                              <a:effectLst/>
                              <a:latin typeface="楷体" panose="02010609060101010101" pitchFamily="49" charset="-122"/>
                              <a:ea typeface="楷体" panose="02010609060101010101" pitchFamily="49" charset="-122"/>
                              <a:cs typeface="Times New Roman" panose="02020603050405020304" pitchFamily="18" charset="0"/>
                            </a:rPr>
                            <a:t>(</a:t>
                          </a:r>
                          <a:r>
                            <a:rPr lang="zh-CN" sz="1800" kern="100">
                              <a:effectLst/>
                              <a:latin typeface="楷体" panose="02010609060101010101" pitchFamily="49" charset="-122"/>
                              <a:ea typeface="楷体" panose="02010609060101010101" pitchFamily="49" charset="-122"/>
                              <a:cs typeface="Times New Roman" panose="02020603050405020304" pitchFamily="18" charset="0"/>
                            </a:rPr>
                            <a:t>元</a:t>
                          </a:r>
                          <a:r>
                            <a:rPr lang="en-US" sz="1800" kern="100">
                              <a:effectLst/>
                              <a:latin typeface="楷体" panose="02010609060101010101" pitchFamily="49" charset="-122"/>
                              <a:ea typeface="楷体" panose="02010609060101010101" pitchFamily="49" charset="-122"/>
                              <a:cs typeface="Times New Roman" panose="02020603050405020304" pitchFamily="18" charset="0"/>
                            </a:rPr>
                            <a:t>)</a:t>
                          </a:r>
                          <a:endParaRPr lang="zh-CN" sz="180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a:txBody>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𝜃</m:t>
                                </m:r>
                                <m:sSup>
                                  <m:sSupPr>
                                    <m:ctrlPr>
                                      <a:rPr 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𝑒</m:t>
                                    </m:r>
                                  </m:e>
                                  <m:sup>
                                    <m:r>
                                      <a:rPr lang="en-US" sz="1800" i="1" kern="100">
                                        <a:effectLst/>
                                        <a:latin typeface="Cambria Math" panose="02040503050406030204" pitchFamily="18" charset="0"/>
                                        <a:ea typeface="仿宋" panose="02010609060101010101" pitchFamily="49" charset="-122"/>
                                        <a:cs typeface="Times New Roman" panose="02020603050405020304" pitchFamily="18" charset="0"/>
                                      </a:rPr>
                                      <m:t>∗</m:t>
                                    </m:r>
                                  </m:sup>
                                </m:sSup>
                                <m:r>
                                  <a:rPr lang="en-US" sz="1800" kern="100">
                                    <a:effectLst/>
                                    <a:latin typeface="Cambria Math" panose="02040503050406030204" pitchFamily="18" charset="0"/>
                                    <a:ea typeface="仿宋" panose="02010609060101010101" pitchFamily="49" charset="-122"/>
                                    <a:cs typeface="Times New Roman" panose="02020603050405020304" pitchFamily="18" charset="0"/>
                                  </a:rPr>
                                  <m:t>(</m:t>
                                </m:r>
                                <m:r>
                                  <a:rPr lang="zh-CN" sz="1800" kern="100">
                                    <a:effectLst/>
                                    <a:latin typeface="Cambria Math" panose="02040503050406030204" pitchFamily="18" charset="0"/>
                                    <a:ea typeface="仿宋" panose="02010609060101010101" pitchFamily="49" charset="-122"/>
                                    <a:cs typeface="Times New Roman" panose="02020603050405020304" pitchFamily="18" charset="0"/>
                                  </a:rPr>
                                  <m:t>元</m:t>
                                </m:r>
                                <m:r>
                                  <a:rPr lang="en-US" sz="1800" kern="100">
                                    <a:effectLst/>
                                    <a:latin typeface="Cambria Math" panose="02040503050406030204" pitchFamily="18" charset="0"/>
                                    <a:ea typeface="仿宋" panose="02010609060101010101" pitchFamily="49" charset="-122"/>
                                    <a:cs typeface="Times New Roman" panose="02020603050405020304" pitchFamily="18" charset="0"/>
                                  </a:rPr>
                                  <m:t>)</m:t>
                                </m:r>
                              </m:oMath>
                            </m:oMathPara>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gridSpan="8">
                      <a:txBody>
                        <a:bodyPr/>
                        <a:lstStyle/>
                        <a:p>
                          <a:pPr algn="ctr">
                            <a:lnSpc>
                              <a:spcPct val="150000"/>
                            </a:lnSpc>
                            <a:spcAft>
                              <a:spcPts val="0"/>
                            </a:spcAft>
                          </a:pPr>
                          <a:r>
                            <a:rPr lang="zh-CN" sz="1800" kern="100" dirty="0">
                              <a:effectLst/>
                              <a:latin typeface="楷体" panose="02010609060101010101" pitchFamily="49" charset="-122"/>
                              <a:ea typeface="楷体" panose="02010609060101010101" pitchFamily="49" charset="-122"/>
                              <a:cs typeface="Times New Roman" panose="02020603050405020304" pitchFamily="18" charset="0"/>
                            </a:rPr>
                            <a:t>年长者和陪护者同时决策</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0">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0.8580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244394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0.1577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1041780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gridSpan="2">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47977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hMerge="1">
                      <a:txBody>
                        <a:bodyPr/>
                        <a:lstStyle/>
                        <a:p>
                          <a:endParaRPr lang="zh-CN"/>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0">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0.8722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210142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0.1521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1004350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gridSpan="2">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45682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hMerge="1">
                      <a:txBody>
                        <a:bodyPr/>
                        <a:lstStyle/>
                        <a:p>
                          <a:endParaRPr lang="zh-CN"/>
                        </a:p>
                      </a:txBody>
                      <a:tcPr marL="68580" marR="68580" marT="0" marB="0" anchor="b">
                        <a:lnL>
                          <a:noFill/>
                        </a:lnL>
                        <a:lnR>
                          <a:noFill/>
                        </a:lnR>
                        <a:lnT>
                          <a:noFill/>
                        </a:lnT>
                        <a:lnB>
                          <a:noFill/>
                        </a:lnB>
                      </a:tcPr>
                    </a:tc>
                    <a:extLst>
                      <a:ext uri="{0D108BD9-81ED-4DB2-BD59-A6C34878D82A}">
                        <a16:rowId xmlns:a16="http://schemas.microsoft.com/office/drawing/2014/main" val="10003"/>
                      </a:ext>
                    </a:extLst>
                  </a:tr>
                  <a:tr h="0">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0.8882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175932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0.1456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966903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gridSpan="2">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43346</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hMerge="1">
                      <a:txBody>
                        <a:bodyPr/>
                        <a:lstStyle/>
                        <a:p>
                          <a:endParaRPr lang="zh-CN"/>
                        </a:p>
                      </a:txBody>
                      <a:tcPr marL="68580" marR="68580" marT="0" marB="0" anchor="b">
                        <a:lnL>
                          <a:noFill/>
                        </a:lnL>
                        <a:lnR>
                          <a:noFill/>
                        </a:lnR>
                        <a:lnT>
                          <a:noFill/>
                        </a:lnT>
                        <a:lnB>
                          <a:noFill/>
                        </a:lnB>
                      </a:tcPr>
                    </a:tc>
                    <a:extLst>
                      <a:ext uri="{0D108BD9-81ED-4DB2-BD59-A6C34878D82A}">
                        <a16:rowId xmlns:a16="http://schemas.microsoft.com/office/drawing/2014/main" val="10004"/>
                      </a:ext>
                    </a:extLst>
                  </a:tr>
                  <a:tr h="0">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0.9059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141676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0.1386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929475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gridSpan="2">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41055</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hMerge="1">
                      <a:txBody>
                        <a:bodyPr/>
                        <a:lstStyle/>
                        <a:p>
                          <a:endParaRPr lang="zh-CN"/>
                        </a:p>
                      </a:txBody>
                      <a:tcPr marL="68580" marR="68580" marT="0" marB="0" anchor="b">
                        <a:lnL>
                          <a:noFill/>
                        </a:lnL>
                        <a:lnR>
                          <a:noFill/>
                        </a:lnR>
                        <a:lnT>
                          <a:noFill/>
                        </a:lnT>
                        <a:lnB>
                          <a:noFill/>
                        </a:lnB>
                      </a:tcPr>
                    </a:tc>
                    <a:extLst>
                      <a:ext uri="{0D108BD9-81ED-4DB2-BD59-A6C34878D82A}">
                        <a16:rowId xmlns:a16="http://schemas.microsoft.com/office/drawing/2014/main" val="10005"/>
                      </a:ext>
                    </a:extLst>
                  </a:tr>
                  <a:tr h="0">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0.9255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107183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0.1317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892137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gridSpan="2">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39001</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zh-CN"/>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0">
                    <a:tc gridSpan="8">
                      <a:txBody>
                        <a:bodyPr/>
                        <a:lstStyle/>
                        <a:p>
                          <a:pPr algn="ctr">
                            <a:lnSpc>
                              <a:spcPct val="150000"/>
                            </a:lnSpc>
                            <a:spcAft>
                              <a:spcPts val="0"/>
                            </a:spcAft>
                          </a:pPr>
                          <a:r>
                            <a:rPr lang="zh-CN" sz="1800" kern="100" dirty="0">
                              <a:effectLst/>
                              <a:latin typeface="楷体" panose="02010609060101010101" pitchFamily="49" charset="-122"/>
                              <a:ea typeface="楷体" panose="02010609060101010101" pitchFamily="49" charset="-122"/>
                              <a:cs typeface="Times New Roman" panose="02020603050405020304" pitchFamily="18" charset="0"/>
                            </a:rPr>
                            <a:t>陪护者在年长者之后做出决策</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7"/>
                      </a:ext>
                    </a:extLst>
                  </a:tr>
                  <a:tr h="189865">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0.8713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221531</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45</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0.1660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1050580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gridSpan="2">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70840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hMerge="1">
                      <a:txBody>
                        <a:bodyPr/>
                        <a:lstStyle/>
                        <a:p>
                          <a:endParaRPr lang="zh-CN"/>
                        </a:p>
                      </a:txBody>
                      <a:tcPr/>
                    </a:tc>
                    <a:extLst>
                      <a:ext uri="{0D108BD9-81ED-4DB2-BD59-A6C34878D82A}">
                        <a16:rowId xmlns:a16="http://schemas.microsoft.com/office/drawing/2014/main" val="10008"/>
                      </a:ext>
                    </a:extLst>
                  </a:tr>
                  <a:tr h="189865">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0.8865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186633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0.1605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1013398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gridSpan="2">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69192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hMerge="1">
                      <a:txBody>
                        <a:bodyPr/>
                        <a:lstStyle/>
                        <a:p>
                          <a:endParaRPr lang="zh-CN"/>
                        </a:p>
                      </a:txBody>
                      <a:tcPr/>
                    </a:tc>
                    <a:extLst>
                      <a:ext uri="{0D108BD9-81ED-4DB2-BD59-A6C34878D82A}">
                        <a16:rowId xmlns:a16="http://schemas.microsoft.com/office/drawing/2014/main" val="10009"/>
                      </a:ext>
                    </a:extLst>
                  </a:tr>
                  <a:tr h="189865">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0.9035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151857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0.1540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976170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gridSpan="2">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67421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hMerge="1">
                      <a:txBody>
                        <a:bodyPr/>
                        <a:lstStyle/>
                        <a:p>
                          <a:endParaRPr lang="zh-CN"/>
                        </a:p>
                      </a:txBody>
                      <a:tcPr/>
                    </a:tc>
                    <a:extLst>
                      <a:ext uri="{0D108BD9-81ED-4DB2-BD59-A6C34878D82A}">
                        <a16:rowId xmlns:a16="http://schemas.microsoft.com/office/drawing/2014/main" val="10010"/>
                      </a:ext>
                    </a:extLst>
                  </a:tr>
                  <a:tr h="189865">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0.9222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117073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0.1468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938944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gridSpan="2">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65657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hMerge="1">
                      <a:txBody>
                        <a:bodyPr/>
                        <a:lstStyle/>
                        <a:p>
                          <a:endParaRPr lang="zh-CN"/>
                        </a:p>
                      </a:txBody>
                      <a:tcPr/>
                    </a:tc>
                    <a:extLst>
                      <a:ext uri="{0D108BD9-81ED-4DB2-BD59-A6C34878D82A}">
                        <a16:rowId xmlns:a16="http://schemas.microsoft.com/office/drawing/2014/main" val="10011"/>
                      </a:ext>
                    </a:extLst>
                  </a:tr>
                  <a:tr h="189865">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0.9429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82017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0.1399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901824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tcPr>
                    </a:tc>
                    <a:tc gridSpan="2">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64167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12"/>
                      </a:ext>
                    </a:extLst>
                  </a:tr>
                </a:tbl>
              </a:graphicData>
            </a:graphic>
          </p:graphicFrame>
        </mc:Choice>
        <mc:Fallback xmlns="">
          <p:graphicFrame>
            <p:nvGraphicFramePr>
              <p:cNvPr id="5" name="表格 4"/>
              <p:cNvGraphicFramePr>
                <a:graphicFrameLocks noGrp="1"/>
              </p:cNvGraphicFramePr>
              <p:nvPr/>
            </p:nvGraphicFramePr>
            <p:xfrm>
              <a:off x="1524004" y="1324712"/>
              <a:ext cx="7823195" cy="5349240"/>
            </p:xfrm>
            <a:graphic>
              <a:graphicData uri="http://schemas.openxmlformats.org/drawingml/2006/table">
                <a:tbl>
                  <a:tblPr firstRow="1" firstCol="1" bandRow="1"/>
                  <a:tblGrid>
                    <a:gridCol w="1000884"/>
                    <a:gridCol w="940407"/>
                    <a:gridCol w="948488"/>
                    <a:gridCol w="948488"/>
                    <a:gridCol w="948488"/>
                    <a:gridCol w="1474119"/>
                    <a:gridCol w="474244"/>
                    <a:gridCol w="1088077"/>
                  </a:tblGrid>
                  <a:tr h="411480">
                    <a:tc>
                      <a:txBody>
                        <a:bodyPr/>
                        <a:lstStyle/>
                        <a:p>
                          <a:pPr algn="ctr">
                            <a:lnSpc>
                              <a:spcPct val="150000"/>
                            </a:lnSpc>
                            <a:spcAft>
                              <a:spcPts val="0"/>
                            </a:spcAft>
                          </a:pPr>
                          <a:r>
                            <a:rPr lang="zh-CN" sz="1800" kern="100" dirty="0">
                              <a:effectLst/>
                              <a:latin typeface="楷体" panose="02010609060101010101" pitchFamily="49" charset="-122"/>
                              <a:ea typeface="楷体" panose="02010609060101010101" pitchFamily="49" charset="-122"/>
                              <a:cs typeface="Times New Roman" panose="02020603050405020304" pitchFamily="18" charset="0"/>
                            </a:rPr>
                            <a:t>年长者</a:t>
                          </a:r>
                          <a:endParaRPr 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zh-CN"/>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Aft>
                              <a:spcPts val="0"/>
                            </a:spcAft>
                          </a:pPr>
                          <a:r>
                            <a:rPr lang="zh-CN" sz="1800" kern="100">
                              <a:effectLst/>
                              <a:latin typeface="楷体" panose="02010609060101010101" pitchFamily="49" charset="-122"/>
                              <a:ea typeface="楷体" panose="02010609060101010101" pitchFamily="49" charset="-122"/>
                              <a:cs typeface="Times New Roman" panose="02020603050405020304" pitchFamily="18" charset="0"/>
                            </a:rPr>
                            <a:t>陪护者</a:t>
                          </a:r>
                          <a:endParaRPr lang="zh-CN" sz="180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zh-CN"/>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gridSpan="2">
                      <a:txBody>
                        <a:bodyPr/>
                        <a:lstStyle/>
                        <a:p>
                          <a:endParaRPr lang="zh-CN"/>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hMerge="1">
                      <a:tcPr/>
                    </a:tc>
                    <a:tc>
                      <a:txBody>
                        <a:bodyPr/>
                        <a:lstStyle/>
                        <a:p>
                          <a:endParaRPr lang="zh-CN"/>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0">
                    <a:tc gridSpan="8">
                      <a:txBody>
                        <a:bodyPr/>
                        <a:lstStyle/>
                        <a:p>
                          <a:pPr algn="ctr">
                            <a:lnSpc>
                              <a:spcPct val="150000"/>
                            </a:lnSpc>
                            <a:spcAft>
                              <a:spcPts val="0"/>
                            </a:spcAft>
                          </a:pPr>
                          <a:r>
                            <a:rPr lang="zh-CN" sz="1800" kern="100" dirty="0">
                              <a:effectLst/>
                              <a:latin typeface="楷体" panose="02010609060101010101" pitchFamily="49" charset="-122"/>
                              <a:ea typeface="楷体" panose="02010609060101010101" pitchFamily="49" charset="-122"/>
                              <a:cs typeface="Times New Roman" panose="02020603050405020304" pitchFamily="18" charset="0"/>
                            </a:rPr>
                            <a:t>年长者和陪护者同时决策</a:t>
                          </a:r>
                          <a:endParaRPr 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a:tc>
                    <a:tc hMerge="1">
                      <a:tcPr/>
                    </a:tc>
                  </a:tr>
                  <a:tr h="0">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0.8580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244394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0.1577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1041780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gridSpan="2">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47977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hMerge="1">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0">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0.8722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210142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0.1521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1004350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gridSpan="2">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45682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hMerge="1">
                      <a:tcPr marL="68580" marR="68580" marT="0" marB="0" anchor="b">
                        <a:lnL>
                          <a:noFill/>
                        </a:lnL>
                        <a:lnR>
                          <a:noFill/>
                        </a:lnR>
                        <a:lnT>
                          <a:noFill/>
                        </a:lnT>
                        <a:lnB>
                          <a:noFill/>
                        </a:lnB>
                      </a:tcPr>
                    </a:tc>
                  </a:tr>
                  <a:tr h="0">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0.8882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175932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0.1456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966903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gridSpan="2">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43346</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hMerge="1">
                      <a:tcPr marL="68580" marR="68580" marT="0" marB="0" anchor="b">
                        <a:lnL>
                          <a:noFill/>
                        </a:lnL>
                        <a:lnR>
                          <a:noFill/>
                        </a:lnR>
                        <a:lnT>
                          <a:noFill/>
                        </a:lnT>
                        <a:lnB>
                          <a:noFill/>
                        </a:lnB>
                      </a:tcPr>
                    </a:tc>
                  </a:tr>
                  <a:tr h="0">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0.9059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141676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0.1386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929475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gridSpan="2">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41055</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hMerge="1">
                      <a:tcPr marL="68580" marR="68580" marT="0" marB="0" anchor="b">
                        <a:lnL>
                          <a:noFill/>
                        </a:lnL>
                        <a:lnR>
                          <a:noFill/>
                        </a:lnR>
                        <a:lnT>
                          <a:noFill/>
                        </a:lnT>
                        <a:lnB>
                          <a:noFill/>
                        </a:lnB>
                      </a:tcPr>
                    </a:tc>
                  </a:tr>
                  <a:tr h="0">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0.9255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107183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0.1317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892137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gridSpan="2">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39001</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hMerge="1">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r h="0">
                    <a:tc gridSpan="8">
                      <a:txBody>
                        <a:bodyPr/>
                        <a:lstStyle/>
                        <a:p>
                          <a:pPr algn="ctr">
                            <a:lnSpc>
                              <a:spcPct val="150000"/>
                            </a:lnSpc>
                            <a:spcAft>
                              <a:spcPts val="0"/>
                            </a:spcAft>
                          </a:pPr>
                          <a:r>
                            <a:rPr lang="zh-CN" sz="1800" kern="100" dirty="0">
                              <a:effectLst/>
                              <a:latin typeface="楷体" panose="02010609060101010101" pitchFamily="49" charset="-122"/>
                              <a:ea typeface="楷体" panose="02010609060101010101" pitchFamily="49" charset="-122"/>
                              <a:cs typeface="Times New Roman" panose="02020603050405020304" pitchFamily="18" charset="0"/>
                            </a:rPr>
                            <a:t>陪护者在年长者之后做出决策</a:t>
                          </a:r>
                          <a:endParaRPr 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a:tc>
                    <a:tc hMerge="1">
                      <a:tcPr/>
                    </a:tc>
                  </a:tr>
                  <a:tr h="189865">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0.8713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221531</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45</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0.1660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1050580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gridSpan="2">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70840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hMerge="1">
                      <a:tcPr/>
                    </a:tc>
                  </a:tr>
                  <a:tr h="189865">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0.8865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186633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0.1605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1013398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gridSpan="2">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69192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hMerge="1">
                      <a:tcPr/>
                    </a:tc>
                  </a:tr>
                  <a:tr h="189865">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0.9035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151857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0.1540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976170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gridSpan="2">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67421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hMerge="1">
                      <a:tcPr/>
                    </a:tc>
                  </a:tr>
                  <a:tr h="189865">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0.9222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117073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0.1468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938944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gridSpan="2">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65657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a:noFill/>
                        </a:lnB>
                      </a:tcPr>
                    </a:tc>
                    <a:tc hMerge="1">
                      <a:tcPr/>
                    </a:tc>
                  </a:tr>
                  <a:tr h="189865">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72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0.9429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82017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49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0.1399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tcPr>
                    </a:tc>
                    <a:tc>
                      <a:txBody>
                        <a:bodyPr/>
                        <a:lstStyle/>
                        <a:p>
                          <a:pPr algn="r">
                            <a:lnSpc>
                              <a:spcPct val="150000"/>
                            </a:lnSpc>
                            <a:spcAft>
                              <a:spcPts val="0"/>
                            </a:spcAft>
                          </a:pPr>
                          <a:r>
                            <a:rPr lang="en-US" sz="1800" kern="100">
                              <a:effectLst/>
                              <a:latin typeface="Times New Roman" panose="02020603050405020304" pitchFamily="18" charset="0"/>
                              <a:ea typeface="仿宋" panose="02010609060101010101" pitchFamily="49" charset="-122"/>
                              <a:cs typeface="Times New Roman" panose="02020603050405020304" pitchFamily="18" charset="0"/>
                            </a:rPr>
                            <a:t>901824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tcPr>
                    </a:tc>
                    <a:tc gridSpan="2">
                      <a:txBody>
                        <a:bodyPr/>
                        <a:lstStyle/>
                        <a:p>
                          <a:pPr algn="r">
                            <a:lnSpc>
                              <a:spcPct val="150000"/>
                            </a:lnSpc>
                            <a:spcAft>
                              <a:spcPts val="0"/>
                            </a:spcAft>
                          </a:pPr>
                          <a:r>
                            <a:rPr lang="en-US" sz="1800" kern="100" dirty="0">
                              <a:effectLst/>
                              <a:latin typeface="Times New Roman" panose="02020603050405020304" pitchFamily="18" charset="0"/>
                              <a:ea typeface="仿宋" panose="02010609060101010101" pitchFamily="49" charset="-122"/>
                              <a:cs typeface="Times New Roman" panose="02020603050405020304" pitchFamily="18" charset="0"/>
                            </a:rPr>
                            <a:t>64167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tcPr>
                    </a:tc>
                    <a:tc hMerge="1">
                      <a:tcPr/>
                    </a:tc>
                  </a:tr>
                </a:tbl>
              </a:graphicData>
            </a:graphic>
          </p:graphicFrame>
        </mc:Fallback>
      </mc:AlternateContent>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实证结果分析</a:t>
            </a:r>
          </a:p>
        </p:txBody>
      </p:sp>
      <p:pic>
        <p:nvPicPr>
          <p:cNvPr id="6" name="图片 5"/>
          <p:cNvPicPr/>
          <p:nvPr/>
        </p:nvPicPr>
        <p:blipFill rotWithShape="1">
          <a:blip r:embed="rId2">
            <a:extLst>
              <a:ext uri="{28A0092B-C50C-407E-A947-70E740481C1C}">
                <a14:useLocalDpi xmlns:a14="http://schemas.microsoft.com/office/drawing/2010/main" val="0"/>
              </a:ext>
            </a:extLst>
          </a:blip>
          <a:srcRect t="1577" b="2750"/>
          <a:stretch>
            <a:fillRect/>
          </a:stretch>
        </p:blipFill>
        <p:spPr bwMode="auto">
          <a:xfrm>
            <a:off x="1708727" y="1453946"/>
            <a:ext cx="3205019" cy="3856963"/>
          </a:xfrm>
          <a:prstGeom prst="rect">
            <a:avLst/>
          </a:prstGeom>
          <a:noFill/>
          <a:ln>
            <a:noFill/>
          </a:ln>
        </p:spPr>
      </p:pic>
      <p:pic>
        <p:nvPicPr>
          <p:cNvPr id="7" name="图片 6"/>
          <p:cNvPicPr/>
          <p:nvPr/>
        </p:nvPicPr>
        <p:blipFill rotWithShape="1">
          <a:blip r:embed="rId3">
            <a:extLst>
              <a:ext uri="{28A0092B-C50C-407E-A947-70E740481C1C}">
                <a14:useLocalDpi xmlns:a14="http://schemas.microsoft.com/office/drawing/2010/main" val="0"/>
              </a:ext>
            </a:extLst>
          </a:blip>
          <a:srcRect t="1627" b="2606"/>
          <a:stretch>
            <a:fillRect/>
          </a:stretch>
        </p:blipFill>
        <p:spPr bwMode="auto">
          <a:xfrm>
            <a:off x="5458691" y="1380056"/>
            <a:ext cx="3343564" cy="3930854"/>
          </a:xfrm>
          <a:prstGeom prst="rect">
            <a:avLst/>
          </a:prstGeom>
          <a:noFill/>
          <a:ln>
            <a:noFill/>
          </a:ln>
        </p:spPr>
      </p:pic>
      <p:sp>
        <p:nvSpPr>
          <p:cNvPr id="3" name="矩形 2"/>
          <p:cNvSpPr/>
          <p:nvPr/>
        </p:nvSpPr>
        <p:spPr>
          <a:xfrm>
            <a:off x="1708727" y="5671329"/>
            <a:ext cx="7499928" cy="707886"/>
          </a:xfrm>
          <a:prstGeom prst="rect">
            <a:avLst/>
          </a:prstGeom>
        </p:spPr>
        <p:txBody>
          <a:bodyPr wrap="square">
            <a:spAutoFit/>
          </a:bodyPr>
          <a:lstStyle/>
          <a:p>
            <a:r>
              <a:rPr lang="zh-CN" altLang="zh-CN" sz="2000" dirty="0">
                <a:solidFill>
                  <a:schemeClr val="accent3">
                    <a:lumMod val="75000"/>
                  </a:schemeClr>
                </a:solidFill>
                <a:latin typeface="Times New Roman" panose="02020603050405020304" pitchFamily="18" charset="0"/>
                <a:ea typeface="楷体" panose="02010609060101010101" pitchFamily="49" charset="-122"/>
                <a:cs typeface="Times New Roman" panose="02020603050405020304" pitchFamily="18" charset="0"/>
              </a:rPr>
              <a:t>年长者对于储蓄的决策要显著高于子女，且随着年龄的增长，年长者用于储蓄的比例也随之增加</a:t>
            </a:r>
            <a:endParaRPr lang="zh-CN" altLang="en-US" sz="2000" dirty="0">
              <a:solidFill>
                <a:schemeClr val="accent3">
                  <a:lumMod val="75000"/>
                </a:schemeClr>
              </a:solidFil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实证结果分析</a:t>
            </a:r>
          </a:p>
        </p:txBody>
      </p:sp>
      <p:pic>
        <p:nvPicPr>
          <p:cNvPr id="4" name="图片 3"/>
          <p:cNvPicPr/>
          <p:nvPr/>
        </p:nvPicPr>
        <p:blipFill rotWithShape="1">
          <a:blip r:embed="rId2">
            <a:extLst>
              <a:ext uri="{28A0092B-C50C-407E-A947-70E740481C1C}">
                <a14:useLocalDpi xmlns:a14="http://schemas.microsoft.com/office/drawing/2010/main" val="0"/>
              </a:ext>
            </a:extLst>
          </a:blip>
          <a:srcRect t="2784" b="3684"/>
          <a:stretch>
            <a:fillRect/>
          </a:stretch>
        </p:blipFill>
        <p:spPr bwMode="auto">
          <a:xfrm>
            <a:off x="1764475" y="1667394"/>
            <a:ext cx="6871525" cy="3588098"/>
          </a:xfrm>
          <a:prstGeom prst="rect">
            <a:avLst/>
          </a:prstGeom>
          <a:noFill/>
          <a:ln>
            <a:noFill/>
          </a:ln>
        </p:spPr>
      </p:pic>
      <p:sp>
        <p:nvSpPr>
          <p:cNvPr id="3" name="矩形 2"/>
          <p:cNvSpPr/>
          <p:nvPr/>
        </p:nvSpPr>
        <p:spPr>
          <a:xfrm>
            <a:off x="2485455" y="5703194"/>
            <a:ext cx="5827236" cy="400110"/>
          </a:xfrm>
          <a:prstGeom prst="rect">
            <a:avLst/>
          </a:prstGeom>
        </p:spPr>
        <p:txBody>
          <a:bodyPr wrap="none">
            <a:spAutoFit/>
          </a:bodyPr>
          <a:lstStyle/>
          <a:p>
            <a:r>
              <a:rPr lang="zh-CN" altLang="zh-CN" sz="2000" dirty="0">
                <a:solidFill>
                  <a:schemeClr val="accent3">
                    <a:lumMod val="75000"/>
                  </a:schemeClr>
                </a:solidFill>
                <a:latin typeface="Times New Roman" panose="02020603050405020304" pitchFamily="18" charset="0"/>
                <a:ea typeface="楷体" panose="02010609060101010101" pitchFamily="49" charset="-122"/>
                <a:cs typeface="Times New Roman" panose="02020603050405020304" pitchFamily="18" charset="0"/>
              </a:rPr>
              <a:t>随着年龄的增长，子女提供的家庭护理量越来越少</a:t>
            </a:r>
            <a:endParaRPr lang="zh-CN" altLang="en-US" sz="2000" dirty="0">
              <a:solidFill>
                <a:schemeClr val="accent3">
                  <a:lumMod val="75000"/>
                </a:schemeClr>
              </a:solidFil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敏感性分析</a:t>
            </a:r>
          </a:p>
        </p:txBody>
      </p:sp>
      <p:pic>
        <p:nvPicPr>
          <p:cNvPr id="4" name="图片 3"/>
          <p:cNvPicPr/>
          <p:nvPr/>
        </p:nvPicPr>
        <p:blipFill rotWithShape="1">
          <a:blip r:embed="rId2">
            <a:extLst>
              <a:ext uri="{28A0092B-C50C-407E-A947-70E740481C1C}">
                <a14:useLocalDpi xmlns:a14="http://schemas.microsoft.com/office/drawing/2010/main" val="0"/>
              </a:ext>
            </a:extLst>
          </a:blip>
          <a:srcRect t="2837" b="4227"/>
          <a:stretch>
            <a:fillRect/>
          </a:stretch>
        </p:blipFill>
        <p:spPr bwMode="auto">
          <a:xfrm>
            <a:off x="1868515" y="1634517"/>
            <a:ext cx="6684357" cy="3584029"/>
          </a:xfrm>
          <a:prstGeom prst="rect">
            <a:avLst/>
          </a:prstGeom>
          <a:noFill/>
          <a:ln>
            <a:noFill/>
          </a:ln>
        </p:spPr>
      </p:pic>
      <p:sp>
        <p:nvSpPr>
          <p:cNvPr id="3" name="矩形 2"/>
          <p:cNvSpPr/>
          <p:nvPr/>
        </p:nvSpPr>
        <p:spPr>
          <a:xfrm>
            <a:off x="1477817" y="5633371"/>
            <a:ext cx="8257309" cy="400110"/>
          </a:xfrm>
          <a:prstGeom prst="rect">
            <a:avLst/>
          </a:prstGeom>
        </p:spPr>
        <p:txBody>
          <a:bodyPr wrap="square">
            <a:spAutoFit/>
          </a:bodyPr>
          <a:lstStyle/>
          <a:p>
            <a:r>
              <a:rPr lang="zh-CN" altLang="zh-CN" sz="2000" dirty="0">
                <a:solidFill>
                  <a:schemeClr val="accent3">
                    <a:lumMod val="75000"/>
                  </a:schemeClr>
                </a:solidFill>
                <a:latin typeface="Times New Roman" panose="02020603050405020304" pitchFamily="18" charset="0"/>
                <a:ea typeface="楷体" panose="02010609060101010101" pitchFamily="49" charset="-122"/>
                <a:cs typeface="Times New Roman" panose="02020603050405020304" pitchFamily="18" charset="0"/>
              </a:rPr>
              <a:t>为了应对未来的失能风险，长护险的保障或许是比储蓄更好的方式</a:t>
            </a:r>
            <a:endParaRPr lang="zh-CN" altLang="en-US" sz="2000" dirty="0">
              <a:solidFill>
                <a:schemeClr val="accent3">
                  <a:lumMod val="75000"/>
                </a:schemeClr>
              </a:solidFil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建议</a:t>
            </a:r>
          </a:p>
        </p:txBody>
      </p:sp>
      <p:sp>
        <p:nvSpPr>
          <p:cNvPr id="34" name="矩形 33"/>
          <p:cNvSpPr/>
          <p:nvPr/>
        </p:nvSpPr>
        <p:spPr>
          <a:xfrm>
            <a:off x="1314206" y="1404482"/>
            <a:ext cx="8506744" cy="1655280"/>
          </a:xfrm>
          <a:prstGeom prst="rect">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1314205" y="1219484"/>
            <a:ext cx="7969303" cy="4561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1314203" y="1197850"/>
            <a:ext cx="7867705" cy="461665"/>
          </a:xfrm>
          <a:prstGeom prst="rect">
            <a:avLst/>
          </a:prstGeom>
          <a:noFill/>
        </p:spPr>
        <p:txBody>
          <a:bodyPr wrap="square" rtlCol="0">
            <a:spAutoFit/>
          </a:bodyPr>
          <a:lstStyle/>
          <a:p>
            <a:r>
              <a:rPr lang="zh-CN" altLang="en-US" sz="2400" dirty="0">
                <a:solidFill>
                  <a:schemeClr val="bg1"/>
                </a:solidFill>
                <a:latin typeface="楷体" panose="02010609060101010101" pitchFamily="49" charset="-122"/>
                <a:ea typeface="楷体" panose="02010609060101010101" pitchFamily="49" charset="-122"/>
                <a:cs typeface="Arial" panose="020B0604020202020204" pitchFamily="34" charset="0"/>
              </a:rPr>
              <a:t>供给端：保险公司推动长护险从现金给付到服务给付转变</a:t>
            </a:r>
            <a:endParaRPr lang="en-US" altLang="zh-CN" sz="2400" dirty="0">
              <a:solidFill>
                <a:schemeClr val="bg1"/>
              </a:solidFill>
              <a:latin typeface="楷体" panose="02010609060101010101" pitchFamily="49" charset="-122"/>
              <a:ea typeface="楷体" panose="02010609060101010101" pitchFamily="49" charset="-122"/>
              <a:cs typeface="Arial" panose="020B0604020202020204" pitchFamily="34" charset="0"/>
            </a:endParaRPr>
          </a:p>
        </p:txBody>
      </p:sp>
      <p:sp>
        <p:nvSpPr>
          <p:cNvPr id="48" name="等腰三角形 47"/>
          <p:cNvSpPr/>
          <p:nvPr/>
        </p:nvSpPr>
        <p:spPr>
          <a:xfrm>
            <a:off x="9674712" y="2946312"/>
            <a:ext cx="143777" cy="123946"/>
          </a:xfrm>
          <a:prstGeom prst="triangle">
            <a:avLst>
              <a:gd name="adj" fmla="val 100000"/>
            </a:avLst>
          </a:prstGeom>
          <a:solidFill>
            <a:schemeClr val="accent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1262731" y="1740715"/>
            <a:ext cx="8609693" cy="1323439"/>
          </a:xfrm>
          <a:prstGeom prst="rect">
            <a:avLst/>
          </a:prstGeom>
        </p:spPr>
        <p:txBody>
          <a:bodyPr wrap="square">
            <a:spAutoFit/>
          </a:bodyPr>
          <a:lstStyle/>
          <a:p>
            <a:pPr marL="285750" indent="-285750">
              <a:spcAft>
                <a:spcPts val="0"/>
              </a:spcAft>
              <a:buFont typeface="Wingdings" panose="05000000000000000000" pitchFamily="2" charset="2"/>
              <a:buChar char="ü"/>
            </a:pPr>
            <a:r>
              <a:rPr lang="zh-CN" altLang="zh-CN" sz="2000" kern="100" dirty="0">
                <a:latin typeface="楷体" panose="02010609060101010101" pitchFamily="49" charset="-122"/>
                <a:ea typeface="楷体" panose="02010609060101010101" pitchFamily="49" charset="-122"/>
              </a:rPr>
              <a:t>第一步，保险公司可以将长期护理保险与家庭护理联系起来，促使年长者和子女共同投保长期护理保险。</a:t>
            </a:r>
            <a:endParaRPr lang="en-US" altLang="zh-CN" sz="2000" kern="100" dirty="0">
              <a:latin typeface="楷体" panose="02010609060101010101" pitchFamily="49" charset="-122"/>
              <a:ea typeface="楷体" panose="02010609060101010101" pitchFamily="49" charset="-122"/>
            </a:endParaRPr>
          </a:p>
          <a:p>
            <a:pPr marL="285750" indent="-285750">
              <a:spcAft>
                <a:spcPts val="0"/>
              </a:spcAft>
              <a:buFont typeface="Wingdings" panose="05000000000000000000" pitchFamily="2" charset="2"/>
              <a:buChar char="ü"/>
            </a:pPr>
            <a:r>
              <a:rPr lang="zh-CN" altLang="zh-CN" sz="2000" kern="100" dirty="0">
                <a:latin typeface="楷体" panose="02010609060101010101" pitchFamily="49" charset="-122"/>
                <a:ea typeface="楷体" panose="02010609060101010101" pitchFamily="49" charset="-122"/>
              </a:rPr>
              <a:t>下一步，保险公司应通过建立养老社区、与定点医院合作等方式</a:t>
            </a:r>
            <a:r>
              <a:rPr lang="zh-CN" altLang="en-US" sz="2000" kern="100" dirty="0">
                <a:latin typeface="楷体" panose="02010609060101010101" pitchFamily="49" charset="-122"/>
                <a:ea typeface="楷体" panose="02010609060101010101" pitchFamily="49" charset="-122"/>
              </a:rPr>
              <a:t>，</a:t>
            </a:r>
            <a:r>
              <a:rPr lang="zh-CN" altLang="zh-CN" sz="2000" kern="100" dirty="0">
                <a:latin typeface="楷体" panose="02010609060101010101" pitchFamily="49" charset="-122"/>
                <a:ea typeface="楷体" panose="02010609060101010101" pitchFamily="49" charset="-122"/>
              </a:rPr>
              <a:t>着手全面打造居家服务、医疗保障和社会护理的全面的长期护理保险业务体系。</a:t>
            </a:r>
          </a:p>
        </p:txBody>
      </p:sp>
      <p:sp>
        <p:nvSpPr>
          <p:cNvPr id="50" name="矩形 49"/>
          <p:cNvSpPr/>
          <p:nvPr/>
        </p:nvSpPr>
        <p:spPr>
          <a:xfrm>
            <a:off x="1314206" y="3497227"/>
            <a:ext cx="8506744" cy="1044119"/>
          </a:xfrm>
          <a:prstGeom prst="rect">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1314205" y="3312229"/>
            <a:ext cx="7969303" cy="4561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1314203" y="3290595"/>
            <a:ext cx="7867705" cy="461665"/>
          </a:xfrm>
          <a:prstGeom prst="rect">
            <a:avLst/>
          </a:prstGeom>
          <a:noFill/>
        </p:spPr>
        <p:txBody>
          <a:bodyPr wrap="square" rtlCol="0">
            <a:spAutoFit/>
          </a:bodyPr>
          <a:lstStyle/>
          <a:p>
            <a:r>
              <a:rPr lang="zh-CN" altLang="en-US" sz="2400" dirty="0">
                <a:solidFill>
                  <a:schemeClr val="bg1"/>
                </a:solidFill>
                <a:latin typeface="楷体" panose="02010609060101010101" pitchFamily="49" charset="-122"/>
                <a:ea typeface="楷体" panose="02010609060101010101" pitchFamily="49" charset="-122"/>
                <a:cs typeface="Arial" panose="020B0604020202020204" pitchFamily="34" charset="0"/>
              </a:rPr>
              <a:t>需求端：社区大力开展长期护理保险宣传活动</a:t>
            </a:r>
            <a:endParaRPr lang="en-US" altLang="zh-CN" sz="2400" dirty="0">
              <a:solidFill>
                <a:schemeClr val="bg1"/>
              </a:solidFill>
              <a:latin typeface="楷体" panose="02010609060101010101" pitchFamily="49" charset="-122"/>
              <a:ea typeface="楷体" panose="02010609060101010101" pitchFamily="49" charset="-122"/>
              <a:cs typeface="Arial" panose="020B0604020202020204" pitchFamily="34" charset="0"/>
            </a:endParaRPr>
          </a:p>
        </p:txBody>
      </p:sp>
      <p:sp>
        <p:nvSpPr>
          <p:cNvPr id="53" name="等腰三角形 52"/>
          <p:cNvSpPr/>
          <p:nvPr/>
        </p:nvSpPr>
        <p:spPr>
          <a:xfrm>
            <a:off x="9674711" y="4417400"/>
            <a:ext cx="143777" cy="123946"/>
          </a:xfrm>
          <a:prstGeom prst="triangle">
            <a:avLst>
              <a:gd name="adj" fmla="val 100000"/>
            </a:avLst>
          </a:prstGeom>
          <a:solidFill>
            <a:schemeClr val="accent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1262731" y="3833460"/>
            <a:ext cx="8609693" cy="707886"/>
          </a:xfrm>
          <a:prstGeom prst="rect">
            <a:avLst/>
          </a:prstGeom>
        </p:spPr>
        <p:txBody>
          <a:bodyPr wrap="square">
            <a:spAutoFit/>
          </a:bodyPr>
          <a:lstStyle/>
          <a:p>
            <a:pPr marL="285750" indent="-285750">
              <a:spcAft>
                <a:spcPts val="0"/>
              </a:spcAft>
              <a:buFont typeface="Wingdings" panose="05000000000000000000" pitchFamily="2" charset="2"/>
              <a:buChar char="ü"/>
            </a:pPr>
            <a:r>
              <a:rPr lang="zh-CN" altLang="en-US" sz="2000" kern="100" dirty="0">
                <a:latin typeface="楷体" panose="02010609060101010101" pitchFamily="49" charset="-122"/>
                <a:ea typeface="楷体" panose="02010609060101010101" pitchFamily="49" charset="-122"/>
              </a:rPr>
              <a:t>宣传长期护理保险在失能风险保障方面的作用，倡导强烈厌恶风险的家庭将一定比例的家庭财富配置到长期护理保险产品中</a:t>
            </a:r>
            <a:r>
              <a:rPr lang="zh-CN" altLang="zh-CN" sz="2000" kern="100" dirty="0">
                <a:latin typeface="楷体" panose="02010609060101010101" pitchFamily="49" charset="-122"/>
                <a:ea typeface="楷体" panose="02010609060101010101" pitchFamily="49" charset="-122"/>
              </a:rPr>
              <a:t>。</a:t>
            </a:r>
            <a:endParaRPr lang="en-US" altLang="zh-CN" sz="2000" kern="100" dirty="0">
              <a:latin typeface="楷体" panose="02010609060101010101" pitchFamily="49" charset="-122"/>
              <a:ea typeface="楷体" panose="02010609060101010101" pitchFamily="49" charset="-122"/>
            </a:endParaRPr>
          </a:p>
        </p:txBody>
      </p:sp>
      <p:sp>
        <p:nvSpPr>
          <p:cNvPr id="55" name="矩形 54"/>
          <p:cNvSpPr/>
          <p:nvPr/>
        </p:nvSpPr>
        <p:spPr>
          <a:xfrm>
            <a:off x="1283680" y="5038376"/>
            <a:ext cx="8506744" cy="1655280"/>
          </a:xfrm>
          <a:prstGeom prst="rect">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1283679" y="4853378"/>
            <a:ext cx="7969303" cy="4561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1283677" y="4831744"/>
            <a:ext cx="7867705" cy="461665"/>
          </a:xfrm>
          <a:prstGeom prst="rect">
            <a:avLst/>
          </a:prstGeom>
          <a:noFill/>
        </p:spPr>
        <p:txBody>
          <a:bodyPr wrap="square" rtlCol="0">
            <a:spAutoFit/>
          </a:bodyPr>
          <a:lstStyle/>
          <a:p>
            <a:r>
              <a:rPr lang="zh-CN" altLang="en-US" sz="2400" dirty="0">
                <a:solidFill>
                  <a:schemeClr val="bg1"/>
                </a:solidFill>
                <a:latin typeface="楷体" panose="02010609060101010101" pitchFamily="49" charset="-122"/>
                <a:ea typeface="楷体" panose="02010609060101010101" pitchFamily="49" charset="-122"/>
                <a:cs typeface="Arial" panose="020B0604020202020204" pitchFamily="34" charset="0"/>
              </a:rPr>
              <a:t>政府：加强多层次长期护理保险制度体系的顶层设计</a:t>
            </a:r>
            <a:endParaRPr lang="en-US" altLang="zh-CN" sz="2400" dirty="0">
              <a:solidFill>
                <a:schemeClr val="bg1"/>
              </a:solidFill>
              <a:latin typeface="楷体" panose="02010609060101010101" pitchFamily="49" charset="-122"/>
              <a:ea typeface="楷体" panose="02010609060101010101" pitchFamily="49" charset="-122"/>
              <a:cs typeface="Arial" panose="020B0604020202020204" pitchFamily="34" charset="0"/>
            </a:endParaRPr>
          </a:p>
        </p:txBody>
      </p:sp>
      <p:sp>
        <p:nvSpPr>
          <p:cNvPr id="58" name="等腰三角形 57"/>
          <p:cNvSpPr/>
          <p:nvPr/>
        </p:nvSpPr>
        <p:spPr>
          <a:xfrm>
            <a:off x="9644186" y="6580206"/>
            <a:ext cx="143777" cy="123946"/>
          </a:xfrm>
          <a:prstGeom prst="triangle">
            <a:avLst>
              <a:gd name="adj" fmla="val 100000"/>
            </a:avLst>
          </a:prstGeom>
          <a:solidFill>
            <a:schemeClr val="accent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1232205" y="5374609"/>
            <a:ext cx="8609693" cy="1323439"/>
          </a:xfrm>
          <a:prstGeom prst="rect">
            <a:avLst/>
          </a:prstGeom>
        </p:spPr>
        <p:txBody>
          <a:bodyPr wrap="square">
            <a:spAutoFit/>
          </a:bodyPr>
          <a:lstStyle/>
          <a:p>
            <a:pPr marL="285750" indent="-285750">
              <a:spcAft>
                <a:spcPts val="0"/>
              </a:spcAft>
              <a:buFont typeface="Wingdings" panose="05000000000000000000" pitchFamily="2" charset="2"/>
              <a:buChar char="ü"/>
            </a:pPr>
            <a:r>
              <a:rPr lang="zh-CN" altLang="en-US" sz="2000" kern="100" dirty="0">
                <a:latin typeface="楷体" panose="02010609060101010101" pitchFamily="49" charset="-122"/>
                <a:ea typeface="楷体" panose="02010609060101010101" pitchFamily="49" charset="-122"/>
              </a:rPr>
              <a:t>供给端，政府应推动相关部门建立全国性的开放数据库，支持大型“保险</a:t>
            </a:r>
            <a:r>
              <a:rPr lang="en-US" altLang="zh-CN" sz="2000" kern="100" dirty="0">
                <a:latin typeface="楷体" panose="02010609060101010101" pitchFamily="49" charset="-122"/>
                <a:ea typeface="楷体" panose="02010609060101010101" pitchFamily="49" charset="-122"/>
              </a:rPr>
              <a:t>+</a:t>
            </a:r>
            <a:r>
              <a:rPr lang="zh-CN" altLang="en-US" sz="2000" kern="100" dirty="0">
                <a:latin typeface="楷体" panose="02010609060101010101" pitchFamily="49" charset="-122"/>
                <a:ea typeface="楷体" panose="02010609060101010101" pitchFamily="49" charset="-122"/>
              </a:rPr>
              <a:t>养老</a:t>
            </a:r>
            <a:r>
              <a:rPr lang="en-US" altLang="zh-CN" sz="2000" kern="100" dirty="0">
                <a:latin typeface="楷体" panose="02010609060101010101" pitchFamily="49" charset="-122"/>
                <a:ea typeface="楷体" panose="02010609060101010101" pitchFamily="49" charset="-122"/>
              </a:rPr>
              <a:t>+</a:t>
            </a:r>
            <a:r>
              <a:rPr lang="zh-CN" altLang="en-US" sz="2000" kern="100" dirty="0">
                <a:latin typeface="楷体" panose="02010609060101010101" pitchFamily="49" charset="-122"/>
                <a:ea typeface="楷体" panose="02010609060101010101" pitchFamily="49" charset="-122"/>
              </a:rPr>
              <a:t>医疗”综合体企业的发展，发挥规模经济、范围经济效应。</a:t>
            </a:r>
            <a:endParaRPr lang="en-US" altLang="zh-CN" sz="2000" kern="100" dirty="0">
              <a:latin typeface="楷体" panose="02010609060101010101" pitchFamily="49" charset="-122"/>
              <a:ea typeface="楷体" panose="02010609060101010101" pitchFamily="49" charset="-122"/>
            </a:endParaRPr>
          </a:p>
          <a:p>
            <a:pPr marL="285750" indent="-285750">
              <a:spcAft>
                <a:spcPts val="0"/>
              </a:spcAft>
              <a:buFont typeface="Wingdings" panose="05000000000000000000" pitchFamily="2" charset="2"/>
              <a:buChar char="ü"/>
            </a:pPr>
            <a:r>
              <a:rPr lang="zh-CN" altLang="en-US" sz="2000" kern="100" dirty="0">
                <a:latin typeface="楷体" panose="02010609060101010101" pitchFamily="49" charset="-122"/>
                <a:ea typeface="楷体" panose="02010609060101010101" pitchFamily="49" charset="-122"/>
              </a:rPr>
              <a:t>需求端，政府可以出台相关政策，对购买商业长期护理保险的单位和个人提供税收优惠，以鼓励国民购买商业长期护理保险。</a:t>
            </a:r>
            <a:endParaRPr lang="zh-CN" altLang="zh-CN" sz="2000" kern="100" dirty="0">
              <a:latin typeface="楷体" panose="02010609060101010101" pitchFamily="49" charset="-122"/>
              <a:ea typeface="楷体" panose="02010609060101010101" pitchFamily="49" charset="-122"/>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3" name="矩形 12"/>
          <p:cNvSpPr/>
          <p:nvPr/>
        </p:nvSpPr>
        <p:spPr>
          <a:xfrm>
            <a:off x="0" y="1412875"/>
            <a:ext cx="12192000" cy="26098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4102759" y="1976438"/>
            <a:ext cx="3986483" cy="1499817"/>
            <a:chOff x="2682875" y="2071687"/>
            <a:chExt cx="3986483" cy="1499817"/>
          </a:xfrm>
        </p:grpSpPr>
        <p:sp>
          <p:nvSpPr>
            <p:cNvPr id="3" name="TextBox 1"/>
            <p:cNvSpPr txBox="1">
              <a:spLocks noChangeArrowheads="1"/>
            </p:cNvSpPr>
            <p:nvPr/>
          </p:nvSpPr>
          <p:spPr bwMode="auto">
            <a:xfrm>
              <a:off x="2682875" y="2311106"/>
              <a:ext cx="35253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r>
                <a:rPr lang="en-US" altLang="zh-CN" sz="6000" b="1" dirty="0">
                  <a:solidFill>
                    <a:schemeClr val="accent1"/>
                  </a:solidFill>
                  <a:latin typeface="微软雅黑" panose="020B0503020204020204" pitchFamily="34" charset="-122"/>
                  <a:ea typeface="微软雅黑" panose="020B0503020204020204" pitchFamily="34" charset="-122"/>
                </a:rPr>
                <a:t>THANKS</a:t>
              </a:r>
            </a:p>
          </p:txBody>
        </p:sp>
        <p:sp>
          <p:nvSpPr>
            <p:cNvPr id="4" name="空心弧 3"/>
            <p:cNvSpPr/>
            <p:nvPr/>
          </p:nvSpPr>
          <p:spPr bwMode="auto">
            <a:xfrm rot="7086271">
              <a:off x="5186633" y="2071687"/>
              <a:ext cx="1482725" cy="1482725"/>
            </a:xfrm>
            <a:prstGeom prst="blockArc">
              <a:avLst>
                <a:gd name="adj1" fmla="val 5502533"/>
                <a:gd name="adj2" fmla="val 1980318"/>
                <a:gd name="adj3" fmla="val 1053"/>
              </a:avLst>
            </a:prstGeom>
            <a:solidFill>
              <a:srgbClr val="C00000"/>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tx1"/>
                </a:solidFill>
              </a:endParaRPr>
            </a:p>
          </p:txBody>
        </p:sp>
        <p:sp>
          <p:nvSpPr>
            <p:cNvPr id="5" name="TextBox 8"/>
            <p:cNvSpPr txBox="1">
              <a:spLocks noChangeArrowheads="1"/>
            </p:cNvSpPr>
            <p:nvPr/>
          </p:nvSpPr>
          <p:spPr bwMode="auto">
            <a:xfrm>
              <a:off x="2697192" y="3109839"/>
              <a:ext cx="27784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charset="0"/>
                  <a:ea typeface="宋体" panose="02010600030101010101" pitchFamily="2" charset="-122"/>
                </a:defRPr>
              </a:lvl1pPr>
              <a:lvl2pPr marL="742950" indent="-285750">
                <a:defRPr sz="2400">
                  <a:solidFill>
                    <a:schemeClr val="tx1"/>
                  </a:solidFill>
                  <a:latin typeface="Calibri" panose="020F0502020204030204" charset="0"/>
                  <a:ea typeface="宋体" panose="02010600030101010101" pitchFamily="2" charset="-122"/>
                </a:defRPr>
              </a:lvl2pPr>
              <a:lvl3pPr>
                <a:defRPr sz="2000">
                  <a:solidFill>
                    <a:schemeClr val="tx1"/>
                  </a:solidFill>
                  <a:latin typeface="Calibri" panose="020F0502020204030204" charset="0"/>
                  <a:ea typeface="宋体" panose="02010600030101010101" pitchFamily="2" charset="-122"/>
                </a:defRPr>
              </a:lvl3pPr>
              <a:lvl4pPr>
                <a:defRPr>
                  <a:solidFill>
                    <a:schemeClr val="tx1"/>
                  </a:solidFill>
                  <a:latin typeface="Calibri" panose="020F0502020204030204" charset="0"/>
                  <a:ea typeface="宋体" panose="02010600030101010101" pitchFamily="2" charset="-122"/>
                </a:defRPr>
              </a:lvl4pPr>
              <a:lvl5pPr>
                <a:defRPr>
                  <a:solidFill>
                    <a:schemeClr val="tx1"/>
                  </a:solidFill>
                  <a:latin typeface="Calibri" panose="020F050202020403020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dist" eaLnBrk="1" hangingPunct="1">
                <a:defRPr/>
              </a:pPr>
              <a:r>
                <a:rPr lang="zh-CN" altLang="en-US" sz="2400" dirty="0">
                  <a:latin typeface="楷体" panose="02010609060101010101" pitchFamily="49" charset="-122"/>
                  <a:ea typeface="楷体" panose="02010609060101010101" pitchFamily="49" charset="-122"/>
                </a:rPr>
                <a:t>敬请各位老师指导</a:t>
              </a:r>
            </a:p>
          </p:txBody>
        </p:sp>
      </p:grpSp>
      <p:sp>
        <p:nvSpPr>
          <p:cNvPr id="14" name="等腰三角形 13"/>
          <p:cNvSpPr/>
          <p:nvPr/>
        </p:nvSpPr>
        <p:spPr>
          <a:xfrm flipV="1">
            <a:off x="5916353" y="4014699"/>
            <a:ext cx="359294" cy="20660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3f3db5aa-971c-4773-af3d-893e9ea9fa52"/>
  <p:tag name="COMMONDATA" val="eyJoZGlkIjoiZWZjZmFhMTI4YjdmNTBkYjJkMDA3MDViOTcxYzYwYjYifQ=="/>
</p:tagLst>
</file>

<file path=ppt/theme/theme1.xml><?xml version="1.0" encoding="utf-8"?>
<a:theme xmlns:a="http://schemas.openxmlformats.org/drawingml/2006/main" name="Office 主题">
  <a:themeElements>
    <a:clrScheme name="北京大学">
      <a:dk1>
        <a:srgbClr val="333333"/>
      </a:dk1>
      <a:lt1>
        <a:srgbClr val="FFFFFF"/>
      </a:lt1>
      <a:dk2>
        <a:srgbClr val="538135"/>
      </a:dk2>
      <a:lt2>
        <a:srgbClr val="538135"/>
      </a:lt2>
      <a:accent1>
        <a:srgbClr val="8F000B"/>
      </a:accent1>
      <a:accent2>
        <a:srgbClr val="700005"/>
      </a:accent2>
      <a:accent3>
        <a:srgbClr val="AC0000"/>
      </a:accent3>
      <a:accent4>
        <a:srgbClr val="538135"/>
      </a:accent4>
      <a:accent5>
        <a:srgbClr val="538135"/>
      </a:accent5>
      <a:accent6>
        <a:srgbClr val="538135"/>
      </a:accent6>
      <a:hlink>
        <a:srgbClr val="538135"/>
      </a:hlink>
      <a:folHlink>
        <a:srgbClr val="538135"/>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1660</Words>
  <Application>Microsoft Office PowerPoint</Application>
  <PresentationFormat>宽屏</PresentationFormat>
  <Paragraphs>406</Paragraphs>
  <Slides>20</Slides>
  <Notes>0</Notes>
  <HiddenSlides>0</HiddenSlides>
  <MMClips>1</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仿宋</vt:lpstr>
      <vt:lpstr>华文细黑</vt:lpstr>
      <vt:lpstr>楷体</vt:lpstr>
      <vt:lpstr>微软雅黑</vt:lpstr>
      <vt:lpstr>Arial</vt:lpstr>
      <vt:lpstr>Calibri</vt:lpstr>
      <vt:lpstr>Cambria Math</vt:lpstr>
      <vt:lpstr>Times New Roman</vt:lpstr>
      <vt:lpstr>Wingdings</vt:lpstr>
      <vt:lpstr>Office 主题</vt:lpstr>
      <vt:lpstr>PowerPoint 演示文稿</vt:lpstr>
      <vt:lpstr>PowerPoint 演示文稿</vt:lpstr>
      <vt:lpstr>研究背景</vt:lpstr>
      <vt:lpstr>研究背景</vt:lpstr>
      <vt:lpstr>研究背景</vt:lpstr>
      <vt:lpstr>理论模型</vt:lpstr>
      <vt:lpstr>同时决策</vt:lpstr>
      <vt:lpstr>同时决策</vt:lpstr>
      <vt:lpstr>同时决策</vt:lpstr>
      <vt:lpstr>同时决策</vt:lpstr>
      <vt:lpstr>先后决策</vt:lpstr>
      <vt:lpstr>实证假设</vt:lpstr>
      <vt:lpstr>实证假设</vt:lpstr>
      <vt:lpstr>实证假设</vt:lpstr>
      <vt:lpstr>实证结果</vt:lpstr>
      <vt:lpstr>实证结果分析</vt:lpstr>
      <vt:lpstr>实证结果分析</vt:lpstr>
      <vt:lpstr>敏感性分析</vt:lpstr>
      <vt:lpstr>建议</vt:lpstr>
      <vt:lpstr>PowerPoint 演示文稿</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xiaxia</dc:creator>
  <cp:keywords>http:/www.ypppt.com</cp:keywords>
  <dc:description>http://www.ypppt.com/</dc:description>
  <cp:lastModifiedBy>宇佩 马</cp:lastModifiedBy>
  <cp:revision>433</cp:revision>
  <dcterms:created xsi:type="dcterms:W3CDTF">2016-04-18T02:22:00Z</dcterms:created>
  <dcterms:modified xsi:type="dcterms:W3CDTF">2026-03-14T13:42:08Z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FE975DDA8BB448EDA80CF33E09B0CF51</vt:lpwstr>
  </property>
</Properties>
</file>